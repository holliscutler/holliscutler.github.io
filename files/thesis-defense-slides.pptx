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37"/>
  </p:notesMasterIdLst>
  <p:handoutMasterIdLst>
    <p:handoutMasterId r:id="rId38"/>
  </p:handoutMasterIdLst>
  <p:sldIdLst>
    <p:sldId id="256" r:id="rId2"/>
    <p:sldId id="303" r:id="rId3"/>
    <p:sldId id="257" r:id="rId4"/>
    <p:sldId id="258" r:id="rId5"/>
    <p:sldId id="300" r:id="rId6"/>
    <p:sldId id="301" r:id="rId7"/>
    <p:sldId id="260" r:id="rId8"/>
    <p:sldId id="261" r:id="rId9"/>
    <p:sldId id="263" r:id="rId10"/>
    <p:sldId id="264" r:id="rId11"/>
    <p:sldId id="276" r:id="rId12"/>
    <p:sldId id="265" r:id="rId13"/>
    <p:sldId id="297" r:id="rId14"/>
    <p:sldId id="266" r:id="rId15"/>
    <p:sldId id="291" r:id="rId16"/>
    <p:sldId id="299" r:id="rId17"/>
    <p:sldId id="292" r:id="rId18"/>
    <p:sldId id="293" r:id="rId19"/>
    <p:sldId id="294" r:id="rId20"/>
    <p:sldId id="295" r:id="rId21"/>
    <p:sldId id="267" r:id="rId22"/>
    <p:sldId id="296" r:id="rId23"/>
    <p:sldId id="268" r:id="rId24"/>
    <p:sldId id="277" r:id="rId25"/>
    <p:sldId id="278" r:id="rId26"/>
    <p:sldId id="282" r:id="rId27"/>
    <p:sldId id="283" r:id="rId28"/>
    <p:sldId id="284" r:id="rId29"/>
    <p:sldId id="271" r:id="rId30"/>
    <p:sldId id="288" r:id="rId31"/>
    <p:sldId id="289" r:id="rId32"/>
    <p:sldId id="272" r:id="rId33"/>
    <p:sldId id="273" r:id="rId34"/>
    <p:sldId id="302" r:id="rId35"/>
    <p:sldId id="274" r:id="rId36"/>
  </p:sldIdLst>
  <p:sldSz cx="18288000" cy="10287000"/>
  <p:notesSz cx="6858000" cy="9144000"/>
  <p:embeddedFontLst>
    <p:embeddedFont>
      <p:font typeface="Amicale Light" panose="020B0604020202020204" charset="0"/>
      <p:regular r:id="rId39"/>
    </p:embeddedFont>
    <p:embeddedFont>
      <p:font typeface="Cambria Math" panose="02040503050406030204" pitchFamily="18" charset="0"/>
      <p:regular r:id="rId40"/>
    </p:embeddedFont>
    <p:embeddedFont>
      <p:font typeface="Canva Sans" panose="020B0604020202020204" charset="0"/>
      <p:regular r:id="rId41"/>
    </p:embeddedFont>
    <p:embeddedFont>
      <p:font typeface="IBM Plex Sans" panose="020B0503050203000203" pitchFamily="34" charset="0"/>
      <p:regular r:id="rId42"/>
      <p:bold r:id="rId43"/>
      <p:italic r:id="rId44"/>
      <p:boldItalic r:id="rId45"/>
    </p:embeddedFont>
    <p:embeddedFont>
      <p:font typeface="IBM Plex Sans Bold" panose="020B0803050203000203" pitchFamily="34" charset="0"/>
      <p:regular r:id="rId46"/>
    </p:embeddedFont>
    <p:embeddedFont>
      <p:font typeface="Montserrat Ultra-Bold" panose="020B0604020202020204" charset="0"/>
      <p:regular r:id="rId4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CD52C"/>
    <a:srgbClr val="132C8D"/>
    <a:srgbClr val="5EB826"/>
    <a:srgbClr val="3F7A19"/>
    <a:srgbClr val="39731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6655E3-8DD9-4B26-8FCE-3E0391637B9A}" v="2" dt="2026-10-22T21:19:33.0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92" autoAdjust="0"/>
    <p:restoredTop sz="62372" autoAdjust="0"/>
  </p:normalViewPr>
  <p:slideViewPr>
    <p:cSldViewPr>
      <p:cViewPr varScale="1">
        <p:scale>
          <a:sx n="33" d="100"/>
          <a:sy n="33" d="100"/>
        </p:scale>
        <p:origin x="653" y="19"/>
      </p:cViewPr>
      <p:guideLst>
        <p:guide orient="horz" pos="2160"/>
        <p:guide pos="2880"/>
      </p:guideLst>
    </p:cSldViewPr>
  </p:slideViewPr>
  <p:outlineViewPr>
    <p:cViewPr>
      <p:scale>
        <a:sx n="33" d="100"/>
        <a:sy n="33" d="100"/>
      </p:scale>
      <p:origin x="0" y="-60"/>
    </p:cViewPr>
  </p:outlineViewPr>
  <p:notesTextViewPr>
    <p:cViewPr>
      <p:scale>
        <a:sx n="3" d="2"/>
        <a:sy n="3" d="2"/>
      </p:scale>
      <p:origin x="0" y="0"/>
    </p:cViewPr>
  </p:notesTextViewPr>
  <p:sorterViewPr>
    <p:cViewPr>
      <p:scale>
        <a:sx n="100" d="100"/>
        <a:sy n="100" d="100"/>
      </p:scale>
      <p:origin x="0" y="-99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2.fntdata"/><Relationship Id="rId45" Type="http://schemas.openxmlformats.org/officeDocument/2006/relationships/font" Target="fonts/font7.fntdata"/><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6.fntdata"/><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 Id="rId46"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llis Cutler" userId="86bc89542798b433" providerId="LiveId" clId="{F0FDB7EB-3414-4E1B-90B8-43E51C943955}"/>
    <pc:docChg chg="undo custSel addSld delSld modSld sldOrd modMainMaster">
      <pc:chgData name="Hollis Cutler" userId="86bc89542798b433" providerId="LiveId" clId="{F0FDB7EB-3414-4E1B-90B8-43E51C943955}" dt="2026-10-22T21:20:32.761" v="11823" actId="20577"/>
      <pc:docMkLst>
        <pc:docMk/>
      </pc:docMkLst>
      <pc:sldChg chg="addSp delSp modSp mod modClrScheme chgLayout modNotesTx">
        <pc:chgData name="Hollis Cutler" userId="86bc89542798b433" providerId="LiveId" clId="{F0FDB7EB-3414-4E1B-90B8-43E51C943955}" dt="2026-10-22T21:18:48.297" v="11802" actId="20577"/>
        <pc:sldMkLst>
          <pc:docMk/>
          <pc:sldMk cId="0" sldId="256"/>
        </pc:sldMkLst>
      </pc:sldChg>
      <pc:sldChg chg="addSp delSp modSp mod modNotesTx">
        <pc:chgData name="Hollis Cutler" userId="86bc89542798b433" providerId="LiveId" clId="{F0FDB7EB-3414-4E1B-90B8-43E51C943955}" dt="2026-10-22T21:18:52.132" v="11803" actId="20577"/>
        <pc:sldMkLst>
          <pc:docMk/>
          <pc:sldMk cId="0" sldId="257"/>
        </pc:sldMkLst>
      </pc:sldChg>
      <pc:sldChg chg="addSp delSp modSp mod modNotesTx">
        <pc:chgData name="Hollis Cutler" userId="86bc89542798b433" providerId="LiveId" clId="{F0FDB7EB-3414-4E1B-90B8-43E51C943955}" dt="2026-10-22T21:18:55.015" v="11804" actId="20577"/>
        <pc:sldMkLst>
          <pc:docMk/>
          <pc:sldMk cId="0" sldId="258"/>
        </pc:sldMkLst>
      </pc:sldChg>
      <pc:sldChg chg="modNotesTx">
        <pc:chgData name="Hollis Cutler" userId="86bc89542798b433" providerId="LiveId" clId="{F0FDB7EB-3414-4E1B-90B8-43E51C943955}" dt="2026-10-22T21:19:04.331" v="11806" actId="20577"/>
        <pc:sldMkLst>
          <pc:docMk/>
          <pc:sldMk cId="0" sldId="260"/>
        </pc:sldMkLst>
      </pc:sldChg>
      <pc:sldChg chg="modNotesTx">
        <pc:chgData name="Hollis Cutler" userId="86bc89542798b433" providerId="LiveId" clId="{F0FDB7EB-3414-4E1B-90B8-43E51C943955}" dt="2026-10-22T21:19:09.669" v="11807" actId="20577"/>
        <pc:sldMkLst>
          <pc:docMk/>
          <pc:sldMk cId="0" sldId="261"/>
        </pc:sldMkLst>
      </pc:sldChg>
      <pc:sldChg chg="modNotesTx">
        <pc:chgData name="Hollis Cutler" userId="86bc89542798b433" providerId="LiveId" clId="{F0FDB7EB-3414-4E1B-90B8-43E51C943955}" dt="2026-10-22T21:19:14.650" v="11808" actId="20577"/>
        <pc:sldMkLst>
          <pc:docMk/>
          <pc:sldMk cId="0" sldId="263"/>
        </pc:sldMkLst>
      </pc:sldChg>
      <pc:sldChg chg="modNotesTx">
        <pc:chgData name="Hollis Cutler" userId="86bc89542798b433" providerId="LiveId" clId="{F0FDB7EB-3414-4E1B-90B8-43E51C943955}" dt="2026-10-22T21:19:25.544" v="11810" actId="20577"/>
        <pc:sldMkLst>
          <pc:docMk/>
          <pc:sldMk cId="0" sldId="265"/>
        </pc:sldMkLst>
      </pc:sldChg>
      <pc:sldChg chg="modNotesTx">
        <pc:chgData name="Hollis Cutler" userId="86bc89542798b433" providerId="LiveId" clId="{F0FDB7EB-3414-4E1B-90B8-43E51C943955}" dt="2026-10-22T21:20:05.918" v="11817" actId="20577"/>
        <pc:sldMkLst>
          <pc:docMk/>
          <pc:sldMk cId="0" sldId="267"/>
        </pc:sldMkLst>
      </pc:sldChg>
      <pc:sldChg chg="modNotesTx">
        <pc:chgData name="Hollis Cutler" userId="86bc89542798b433" providerId="LiveId" clId="{F0FDB7EB-3414-4E1B-90B8-43E51C943955}" dt="2026-10-22T21:20:10.551" v="11819" actId="20577"/>
        <pc:sldMkLst>
          <pc:docMk/>
          <pc:sldMk cId="0" sldId="268"/>
        </pc:sldMkLst>
      </pc:sldChg>
      <pc:sldChg chg="modNotesTx">
        <pc:chgData name="Hollis Cutler" userId="86bc89542798b433" providerId="LiveId" clId="{F0FDB7EB-3414-4E1B-90B8-43E51C943955}" dt="2026-10-22T21:20:25.422" v="11822" actId="20577"/>
        <pc:sldMkLst>
          <pc:docMk/>
          <pc:sldMk cId="0" sldId="272"/>
        </pc:sldMkLst>
      </pc:sldChg>
      <pc:sldChg chg="modNotesTx">
        <pc:chgData name="Hollis Cutler" userId="86bc89542798b433" providerId="LiveId" clId="{F0FDB7EB-3414-4E1B-90B8-43E51C943955}" dt="2026-10-22T21:20:32.761" v="11823" actId="20577"/>
        <pc:sldMkLst>
          <pc:docMk/>
          <pc:sldMk cId="0" sldId="274"/>
        </pc:sldMkLst>
      </pc:sldChg>
      <pc:sldChg chg="modNotesTx">
        <pc:chgData name="Hollis Cutler" userId="86bc89542798b433" providerId="LiveId" clId="{F0FDB7EB-3414-4E1B-90B8-43E51C943955}" dt="2026-10-22T21:19:21.783" v="11809" actId="20577"/>
        <pc:sldMkLst>
          <pc:docMk/>
          <pc:sldMk cId="3403872396" sldId="276"/>
        </pc:sldMkLst>
      </pc:sldChg>
      <pc:sldChg chg="modNotesTx">
        <pc:chgData name="Hollis Cutler" userId="86bc89542798b433" providerId="LiveId" clId="{F0FDB7EB-3414-4E1B-90B8-43E51C943955}" dt="2026-10-22T21:20:13.891" v="11820" actId="20577"/>
        <pc:sldMkLst>
          <pc:docMk/>
          <pc:sldMk cId="1967478273" sldId="277"/>
        </pc:sldMkLst>
      </pc:sldChg>
      <pc:sldChg chg="modNotesTx">
        <pc:chgData name="Hollis Cutler" userId="86bc89542798b433" providerId="LiveId" clId="{F0FDB7EB-3414-4E1B-90B8-43E51C943955}" dt="2026-10-22T21:20:21.591" v="11821" actId="20577"/>
        <pc:sldMkLst>
          <pc:docMk/>
          <pc:sldMk cId="841604857" sldId="288"/>
        </pc:sldMkLst>
      </pc:sldChg>
      <pc:sldChg chg="modNotesTx">
        <pc:chgData name="Hollis Cutler" userId="86bc89542798b433" providerId="LiveId" clId="{F0FDB7EB-3414-4E1B-90B8-43E51C943955}" dt="2026-10-22T21:19:37.002" v="11812" actId="20577"/>
        <pc:sldMkLst>
          <pc:docMk/>
          <pc:sldMk cId="1648016993" sldId="291"/>
        </pc:sldMkLst>
      </pc:sldChg>
      <pc:sldChg chg="modNotesTx">
        <pc:chgData name="Hollis Cutler" userId="86bc89542798b433" providerId="LiveId" clId="{F0FDB7EB-3414-4E1B-90B8-43E51C943955}" dt="2026-10-22T21:19:45.119" v="11814" actId="20577"/>
        <pc:sldMkLst>
          <pc:docMk/>
          <pc:sldMk cId="1534998924" sldId="292"/>
        </pc:sldMkLst>
      </pc:sldChg>
      <pc:sldChg chg="modNotesTx">
        <pc:chgData name="Hollis Cutler" userId="86bc89542798b433" providerId="LiveId" clId="{F0FDB7EB-3414-4E1B-90B8-43E51C943955}" dt="2026-10-22T21:19:49.144" v="11815" actId="20577"/>
        <pc:sldMkLst>
          <pc:docMk/>
          <pc:sldMk cId="3036084707" sldId="293"/>
        </pc:sldMkLst>
      </pc:sldChg>
      <pc:sldChg chg="modNotesTx">
        <pc:chgData name="Hollis Cutler" userId="86bc89542798b433" providerId="LiveId" clId="{F0FDB7EB-3414-4E1B-90B8-43E51C943955}" dt="2026-10-22T21:19:52.457" v="11816" actId="20577"/>
        <pc:sldMkLst>
          <pc:docMk/>
          <pc:sldMk cId="2944619773" sldId="294"/>
        </pc:sldMkLst>
      </pc:sldChg>
      <pc:sldChg chg="modNotesTx">
        <pc:chgData name="Hollis Cutler" userId="86bc89542798b433" providerId="LiveId" clId="{F0FDB7EB-3414-4E1B-90B8-43E51C943955}" dt="2026-10-22T21:20:08.036" v="11818" actId="20577"/>
        <pc:sldMkLst>
          <pc:docMk/>
          <pc:sldMk cId="1997638666" sldId="296"/>
        </pc:sldMkLst>
      </pc:sldChg>
      <pc:sldChg chg="modNotesTx">
        <pc:chgData name="Hollis Cutler" userId="86bc89542798b433" providerId="LiveId" clId="{F0FDB7EB-3414-4E1B-90B8-43E51C943955}" dt="2026-10-22T21:19:28.759" v="11811" actId="20577"/>
        <pc:sldMkLst>
          <pc:docMk/>
          <pc:sldMk cId="3897769028" sldId="297"/>
        </pc:sldMkLst>
      </pc:sldChg>
      <pc:sldChg chg="modNotesTx">
        <pc:chgData name="Hollis Cutler" userId="86bc89542798b433" providerId="LiveId" clId="{F0FDB7EB-3414-4E1B-90B8-43E51C943955}" dt="2026-10-22T21:19:39.394" v="11813" actId="20577"/>
        <pc:sldMkLst>
          <pc:docMk/>
          <pc:sldMk cId="1800160272" sldId="299"/>
        </pc:sldMkLst>
      </pc:sldChg>
      <pc:sldChg chg="modNotesTx">
        <pc:chgData name="Hollis Cutler" userId="86bc89542798b433" providerId="LiveId" clId="{F0FDB7EB-3414-4E1B-90B8-43E51C943955}" dt="2026-10-22T21:18:57.642" v="11805" actId="20577"/>
        <pc:sldMkLst>
          <pc:docMk/>
          <pc:sldMk cId="510744095" sldId="30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4A5C2E3-6C6E-F53C-A85B-F9EC91E76E3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1D6F303-BA0A-4809-B6A5-75CE5930F2B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04D34C-28D6-4FAF-8B74-6DF3AC9ED21E}" type="datetimeFigureOut">
              <a:rPr lang="en-US" smtClean="0"/>
              <a:t>10/22/2026</a:t>
            </a:fld>
            <a:endParaRPr lang="en-US"/>
          </a:p>
        </p:txBody>
      </p:sp>
      <p:sp>
        <p:nvSpPr>
          <p:cNvPr id="4" name="Footer Placeholder 3">
            <a:extLst>
              <a:ext uri="{FF2B5EF4-FFF2-40B4-BE49-F238E27FC236}">
                <a16:creationId xmlns:a16="http://schemas.microsoft.com/office/drawing/2014/main" id="{7D699C43-4B34-DFC4-59B9-D6A54693D42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8DF4FC3-2464-1189-D128-ADFD96BA0B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767181C-6C36-4E04-A8D2-E88799F7B68B}" type="slidenum">
              <a:rPr lang="en-US" smtClean="0"/>
              <a:t>‹#›</a:t>
            </a:fld>
            <a:endParaRPr lang="en-US"/>
          </a:p>
        </p:txBody>
      </p:sp>
    </p:spTree>
    <p:extLst>
      <p:ext uri="{BB962C8B-B14F-4D97-AF65-F5344CB8AC3E}">
        <p14:creationId xmlns:p14="http://schemas.microsoft.com/office/powerpoint/2010/main" val="251180774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96C51E-53C1-444D-9F3A-6EE55D2D4AC5}" type="datetimeFigureOut">
              <a:rPr lang="en-US" smtClean="0"/>
              <a:t>10/22/2026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797E04-215E-44DE-AAC3-21A6F8C73D68}" type="slidenum">
              <a:rPr lang="en-US" smtClean="0"/>
              <a:t>‹#›</a:t>
            </a:fld>
            <a:endParaRPr lang="en-US"/>
          </a:p>
        </p:txBody>
      </p:sp>
    </p:spTree>
    <p:extLst>
      <p:ext uri="{BB962C8B-B14F-4D97-AF65-F5344CB8AC3E}">
        <p14:creationId xmlns:p14="http://schemas.microsoft.com/office/powerpoint/2010/main" val="4112995900"/>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Tree>
    <p:extLst>
      <p:ext uri="{BB962C8B-B14F-4D97-AF65-F5344CB8AC3E}">
        <p14:creationId xmlns:p14="http://schemas.microsoft.com/office/powerpoint/2010/main" val="36956094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496102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62727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3BC17-BE77-416D-821D-60B07F12F1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953C18-7740-E917-1968-AFCD39A7CB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FF0D8C-B796-2451-EC08-B973570D2989}"/>
              </a:ext>
            </a:extLst>
          </p:cNvPr>
          <p:cNvSpPr>
            <a:spLocks noGrp="1"/>
          </p:cNvSpPr>
          <p:nvPr>
            <p:ph type="body" idx="1"/>
          </p:nvPr>
        </p:nvSpPr>
        <p:spPr/>
        <p:txBody>
          <a:bodyPr/>
          <a:lstStyle/>
          <a:p>
            <a:endParaRPr lang="en-US" b="1" dirty="0"/>
          </a:p>
        </p:txBody>
      </p:sp>
    </p:spTree>
    <p:extLst>
      <p:ext uri="{BB962C8B-B14F-4D97-AF65-F5344CB8AC3E}">
        <p14:creationId xmlns:p14="http://schemas.microsoft.com/office/powerpoint/2010/main" val="32398871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14543-B140-AABE-5178-A17110271D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43679F-7AE0-758A-4756-D5CD8D118A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2190D7-0C1C-CC25-15FC-409B2B2CBDC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70907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336098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31149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14194768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2"/>
                    </a:solidFill>
                  </a:rPr>
                  <a:t>*The index convention defines </a:t>
                </a:r>
                <a:r>
                  <a:rPr lang="en-US" i="0">
                    <a:solidFill>
                      <a:schemeClr val="bg2"/>
                    </a:solidFill>
                    <a:latin typeface="Cambria Math" panose="02040503050406030204" pitchFamily="18" charset="0"/>
                  </a:rPr>
                  <a:t>𝐶_𝑡</a:t>
                </a:r>
                <a:r>
                  <a:rPr lang="en-US" dirty="0">
                    <a:solidFill>
                      <a:schemeClr val="bg2"/>
                    </a:solidFill>
                  </a:rPr>
                  <a:t> as the smoother gain mapping the filtered state at </a:t>
                </a:r>
                <a:r>
                  <a:rPr lang="en-US" i="0">
                    <a:solidFill>
                      <a:schemeClr val="bg2"/>
                    </a:solidFill>
                    <a:latin typeface="Cambria Math" panose="02040503050406030204" pitchFamily="18" charset="0"/>
                  </a:rPr>
                  <a:t>𝑡−1</a:t>
                </a:r>
                <a:r>
                  <a:rPr lang="en-US" dirty="0">
                    <a:solidFill>
                      <a:schemeClr val="bg2"/>
                    </a:solidFill>
                  </a:rPr>
                  <a:t>to the prediction at </a:t>
                </a:r>
                <a:r>
                  <a:rPr lang="en-US" i="0">
                    <a:solidFill>
                      <a:schemeClr val="bg2"/>
                    </a:solidFill>
                    <a:latin typeface="Cambria Math" panose="02040503050406030204" pitchFamily="18" charset="0"/>
                  </a:rPr>
                  <a:t>𝑡</a:t>
                </a:r>
                <a:r>
                  <a:rPr lang="en-US" dirty="0">
                    <a:solidFill>
                      <a:schemeClr val="bg2"/>
                    </a:solidFill>
                  </a:rPr>
                  <a:t>; hence the backward recursion for state </a:t>
                </a:r>
                <a:r>
                  <a:rPr lang="en-US" i="0">
                    <a:solidFill>
                      <a:schemeClr val="bg2"/>
                    </a:solidFill>
                    <a:latin typeface="Cambria Math" panose="02040503050406030204" pitchFamily="18" charset="0"/>
                  </a:rPr>
                  <a:t>𝑗</a:t>
                </a:r>
                <a:r>
                  <a:rPr lang="en-US" dirty="0">
                    <a:solidFill>
                      <a:schemeClr val="bg2"/>
                    </a:solidFill>
                  </a:rPr>
                  <a:t> uses </a:t>
                </a:r>
                <a:r>
                  <a:rPr lang="en-US" i="0">
                    <a:solidFill>
                      <a:schemeClr val="bg2"/>
                    </a:solidFill>
                    <a:latin typeface="Cambria Math" panose="02040503050406030204" pitchFamily="18" charset="0"/>
                  </a:rPr>
                  <a:t>𝐶_(𝑗+1)</a:t>
                </a:r>
                <a:r>
                  <a:rPr lang="en-US" dirty="0">
                    <a:solidFill>
                      <a:schemeClr val="bg2"/>
                    </a:solidFill>
                  </a:rPr>
                  <a:t>.</a:t>
                </a:r>
              </a:p>
              <a:p>
                <a:endParaRPr lang="en-US" dirty="0"/>
              </a:p>
            </p:txBody>
          </p:sp>
        </mc:Fallback>
      </mc:AlternateContent>
    </p:spTree>
    <p:extLst>
      <p:ext uri="{BB962C8B-B14F-4D97-AF65-F5344CB8AC3E}">
        <p14:creationId xmlns:p14="http://schemas.microsoft.com/office/powerpoint/2010/main" val="29386282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461001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741762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147699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mc:Choice>
        <mc:Fallback xmlns="">
          <p:sp>
            <p:nvSpPr>
              <p:cNvPr id="3" name="Notes Placeholder 2"/>
              <p:cNvSpPr>
                <a:spLocks noGrp="1"/>
              </p:cNvSpPr>
              <p:nvPr>
                <p:ph type="body" idx="1"/>
              </p:nvPr>
            </p:nvSpPr>
            <p:spPr/>
            <p:txBody>
              <a:bodyPr/>
              <a:lstStyle/>
              <a:p>
                <a:r>
                  <a:rPr lang="en-US" sz="1200" i="0" kern="1200">
                    <a:solidFill>
                      <a:schemeClr val="tx1"/>
                    </a:solidFill>
                    <a:effectLst/>
                    <a:latin typeface="+mn-lt"/>
                    <a:ea typeface="+mn-ea"/>
                    <a:cs typeface="+mn-cs"/>
                  </a:rPr>
                  <a:t>𝛿 ‾</a:t>
                </a:r>
                <a:r>
                  <a:rPr lang="en-US" sz="1200" kern="1200" dirty="0">
                    <a:solidFill>
                      <a:schemeClr val="tx1"/>
                    </a:solidFill>
                    <a:effectLst/>
                    <a:ea typeface="+mn-ea"/>
                    <a:cs typeface="+mn-cs"/>
                  </a:rPr>
                  <a:t> delta bar </a:t>
                </a:r>
              </a:p>
              <a:p>
                <a:endParaRPr lang="en-US" sz="1200" kern="1200" dirty="0">
                  <a:solidFill>
                    <a:schemeClr val="tx1"/>
                  </a:solidFill>
                  <a:effectLst/>
                  <a:ea typeface="+mn-ea"/>
                  <a:cs typeface="+mn-cs"/>
                </a:endParaRPr>
              </a:p>
              <a:p>
                <a:r>
                  <a:rPr lang="en-US" sz="1200" b="1" kern="1200" dirty="0">
                    <a:solidFill>
                      <a:schemeClr val="tx1"/>
                    </a:solidFill>
                    <a:effectLst/>
                    <a:ea typeface="+mn-ea"/>
                    <a:cs typeface="+mn-cs"/>
                  </a:rPr>
                  <a:t>Equation</a:t>
                </a:r>
                <a:r>
                  <a:rPr lang="en-US" sz="1200" b="1" kern="1200" baseline="0" dirty="0">
                    <a:solidFill>
                      <a:schemeClr val="tx1"/>
                    </a:solidFill>
                    <a:effectLst/>
                    <a:ea typeface="+mn-ea"/>
                    <a:cs typeface="+mn-cs"/>
                  </a:rPr>
                  <a:t> -- </a:t>
                </a:r>
                <a:r>
                  <a:rPr lang="en-US" sz="1200" b="1" i="0" kern="1200">
                    <a:solidFill>
                      <a:schemeClr val="tx1"/>
                    </a:solidFill>
                    <a:effectLst/>
                    <a:latin typeface="+mn-lt"/>
                    <a:ea typeface="+mn-ea"/>
                    <a:cs typeface="+mn-cs"/>
                  </a:rPr>
                  <a:t>(𝟑.𝟏𝟑)</a:t>
                </a:r>
                <a:r>
                  <a:rPr lang="en-US" sz="1200" b="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Purpose: Updates count and mean increment when a transition is traversed.</a:t>
                </a:r>
              </a:p>
              <a:p>
                <a:endParaRPr lang="en-US" sz="1200" kern="1200" dirty="0">
                  <a:solidFill>
                    <a:schemeClr val="tx1"/>
                  </a:solidFill>
                  <a:effectLst/>
                  <a:latin typeface="+mn-lt"/>
                  <a:ea typeface="+mn-ea"/>
                  <a:cs typeface="+mn-cs"/>
                </a:endParaRPr>
              </a:p>
              <a:p>
                <a:r>
                  <a:rPr lang="en-US" sz="1200" i="0" kern="1200">
                    <a:solidFill>
                      <a:schemeClr val="tx1"/>
                    </a:solidFill>
                    <a:effectLst/>
                    <a:latin typeface="+mn-lt"/>
                    <a:ea typeface="+mn-ea"/>
                    <a:cs typeface="+mn-cs"/>
                  </a:rPr>
                  <a:t>𝑦(𝑠)</a:t>
                </a:r>
                <a:r>
                  <a:rPr lang="en-US" sz="1200" b="0" i="0" kern="1200">
                    <a:solidFill>
                      <a:schemeClr val="tx1"/>
                    </a:solidFill>
                    <a:effectLst/>
                    <a:latin typeface="Cambria Math" panose="02040503050406030204" pitchFamily="18" charset="0"/>
                    <a:ea typeface="+mn-ea"/>
                    <a:cs typeface="+mn-cs"/>
                  </a:rPr>
                  <a:t>  </a:t>
                </a:r>
                <a:r>
                  <a:rPr lang="en-US" sz="1200" kern="1200" dirty="0">
                    <a:solidFill>
                      <a:schemeClr val="tx1"/>
                    </a:solidFill>
                    <a:effectLst/>
                    <a:latin typeface="+mn-lt"/>
                    <a:ea typeface="+mn-ea"/>
                    <a:cs typeface="+mn-cs"/>
                  </a:rPr>
                  <a:t>= observed signal at sample s</a:t>
                </a:r>
              </a:p>
              <a:p>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(3.14) Purpose: </a:t>
                </a:r>
                <a:r>
                  <a:rPr lang="en-US" sz="1200" kern="1200" dirty="0">
                    <a:solidFill>
                      <a:schemeClr val="tx1"/>
                    </a:solidFill>
                    <a:effectLst/>
                    <a:latin typeface="+mn-lt"/>
                    <a:ea typeface="+mn-ea"/>
                    <a:cs typeface="+mn-cs"/>
                  </a:rPr>
                  <a:t>Decays an edge conductivity forward in time when it has not been reinforced.</a:t>
                </a:r>
              </a:p>
              <a:p>
                <a:r>
                  <a:rPr lang="en-US" sz="1200" i="0" kern="1200">
                    <a:solidFill>
                      <a:schemeClr val="tx1"/>
                    </a:solidFill>
                    <a:effectLst/>
                    <a:latin typeface="+mn-lt"/>
                    <a:ea typeface="+mn-ea"/>
                    <a:cs typeface="+mn-cs"/>
                  </a:rPr>
                  <a:t>𝐷_𝑒 (𝑡)=𝐷_𝑒 (𝑡_last ) (1−𝛾)^(𝑡−𝑡_last ) (3.14)</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(3.15) </a:t>
                </a:r>
                <a:r>
                  <a:rPr lang="en-US" sz="1200" kern="1200" dirty="0">
                    <a:solidFill>
                      <a:schemeClr val="tx1"/>
                    </a:solidFill>
                    <a:effectLst/>
                    <a:latin typeface="+mn-lt"/>
                    <a:ea typeface="+mn-ea"/>
                    <a:cs typeface="+mn-cs"/>
                  </a:rPr>
                  <a:t>REINTERPRETATION OF TERO </a:t>
                </a:r>
              </a:p>
              <a:p>
                <a:r>
                  <a:rPr lang="en-US" sz="1200" i="0" kern="1200">
                    <a:solidFill>
                      <a:schemeClr val="tx1"/>
                    </a:solidFill>
                    <a:effectLst/>
                    <a:latin typeface="+mn-lt"/>
                    <a:ea typeface="+mn-ea"/>
                    <a:cs typeface="+mn-cs"/>
                  </a:rPr>
                  <a:t>𝛼</a:t>
                </a:r>
                <a:r>
                  <a:rPr lang="en-US" sz="1200" kern="1200" dirty="0">
                    <a:solidFill>
                      <a:schemeClr val="tx1"/>
                    </a:solidFill>
                    <a:effectLst/>
                    <a:latin typeface="+mn-lt"/>
                    <a:ea typeface="+mn-ea"/>
                    <a:cs typeface="+mn-cs"/>
                  </a:rPr>
                  <a:t> = alpha is reinforcement gain</a:t>
                </a:r>
              </a:p>
              <a:p>
                <a:r>
                  <a:rPr lang="en-US" sz="1200" i="0" kern="1200">
                    <a:solidFill>
                      <a:schemeClr val="tx1"/>
                    </a:solidFill>
                    <a:effectLst/>
                    <a:latin typeface="+mn-lt"/>
                    <a:ea typeface="+mn-ea"/>
                    <a:cs typeface="+mn-cs"/>
                  </a:rPr>
                  <a:t>𝑄</a:t>
                </a:r>
                <a:r>
                  <a:rPr lang="en-US" sz="1200" kern="1200" dirty="0">
                    <a:solidFill>
                      <a:schemeClr val="tx1"/>
                    </a:solidFill>
                    <a:effectLst/>
                    <a:latin typeface="+mn-lt"/>
                    <a:ea typeface="+mn-ea"/>
                    <a:cs typeface="+mn-cs"/>
                  </a:rPr>
                  <a:t> = alignment</a:t>
                </a:r>
                <a:r>
                  <a:rPr lang="en-US" sz="1200" kern="1200" baseline="0" dirty="0">
                    <a:solidFill>
                      <a:schemeClr val="tx1"/>
                    </a:solidFill>
                    <a:effectLst/>
                    <a:latin typeface="+mn-lt"/>
                    <a:ea typeface="+mn-ea"/>
                    <a:cs typeface="+mn-cs"/>
                  </a:rPr>
                  <a:t> score (rather than flux through tube)</a:t>
                </a:r>
                <a:endParaRPr lang="en-US" sz="1200" kern="1200" dirty="0">
                  <a:solidFill>
                    <a:schemeClr val="tx1"/>
                  </a:solidFill>
                  <a:effectLst/>
                  <a:latin typeface="+mn-lt"/>
                  <a:ea typeface="+mn-ea"/>
                  <a:cs typeface="+mn-cs"/>
                </a:endParaRPr>
              </a:p>
              <a:p>
                <a:r>
                  <a:rPr lang="en-US" sz="1200" i="0" kern="1200">
                    <a:solidFill>
                      <a:schemeClr val="tx1"/>
                    </a:solidFill>
                    <a:effectLst/>
                    <a:latin typeface="+mn-lt"/>
                    <a:ea typeface="+mn-ea"/>
                    <a:cs typeface="+mn-cs"/>
                  </a:rPr>
                  <a:t>𝛾</a:t>
                </a:r>
                <a:r>
                  <a:rPr lang="en-US" sz="1200" kern="1200" dirty="0">
                    <a:solidFill>
                      <a:schemeClr val="tx1"/>
                    </a:solidFill>
                    <a:effectLst/>
                    <a:latin typeface="+mn-lt"/>
                    <a:ea typeface="+mn-ea"/>
                    <a:cs typeface="+mn-cs"/>
                  </a:rPr>
                  <a:t> = decay parameter</a:t>
                </a:r>
              </a:p>
              <a:p>
                <a:r>
                  <a:rPr lang="en-US" sz="1200" i="0" kern="1200">
                    <a:solidFill>
                      <a:schemeClr val="tx1"/>
                    </a:solidFill>
                    <a:effectLst/>
                    <a:latin typeface="+mn-lt"/>
                    <a:ea typeface="+mn-ea"/>
                    <a:cs typeface="+mn-cs"/>
                  </a:rPr>
                  <a:t>𝑡_last←𝑡</a:t>
                </a:r>
                <a:r>
                  <a:rPr lang="en-US" sz="1200" kern="1200" dirty="0">
                    <a:solidFill>
                      <a:schemeClr val="tx1"/>
                    </a:solidFill>
                    <a:effectLst/>
                    <a:latin typeface="+mn-lt"/>
                    <a:ea typeface="+mn-ea"/>
                    <a:cs typeface="+mn-cs"/>
                  </a:rPr>
                  <a:t> = updates last reinforcement time </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(3.16) Purpose: </a:t>
                </a:r>
                <a:r>
                  <a:rPr lang="en-US" sz="1200" kern="1200" dirty="0">
                    <a:solidFill>
                      <a:schemeClr val="tx1"/>
                    </a:solidFill>
                    <a:effectLst/>
                    <a:latin typeface="+mn-lt"/>
                    <a:ea typeface="+mn-ea"/>
                    <a:cs typeface="+mn-cs"/>
                  </a:rPr>
                  <a:t>Computes the conductivity-weighted expected signal increment for outgoing candidate edges.</a:t>
                </a:r>
              </a:p>
              <a:p>
                <a:r>
                  <a:rPr lang="en-US" sz="1200" i="0" kern="1200">
                    <a:solidFill>
                      <a:schemeClr val="tx1"/>
                    </a:solidFill>
                    <a:effectLst/>
                    <a:latin typeface="+mn-lt"/>
                    <a:ea typeface="+mn-ea"/>
                    <a:cs typeface="+mn-cs"/>
                  </a:rPr>
                  <a:t>inc(𝑟)=(∑1_𝑒^​▒𝐷 ̃_𝑒  𝛿 ‾_𝑒)/(∑1_𝑒^​▒𝐷 ̃_𝑒 ) (3.16)</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i="0" kern="1200">
                    <a:solidFill>
                      <a:schemeClr val="tx1"/>
                    </a:solidFill>
                    <a:effectLst/>
                    <a:latin typeface="+mn-lt"/>
                    <a:ea typeface="+mn-ea"/>
                    <a:cs typeface="+mn-cs"/>
                  </a:rPr>
                  <a:t>inc(𝑟)</a:t>
                </a:r>
                <a:r>
                  <a:rPr lang="en-US" sz="1200" kern="1200" dirty="0">
                    <a:solidFill>
                      <a:schemeClr val="tx1"/>
                    </a:solidFill>
                    <a:effectLst/>
                    <a:latin typeface="+mn-lt"/>
                    <a:ea typeface="+mn-ea"/>
                    <a:cs typeface="+mn-cs"/>
                  </a:rPr>
                  <a:t> = predicted </a:t>
                </a:r>
                <a:r>
                  <a:rPr lang="en-US" sz="1200" kern="1200" dirty="0" err="1">
                    <a:solidFill>
                      <a:schemeClr val="tx1"/>
                    </a:solidFill>
                    <a:effectLst/>
                    <a:latin typeface="+mn-lt"/>
                    <a:ea typeface="+mn-ea"/>
                    <a:cs typeface="+mn-cs"/>
                  </a:rPr>
                  <a:t>inc</a:t>
                </a:r>
                <a:r>
                  <a:rPr lang="en-US" sz="1200" kern="1200" baseline="0" dirty="0">
                    <a:solidFill>
                      <a:schemeClr val="tx1"/>
                    </a:solidFill>
                    <a:effectLst/>
                    <a:latin typeface="+mn-lt"/>
                    <a:ea typeface="+mn-ea"/>
                    <a:cs typeface="+mn-cs"/>
                  </a:rPr>
                  <a:t> from reference time r</a:t>
                </a:r>
                <a:endParaRPr lang="en-US" sz="1200" kern="1200" dirty="0">
                  <a:solidFill>
                    <a:schemeClr val="tx1"/>
                  </a:solidFill>
                  <a:effectLst/>
                  <a:latin typeface="+mn-lt"/>
                  <a:ea typeface="+mn-ea"/>
                  <a:cs typeface="+mn-cs"/>
                </a:endParaRPr>
              </a:p>
              <a:p>
                <a:r>
                  <a:rPr lang="en-US" sz="1200" i="0" kern="1200">
                    <a:solidFill>
                      <a:schemeClr val="tx1"/>
                    </a:solidFill>
                    <a:effectLst/>
                    <a:latin typeface="+mn-lt"/>
                    <a:ea typeface="+mn-ea"/>
                    <a:cs typeface="+mn-cs"/>
                  </a:rPr>
                  <a:t>∑1_𝑒^​▒​</a:t>
                </a:r>
                <a:r>
                  <a:rPr lang="en-US" sz="1200" kern="1200" dirty="0">
                    <a:solidFill>
                      <a:schemeClr val="tx1"/>
                    </a:solidFill>
                    <a:effectLst/>
                    <a:latin typeface="+mn-lt"/>
                    <a:ea typeface="+mn-ea"/>
                    <a:cs typeface="+mn-cs"/>
                  </a:rPr>
                  <a:t> = sum over e (relevant edges)</a:t>
                </a:r>
              </a:p>
              <a:p>
                <a:r>
                  <a:rPr lang="en-US" sz="1200" i="0" kern="1200">
                    <a:solidFill>
                      <a:schemeClr val="tx1"/>
                    </a:solidFill>
                    <a:effectLst/>
                    <a:latin typeface="+mn-lt"/>
                    <a:ea typeface="+mn-ea"/>
                    <a:cs typeface="+mn-cs"/>
                  </a:rPr>
                  <a:t>𝐷 ̃_𝑒</a:t>
                </a:r>
                <a:r>
                  <a:rPr lang="en-US" sz="1200" kern="1200" dirty="0">
                    <a:solidFill>
                      <a:schemeClr val="tx1"/>
                    </a:solidFill>
                    <a:effectLst/>
                    <a:latin typeface="+mn-lt"/>
                    <a:ea typeface="+mn-ea"/>
                    <a:cs typeface="+mn-cs"/>
                  </a:rPr>
                  <a:t> = D-tilde sub e = </a:t>
                </a:r>
                <a:r>
                  <a:rPr lang="en-US" sz="1200" kern="1200" dirty="0" err="1">
                    <a:solidFill>
                      <a:schemeClr val="tx1"/>
                    </a:solidFill>
                    <a:effectLst/>
                    <a:latin typeface="+mn-lt"/>
                    <a:ea typeface="+mn-ea"/>
                    <a:cs typeface="+mn-cs"/>
                  </a:rPr>
                  <a:t>cond</a:t>
                </a:r>
                <a:r>
                  <a:rPr lang="en-US" sz="1200" kern="1200" dirty="0">
                    <a:solidFill>
                      <a:schemeClr val="tx1"/>
                    </a:solidFill>
                    <a:effectLst/>
                    <a:latin typeface="+mn-lt"/>
                    <a:ea typeface="+mn-ea"/>
                    <a:cs typeface="+mn-cs"/>
                  </a:rPr>
                  <a:t> decayed to common ref time</a:t>
                </a:r>
              </a:p>
              <a:p>
                <a:r>
                  <a:rPr lang="en-US" sz="1200" i="0" kern="1200">
                    <a:solidFill>
                      <a:schemeClr val="tx1"/>
                    </a:solidFill>
                    <a:effectLst/>
                    <a:latin typeface="+mn-lt"/>
                    <a:ea typeface="+mn-ea"/>
                    <a:cs typeface="+mn-cs"/>
                  </a:rPr>
                  <a:t>𝛿 ‾_𝑒</a:t>
                </a:r>
                <a:r>
                  <a:rPr lang="en-US" sz="1200" kern="1200" dirty="0">
                    <a:solidFill>
                      <a:schemeClr val="tx1"/>
                    </a:solidFill>
                    <a:effectLst/>
                    <a:latin typeface="+mn-lt"/>
                    <a:ea typeface="+mn-ea"/>
                    <a:cs typeface="+mn-cs"/>
                  </a:rPr>
                  <a:t> = mean signal increment stored on edge e</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p:txBody>
          </p:sp>
        </mc:Fallback>
      </mc:AlternateContent>
    </p:spTree>
    <p:extLst>
      <p:ext uri="{BB962C8B-B14F-4D97-AF65-F5344CB8AC3E}">
        <p14:creationId xmlns:p14="http://schemas.microsoft.com/office/powerpoint/2010/main" val="12454561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19432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528790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000" dirty="0"/>
          </a:p>
        </p:txBody>
      </p:sp>
    </p:spTree>
    <p:extLst>
      <p:ext uri="{BB962C8B-B14F-4D97-AF65-F5344CB8AC3E}">
        <p14:creationId xmlns:p14="http://schemas.microsoft.com/office/powerpoint/2010/main" val="17777224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20743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834864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49347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1726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7B2FF-4CDD-C835-055F-732D7B7068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0DC475-C02D-37CC-6A25-38D0BE66C9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928508-FAFD-1010-8F5E-73F90E962E0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750893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169917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726162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737367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549982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Tree>
    <p:extLst>
      <p:ext uri="{BB962C8B-B14F-4D97-AF65-F5344CB8AC3E}">
        <p14:creationId xmlns:p14="http://schemas.microsoft.com/office/powerpoint/2010/main" val="37079323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Synthetic panel – time warping </a:t>
            </a:r>
          </a:p>
          <a:p>
            <a:r>
              <a:rPr lang="en-US" altLang="zh-TW" dirty="0"/>
              <a:t>Transfers directly real world panel results </a:t>
            </a:r>
          </a:p>
          <a:p>
            <a:endParaRPr lang="zh-TW" altLang="en-US" dirty="0"/>
          </a:p>
        </p:txBody>
      </p:sp>
    </p:spTree>
    <p:extLst>
      <p:ext uri="{BB962C8B-B14F-4D97-AF65-F5344CB8AC3E}">
        <p14:creationId xmlns:p14="http://schemas.microsoft.com/office/powerpoint/2010/main" val="14319084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p:txBody>
      </p:sp>
    </p:spTree>
    <p:extLst>
      <p:ext uri="{BB962C8B-B14F-4D97-AF65-F5344CB8AC3E}">
        <p14:creationId xmlns:p14="http://schemas.microsoft.com/office/powerpoint/2010/main" val="1463872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C06D0A9-EA07-4F7F-8038-8F47CDE2CD2C}" type="datetime1">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BC82103-6ED2-4642-959B-53E314506D8F}" type="datetime1">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9E1E394-05D0-450A-A8F7-55E270A935AB}" type="datetime1">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A08F089-8F3C-479C-9E71-0C0931A9AB45}" type="datetime1">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7C0D2F5-20D9-49B3-A9B5-14451EBC64C6}" type="datetime1">
              <a:rPr lang="en-US" smtClean="0"/>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5D7655C-D4CE-468E-85E4-D9EDCDBA1AEC}" type="datetime1">
              <a:rPr lang="en-US" smtClean="0"/>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7D6362-D1F8-45EE-8B72-535E1B164537}" type="datetime1">
              <a:rPr lang="en-US" smtClean="0"/>
              <a:t>10/22/2026</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a:xfrm>
            <a:off x="15925800" y="9715500"/>
            <a:ext cx="2133600" cy="365125"/>
          </a:xfrm>
        </p:spPr>
        <p:txBody>
          <a:bodyPr/>
          <a:lstStyle>
            <a:lvl1pPr>
              <a:defRPr sz="2400"/>
            </a:lvl1pPr>
          </a:lstStyle>
          <a:p>
            <a:fld id="{B6F15528-21DE-4FAA-801E-634DDDAF4B2B}" type="slidenum">
              <a:rPr lang="en-US" smtClean="0"/>
              <a:pPr/>
              <a:t>‹#›</a:t>
            </a:fld>
            <a:endParaRPr lang="en-US" sz="240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D74F6CE-6FDE-47A0-8859-23405FE7B692}" type="datetime1">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64FF4C6-62CA-4770-BD0C-7B28BD7CBB03}" type="datetime1">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28BF75A-AFBD-4D0E-8B3F-795FB1AA763E}" type="datetime1">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4062BF-1714-4B04-BA4C-D24C56C86B1B}" type="datetime1">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86F8AD-D346-449E-A38F-9A5DED26097D}" type="datetime1">
              <a:rPr lang="en-US" smtClean="0"/>
              <a:t>10/22/2026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svg"/><Relationship Id="rId7" Type="http://schemas.openxmlformats.org/officeDocument/2006/relationships/image" Target="../media/image60.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svg"/><Relationship Id="rId7"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00.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0.png"/><Relationship Id="rId7"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1.svg"/></Relationships>
</file>

<file path=ppt/slides/_rels/slide1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6.sv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60.png"/><Relationship Id="rId7" Type="http://schemas.openxmlformats.org/officeDocument/2006/relationships/image" Target="../media/image170.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svg"/></Relationships>
</file>

<file path=ppt/slides/_rels/slide1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9.png"/><Relationship Id="rId7"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svg"/></Relationships>
</file>

<file path=ppt/slides/_rels/slide1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17.sv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20.png"/><Relationship Id="rId7"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sv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sv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png"/><Relationship Id="rId4" Type="http://schemas.openxmlformats.org/officeDocument/2006/relationships/image" Target="../media/image1.sv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1.sv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1.svg"/><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5.sv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2.png"/><Relationship Id="rId4" Type="http://schemas.openxmlformats.org/officeDocument/2006/relationships/image" Target="../media/image1.svg"/></Relationships>
</file>

<file path=ppt/slides/_rels/slide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5.sv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5.svg"/><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7" Type="http://schemas.openxmlformats.org/officeDocument/2006/relationships/image" Target="../media/image39.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2.png"/><Relationship Id="rId4" Type="http://schemas.openxmlformats.org/officeDocument/2006/relationships/image" Target="../media/image410.png"/></Relationships>
</file>

<file path=ppt/slides/_rels/slide30.xml.rels><?xml version="1.0" encoding="UTF-8" standalone="yes"?>
<Relationships xmlns="http://schemas.openxmlformats.org/package/2006/relationships"><Relationship Id="rId3" Type="http://schemas.openxmlformats.org/officeDocument/2006/relationships/image" Target="../media/image1.svg"/><Relationship Id="rId7" Type="http://schemas.openxmlformats.org/officeDocument/2006/relationships/image" Target="../media/image42.pn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3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48.svg"/><Relationship Id="rId5" Type="http://schemas.openxmlformats.org/officeDocument/2006/relationships/image" Target="../media/image47.svg"/><Relationship Id="rId4" Type="http://schemas.openxmlformats.org/officeDocument/2006/relationships/image" Target="../media/image46.svg"/></Relationships>
</file>

<file path=ppt/slides/_rels/slide35.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notesSlide" Target="../notesSlides/notesSlide28.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sv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lin ang="0"/>
        </a:gradFill>
        <a:effectLst/>
      </p:bgPr>
    </p:bg>
    <p:spTree>
      <p:nvGrpSpPr>
        <p:cNvPr id="1" name=""/>
        <p:cNvGrpSpPr/>
        <p:nvPr/>
      </p:nvGrpSpPr>
      <p:grpSpPr>
        <a:xfrm>
          <a:off x="0" y="0"/>
          <a:ext cx="0" cy="0"/>
          <a:chOff x="0" y="0"/>
          <a:chExt cx="0" cy="0"/>
        </a:xfrm>
      </p:grpSpPr>
      <p:sp>
        <p:nvSpPr>
          <p:cNvPr id="2" name="AutoShape 2"/>
          <p:cNvSpPr/>
          <p:nvPr/>
        </p:nvSpPr>
        <p:spPr>
          <a:xfrm flipV="1">
            <a:off x="17278350" y="0"/>
            <a:ext cx="0" cy="6492240"/>
          </a:xfrm>
          <a:prstGeom prst="line">
            <a:avLst/>
          </a:prstGeom>
          <a:ln w="19050" cap="flat">
            <a:solidFill>
              <a:srgbClr val="FFFFFF"/>
            </a:solidFill>
            <a:prstDash val="solid"/>
            <a:headEnd type="none" w="sm" len="sm"/>
            <a:tailEnd type="none" w="sm" len="sm"/>
          </a:ln>
        </p:spPr>
        <p:txBody>
          <a:bodyPr/>
          <a:lstStyle/>
          <a:p>
            <a:endParaRPr lang="en-US"/>
          </a:p>
        </p:txBody>
      </p:sp>
      <p:sp>
        <p:nvSpPr>
          <p:cNvPr id="3" name="AutoShape 3"/>
          <p:cNvSpPr/>
          <p:nvPr/>
        </p:nvSpPr>
        <p:spPr>
          <a:xfrm flipV="1">
            <a:off x="17278350" y="7262754"/>
            <a:ext cx="0" cy="960120"/>
          </a:xfrm>
          <a:prstGeom prst="line">
            <a:avLst/>
          </a:prstGeom>
          <a:ln w="19050" cap="flat">
            <a:solidFill>
              <a:srgbClr val="FFFFFF"/>
            </a:solidFill>
            <a:prstDash val="solid"/>
            <a:headEnd type="none" w="sm" len="sm"/>
            <a:tailEnd type="none" w="sm" len="sm"/>
          </a:ln>
        </p:spPr>
        <p:txBody>
          <a:bodyPr/>
          <a:lstStyle/>
          <a:p>
            <a:endParaRPr lang="en-US"/>
          </a:p>
        </p:txBody>
      </p:sp>
      <p:sp>
        <p:nvSpPr>
          <p:cNvPr id="4" name="Freeform 4"/>
          <p:cNvSpPr/>
          <p:nvPr/>
        </p:nvSpPr>
        <p:spPr>
          <a:xfrm>
            <a:off x="13528221" y="1317171"/>
            <a:ext cx="3477986" cy="3477986"/>
          </a:xfrm>
          <a:custGeom>
            <a:avLst/>
            <a:gdLst/>
            <a:ahLst/>
            <a:cxnLst/>
            <a:rect l="l" t="t" r="r" b="b"/>
            <a:pathLst>
              <a:path w="3477986" h="3477986">
                <a:moveTo>
                  <a:pt x="0" y="0"/>
                </a:moveTo>
                <a:lnTo>
                  <a:pt x="3477986" y="0"/>
                </a:lnTo>
                <a:lnTo>
                  <a:pt x="3477986" y="3477986"/>
                </a:lnTo>
                <a:lnTo>
                  <a:pt x="0" y="3477986"/>
                </a:lnTo>
                <a:lnTo>
                  <a:pt x="0" y="0"/>
                </a:lnTo>
                <a:close/>
              </a:path>
            </a:pathLst>
          </a:custGeom>
          <a:blipFill>
            <a:blip>
              <a:alphaModFix amt="41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5" name="Group 5"/>
          <p:cNvGrpSpPr/>
          <p:nvPr/>
        </p:nvGrpSpPr>
        <p:grpSpPr>
          <a:xfrm>
            <a:off x="-376338" y="7864470"/>
            <a:ext cx="3223468" cy="3223468"/>
            <a:chOff x="0" y="0"/>
            <a:chExt cx="4297958" cy="4297958"/>
          </a:xfrm>
        </p:grpSpPr>
        <p:sp>
          <p:nvSpPr>
            <p:cNvPr id="6" name="Freeform 6"/>
            <p:cNvSpPr/>
            <p:nvPr/>
          </p:nvSpPr>
          <p:spPr>
            <a:xfrm>
              <a:off x="0" y="0"/>
              <a:ext cx="4297958" cy="4297958"/>
            </a:xfrm>
            <a:custGeom>
              <a:avLst/>
              <a:gdLst/>
              <a:ahLst/>
              <a:cxnLst/>
              <a:rect l="l" t="t" r="r" b="b"/>
              <a:pathLst>
                <a:path w="4297958" h="4297958">
                  <a:moveTo>
                    <a:pt x="0" y="0"/>
                  </a:moveTo>
                  <a:lnTo>
                    <a:pt x="4297958" y="0"/>
                  </a:lnTo>
                  <a:lnTo>
                    <a:pt x="4297958" y="4297958"/>
                  </a:lnTo>
                  <a:lnTo>
                    <a:pt x="0" y="4297958"/>
                  </a:lnTo>
                  <a:lnTo>
                    <a:pt x="0" y="0"/>
                  </a:lnTo>
                  <a:close/>
                </a:path>
              </a:pathLst>
            </a:custGeom>
            <a:blipFill>
              <a:blip>
                <a:alphaModFix amt="4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p:cNvSpPr/>
            <p:nvPr/>
          </p:nvSpPr>
          <p:spPr>
            <a:xfrm>
              <a:off x="759000" y="1334469"/>
              <a:ext cx="2779958" cy="1629020"/>
            </a:xfrm>
            <a:custGeom>
              <a:avLst/>
              <a:gdLst/>
              <a:ahLst/>
              <a:cxnLst/>
              <a:rect l="l" t="t" r="r" b="b"/>
              <a:pathLst>
                <a:path w="2779958" h="1629020">
                  <a:moveTo>
                    <a:pt x="0" y="0"/>
                  </a:moveTo>
                  <a:lnTo>
                    <a:pt x="2779958" y="0"/>
                  </a:lnTo>
                  <a:lnTo>
                    <a:pt x="2779958" y="1629020"/>
                  </a:lnTo>
                  <a:lnTo>
                    <a:pt x="0" y="1629020"/>
                  </a:lnTo>
                  <a:lnTo>
                    <a:pt x="0" y="0"/>
                  </a:lnTo>
                  <a:close/>
                </a:path>
              </a:pathLst>
            </a:custGeom>
            <a:blipFill>
              <a:blip r:embed="rId4"/>
              <a:stretch>
                <a:fillRect/>
              </a:stretch>
            </a:blipFill>
          </p:spPr>
          <p:txBody>
            <a:bodyPr/>
            <a:lstStyle/>
            <a:p>
              <a:endParaRPr lang="en-US"/>
            </a:p>
          </p:txBody>
        </p:sp>
      </p:grpSp>
      <p:sp>
        <p:nvSpPr>
          <p:cNvPr id="8" name="TextBox 8"/>
          <p:cNvSpPr txBox="1"/>
          <p:nvPr/>
        </p:nvSpPr>
        <p:spPr>
          <a:xfrm>
            <a:off x="1788034" y="4059197"/>
            <a:ext cx="9782288" cy="2384627"/>
          </a:xfrm>
          <a:prstGeom prst="rect">
            <a:avLst/>
          </a:prstGeom>
        </p:spPr>
        <p:txBody>
          <a:bodyPr lIns="0" tIns="0" rIns="0" bIns="0" rtlCol="0" anchor="t">
            <a:spAutoFit/>
          </a:bodyPr>
          <a:lstStyle/>
          <a:p>
            <a:pPr algn="l">
              <a:lnSpc>
                <a:spcPts val="6260"/>
              </a:lnSpc>
            </a:pPr>
            <a:r>
              <a:rPr lang="en-US" sz="5004" b="1" spc="-15" dirty="0">
                <a:solidFill>
                  <a:srgbClr val="D7E5D8"/>
                </a:solidFill>
                <a:latin typeface="IBM Plex Sans Bold"/>
                <a:ea typeface="IBM Plex Sans Bold"/>
                <a:cs typeface="IBM Plex Sans Bold"/>
                <a:sym typeface="IBM Plex Sans Bold"/>
              </a:rPr>
              <a:t>A BIO-INSPIRED STREAMING FORECASTER FOR TIME SERIES UNDER CATEGORICAL DRIFT</a:t>
            </a:r>
          </a:p>
        </p:txBody>
      </p:sp>
      <p:sp>
        <p:nvSpPr>
          <p:cNvPr id="9" name="TextBox 9"/>
          <p:cNvSpPr txBox="1"/>
          <p:nvPr/>
        </p:nvSpPr>
        <p:spPr>
          <a:xfrm>
            <a:off x="1788034" y="3037114"/>
            <a:ext cx="11376526" cy="925885"/>
          </a:xfrm>
          <a:prstGeom prst="rect">
            <a:avLst/>
          </a:prstGeom>
        </p:spPr>
        <p:txBody>
          <a:bodyPr lIns="0" tIns="0" rIns="0" bIns="0" rtlCol="0" anchor="t">
            <a:spAutoFit/>
          </a:bodyPr>
          <a:lstStyle/>
          <a:p>
            <a:pPr algn="l">
              <a:lnSpc>
                <a:spcPts val="7445"/>
              </a:lnSpc>
            </a:pPr>
            <a:r>
              <a:rPr lang="en-US" sz="5951" b="1" spc="-17" dirty="0">
                <a:solidFill>
                  <a:srgbClr val="9CD52C"/>
                </a:solidFill>
                <a:latin typeface="IBM Plex Sans Bold"/>
                <a:ea typeface="IBM Plex Sans Bold"/>
                <a:cs typeface="IBM Plex Sans Bold"/>
                <a:sym typeface="IBM Plex Sans Bold"/>
              </a:rPr>
              <a:t>TOPOLOGY THAT LEARNS:</a:t>
            </a:r>
          </a:p>
        </p:txBody>
      </p:sp>
      <p:sp>
        <p:nvSpPr>
          <p:cNvPr id="10" name="TextBox 10"/>
          <p:cNvSpPr txBox="1"/>
          <p:nvPr/>
        </p:nvSpPr>
        <p:spPr>
          <a:xfrm>
            <a:off x="1788034" y="6781542"/>
            <a:ext cx="13070005" cy="1375826"/>
          </a:xfrm>
          <a:prstGeom prst="rect">
            <a:avLst/>
          </a:prstGeom>
        </p:spPr>
        <p:txBody>
          <a:bodyPr lIns="0" tIns="0" rIns="0" bIns="0" rtlCol="0" anchor="t">
            <a:spAutoFit/>
          </a:bodyPr>
          <a:lstStyle/>
          <a:p>
            <a:pPr algn="l">
              <a:lnSpc>
                <a:spcPts val="4149"/>
              </a:lnSpc>
            </a:pPr>
            <a:r>
              <a:rPr lang="en-US" sz="2575" spc="-7" dirty="0">
                <a:solidFill>
                  <a:srgbClr val="D7E5D8"/>
                </a:solidFill>
                <a:latin typeface="IBM Plex Sans"/>
                <a:ea typeface="IBM Plex Sans"/>
                <a:cs typeface="IBM Plex Sans"/>
                <a:sym typeface="IBM Plex Sans"/>
              </a:rPr>
              <a:t>Researcher: Susannah Hollister Cutler</a:t>
            </a:r>
          </a:p>
          <a:p>
            <a:pPr algn="l">
              <a:lnSpc>
                <a:spcPts val="4149"/>
              </a:lnSpc>
            </a:pPr>
            <a:r>
              <a:rPr lang="en-US" sz="2575" spc="-7" dirty="0">
                <a:solidFill>
                  <a:srgbClr val="D7E5D8"/>
                </a:solidFill>
                <a:latin typeface="IBM Plex Sans"/>
                <a:ea typeface="IBM Plex Sans"/>
                <a:cs typeface="IBM Plex Sans"/>
                <a:sym typeface="IBM Plex Sans"/>
              </a:rPr>
              <a:t>Advisor: Chih-Hung G. Li, </a:t>
            </a:r>
            <a:r>
              <a:rPr lang="en-US" sz="2575" spc="-7" dirty="0" err="1">
                <a:solidFill>
                  <a:srgbClr val="D7E5D8"/>
                </a:solidFill>
                <a:latin typeface="IBM Plex Sans"/>
                <a:ea typeface="IBM Plex Sans"/>
                <a:cs typeface="IBM Plex Sans"/>
                <a:sym typeface="IBM Plex Sans"/>
              </a:rPr>
              <a:t>Ph.D</a:t>
            </a:r>
            <a:endParaRPr lang="en-US" sz="2575" spc="-7" dirty="0">
              <a:solidFill>
                <a:srgbClr val="D7E5D8"/>
              </a:solidFill>
              <a:latin typeface="IBM Plex Sans"/>
              <a:ea typeface="IBM Plex Sans"/>
              <a:cs typeface="IBM Plex Sans"/>
              <a:sym typeface="IBM Plex Sans"/>
            </a:endParaRPr>
          </a:p>
          <a:p>
            <a:pPr algn="l">
              <a:lnSpc>
                <a:spcPts val="2538"/>
              </a:lnSpc>
            </a:pPr>
            <a:endParaRPr lang="en-US" sz="2575" spc="-7" dirty="0">
              <a:solidFill>
                <a:srgbClr val="D7E5D8"/>
              </a:solidFill>
              <a:latin typeface="IBM Plex Sans"/>
              <a:ea typeface="IBM Plex Sans"/>
              <a:cs typeface="IBM Plex Sans"/>
              <a:sym typeface="IBM Plex Sans"/>
            </a:endParaRPr>
          </a:p>
        </p:txBody>
      </p:sp>
      <p:sp>
        <p:nvSpPr>
          <p:cNvPr id="12" name="Freeform 12"/>
          <p:cNvSpPr/>
          <p:nvPr/>
        </p:nvSpPr>
        <p:spPr>
          <a:xfrm>
            <a:off x="990955" y="751871"/>
            <a:ext cx="2737757" cy="2737757"/>
          </a:xfrm>
          <a:custGeom>
            <a:avLst/>
            <a:gdLst/>
            <a:ahLst/>
            <a:cxnLst/>
            <a:rect l="l" t="t" r="r" b="b"/>
            <a:pathLst>
              <a:path w="2737757" h="2737757">
                <a:moveTo>
                  <a:pt x="0" y="0"/>
                </a:moveTo>
                <a:lnTo>
                  <a:pt x="2737757" y="0"/>
                </a:lnTo>
                <a:lnTo>
                  <a:pt x="2737757" y="2737757"/>
                </a:lnTo>
                <a:lnTo>
                  <a:pt x="0" y="2737757"/>
                </a:lnTo>
                <a:lnTo>
                  <a:pt x="0" y="0"/>
                </a:lnTo>
                <a:close/>
              </a:path>
            </a:pathLst>
          </a:custGeom>
          <a:blipFill>
            <a:blip>
              <a:alphaModFix amt="4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3" name="TextBox 13"/>
          <p:cNvSpPr txBox="1"/>
          <p:nvPr/>
        </p:nvSpPr>
        <p:spPr>
          <a:xfrm>
            <a:off x="15428312" y="8840747"/>
            <a:ext cx="1830988" cy="417553"/>
          </a:xfrm>
          <a:prstGeom prst="rect">
            <a:avLst/>
          </a:prstGeom>
        </p:spPr>
        <p:txBody>
          <a:bodyPr lIns="0" tIns="0" rIns="0" bIns="0" rtlCol="0" anchor="t">
            <a:spAutoFit/>
          </a:bodyPr>
          <a:lstStyle/>
          <a:p>
            <a:pPr algn="l">
              <a:lnSpc>
                <a:spcPts val="3435"/>
              </a:lnSpc>
            </a:pPr>
            <a:r>
              <a:rPr lang="en-US" sz="2664" b="1" spc="26">
                <a:solidFill>
                  <a:srgbClr val="B7EE4A"/>
                </a:solidFill>
                <a:latin typeface="IBM Plex Sans Bold"/>
                <a:ea typeface="IBM Plex Sans Bold"/>
                <a:cs typeface="IBM Plex Sans Bold"/>
                <a:sym typeface="IBM Plex Sans Bold"/>
              </a:rPr>
              <a:t>July 2026</a:t>
            </a:r>
          </a:p>
        </p:txBody>
      </p:sp>
      <p:sp>
        <p:nvSpPr>
          <p:cNvPr id="14" name="TextBox 1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a:t>
            </a:r>
          </a:p>
        </p:txBody>
      </p:sp>
      <p:sp>
        <p:nvSpPr>
          <p:cNvPr id="11" name="TextBox 11"/>
          <p:cNvSpPr txBox="1"/>
          <p:nvPr/>
        </p:nvSpPr>
        <p:spPr>
          <a:xfrm>
            <a:off x="1788034" y="1891869"/>
            <a:ext cx="13070005" cy="1378904"/>
          </a:xfrm>
          <a:prstGeom prst="rect">
            <a:avLst/>
          </a:prstGeom>
        </p:spPr>
        <p:txBody>
          <a:bodyPr lIns="0" tIns="0" rIns="0" bIns="0" rtlCol="0" anchor="t">
            <a:spAutoFit/>
          </a:bodyPr>
          <a:lstStyle/>
          <a:p>
            <a:pPr>
              <a:lnSpc>
                <a:spcPts val="3666"/>
              </a:lnSpc>
            </a:pPr>
            <a:r>
              <a:rPr lang="en-US" sz="2400" spc="-6" dirty="0">
                <a:solidFill>
                  <a:srgbClr val="D7E5D8"/>
                </a:solidFill>
                <a:ea typeface="IBM Plex Sans"/>
                <a:cs typeface="IBM Plex Sans"/>
                <a:sym typeface="IBM Plex Sans"/>
              </a:rPr>
              <a:t>Master’s Thesis Defense </a:t>
            </a:r>
          </a:p>
          <a:p>
            <a:pPr>
              <a:lnSpc>
                <a:spcPts val="3666"/>
              </a:lnSpc>
            </a:pPr>
            <a:r>
              <a:rPr lang="en-US" sz="2000" b="1" dirty="0">
                <a:solidFill>
                  <a:schemeClr val="bg1">
                    <a:lumMod val="50000"/>
                  </a:schemeClr>
                </a:solidFill>
              </a:rPr>
              <a:t>International Master Program in Mechanical and Automation Engineering </a:t>
            </a:r>
            <a:endParaRPr lang="en-US" sz="2000" dirty="0">
              <a:solidFill>
                <a:schemeClr val="bg1">
                  <a:lumMod val="50000"/>
                </a:schemeClr>
              </a:solidFill>
            </a:endParaRPr>
          </a:p>
          <a:p>
            <a:pPr algn="l">
              <a:lnSpc>
                <a:spcPts val="3666"/>
              </a:lnSpc>
            </a:pPr>
            <a:endParaRPr lang="en-US" sz="2275" spc="-6" dirty="0">
              <a:solidFill>
                <a:srgbClr val="D7E5D8"/>
              </a:solidFill>
              <a:latin typeface="IBM Plex Sans"/>
              <a:ea typeface="IBM Plex Sans"/>
              <a:cs typeface="IBM Plex Sans"/>
              <a:sym typeface="IBM Plex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lin ang="5400000"/>
        </a:gradFill>
        <a:effectLst/>
      </p:bgPr>
    </p:bg>
    <p:spTree>
      <p:nvGrpSpPr>
        <p:cNvPr id="1" name="">
          <a:extLst>
            <a:ext uri="{FF2B5EF4-FFF2-40B4-BE49-F238E27FC236}">
              <a16:creationId xmlns:a16="http://schemas.microsoft.com/office/drawing/2014/main" id="{E5281A15-9FA8-97EC-680E-91D763E3EFD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AABE057-8480-14D5-7FA7-73B36FE9AD97}"/>
              </a:ext>
            </a:extLst>
          </p:cNvPr>
          <p:cNvSpPr/>
          <p:nvPr/>
        </p:nvSpPr>
        <p:spPr>
          <a:xfrm flipV="1">
            <a:off x="500412" y="62275"/>
            <a:ext cx="0" cy="6492240"/>
          </a:xfrm>
          <a:prstGeom prst="line">
            <a:avLst/>
          </a:prstGeom>
          <a:ln w="1905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F17474EF-3CB5-36E6-62E4-EDBE4D9D2651}"/>
              </a:ext>
            </a:extLst>
          </p:cNvPr>
          <p:cNvSpPr/>
          <p:nvPr/>
        </p:nvSpPr>
        <p:spPr>
          <a:xfrm flipV="1">
            <a:off x="500412" y="7053950"/>
            <a:ext cx="0" cy="960120"/>
          </a:xfrm>
          <a:prstGeom prst="line">
            <a:avLst/>
          </a:prstGeom>
          <a:ln w="19050" cap="flat">
            <a:solidFill>
              <a:srgbClr val="FFFFFF"/>
            </a:solidFill>
            <a:prstDash val="solid"/>
            <a:headEnd type="none" w="sm" len="sm"/>
            <a:tailEnd type="none" w="sm" len="sm"/>
          </a:ln>
        </p:spPr>
        <p:txBody>
          <a:bodyPr/>
          <a:lstStyle/>
          <a:p>
            <a:endParaRPr lang="en-US"/>
          </a:p>
        </p:txBody>
      </p:sp>
      <p:sp>
        <p:nvSpPr>
          <p:cNvPr id="4" name="AutoShape 4">
            <a:extLst>
              <a:ext uri="{FF2B5EF4-FFF2-40B4-BE49-F238E27FC236}">
                <a16:creationId xmlns:a16="http://schemas.microsoft.com/office/drawing/2014/main" id="{6AB1CC85-EC60-B8D5-1AE5-4D69066281D8}"/>
              </a:ext>
            </a:extLst>
          </p:cNvPr>
          <p:cNvSpPr/>
          <p:nvPr/>
        </p:nvSpPr>
        <p:spPr>
          <a:xfrm flipV="1">
            <a:off x="500412" y="8446345"/>
            <a:ext cx="0" cy="442454"/>
          </a:xfrm>
          <a:prstGeom prst="line">
            <a:avLst/>
          </a:prstGeom>
          <a:ln w="19050" cap="flat">
            <a:solidFill>
              <a:srgbClr val="FFFFFF"/>
            </a:solidFill>
            <a:prstDash val="solid"/>
            <a:headEnd type="none" w="sm" len="sm"/>
            <a:tailEnd type="none" w="sm" len="sm"/>
          </a:ln>
        </p:spPr>
        <p:txBody>
          <a:bodyPr/>
          <a:lstStyle/>
          <a:p>
            <a:endParaRPr lang="en-US"/>
          </a:p>
        </p:txBody>
      </p:sp>
      <p:sp>
        <p:nvSpPr>
          <p:cNvPr id="5" name="Freeform 5">
            <a:extLst>
              <a:ext uri="{FF2B5EF4-FFF2-40B4-BE49-F238E27FC236}">
                <a16:creationId xmlns:a16="http://schemas.microsoft.com/office/drawing/2014/main" id="{9E2AFA32-A92E-6BCC-3B2A-1A36EAF8CCF7}"/>
              </a:ext>
            </a:extLst>
          </p:cNvPr>
          <p:cNvSpPr/>
          <p:nvPr/>
        </p:nvSpPr>
        <p:spPr>
          <a:xfrm>
            <a:off x="15957252" y="1682187"/>
            <a:ext cx="2330748" cy="2330748"/>
          </a:xfrm>
          <a:custGeom>
            <a:avLst/>
            <a:gdLst/>
            <a:ahLst/>
            <a:cxnLst/>
            <a:rect l="l" t="t" r="r" b="b"/>
            <a:pathLst>
              <a:path w="2330748" h="2330748">
                <a:moveTo>
                  <a:pt x="0" y="0"/>
                </a:moveTo>
                <a:lnTo>
                  <a:pt x="2330748" y="0"/>
                </a:lnTo>
                <a:lnTo>
                  <a:pt x="2330748" y="2330748"/>
                </a:lnTo>
                <a:lnTo>
                  <a:pt x="0" y="2330748"/>
                </a:lnTo>
                <a:lnTo>
                  <a:pt x="0" y="0"/>
                </a:lnTo>
                <a:close/>
              </a:path>
            </a:pathLst>
          </a:custGeom>
          <a:blipFill>
            <a:blip>
              <a:alphaModFix amt="37000"/>
              <a:extLst>
                <a:ext uri="{96DAC541-7B7A-43D3-8B79-37D633B846F1}">
                  <asvg:svgBlip xmlns:asvg="http://schemas.microsoft.com/office/drawing/2016/SVG/main" r:embed="rId2"/>
                </a:ext>
              </a:extLst>
            </a:blip>
            <a:stretch>
              <a:fillRect/>
            </a:stretch>
          </a:blipFill>
        </p:spPr>
        <p:txBody>
          <a:bodyPr/>
          <a:lstStyle/>
          <a:p>
            <a:endParaRPr lang="en-US"/>
          </a:p>
        </p:txBody>
      </p:sp>
      <p:sp>
        <p:nvSpPr>
          <p:cNvPr id="6" name="Freeform 6">
            <a:extLst>
              <a:ext uri="{FF2B5EF4-FFF2-40B4-BE49-F238E27FC236}">
                <a16:creationId xmlns:a16="http://schemas.microsoft.com/office/drawing/2014/main" id="{717B1CEA-2A9C-8438-3F69-A413D7544317}"/>
              </a:ext>
            </a:extLst>
          </p:cNvPr>
          <p:cNvSpPr/>
          <p:nvPr/>
        </p:nvSpPr>
        <p:spPr>
          <a:xfrm>
            <a:off x="10931283" y="9538070"/>
            <a:ext cx="964746" cy="964746"/>
          </a:xfrm>
          <a:custGeom>
            <a:avLst/>
            <a:gdLst/>
            <a:ahLst/>
            <a:cxnLst/>
            <a:rect l="l" t="t" r="r" b="b"/>
            <a:pathLst>
              <a:path w="964746" h="964746">
                <a:moveTo>
                  <a:pt x="0" y="0"/>
                </a:moveTo>
                <a:lnTo>
                  <a:pt x="964746" y="0"/>
                </a:lnTo>
                <a:lnTo>
                  <a:pt x="964746" y="964747"/>
                </a:lnTo>
                <a:lnTo>
                  <a:pt x="0" y="964747"/>
                </a:lnTo>
                <a:lnTo>
                  <a:pt x="0" y="0"/>
                </a:lnTo>
                <a:close/>
              </a:path>
            </a:pathLst>
          </a:custGeom>
          <a:blipFill>
            <a:blip>
              <a:alphaModFix amt="37000"/>
              <a:extLst>
                <a:ext uri="{96DAC541-7B7A-43D3-8B79-37D633B846F1}">
                  <asvg:svgBlip xmlns:asvg="http://schemas.microsoft.com/office/drawing/2016/SVG/main" r:embed="rId2"/>
                </a:ext>
              </a:extLst>
            </a:blip>
            <a:stretch>
              <a:fillRect/>
            </a:stretch>
          </a:blipFill>
        </p:spPr>
        <p:txBody>
          <a:bodyPr/>
          <a:lstStyle/>
          <a:p>
            <a:endParaRPr lang="en-US"/>
          </a:p>
        </p:txBody>
      </p:sp>
      <p:sp>
        <p:nvSpPr>
          <p:cNvPr id="7" name="Freeform 7">
            <a:extLst>
              <a:ext uri="{FF2B5EF4-FFF2-40B4-BE49-F238E27FC236}">
                <a16:creationId xmlns:a16="http://schemas.microsoft.com/office/drawing/2014/main" id="{7DAF24FC-F8FE-5F0D-C077-C671D3D38778}"/>
              </a:ext>
            </a:extLst>
          </p:cNvPr>
          <p:cNvSpPr/>
          <p:nvPr/>
        </p:nvSpPr>
        <p:spPr>
          <a:xfrm>
            <a:off x="8899544" y="8542949"/>
            <a:ext cx="715351" cy="715351"/>
          </a:xfrm>
          <a:custGeom>
            <a:avLst/>
            <a:gdLst/>
            <a:ahLst/>
            <a:cxnLst/>
            <a:rect l="l" t="t" r="r" b="b"/>
            <a:pathLst>
              <a:path w="715351" h="715351">
                <a:moveTo>
                  <a:pt x="0" y="0"/>
                </a:moveTo>
                <a:lnTo>
                  <a:pt x="715351" y="0"/>
                </a:lnTo>
                <a:lnTo>
                  <a:pt x="715351" y="715351"/>
                </a:lnTo>
                <a:lnTo>
                  <a:pt x="0" y="715351"/>
                </a:lnTo>
                <a:lnTo>
                  <a:pt x="0" y="0"/>
                </a:lnTo>
                <a:close/>
              </a:path>
            </a:pathLst>
          </a:custGeom>
          <a:blipFill>
            <a:blip>
              <a:alphaModFix amt="37000"/>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8" name="Group 8">
            <a:extLst>
              <a:ext uri="{FF2B5EF4-FFF2-40B4-BE49-F238E27FC236}">
                <a16:creationId xmlns:a16="http://schemas.microsoft.com/office/drawing/2014/main" id="{7472734B-B858-F061-17BC-2AFCA69530C1}"/>
              </a:ext>
            </a:extLst>
          </p:cNvPr>
          <p:cNvGrpSpPr/>
          <p:nvPr/>
        </p:nvGrpSpPr>
        <p:grpSpPr>
          <a:xfrm>
            <a:off x="0" y="8244826"/>
            <a:ext cx="2737757" cy="2737757"/>
            <a:chOff x="0" y="0"/>
            <a:chExt cx="3650343" cy="3650343"/>
          </a:xfrm>
        </p:grpSpPr>
        <p:sp>
          <p:nvSpPr>
            <p:cNvPr id="9" name="Freeform 9">
              <a:extLst>
                <a:ext uri="{FF2B5EF4-FFF2-40B4-BE49-F238E27FC236}">
                  <a16:creationId xmlns:a16="http://schemas.microsoft.com/office/drawing/2014/main" id="{971E0849-5A23-BA5E-3FE1-997DF992684A}"/>
                </a:ext>
              </a:extLst>
            </p:cNvPr>
            <p:cNvSpPr/>
            <p:nvPr/>
          </p:nvSpPr>
          <p:spPr>
            <a:xfrm>
              <a:off x="0" y="0"/>
              <a:ext cx="3650343" cy="3650343"/>
            </a:xfrm>
            <a:custGeom>
              <a:avLst/>
              <a:gdLst/>
              <a:ahLst/>
              <a:cxnLst/>
              <a:rect l="l" t="t" r="r" b="b"/>
              <a:pathLst>
                <a:path w="3650343" h="3650343">
                  <a:moveTo>
                    <a:pt x="0" y="0"/>
                  </a:moveTo>
                  <a:lnTo>
                    <a:pt x="3650343" y="0"/>
                  </a:lnTo>
                  <a:lnTo>
                    <a:pt x="3650343" y="3650343"/>
                  </a:lnTo>
                  <a:lnTo>
                    <a:pt x="0" y="3650343"/>
                  </a:lnTo>
                  <a:lnTo>
                    <a:pt x="0" y="0"/>
                  </a:lnTo>
                  <a:close/>
                </a:path>
              </a:pathLst>
            </a:custGeom>
            <a:blipFill>
              <a:blip>
                <a:alphaModFix amt="41000"/>
                <a:extLst>
                  <a:ext uri="{96DAC541-7B7A-43D3-8B79-37D633B846F1}">
                    <asvg:svgBlip xmlns:asvg="http://schemas.microsoft.com/office/drawing/2016/SVG/main" r:embed="rId2"/>
                  </a:ext>
                </a:extLst>
              </a:blip>
              <a:stretch>
                <a:fillRect/>
              </a:stretch>
            </a:blipFill>
          </p:spPr>
          <p:txBody>
            <a:bodyPr/>
            <a:lstStyle/>
            <a:p>
              <a:endParaRPr lang="en-US"/>
            </a:p>
          </p:txBody>
        </p:sp>
        <p:sp>
          <p:nvSpPr>
            <p:cNvPr id="10" name="Freeform 10">
              <a:extLst>
                <a:ext uri="{FF2B5EF4-FFF2-40B4-BE49-F238E27FC236}">
                  <a16:creationId xmlns:a16="http://schemas.microsoft.com/office/drawing/2014/main" id="{E159F612-5786-F075-E791-4ED293D9F075}"/>
                </a:ext>
              </a:extLst>
            </p:cNvPr>
            <p:cNvSpPr/>
            <p:nvPr/>
          </p:nvSpPr>
          <p:spPr>
            <a:xfrm>
              <a:off x="257215" y="827328"/>
              <a:ext cx="2779958" cy="1629020"/>
            </a:xfrm>
            <a:custGeom>
              <a:avLst/>
              <a:gdLst/>
              <a:ahLst/>
              <a:cxnLst/>
              <a:rect l="l" t="t" r="r" b="b"/>
              <a:pathLst>
                <a:path w="2779958" h="1629020">
                  <a:moveTo>
                    <a:pt x="0" y="0"/>
                  </a:moveTo>
                  <a:lnTo>
                    <a:pt x="2779958" y="0"/>
                  </a:lnTo>
                  <a:lnTo>
                    <a:pt x="2779958" y="1629020"/>
                  </a:lnTo>
                  <a:lnTo>
                    <a:pt x="0" y="1629020"/>
                  </a:lnTo>
                  <a:lnTo>
                    <a:pt x="0" y="0"/>
                  </a:lnTo>
                  <a:close/>
                </a:path>
              </a:pathLst>
            </a:custGeom>
            <a:blipFill>
              <a:blip r:embed="rId3"/>
              <a:stretch>
                <a:fillRect/>
              </a:stretch>
            </a:blipFill>
          </p:spPr>
          <p:txBody>
            <a:bodyPr/>
            <a:lstStyle/>
            <a:p>
              <a:endParaRPr lang="en-US"/>
            </a:p>
          </p:txBody>
        </p:sp>
      </p:grpSp>
      <p:sp>
        <p:nvSpPr>
          <p:cNvPr id="11" name="TextBox 11">
            <a:extLst>
              <a:ext uri="{FF2B5EF4-FFF2-40B4-BE49-F238E27FC236}">
                <a16:creationId xmlns:a16="http://schemas.microsoft.com/office/drawing/2014/main" id="{9CD4D046-AFCD-CB8E-E3D4-1989265FCE1A}"/>
              </a:ext>
            </a:extLst>
          </p:cNvPr>
          <p:cNvSpPr txBox="1"/>
          <p:nvPr/>
        </p:nvSpPr>
        <p:spPr>
          <a:xfrm>
            <a:off x="1677381" y="3490496"/>
            <a:ext cx="7561677" cy="291683"/>
          </a:xfrm>
          <a:prstGeom prst="rect">
            <a:avLst/>
          </a:prstGeom>
        </p:spPr>
        <p:txBody>
          <a:bodyPr wrap="square" lIns="0" tIns="0" rIns="0" bIns="0" rtlCol="0" anchor="t">
            <a:spAutoFit/>
          </a:bodyPr>
          <a:lstStyle/>
          <a:p>
            <a:pPr algn="l">
              <a:lnSpc>
                <a:spcPts val="2538"/>
              </a:lnSpc>
            </a:pPr>
            <a:r>
              <a:rPr lang="en-US" sz="1575" spc="-4" dirty="0">
                <a:solidFill>
                  <a:srgbClr val="D7E5D8"/>
                </a:solidFill>
                <a:latin typeface="IBM Plex Sans"/>
                <a:ea typeface="IBM Plex Sans"/>
                <a:cs typeface="IBM Plex Sans"/>
                <a:sym typeface="IBM Plex Sans"/>
              </a:rPr>
              <a:t>Acceptance to ALIFE 2026 Conference in Waterloo, Canada (Aug 17</a:t>
            </a:r>
            <a:r>
              <a:rPr lang="en-US" sz="1575" spc="-4" baseline="30000" dirty="0">
                <a:solidFill>
                  <a:srgbClr val="D7E5D8"/>
                </a:solidFill>
                <a:latin typeface="IBM Plex Sans"/>
                <a:ea typeface="IBM Plex Sans"/>
                <a:cs typeface="IBM Plex Sans"/>
                <a:sym typeface="IBM Plex Sans"/>
              </a:rPr>
              <a:t>th</a:t>
            </a:r>
            <a:r>
              <a:rPr lang="en-US" sz="1575" spc="-4" dirty="0">
                <a:solidFill>
                  <a:srgbClr val="D7E5D8"/>
                </a:solidFill>
                <a:latin typeface="IBM Plex Sans"/>
                <a:ea typeface="IBM Plex Sans"/>
                <a:cs typeface="IBM Plex Sans"/>
                <a:sym typeface="IBM Plex Sans"/>
              </a:rPr>
              <a:t>-21</a:t>
            </a:r>
            <a:r>
              <a:rPr lang="en-US" sz="1575" spc="-4" baseline="30000" dirty="0">
                <a:solidFill>
                  <a:srgbClr val="D7E5D8"/>
                </a:solidFill>
                <a:latin typeface="IBM Plex Sans"/>
                <a:ea typeface="IBM Plex Sans"/>
                <a:cs typeface="IBM Plex Sans"/>
                <a:sym typeface="IBM Plex Sans"/>
              </a:rPr>
              <a:t>st</a:t>
            </a:r>
            <a:r>
              <a:rPr lang="en-US" sz="1575" spc="-4" dirty="0">
                <a:solidFill>
                  <a:srgbClr val="D7E5D8"/>
                </a:solidFill>
                <a:latin typeface="IBM Plex Sans"/>
                <a:ea typeface="IBM Plex Sans"/>
                <a:cs typeface="IBM Plex Sans"/>
                <a:sym typeface="IBM Plex Sans"/>
              </a:rPr>
              <a:t>)</a:t>
            </a:r>
          </a:p>
        </p:txBody>
      </p:sp>
      <p:sp>
        <p:nvSpPr>
          <p:cNvPr id="15" name="TextBox 15">
            <a:extLst>
              <a:ext uri="{FF2B5EF4-FFF2-40B4-BE49-F238E27FC236}">
                <a16:creationId xmlns:a16="http://schemas.microsoft.com/office/drawing/2014/main" id="{26CA2E67-8F1D-FE3B-7D5A-C35FF59B37AE}"/>
              </a:ext>
            </a:extLst>
          </p:cNvPr>
          <p:cNvSpPr txBox="1"/>
          <p:nvPr/>
        </p:nvSpPr>
        <p:spPr>
          <a:xfrm>
            <a:off x="1527707" y="2191012"/>
            <a:ext cx="15875028" cy="908655"/>
          </a:xfrm>
          <a:prstGeom prst="rect">
            <a:avLst/>
          </a:prstGeom>
        </p:spPr>
        <p:txBody>
          <a:bodyPr lIns="0" tIns="0" rIns="0" bIns="0" rtlCol="0" anchor="t">
            <a:spAutoFit/>
          </a:bodyPr>
          <a:lstStyle/>
          <a:p>
            <a:pPr algn="l">
              <a:lnSpc>
                <a:spcPts val="7351"/>
              </a:lnSpc>
            </a:pPr>
            <a:r>
              <a:rPr lang="en-US" sz="5876" b="1" spc="-17" dirty="0">
                <a:solidFill>
                  <a:srgbClr val="D7E5D8"/>
                </a:solidFill>
                <a:latin typeface="IBM Plex Sans Bold"/>
                <a:ea typeface="IBM Plex Sans Bold"/>
                <a:cs typeface="IBM Plex Sans Bold"/>
                <a:sym typeface="IBM Plex Sans Bold"/>
              </a:rPr>
              <a:t>QUALIFICATIONS FOR DEFENSE</a:t>
            </a:r>
          </a:p>
        </p:txBody>
      </p:sp>
      <p:sp>
        <p:nvSpPr>
          <p:cNvPr id="31" name="TextBox 31">
            <a:extLst>
              <a:ext uri="{FF2B5EF4-FFF2-40B4-BE49-F238E27FC236}">
                <a16:creationId xmlns:a16="http://schemas.microsoft.com/office/drawing/2014/main" id="{66487E91-08F8-C696-C1B5-CDA8877A3EA7}"/>
              </a:ext>
            </a:extLst>
          </p:cNvPr>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a:t>
            </a:r>
          </a:p>
        </p:txBody>
      </p:sp>
      <p:sp>
        <p:nvSpPr>
          <p:cNvPr id="32" name="Slide Number Placeholder 31">
            <a:extLst>
              <a:ext uri="{FF2B5EF4-FFF2-40B4-BE49-F238E27FC236}">
                <a16:creationId xmlns:a16="http://schemas.microsoft.com/office/drawing/2014/main" id="{2B8579D8-0FB8-BBB3-7557-1365CFC9C23B}"/>
              </a:ext>
            </a:extLst>
          </p:cNvPr>
          <p:cNvSpPr>
            <a:spLocks noGrp="1"/>
          </p:cNvSpPr>
          <p:nvPr>
            <p:ph type="sldNum" sz="quarter" idx="12"/>
          </p:nvPr>
        </p:nvSpPr>
        <p:spPr>
          <a:xfrm>
            <a:off x="15925800" y="9715500"/>
            <a:ext cx="2133600" cy="365125"/>
          </a:xfrm>
        </p:spPr>
        <p:txBody>
          <a:bodyPr/>
          <a:lstStyle/>
          <a:p>
            <a:fld id="{B6F15528-21DE-4FAA-801E-634DDDAF4B2B}" type="slidenum">
              <a:rPr lang="en-US" smtClean="0"/>
              <a:pPr/>
              <a:t>2</a:t>
            </a:fld>
            <a:endParaRPr lang="en-US"/>
          </a:p>
        </p:txBody>
      </p:sp>
      <p:pic>
        <p:nvPicPr>
          <p:cNvPr id="34" name="Picture 33">
            <a:extLst>
              <a:ext uri="{FF2B5EF4-FFF2-40B4-BE49-F238E27FC236}">
                <a16:creationId xmlns:a16="http://schemas.microsoft.com/office/drawing/2014/main" id="{EBF6E861-F268-AC86-F915-054D976B9202}"/>
              </a:ext>
            </a:extLst>
          </p:cNvPr>
          <p:cNvPicPr>
            <a:picLocks noChangeAspect="1"/>
          </p:cNvPicPr>
          <p:nvPr/>
        </p:nvPicPr>
        <p:blipFill>
          <a:blip r:embed="rId4"/>
          <a:stretch>
            <a:fillRect/>
          </a:stretch>
        </p:blipFill>
        <p:spPr>
          <a:xfrm>
            <a:off x="1686346" y="4144932"/>
            <a:ext cx="7862027" cy="3741622"/>
          </a:xfrm>
          <a:prstGeom prst="rect">
            <a:avLst/>
          </a:prstGeom>
        </p:spPr>
      </p:pic>
      <p:pic>
        <p:nvPicPr>
          <p:cNvPr id="36" name="Picture 35">
            <a:extLst>
              <a:ext uri="{FF2B5EF4-FFF2-40B4-BE49-F238E27FC236}">
                <a16:creationId xmlns:a16="http://schemas.microsoft.com/office/drawing/2014/main" id="{72A4D964-69E4-589C-8A90-1C47AA7CD3C4}"/>
              </a:ext>
            </a:extLst>
          </p:cNvPr>
          <p:cNvPicPr>
            <a:picLocks noChangeAspect="1"/>
          </p:cNvPicPr>
          <p:nvPr/>
        </p:nvPicPr>
        <p:blipFill>
          <a:blip r:embed="rId5"/>
          <a:srcRect b="32842"/>
          <a:stretch>
            <a:fillRect/>
          </a:stretch>
        </p:blipFill>
        <p:spPr>
          <a:xfrm>
            <a:off x="10089628" y="4144932"/>
            <a:ext cx="7169672" cy="3741622"/>
          </a:xfrm>
          <a:prstGeom prst="rect">
            <a:avLst/>
          </a:prstGeom>
        </p:spPr>
      </p:pic>
      <p:sp>
        <p:nvSpPr>
          <p:cNvPr id="38" name="TextBox 11">
            <a:extLst>
              <a:ext uri="{FF2B5EF4-FFF2-40B4-BE49-F238E27FC236}">
                <a16:creationId xmlns:a16="http://schemas.microsoft.com/office/drawing/2014/main" id="{B5E933F7-86CF-F91A-20B5-37B17618D740}"/>
              </a:ext>
            </a:extLst>
          </p:cNvPr>
          <p:cNvSpPr txBox="1"/>
          <p:nvPr/>
        </p:nvSpPr>
        <p:spPr>
          <a:xfrm>
            <a:off x="10089628" y="3490495"/>
            <a:ext cx="7561677" cy="291683"/>
          </a:xfrm>
          <a:prstGeom prst="rect">
            <a:avLst/>
          </a:prstGeom>
        </p:spPr>
        <p:txBody>
          <a:bodyPr wrap="square" lIns="0" tIns="0" rIns="0" bIns="0" rtlCol="0" anchor="t">
            <a:spAutoFit/>
          </a:bodyPr>
          <a:lstStyle/>
          <a:p>
            <a:pPr algn="l">
              <a:lnSpc>
                <a:spcPts val="2538"/>
              </a:lnSpc>
            </a:pPr>
            <a:r>
              <a:rPr lang="en-US" sz="1575" spc="-4" dirty="0">
                <a:solidFill>
                  <a:srgbClr val="D7E5D8"/>
                </a:solidFill>
                <a:latin typeface="IBM Plex Sans"/>
                <a:ea typeface="IBM Plex Sans"/>
                <a:cs typeface="IBM Plex Sans"/>
                <a:sym typeface="IBM Plex Sans"/>
              </a:rPr>
              <a:t>2% Similarity Score Report Results</a:t>
            </a:r>
          </a:p>
        </p:txBody>
      </p:sp>
    </p:spTree>
    <p:extLst>
      <p:ext uri="{BB962C8B-B14F-4D97-AF65-F5344CB8AC3E}">
        <p14:creationId xmlns:p14="http://schemas.microsoft.com/office/powerpoint/2010/main" val="12987816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lin ang="5400000"/>
        </a:gradFill>
        <a:effectLst/>
      </p:bgPr>
    </p:bg>
    <p:spTree>
      <p:nvGrpSpPr>
        <p:cNvPr id="1" name=""/>
        <p:cNvGrpSpPr/>
        <p:nvPr/>
      </p:nvGrpSpPr>
      <p:grpSpPr>
        <a:xfrm>
          <a:off x="0" y="0"/>
          <a:ext cx="0" cy="0"/>
          <a:chOff x="0" y="0"/>
          <a:chExt cx="0" cy="0"/>
        </a:xfrm>
      </p:grpSpPr>
      <p:sp>
        <p:nvSpPr>
          <p:cNvPr id="2" name="AutoShape 2"/>
          <p:cNvSpPr/>
          <p:nvPr/>
        </p:nvSpPr>
        <p:spPr>
          <a:xfrm flipV="1">
            <a:off x="500412" y="62275"/>
            <a:ext cx="0" cy="6492240"/>
          </a:xfrm>
          <a:prstGeom prst="line">
            <a:avLst/>
          </a:prstGeom>
          <a:ln w="19050" cap="flat">
            <a:solidFill>
              <a:srgbClr val="FFFFFF"/>
            </a:solidFill>
            <a:prstDash val="solid"/>
            <a:headEnd type="none" w="sm" len="sm"/>
            <a:tailEnd type="none" w="sm" len="sm"/>
          </a:ln>
        </p:spPr>
        <p:txBody>
          <a:bodyPr/>
          <a:lstStyle/>
          <a:p>
            <a:endParaRPr lang="en-US"/>
          </a:p>
        </p:txBody>
      </p:sp>
      <p:sp>
        <p:nvSpPr>
          <p:cNvPr id="3" name="AutoShape 3"/>
          <p:cNvSpPr/>
          <p:nvPr/>
        </p:nvSpPr>
        <p:spPr>
          <a:xfrm flipV="1">
            <a:off x="500412" y="7053950"/>
            <a:ext cx="0" cy="960120"/>
          </a:xfrm>
          <a:prstGeom prst="line">
            <a:avLst/>
          </a:prstGeom>
          <a:ln w="19050" cap="flat">
            <a:solidFill>
              <a:srgbClr val="FFFFFF"/>
            </a:solidFill>
            <a:prstDash val="solid"/>
            <a:headEnd type="none" w="sm" len="sm"/>
            <a:tailEnd type="none" w="sm" len="sm"/>
          </a:ln>
        </p:spPr>
        <p:txBody>
          <a:bodyPr/>
          <a:lstStyle/>
          <a:p>
            <a:endParaRPr lang="en-US"/>
          </a:p>
        </p:txBody>
      </p:sp>
      <p:sp>
        <p:nvSpPr>
          <p:cNvPr id="4" name="AutoShape 4"/>
          <p:cNvSpPr/>
          <p:nvPr/>
        </p:nvSpPr>
        <p:spPr>
          <a:xfrm flipV="1">
            <a:off x="500412" y="8446345"/>
            <a:ext cx="0" cy="442454"/>
          </a:xfrm>
          <a:prstGeom prst="line">
            <a:avLst/>
          </a:prstGeom>
          <a:ln w="19050" cap="flat">
            <a:solidFill>
              <a:srgbClr val="FFFFFF"/>
            </a:solidFill>
            <a:prstDash val="solid"/>
            <a:headEnd type="none" w="sm" len="sm"/>
            <a:tailEnd type="none" w="sm" len="sm"/>
          </a:ln>
        </p:spPr>
        <p:txBody>
          <a:bodyPr/>
          <a:lstStyle/>
          <a:p>
            <a:endParaRPr lang="en-US"/>
          </a:p>
        </p:txBody>
      </p:sp>
      <p:sp>
        <p:nvSpPr>
          <p:cNvPr id="5" name="Freeform 5"/>
          <p:cNvSpPr/>
          <p:nvPr/>
        </p:nvSpPr>
        <p:spPr>
          <a:xfrm>
            <a:off x="15957252" y="1682187"/>
            <a:ext cx="2330748" cy="2330748"/>
          </a:xfrm>
          <a:custGeom>
            <a:avLst/>
            <a:gdLst/>
            <a:ahLst/>
            <a:cxnLst/>
            <a:rect l="l" t="t" r="r" b="b"/>
            <a:pathLst>
              <a:path w="2330748" h="2330748">
                <a:moveTo>
                  <a:pt x="0" y="0"/>
                </a:moveTo>
                <a:lnTo>
                  <a:pt x="2330748" y="0"/>
                </a:lnTo>
                <a:lnTo>
                  <a:pt x="2330748" y="2330748"/>
                </a:lnTo>
                <a:lnTo>
                  <a:pt x="0" y="2330748"/>
                </a:lnTo>
                <a:lnTo>
                  <a:pt x="0" y="0"/>
                </a:lnTo>
                <a:close/>
              </a:path>
            </a:pathLst>
          </a:custGeom>
          <a:blipFill>
            <a:blip>
              <a:alphaModFix amt="37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a:off x="10931283" y="9538070"/>
            <a:ext cx="964746" cy="964746"/>
          </a:xfrm>
          <a:custGeom>
            <a:avLst/>
            <a:gdLst/>
            <a:ahLst/>
            <a:cxnLst/>
            <a:rect l="l" t="t" r="r" b="b"/>
            <a:pathLst>
              <a:path w="964746" h="964746">
                <a:moveTo>
                  <a:pt x="0" y="0"/>
                </a:moveTo>
                <a:lnTo>
                  <a:pt x="964746" y="0"/>
                </a:lnTo>
                <a:lnTo>
                  <a:pt x="964746" y="964747"/>
                </a:lnTo>
                <a:lnTo>
                  <a:pt x="0" y="964747"/>
                </a:lnTo>
                <a:lnTo>
                  <a:pt x="0" y="0"/>
                </a:lnTo>
                <a:close/>
              </a:path>
            </a:pathLst>
          </a:custGeom>
          <a:blipFill>
            <a:blip>
              <a:alphaModFix amt="37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p:cNvSpPr/>
          <p:nvPr/>
        </p:nvSpPr>
        <p:spPr>
          <a:xfrm>
            <a:off x="8899544" y="8164591"/>
            <a:ext cx="715351" cy="715351"/>
          </a:xfrm>
          <a:custGeom>
            <a:avLst/>
            <a:gdLst/>
            <a:ahLst/>
            <a:cxnLst/>
            <a:rect l="l" t="t" r="r" b="b"/>
            <a:pathLst>
              <a:path w="715351" h="715351">
                <a:moveTo>
                  <a:pt x="0" y="0"/>
                </a:moveTo>
                <a:lnTo>
                  <a:pt x="715351" y="0"/>
                </a:lnTo>
                <a:lnTo>
                  <a:pt x="715351" y="715351"/>
                </a:lnTo>
                <a:lnTo>
                  <a:pt x="0" y="715351"/>
                </a:lnTo>
                <a:lnTo>
                  <a:pt x="0" y="0"/>
                </a:lnTo>
                <a:close/>
              </a:path>
            </a:pathLst>
          </a:custGeom>
          <a:blipFill>
            <a:blip>
              <a:alphaModFix amt="37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8" name="Group 8"/>
          <p:cNvGrpSpPr/>
          <p:nvPr/>
        </p:nvGrpSpPr>
        <p:grpSpPr>
          <a:xfrm>
            <a:off x="0" y="8244826"/>
            <a:ext cx="2737757" cy="2737757"/>
            <a:chOff x="0" y="0"/>
            <a:chExt cx="3650343" cy="3650343"/>
          </a:xfrm>
        </p:grpSpPr>
        <p:sp>
          <p:nvSpPr>
            <p:cNvPr id="9" name="Freeform 9"/>
            <p:cNvSpPr/>
            <p:nvPr/>
          </p:nvSpPr>
          <p:spPr>
            <a:xfrm>
              <a:off x="0" y="0"/>
              <a:ext cx="3650343" cy="3650343"/>
            </a:xfrm>
            <a:custGeom>
              <a:avLst/>
              <a:gdLst/>
              <a:ahLst/>
              <a:cxnLst/>
              <a:rect l="l" t="t" r="r" b="b"/>
              <a:pathLst>
                <a:path w="3650343" h="3650343">
                  <a:moveTo>
                    <a:pt x="0" y="0"/>
                  </a:moveTo>
                  <a:lnTo>
                    <a:pt x="3650343" y="0"/>
                  </a:lnTo>
                  <a:lnTo>
                    <a:pt x="3650343" y="3650343"/>
                  </a:lnTo>
                  <a:lnTo>
                    <a:pt x="0" y="3650343"/>
                  </a:lnTo>
                  <a:lnTo>
                    <a:pt x="0" y="0"/>
                  </a:lnTo>
                  <a:close/>
                </a:path>
              </a:pathLst>
            </a:custGeom>
            <a:blipFill>
              <a:blip>
                <a:alphaModFix amt="4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p:cNvSpPr/>
            <p:nvPr/>
          </p:nvSpPr>
          <p:spPr>
            <a:xfrm>
              <a:off x="257215" y="827328"/>
              <a:ext cx="2779958" cy="1629020"/>
            </a:xfrm>
            <a:custGeom>
              <a:avLst/>
              <a:gdLst/>
              <a:ahLst/>
              <a:cxnLst/>
              <a:rect l="l" t="t" r="r" b="b"/>
              <a:pathLst>
                <a:path w="2779958" h="1629020">
                  <a:moveTo>
                    <a:pt x="0" y="0"/>
                  </a:moveTo>
                  <a:lnTo>
                    <a:pt x="2779958" y="0"/>
                  </a:lnTo>
                  <a:lnTo>
                    <a:pt x="2779958" y="1629020"/>
                  </a:lnTo>
                  <a:lnTo>
                    <a:pt x="0" y="1629020"/>
                  </a:lnTo>
                  <a:lnTo>
                    <a:pt x="0" y="0"/>
                  </a:lnTo>
                  <a:close/>
                </a:path>
              </a:pathLst>
            </a:custGeom>
            <a:blipFill>
              <a:blip r:embed="rId4"/>
              <a:stretch>
                <a:fillRect/>
              </a:stretch>
            </a:blipFill>
          </p:spPr>
          <p:txBody>
            <a:bodyPr/>
            <a:lstStyle/>
            <a:p>
              <a:endParaRPr lang="en-US"/>
            </a:p>
          </p:txBody>
        </p:sp>
      </p:grpSp>
      <p:sp>
        <p:nvSpPr>
          <p:cNvPr id="15" name="TextBox 15"/>
          <p:cNvSpPr txBox="1"/>
          <p:nvPr/>
        </p:nvSpPr>
        <p:spPr>
          <a:xfrm>
            <a:off x="1677381" y="1097131"/>
            <a:ext cx="15875028" cy="908655"/>
          </a:xfrm>
          <a:prstGeom prst="rect">
            <a:avLst/>
          </a:prstGeom>
        </p:spPr>
        <p:txBody>
          <a:bodyPr lIns="0" tIns="0" rIns="0" bIns="0" rtlCol="0" anchor="t">
            <a:spAutoFit/>
          </a:bodyPr>
          <a:lstStyle/>
          <a:p>
            <a:pPr algn="l">
              <a:lnSpc>
                <a:spcPts val="7351"/>
              </a:lnSpc>
            </a:pPr>
            <a:r>
              <a:rPr lang="en-US" sz="5876" b="1" spc="-17" dirty="0">
                <a:solidFill>
                  <a:srgbClr val="D7E5D8"/>
                </a:solidFill>
                <a:latin typeface="IBM Plex Sans Bold"/>
                <a:ea typeface="IBM Plex Sans Bold"/>
                <a:cs typeface="IBM Plex Sans Bold"/>
                <a:sym typeface="IBM Plex Sans Bold"/>
              </a:rPr>
              <a:t>PRESENTATION ROADMAP</a:t>
            </a:r>
          </a:p>
        </p:txBody>
      </p:sp>
      <p:sp>
        <p:nvSpPr>
          <p:cNvPr id="31" name="TextBox 31"/>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a:t>
            </a:r>
          </a:p>
        </p:txBody>
      </p:sp>
      <p:sp>
        <p:nvSpPr>
          <p:cNvPr id="32" name="Slide Number Placeholder 31">
            <a:extLst>
              <a:ext uri="{FF2B5EF4-FFF2-40B4-BE49-F238E27FC236}">
                <a16:creationId xmlns:a16="http://schemas.microsoft.com/office/drawing/2014/main" id="{B3A56322-0FDA-FF22-EE8D-8DF476D38297}"/>
              </a:ext>
            </a:extLst>
          </p:cNvPr>
          <p:cNvSpPr>
            <a:spLocks noGrp="1"/>
          </p:cNvSpPr>
          <p:nvPr>
            <p:ph type="sldNum" sz="quarter" idx="12"/>
          </p:nvPr>
        </p:nvSpPr>
        <p:spPr>
          <a:xfrm>
            <a:off x="15925800" y="9715500"/>
            <a:ext cx="2133600" cy="365125"/>
          </a:xfrm>
        </p:spPr>
        <p:txBody>
          <a:bodyPr/>
          <a:lstStyle/>
          <a:p>
            <a:fld id="{B6F15528-21DE-4FAA-801E-634DDDAF4B2B}" type="slidenum">
              <a:rPr lang="en-US" smtClean="0"/>
              <a:pPr/>
              <a:t>3</a:t>
            </a:fld>
            <a:endParaRPr lang="en-US"/>
          </a:p>
        </p:txBody>
      </p:sp>
      <p:grpSp>
        <p:nvGrpSpPr>
          <p:cNvPr id="34" name="Group 33">
            <a:extLst>
              <a:ext uri="{FF2B5EF4-FFF2-40B4-BE49-F238E27FC236}">
                <a16:creationId xmlns:a16="http://schemas.microsoft.com/office/drawing/2014/main" id="{D2FC9725-B789-5B75-1BE0-4496D8944160}"/>
              </a:ext>
            </a:extLst>
          </p:cNvPr>
          <p:cNvGrpSpPr/>
          <p:nvPr/>
        </p:nvGrpSpPr>
        <p:grpSpPr>
          <a:xfrm>
            <a:off x="1795570" y="2095500"/>
            <a:ext cx="8340821" cy="1010838"/>
            <a:chOff x="1795570" y="2473858"/>
            <a:chExt cx="8340821" cy="1010838"/>
          </a:xfrm>
        </p:grpSpPr>
        <p:grpSp>
          <p:nvGrpSpPr>
            <p:cNvPr id="12" name="Group 12"/>
            <p:cNvGrpSpPr/>
            <p:nvPr/>
          </p:nvGrpSpPr>
          <p:grpSpPr>
            <a:xfrm>
              <a:off x="1795570" y="2473858"/>
              <a:ext cx="7610626" cy="654316"/>
              <a:chOff x="30331" y="-1062572"/>
              <a:chExt cx="10147501" cy="872421"/>
            </a:xfrm>
          </p:grpSpPr>
          <p:sp>
            <p:nvSpPr>
              <p:cNvPr id="13" name="TextBox 13"/>
              <p:cNvSpPr txBox="1"/>
              <p:nvPr/>
            </p:nvSpPr>
            <p:spPr>
              <a:xfrm>
                <a:off x="1388435" y="-957449"/>
                <a:ext cx="8789397" cy="732786"/>
              </a:xfrm>
              <a:prstGeom prst="rect">
                <a:avLst/>
              </a:prstGeom>
            </p:spPr>
            <p:txBody>
              <a:bodyPr lIns="0" tIns="0" rIns="0" bIns="0" rtlCol="0" anchor="t">
                <a:spAutoFit/>
              </a:bodyPr>
              <a:lstStyle/>
              <a:p>
                <a:pPr algn="l">
                  <a:lnSpc>
                    <a:spcPts val="4487"/>
                  </a:lnSpc>
                </a:pPr>
                <a:r>
                  <a:rPr lang="en-US" sz="3481" b="1" spc="34" dirty="0">
                    <a:solidFill>
                      <a:srgbClr val="ACB5AF"/>
                    </a:solidFill>
                    <a:latin typeface="IBM Plex Sans Bold"/>
                    <a:ea typeface="IBM Plex Sans Bold"/>
                    <a:cs typeface="IBM Plex Sans Bold"/>
                    <a:sym typeface="IBM Plex Sans Bold"/>
                  </a:rPr>
                  <a:t>Motivation &amp; Research Gap</a:t>
                </a:r>
              </a:p>
            </p:txBody>
          </p:sp>
          <p:sp>
            <p:nvSpPr>
              <p:cNvPr id="14" name="TextBox 14"/>
              <p:cNvSpPr txBox="1"/>
              <p:nvPr/>
            </p:nvSpPr>
            <p:spPr>
              <a:xfrm>
                <a:off x="30331" y="-1062572"/>
                <a:ext cx="1003419" cy="872421"/>
              </a:xfrm>
              <a:prstGeom prst="rect">
                <a:avLst/>
              </a:prstGeom>
            </p:spPr>
            <p:txBody>
              <a:bodyPr lIns="0" tIns="0" rIns="0" bIns="0" rtlCol="0" anchor="t">
                <a:spAutoFit/>
              </a:bodyPr>
              <a:lstStyle/>
              <a:p>
                <a:pPr algn="l">
                  <a:lnSpc>
                    <a:spcPts val="5668"/>
                  </a:lnSpc>
                </a:pPr>
                <a:r>
                  <a:rPr lang="en-US" sz="3856" b="1" dirty="0">
                    <a:solidFill>
                      <a:srgbClr val="9CD52C"/>
                    </a:solidFill>
                    <a:latin typeface="Montserrat Ultra-Bold"/>
                    <a:ea typeface="Montserrat Ultra-Bold"/>
                    <a:cs typeface="Montserrat Ultra-Bold"/>
                    <a:sym typeface="Montserrat Ultra-Bold"/>
                  </a:rPr>
                  <a:t>01</a:t>
                </a:r>
              </a:p>
            </p:txBody>
          </p:sp>
        </p:grpSp>
        <p:sp>
          <p:nvSpPr>
            <p:cNvPr id="33" name="TextBox 7">
              <a:extLst>
                <a:ext uri="{FF2B5EF4-FFF2-40B4-BE49-F238E27FC236}">
                  <a16:creationId xmlns:a16="http://schemas.microsoft.com/office/drawing/2014/main" id="{52585E25-FB7A-E0BC-150F-687E6061A1ED}"/>
                </a:ext>
              </a:extLst>
            </p:cNvPr>
            <p:cNvSpPr txBox="1"/>
            <p:nvPr/>
          </p:nvSpPr>
          <p:spPr>
            <a:xfrm>
              <a:off x="2833198" y="3162300"/>
              <a:ext cx="7303193" cy="322396"/>
            </a:xfrm>
            <a:prstGeom prst="rect">
              <a:avLst/>
            </a:prstGeom>
          </p:spPr>
          <p:txBody>
            <a:bodyPr lIns="0" tIns="0" rIns="0" bIns="0" rtlCol="0" anchor="t">
              <a:spAutoFit/>
            </a:bodyPr>
            <a:lstStyle/>
            <a:p>
              <a:pPr>
                <a:lnSpc>
                  <a:spcPts val="2428"/>
                </a:lnSpc>
              </a:pPr>
              <a:r>
                <a:rPr lang="en-US" sz="2400" dirty="0">
                  <a:solidFill>
                    <a:schemeClr val="bg2"/>
                  </a:solidFill>
                </a:rPr>
                <a:t>Why categorical drift challenges fixed forecasting models</a:t>
              </a:r>
              <a:endParaRPr lang="en-US" sz="2200" spc="21" dirty="0">
                <a:solidFill>
                  <a:schemeClr val="bg2"/>
                </a:solidFill>
                <a:latin typeface="Amicale Light"/>
                <a:ea typeface="Amicale Light"/>
                <a:cs typeface="Amicale Light"/>
                <a:sym typeface="Amicale Light"/>
              </a:endParaRPr>
            </a:p>
          </p:txBody>
        </p:sp>
      </p:grpSp>
      <p:grpSp>
        <p:nvGrpSpPr>
          <p:cNvPr id="37" name="Group 36">
            <a:extLst>
              <a:ext uri="{FF2B5EF4-FFF2-40B4-BE49-F238E27FC236}">
                <a16:creationId xmlns:a16="http://schemas.microsoft.com/office/drawing/2014/main" id="{DCB538EC-0F51-A515-8CE9-9A1E42302C3A}"/>
              </a:ext>
            </a:extLst>
          </p:cNvPr>
          <p:cNvGrpSpPr/>
          <p:nvPr/>
        </p:nvGrpSpPr>
        <p:grpSpPr>
          <a:xfrm>
            <a:off x="1787950" y="3297103"/>
            <a:ext cx="10108079" cy="1028436"/>
            <a:chOff x="1795570" y="2473858"/>
            <a:chExt cx="10108079" cy="1028436"/>
          </a:xfrm>
        </p:grpSpPr>
        <p:grpSp>
          <p:nvGrpSpPr>
            <p:cNvPr id="38" name="Group 12">
              <a:extLst>
                <a:ext uri="{FF2B5EF4-FFF2-40B4-BE49-F238E27FC236}">
                  <a16:creationId xmlns:a16="http://schemas.microsoft.com/office/drawing/2014/main" id="{224CC7DD-C62D-A2E6-4630-257CD036F0F7}"/>
                </a:ext>
              </a:extLst>
            </p:cNvPr>
            <p:cNvGrpSpPr/>
            <p:nvPr/>
          </p:nvGrpSpPr>
          <p:grpSpPr>
            <a:xfrm>
              <a:off x="1795570" y="2473858"/>
              <a:ext cx="7610626" cy="670440"/>
              <a:chOff x="30331" y="-1062572"/>
              <a:chExt cx="10147501" cy="893920"/>
            </a:xfrm>
          </p:grpSpPr>
          <p:sp>
            <p:nvSpPr>
              <p:cNvPr id="40" name="TextBox 13">
                <a:extLst>
                  <a:ext uri="{FF2B5EF4-FFF2-40B4-BE49-F238E27FC236}">
                    <a16:creationId xmlns:a16="http://schemas.microsoft.com/office/drawing/2014/main" id="{4361A357-CEA8-DA05-BC31-3AA73AE370C0}"/>
                  </a:ext>
                </a:extLst>
              </p:cNvPr>
              <p:cNvSpPr txBox="1"/>
              <p:nvPr/>
            </p:nvSpPr>
            <p:spPr>
              <a:xfrm>
                <a:off x="1388435" y="-957449"/>
                <a:ext cx="8789397" cy="732787"/>
              </a:xfrm>
              <a:prstGeom prst="rect">
                <a:avLst/>
              </a:prstGeom>
            </p:spPr>
            <p:txBody>
              <a:bodyPr lIns="0" tIns="0" rIns="0" bIns="0" rtlCol="0" anchor="t">
                <a:spAutoFit/>
              </a:bodyPr>
              <a:lstStyle/>
              <a:p>
                <a:pPr algn="l">
                  <a:lnSpc>
                    <a:spcPts val="4487"/>
                  </a:lnSpc>
                </a:pPr>
                <a:r>
                  <a:rPr lang="en-US" sz="3481" b="1" spc="34" dirty="0">
                    <a:solidFill>
                      <a:srgbClr val="ACB5AF"/>
                    </a:solidFill>
                    <a:latin typeface="IBM Plex Sans Bold"/>
                    <a:ea typeface="IBM Plex Sans Bold"/>
                    <a:cs typeface="IBM Plex Sans Bold"/>
                    <a:sym typeface="IBM Plex Sans Bold"/>
                  </a:rPr>
                  <a:t>Biological Inspiration</a:t>
                </a:r>
              </a:p>
            </p:txBody>
          </p:sp>
          <p:sp>
            <p:nvSpPr>
              <p:cNvPr id="41" name="TextBox 14">
                <a:extLst>
                  <a:ext uri="{FF2B5EF4-FFF2-40B4-BE49-F238E27FC236}">
                    <a16:creationId xmlns:a16="http://schemas.microsoft.com/office/drawing/2014/main" id="{F1AF3709-1B75-BADB-5F44-19280EA05CC6}"/>
                  </a:ext>
                </a:extLst>
              </p:cNvPr>
              <p:cNvSpPr txBox="1"/>
              <p:nvPr/>
            </p:nvSpPr>
            <p:spPr>
              <a:xfrm>
                <a:off x="30331" y="-1062572"/>
                <a:ext cx="1003419" cy="893920"/>
              </a:xfrm>
              <a:prstGeom prst="rect">
                <a:avLst/>
              </a:prstGeom>
            </p:spPr>
            <p:txBody>
              <a:bodyPr lIns="0" tIns="0" rIns="0" bIns="0" rtlCol="0" anchor="t">
                <a:spAutoFit/>
              </a:bodyPr>
              <a:lstStyle/>
              <a:p>
                <a:pPr algn="l">
                  <a:lnSpc>
                    <a:spcPts val="5668"/>
                  </a:lnSpc>
                </a:pPr>
                <a:r>
                  <a:rPr lang="en-US" sz="3856" b="1" dirty="0">
                    <a:solidFill>
                      <a:srgbClr val="9CD52C"/>
                    </a:solidFill>
                    <a:latin typeface="Montserrat Ultra-Bold"/>
                    <a:ea typeface="Montserrat Ultra-Bold"/>
                    <a:cs typeface="Montserrat Ultra-Bold"/>
                    <a:sym typeface="Montserrat Ultra-Bold"/>
                  </a:rPr>
                  <a:t>02</a:t>
                </a:r>
              </a:p>
            </p:txBody>
          </p:sp>
        </p:grpSp>
        <p:sp>
          <p:nvSpPr>
            <p:cNvPr id="39" name="TextBox 7">
              <a:extLst>
                <a:ext uri="{FF2B5EF4-FFF2-40B4-BE49-F238E27FC236}">
                  <a16:creationId xmlns:a16="http://schemas.microsoft.com/office/drawing/2014/main" id="{6320CEB2-928E-EC05-6425-4D0E3D9EFB4C}"/>
                </a:ext>
              </a:extLst>
            </p:cNvPr>
            <p:cNvSpPr txBox="1"/>
            <p:nvPr/>
          </p:nvSpPr>
          <p:spPr>
            <a:xfrm>
              <a:off x="2833198" y="3179897"/>
              <a:ext cx="9070451" cy="322397"/>
            </a:xfrm>
            <a:prstGeom prst="rect">
              <a:avLst/>
            </a:prstGeom>
          </p:spPr>
          <p:txBody>
            <a:bodyPr wrap="square" lIns="0" tIns="0" rIns="0" bIns="0" rtlCol="0" anchor="t">
              <a:spAutoFit/>
            </a:bodyPr>
            <a:lstStyle/>
            <a:p>
              <a:pPr>
                <a:lnSpc>
                  <a:spcPts val="2428"/>
                </a:lnSpc>
              </a:pPr>
              <a:r>
                <a:rPr lang="en-US" sz="2400" dirty="0">
                  <a:solidFill>
                    <a:schemeClr val="bg2"/>
                  </a:solidFill>
                </a:rPr>
                <a:t>Properties of biological flow networks that translate to network design </a:t>
              </a:r>
              <a:endParaRPr lang="en-US" sz="2200" spc="21" dirty="0">
                <a:solidFill>
                  <a:schemeClr val="bg2"/>
                </a:solidFill>
                <a:latin typeface="Amicale Light"/>
                <a:ea typeface="Amicale Light"/>
                <a:cs typeface="Amicale Light"/>
                <a:sym typeface="Amicale Light"/>
              </a:endParaRPr>
            </a:p>
          </p:txBody>
        </p:sp>
      </p:grpSp>
      <p:grpSp>
        <p:nvGrpSpPr>
          <p:cNvPr id="42" name="Group 41">
            <a:extLst>
              <a:ext uri="{FF2B5EF4-FFF2-40B4-BE49-F238E27FC236}">
                <a16:creationId xmlns:a16="http://schemas.microsoft.com/office/drawing/2014/main" id="{FF513FCD-B4A6-C3F7-3C0D-083DC5FB38D6}"/>
              </a:ext>
            </a:extLst>
          </p:cNvPr>
          <p:cNvGrpSpPr/>
          <p:nvPr/>
        </p:nvGrpSpPr>
        <p:grpSpPr>
          <a:xfrm>
            <a:off x="1820379" y="4514405"/>
            <a:ext cx="12200419" cy="1088937"/>
            <a:chOff x="1795570" y="2473858"/>
            <a:chExt cx="12200419" cy="1088937"/>
          </a:xfrm>
        </p:grpSpPr>
        <p:grpSp>
          <p:nvGrpSpPr>
            <p:cNvPr id="43" name="Group 12">
              <a:extLst>
                <a:ext uri="{FF2B5EF4-FFF2-40B4-BE49-F238E27FC236}">
                  <a16:creationId xmlns:a16="http://schemas.microsoft.com/office/drawing/2014/main" id="{91B61DEE-6A24-85CF-811C-CAA8EFE8CF61}"/>
                </a:ext>
              </a:extLst>
            </p:cNvPr>
            <p:cNvGrpSpPr/>
            <p:nvPr/>
          </p:nvGrpSpPr>
          <p:grpSpPr>
            <a:xfrm>
              <a:off x="1795570" y="2473858"/>
              <a:ext cx="7610626" cy="670440"/>
              <a:chOff x="30331" y="-1062572"/>
              <a:chExt cx="10147501" cy="893920"/>
            </a:xfrm>
          </p:grpSpPr>
          <p:sp>
            <p:nvSpPr>
              <p:cNvPr id="45" name="TextBox 13">
                <a:extLst>
                  <a:ext uri="{FF2B5EF4-FFF2-40B4-BE49-F238E27FC236}">
                    <a16:creationId xmlns:a16="http://schemas.microsoft.com/office/drawing/2014/main" id="{9A5DF308-ADCC-17C9-479A-1FA6B5ABE8F7}"/>
                  </a:ext>
                </a:extLst>
              </p:cNvPr>
              <p:cNvSpPr txBox="1"/>
              <p:nvPr/>
            </p:nvSpPr>
            <p:spPr>
              <a:xfrm>
                <a:off x="1388435" y="-957449"/>
                <a:ext cx="8789397" cy="732787"/>
              </a:xfrm>
              <a:prstGeom prst="rect">
                <a:avLst/>
              </a:prstGeom>
            </p:spPr>
            <p:txBody>
              <a:bodyPr lIns="0" tIns="0" rIns="0" bIns="0" rtlCol="0" anchor="t">
                <a:spAutoFit/>
              </a:bodyPr>
              <a:lstStyle/>
              <a:p>
                <a:pPr algn="l">
                  <a:lnSpc>
                    <a:spcPts val="4487"/>
                  </a:lnSpc>
                </a:pPr>
                <a:r>
                  <a:rPr lang="en-US" sz="3481" b="1" spc="34" dirty="0" err="1">
                    <a:solidFill>
                      <a:srgbClr val="ACB5AF"/>
                    </a:solidFill>
                    <a:latin typeface="IBM Plex Sans Bold"/>
                    <a:ea typeface="IBM Plex Sans Bold"/>
                    <a:cs typeface="IBM Plex Sans Bold"/>
                    <a:sym typeface="IBM Plex Sans Bold"/>
                  </a:rPr>
                  <a:t>MycoMorph</a:t>
                </a:r>
                <a:r>
                  <a:rPr lang="en-US" sz="3481" b="1" spc="34" dirty="0">
                    <a:solidFill>
                      <a:srgbClr val="ACB5AF"/>
                    </a:solidFill>
                    <a:latin typeface="IBM Plex Sans Bold"/>
                    <a:ea typeface="IBM Plex Sans Bold"/>
                    <a:cs typeface="IBM Plex Sans Bold"/>
                    <a:sym typeface="IBM Plex Sans Bold"/>
                  </a:rPr>
                  <a:t> Architecture</a:t>
                </a:r>
              </a:p>
            </p:txBody>
          </p:sp>
          <p:sp>
            <p:nvSpPr>
              <p:cNvPr id="46" name="TextBox 14">
                <a:extLst>
                  <a:ext uri="{FF2B5EF4-FFF2-40B4-BE49-F238E27FC236}">
                    <a16:creationId xmlns:a16="http://schemas.microsoft.com/office/drawing/2014/main" id="{538F9F4D-E011-3F54-7C4E-4AEEB99FFBB0}"/>
                  </a:ext>
                </a:extLst>
              </p:cNvPr>
              <p:cNvSpPr txBox="1"/>
              <p:nvPr/>
            </p:nvSpPr>
            <p:spPr>
              <a:xfrm>
                <a:off x="30331" y="-1062572"/>
                <a:ext cx="1003419" cy="893920"/>
              </a:xfrm>
              <a:prstGeom prst="rect">
                <a:avLst/>
              </a:prstGeom>
            </p:spPr>
            <p:txBody>
              <a:bodyPr lIns="0" tIns="0" rIns="0" bIns="0" rtlCol="0" anchor="t">
                <a:spAutoFit/>
              </a:bodyPr>
              <a:lstStyle/>
              <a:p>
                <a:pPr algn="l">
                  <a:lnSpc>
                    <a:spcPts val="5668"/>
                  </a:lnSpc>
                </a:pPr>
                <a:r>
                  <a:rPr lang="en-US" sz="3856" b="1" dirty="0">
                    <a:solidFill>
                      <a:srgbClr val="9CD52C"/>
                    </a:solidFill>
                    <a:latin typeface="Montserrat Ultra-Bold"/>
                    <a:ea typeface="Montserrat Ultra-Bold"/>
                    <a:cs typeface="Montserrat Ultra-Bold"/>
                    <a:sym typeface="Montserrat Ultra-Bold"/>
                  </a:rPr>
                  <a:t>03</a:t>
                </a:r>
              </a:p>
            </p:txBody>
          </p:sp>
        </p:grpSp>
        <p:sp>
          <p:nvSpPr>
            <p:cNvPr id="44" name="TextBox 7">
              <a:extLst>
                <a:ext uri="{FF2B5EF4-FFF2-40B4-BE49-F238E27FC236}">
                  <a16:creationId xmlns:a16="http://schemas.microsoft.com/office/drawing/2014/main" id="{F6BB5FB5-33AE-68D4-9591-CAFF04536AE3}"/>
                </a:ext>
              </a:extLst>
            </p:cNvPr>
            <p:cNvSpPr txBox="1"/>
            <p:nvPr/>
          </p:nvSpPr>
          <p:spPr>
            <a:xfrm>
              <a:off x="2833198" y="3240399"/>
              <a:ext cx="11162791" cy="322396"/>
            </a:xfrm>
            <a:prstGeom prst="rect">
              <a:avLst/>
            </a:prstGeom>
          </p:spPr>
          <p:txBody>
            <a:bodyPr wrap="square" lIns="0" tIns="0" rIns="0" bIns="0" rtlCol="0" anchor="t">
              <a:spAutoFit/>
            </a:bodyPr>
            <a:lstStyle/>
            <a:p>
              <a:pPr>
                <a:lnSpc>
                  <a:spcPts val="2428"/>
                </a:lnSpc>
              </a:pPr>
              <a:r>
                <a:rPr lang="en-US" sz="2400" dirty="0">
                  <a:solidFill>
                    <a:schemeClr val="bg2"/>
                  </a:solidFill>
                </a:rPr>
                <a:t>Front end, base graph, cycle layer, meta-graph, prediction, and per-timestep operation</a:t>
              </a:r>
              <a:endParaRPr lang="en-US" sz="2200" spc="21" dirty="0">
                <a:solidFill>
                  <a:schemeClr val="bg2"/>
                </a:solidFill>
                <a:latin typeface="Amicale Light"/>
                <a:ea typeface="Amicale Light"/>
                <a:cs typeface="Amicale Light"/>
                <a:sym typeface="Amicale Light"/>
              </a:endParaRPr>
            </a:p>
          </p:txBody>
        </p:sp>
      </p:grpSp>
      <p:grpSp>
        <p:nvGrpSpPr>
          <p:cNvPr id="47" name="Group 46">
            <a:extLst>
              <a:ext uri="{FF2B5EF4-FFF2-40B4-BE49-F238E27FC236}">
                <a16:creationId xmlns:a16="http://schemas.microsoft.com/office/drawing/2014/main" id="{E0B50D48-A130-5FF8-B64F-99A99F6ED5F2}"/>
              </a:ext>
            </a:extLst>
          </p:cNvPr>
          <p:cNvGrpSpPr/>
          <p:nvPr/>
        </p:nvGrpSpPr>
        <p:grpSpPr>
          <a:xfrm>
            <a:off x="1848732" y="5774196"/>
            <a:ext cx="12200419" cy="1048346"/>
            <a:chOff x="1795570" y="2473858"/>
            <a:chExt cx="12200419" cy="1048346"/>
          </a:xfrm>
        </p:grpSpPr>
        <p:grpSp>
          <p:nvGrpSpPr>
            <p:cNvPr id="48" name="Group 12">
              <a:extLst>
                <a:ext uri="{FF2B5EF4-FFF2-40B4-BE49-F238E27FC236}">
                  <a16:creationId xmlns:a16="http://schemas.microsoft.com/office/drawing/2014/main" id="{4653EEE5-A8F4-ED23-6144-37898E4FDF61}"/>
                </a:ext>
              </a:extLst>
            </p:cNvPr>
            <p:cNvGrpSpPr/>
            <p:nvPr/>
          </p:nvGrpSpPr>
          <p:grpSpPr>
            <a:xfrm>
              <a:off x="1795570" y="2473858"/>
              <a:ext cx="7610626" cy="670440"/>
              <a:chOff x="30331" y="-1062572"/>
              <a:chExt cx="10147501" cy="893920"/>
            </a:xfrm>
          </p:grpSpPr>
          <p:sp>
            <p:nvSpPr>
              <p:cNvPr id="50" name="TextBox 13">
                <a:extLst>
                  <a:ext uri="{FF2B5EF4-FFF2-40B4-BE49-F238E27FC236}">
                    <a16:creationId xmlns:a16="http://schemas.microsoft.com/office/drawing/2014/main" id="{9CCF5FCA-8E6D-276B-8359-805B888B579E}"/>
                  </a:ext>
                </a:extLst>
              </p:cNvPr>
              <p:cNvSpPr txBox="1"/>
              <p:nvPr/>
            </p:nvSpPr>
            <p:spPr>
              <a:xfrm>
                <a:off x="1388435" y="-957449"/>
                <a:ext cx="8789397" cy="732787"/>
              </a:xfrm>
              <a:prstGeom prst="rect">
                <a:avLst/>
              </a:prstGeom>
            </p:spPr>
            <p:txBody>
              <a:bodyPr lIns="0" tIns="0" rIns="0" bIns="0" rtlCol="0" anchor="t">
                <a:spAutoFit/>
              </a:bodyPr>
              <a:lstStyle/>
              <a:p>
                <a:pPr algn="l">
                  <a:lnSpc>
                    <a:spcPts val="4487"/>
                  </a:lnSpc>
                </a:pPr>
                <a:r>
                  <a:rPr lang="en-US" sz="3481" b="1" spc="34" dirty="0">
                    <a:solidFill>
                      <a:srgbClr val="ACB5AF"/>
                    </a:solidFill>
                    <a:latin typeface="IBM Plex Sans Bold"/>
                    <a:ea typeface="IBM Plex Sans Bold"/>
                    <a:cs typeface="IBM Plex Sans Bold"/>
                    <a:sym typeface="IBM Plex Sans Bold"/>
                  </a:rPr>
                  <a:t>Evaluation Protocol</a:t>
                </a:r>
              </a:p>
            </p:txBody>
          </p:sp>
          <p:sp>
            <p:nvSpPr>
              <p:cNvPr id="51" name="TextBox 14">
                <a:extLst>
                  <a:ext uri="{FF2B5EF4-FFF2-40B4-BE49-F238E27FC236}">
                    <a16:creationId xmlns:a16="http://schemas.microsoft.com/office/drawing/2014/main" id="{07FE40EC-5185-A4C4-37B4-DD25ACEE48BE}"/>
                  </a:ext>
                </a:extLst>
              </p:cNvPr>
              <p:cNvSpPr txBox="1"/>
              <p:nvPr/>
            </p:nvSpPr>
            <p:spPr>
              <a:xfrm>
                <a:off x="30331" y="-1062572"/>
                <a:ext cx="1003419" cy="893920"/>
              </a:xfrm>
              <a:prstGeom prst="rect">
                <a:avLst/>
              </a:prstGeom>
            </p:spPr>
            <p:txBody>
              <a:bodyPr lIns="0" tIns="0" rIns="0" bIns="0" rtlCol="0" anchor="t">
                <a:spAutoFit/>
              </a:bodyPr>
              <a:lstStyle/>
              <a:p>
                <a:pPr algn="l">
                  <a:lnSpc>
                    <a:spcPts val="5668"/>
                  </a:lnSpc>
                </a:pPr>
                <a:r>
                  <a:rPr lang="en-US" sz="3856" b="1" dirty="0">
                    <a:solidFill>
                      <a:srgbClr val="9CD52C"/>
                    </a:solidFill>
                    <a:latin typeface="Montserrat Ultra-Bold"/>
                    <a:ea typeface="Montserrat Ultra-Bold"/>
                    <a:cs typeface="Montserrat Ultra-Bold"/>
                    <a:sym typeface="Montserrat Ultra-Bold"/>
                  </a:rPr>
                  <a:t>04</a:t>
                </a:r>
              </a:p>
            </p:txBody>
          </p:sp>
        </p:grpSp>
        <p:sp>
          <p:nvSpPr>
            <p:cNvPr id="49" name="TextBox 7">
              <a:extLst>
                <a:ext uri="{FF2B5EF4-FFF2-40B4-BE49-F238E27FC236}">
                  <a16:creationId xmlns:a16="http://schemas.microsoft.com/office/drawing/2014/main" id="{7BEE9A80-C520-06B4-C626-E34C7421C71D}"/>
                </a:ext>
              </a:extLst>
            </p:cNvPr>
            <p:cNvSpPr txBox="1"/>
            <p:nvPr/>
          </p:nvSpPr>
          <p:spPr>
            <a:xfrm>
              <a:off x="2833198" y="3199808"/>
              <a:ext cx="11162791" cy="322396"/>
            </a:xfrm>
            <a:prstGeom prst="rect">
              <a:avLst/>
            </a:prstGeom>
          </p:spPr>
          <p:txBody>
            <a:bodyPr wrap="square" lIns="0" tIns="0" rIns="0" bIns="0" rtlCol="0" anchor="t">
              <a:spAutoFit/>
            </a:bodyPr>
            <a:lstStyle/>
            <a:p>
              <a:pPr>
                <a:lnSpc>
                  <a:spcPts val="2428"/>
                </a:lnSpc>
              </a:pPr>
              <a:r>
                <a:rPr lang="en-US" sz="2400" dirty="0">
                  <a:solidFill>
                    <a:schemeClr val="bg2"/>
                  </a:solidFill>
                </a:rPr>
                <a:t>Baselines, synthetic signals, real-world records, structural analysis, and ablation design</a:t>
              </a:r>
              <a:endParaRPr lang="en-US" sz="2200" spc="21" dirty="0">
                <a:solidFill>
                  <a:schemeClr val="bg2"/>
                </a:solidFill>
                <a:latin typeface="Amicale Light"/>
                <a:ea typeface="Amicale Light"/>
                <a:cs typeface="Amicale Light"/>
                <a:sym typeface="Amicale Light"/>
              </a:endParaRPr>
            </a:p>
          </p:txBody>
        </p:sp>
      </p:grpSp>
      <p:grpSp>
        <p:nvGrpSpPr>
          <p:cNvPr id="52" name="Group 51">
            <a:extLst>
              <a:ext uri="{FF2B5EF4-FFF2-40B4-BE49-F238E27FC236}">
                <a16:creationId xmlns:a16="http://schemas.microsoft.com/office/drawing/2014/main" id="{8ACC004F-1A49-EA60-4C8E-3A72EB49646E}"/>
              </a:ext>
            </a:extLst>
          </p:cNvPr>
          <p:cNvGrpSpPr/>
          <p:nvPr/>
        </p:nvGrpSpPr>
        <p:grpSpPr>
          <a:xfrm>
            <a:off x="1848732" y="7033987"/>
            <a:ext cx="12200419" cy="1048346"/>
            <a:chOff x="1795570" y="2473858"/>
            <a:chExt cx="12200419" cy="1048346"/>
          </a:xfrm>
        </p:grpSpPr>
        <p:grpSp>
          <p:nvGrpSpPr>
            <p:cNvPr id="53" name="Group 12">
              <a:extLst>
                <a:ext uri="{FF2B5EF4-FFF2-40B4-BE49-F238E27FC236}">
                  <a16:creationId xmlns:a16="http://schemas.microsoft.com/office/drawing/2014/main" id="{74637ED3-D062-CEB8-E26B-A61F096BC19A}"/>
                </a:ext>
              </a:extLst>
            </p:cNvPr>
            <p:cNvGrpSpPr/>
            <p:nvPr/>
          </p:nvGrpSpPr>
          <p:grpSpPr>
            <a:xfrm>
              <a:off x="1795570" y="2473858"/>
              <a:ext cx="7610626" cy="670440"/>
              <a:chOff x="30331" y="-1062572"/>
              <a:chExt cx="10147501" cy="893920"/>
            </a:xfrm>
          </p:grpSpPr>
          <p:sp>
            <p:nvSpPr>
              <p:cNvPr id="55" name="TextBox 13">
                <a:extLst>
                  <a:ext uri="{FF2B5EF4-FFF2-40B4-BE49-F238E27FC236}">
                    <a16:creationId xmlns:a16="http://schemas.microsoft.com/office/drawing/2014/main" id="{D83A17C3-98A2-EAC2-A601-3FB51BD91CC6}"/>
                  </a:ext>
                </a:extLst>
              </p:cNvPr>
              <p:cNvSpPr txBox="1"/>
              <p:nvPr/>
            </p:nvSpPr>
            <p:spPr>
              <a:xfrm>
                <a:off x="1388435" y="-957449"/>
                <a:ext cx="8789397" cy="732787"/>
              </a:xfrm>
              <a:prstGeom prst="rect">
                <a:avLst/>
              </a:prstGeom>
            </p:spPr>
            <p:txBody>
              <a:bodyPr lIns="0" tIns="0" rIns="0" bIns="0" rtlCol="0" anchor="t">
                <a:spAutoFit/>
              </a:bodyPr>
              <a:lstStyle/>
              <a:p>
                <a:pPr algn="l">
                  <a:lnSpc>
                    <a:spcPts val="4487"/>
                  </a:lnSpc>
                </a:pPr>
                <a:r>
                  <a:rPr lang="en-US" sz="3481" b="1" spc="34" dirty="0">
                    <a:solidFill>
                      <a:srgbClr val="ACB5AF"/>
                    </a:solidFill>
                    <a:latin typeface="IBM Plex Sans Bold"/>
                    <a:ea typeface="IBM Plex Sans Bold"/>
                    <a:cs typeface="IBM Plex Sans Bold"/>
                    <a:sym typeface="IBM Plex Sans Bold"/>
                  </a:rPr>
                  <a:t>Results &amp; Structural Memory</a:t>
                </a:r>
              </a:p>
            </p:txBody>
          </p:sp>
          <p:sp>
            <p:nvSpPr>
              <p:cNvPr id="56" name="TextBox 14">
                <a:extLst>
                  <a:ext uri="{FF2B5EF4-FFF2-40B4-BE49-F238E27FC236}">
                    <a16:creationId xmlns:a16="http://schemas.microsoft.com/office/drawing/2014/main" id="{53915A19-AEC6-0499-C5AA-3607C3177320}"/>
                  </a:ext>
                </a:extLst>
              </p:cNvPr>
              <p:cNvSpPr txBox="1"/>
              <p:nvPr/>
            </p:nvSpPr>
            <p:spPr>
              <a:xfrm>
                <a:off x="30331" y="-1062572"/>
                <a:ext cx="1003419" cy="893920"/>
              </a:xfrm>
              <a:prstGeom prst="rect">
                <a:avLst/>
              </a:prstGeom>
            </p:spPr>
            <p:txBody>
              <a:bodyPr lIns="0" tIns="0" rIns="0" bIns="0" rtlCol="0" anchor="t">
                <a:spAutoFit/>
              </a:bodyPr>
              <a:lstStyle/>
              <a:p>
                <a:pPr algn="l">
                  <a:lnSpc>
                    <a:spcPts val="5668"/>
                  </a:lnSpc>
                </a:pPr>
                <a:r>
                  <a:rPr lang="en-US" sz="3856" b="1" dirty="0">
                    <a:solidFill>
                      <a:srgbClr val="9CD52C"/>
                    </a:solidFill>
                    <a:latin typeface="Montserrat Ultra-Bold"/>
                    <a:ea typeface="Montserrat Ultra-Bold"/>
                    <a:cs typeface="Montserrat Ultra-Bold"/>
                    <a:sym typeface="Montserrat Ultra-Bold"/>
                  </a:rPr>
                  <a:t>05</a:t>
                </a:r>
              </a:p>
            </p:txBody>
          </p:sp>
        </p:grpSp>
        <p:sp>
          <p:nvSpPr>
            <p:cNvPr id="54" name="TextBox 7">
              <a:extLst>
                <a:ext uri="{FF2B5EF4-FFF2-40B4-BE49-F238E27FC236}">
                  <a16:creationId xmlns:a16="http://schemas.microsoft.com/office/drawing/2014/main" id="{C9BE83E2-7792-86D2-112E-5E013A6B1CD0}"/>
                </a:ext>
              </a:extLst>
            </p:cNvPr>
            <p:cNvSpPr txBox="1"/>
            <p:nvPr/>
          </p:nvSpPr>
          <p:spPr>
            <a:xfrm>
              <a:off x="2833198" y="3199808"/>
              <a:ext cx="11162791" cy="322396"/>
            </a:xfrm>
            <a:prstGeom prst="rect">
              <a:avLst/>
            </a:prstGeom>
          </p:spPr>
          <p:txBody>
            <a:bodyPr wrap="square" lIns="0" tIns="0" rIns="0" bIns="0" rtlCol="0" anchor="t">
              <a:spAutoFit/>
            </a:bodyPr>
            <a:lstStyle/>
            <a:p>
              <a:pPr>
                <a:lnSpc>
                  <a:spcPts val="2428"/>
                </a:lnSpc>
              </a:pPr>
              <a:r>
                <a:rPr lang="en-US" sz="2400" dirty="0">
                  <a:solidFill>
                    <a:schemeClr val="bg2"/>
                  </a:solidFill>
                </a:rPr>
                <a:t>Synthetic results, real-world results, error trajectories, emergent topology, and ablations</a:t>
              </a:r>
              <a:endParaRPr lang="en-US" sz="2200" spc="21" dirty="0">
                <a:solidFill>
                  <a:schemeClr val="bg2"/>
                </a:solidFill>
                <a:latin typeface="Amicale Light"/>
                <a:ea typeface="Amicale Light"/>
                <a:cs typeface="Amicale Light"/>
                <a:sym typeface="Amicale Light"/>
              </a:endParaRPr>
            </a:p>
          </p:txBody>
        </p:sp>
      </p:grpSp>
      <p:grpSp>
        <p:nvGrpSpPr>
          <p:cNvPr id="57" name="Group 56">
            <a:extLst>
              <a:ext uri="{FF2B5EF4-FFF2-40B4-BE49-F238E27FC236}">
                <a16:creationId xmlns:a16="http://schemas.microsoft.com/office/drawing/2014/main" id="{C3B9CE73-EE80-9A8C-1EBA-394CECA78D1B}"/>
              </a:ext>
            </a:extLst>
          </p:cNvPr>
          <p:cNvGrpSpPr/>
          <p:nvPr/>
        </p:nvGrpSpPr>
        <p:grpSpPr>
          <a:xfrm>
            <a:off x="1848732" y="8293778"/>
            <a:ext cx="12629268" cy="1048346"/>
            <a:chOff x="1795570" y="2473858"/>
            <a:chExt cx="12629268" cy="1048346"/>
          </a:xfrm>
        </p:grpSpPr>
        <p:grpSp>
          <p:nvGrpSpPr>
            <p:cNvPr id="58" name="Group 12">
              <a:extLst>
                <a:ext uri="{FF2B5EF4-FFF2-40B4-BE49-F238E27FC236}">
                  <a16:creationId xmlns:a16="http://schemas.microsoft.com/office/drawing/2014/main" id="{97B205C9-8C2B-51EB-2521-6287252694E6}"/>
                </a:ext>
              </a:extLst>
            </p:cNvPr>
            <p:cNvGrpSpPr/>
            <p:nvPr/>
          </p:nvGrpSpPr>
          <p:grpSpPr>
            <a:xfrm>
              <a:off x="1795570" y="2473858"/>
              <a:ext cx="12629268" cy="670440"/>
              <a:chOff x="30331" y="-1062572"/>
              <a:chExt cx="16839024" cy="893920"/>
            </a:xfrm>
          </p:grpSpPr>
          <p:sp>
            <p:nvSpPr>
              <p:cNvPr id="60" name="TextBox 13">
                <a:extLst>
                  <a:ext uri="{FF2B5EF4-FFF2-40B4-BE49-F238E27FC236}">
                    <a16:creationId xmlns:a16="http://schemas.microsoft.com/office/drawing/2014/main" id="{B98DCE87-8300-5AD7-AD81-6DADE905C25B}"/>
                  </a:ext>
                </a:extLst>
              </p:cNvPr>
              <p:cNvSpPr txBox="1"/>
              <p:nvPr/>
            </p:nvSpPr>
            <p:spPr>
              <a:xfrm>
                <a:off x="1388435" y="-957449"/>
                <a:ext cx="15480920" cy="728233"/>
              </a:xfrm>
              <a:prstGeom prst="rect">
                <a:avLst/>
              </a:prstGeom>
            </p:spPr>
            <p:txBody>
              <a:bodyPr wrap="square" lIns="0" tIns="0" rIns="0" bIns="0" rtlCol="0" anchor="t">
                <a:spAutoFit/>
              </a:bodyPr>
              <a:lstStyle/>
              <a:p>
                <a:pPr algn="l">
                  <a:lnSpc>
                    <a:spcPts val="4487"/>
                  </a:lnSpc>
                </a:pPr>
                <a:r>
                  <a:rPr lang="en-US" sz="3481" b="1" spc="34" dirty="0">
                    <a:solidFill>
                      <a:srgbClr val="ACB5AF"/>
                    </a:solidFill>
                    <a:latin typeface="IBM Plex Sans Bold"/>
                    <a:ea typeface="IBM Plex Sans Bold"/>
                    <a:cs typeface="IBM Plex Sans Bold"/>
                    <a:sym typeface="IBM Plex Sans Bold"/>
                  </a:rPr>
                  <a:t>Discussion, Limitations, Applications, &amp; Future Work</a:t>
                </a:r>
              </a:p>
            </p:txBody>
          </p:sp>
          <p:sp>
            <p:nvSpPr>
              <p:cNvPr id="61" name="TextBox 14">
                <a:extLst>
                  <a:ext uri="{FF2B5EF4-FFF2-40B4-BE49-F238E27FC236}">
                    <a16:creationId xmlns:a16="http://schemas.microsoft.com/office/drawing/2014/main" id="{0DF5FA80-2F08-DC85-E105-E55FE7DB0CF8}"/>
                  </a:ext>
                </a:extLst>
              </p:cNvPr>
              <p:cNvSpPr txBox="1"/>
              <p:nvPr/>
            </p:nvSpPr>
            <p:spPr>
              <a:xfrm>
                <a:off x="30331" y="-1062572"/>
                <a:ext cx="1003419" cy="893920"/>
              </a:xfrm>
              <a:prstGeom prst="rect">
                <a:avLst/>
              </a:prstGeom>
            </p:spPr>
            <p:txBody>
              <a:bodyPr lIns="0" tIns="0" rIns="0" bIns="0" rtlCol="0" anchor="t">
                <a:spAutoFit/>
              </a:bodyPr>
              <a:lstStyle/>
              <a:p>
                <a:pPr algn="l">
                  <a:lnSpc>
                    <a:spcPts val="5668"/>
                  </a:lnSpc>
                </a:pPr>
                <a:r>
                  <a:rPr lang="en-US" sz="3856" b="1" dirty="0">
                    <a:solidFill>
                      <a:srgbClr val="9CD52C"/>
                    </a:solidFill>
                    <a:latin typeface="Montserrat Ultra-Bold"/>
                    <a:ea typeface="Montserrat Ultra-Bold"/>
                    <a:cs typeface="Montserrat Ultra-Bold"/>
                    <a:sym typeface="Montserrat Ultra-Bold"/>
                  </a:rPr>
                  <a:t>06</a:t>
                </a:r>
              </a:p>
            </p:txBody>
          </p:sp>
        </p:grpSp>
        <p:sp>
          <p:nvSpPr>
            <p:cNvPr id="59" name="TextBox 7">
              <a:extLst>
                <a:ext uri="{FF2B5EF4-FFF2-40B4-BE49-F238E27FC236}">
                  <a16:creationId xmlns:a16="http://schemas.microsoft.com/office/drawing/2014/main" id="{40A516AC-52AE-F7B8-69D7-CD801EFAF301}"/>
                </a:ext>
              </a:extLst>
            </p:cNvPr>
            <p:cNvSpPr txBox="1"/>
            <p:nvPr/>
          </p:nvSpPr>
          <p:spPr>
            <a:xfrm>
              <a:off x="2833198" y="3199808"/>
              <a:ext cx="11162791" cy="322396"/>
            </a:xfrm>
            <a:prstGeom prst="rect">
              <a:avLst/>
            </a:prstGeom>
          </p:spPr>
          <p:txBody>
            <a:bodyPr wrap="square" lIns="0" tIns="0" rIns="0" bIns="0" rtlCol="0" anchor="t">
              <a:spAutoFit/>
            </a:bodyPr>
            <a:lstStyle/>
            <a:p>
              <a:pPr>
                <a:lnSpc>
                  <a:spcPts val="2428"/>
                </a:lnSpc>
              </a:pPr>
              <a:r>
                <a:rPr lang="en-US" sz="2400" dirty="0">
                  <a:solidFill>
                    <a:schemeClr val="bg2"/>
                  </a:solidFill>
                </a:rPr>
                <a:t>Interpretation, boundaries, practical uses, next steps, and broader implications</a:t>
              </a:r>
              <a:endParaRPr lang="en-US" sz="2200" spc="21" dirty="0">
                <a:solidFill>
                  <a:schemeClr val="bg2"/>
                </a:solidFill>
                <a:latin typeface="Amicale Light"/>
                <a:ea typeface="Amicale Light"/>
                <a:cs typeface="Amicale Light"/>
                <a:sym typeface="Amicale Light"/>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extBox 2"/>
          <p:cNvSpPr txBox="1"/>
          <p:nvPr/>
        </p:nvSpPr>
        <p:spPr>
          <a:xfrm>
            <a:off x="1028700" y="923925"/>
            <a:ext cx="15445245" cy="908655"/>
          </a:xfrm>
          <a:prstGeom prst="rect">
            <a:avLst/>
          </a:prstGeom>
        </p:spPr>
        <p:txBody>
          <a:bodyPr lIns="0" tIns="0" rIns="0" bIns="0" rtlCol="0" anchor="t">
            <a:spAutoFit/>
          </a:bodyPr>
          <a:lstStyle/>
          <a:p>
            <a:pPr algn="l">
              <a:lnSpc>
                <a:spcPts val="7351"/>
              </a:lnSpc>
            </a:pPr>
            <a:r>
              <a:rPr lang="en-US" sz="5876" b="1" spc="-17" dirty="0">
                <a:solidFill>
                  <a:srgbClr val="D7E5D8"/>
                </a:solidFill>
                <a:latin typeface="IBM Plex Sans Bold"/>
                <a:ea typeface="IBM Plex Sans Bold"/>
                <a:cs typeface="IBM Plex Sans Bold"/>
                <a:sym typeface="IBM Plex Sans Bold"/>
              </a:rPr>
              <a:t>TIME-SERIES FORECASTING</a:t>
            </a:r>
          </a:p>
        </p:txBody>
      </p:sp>
      <p:sp>
        <p:nvSpPr>
          <p:cNvPr id="3" name="AutoShape 3"/>
          <p:cNvSpPr/>
          <p:nvPr/>
        </p:nvSpPr>
        <p:spPr>
          <a:xfrm flipH="1">
            <a:off x="0" y="9676538"/>
            <a:ext cx="16463090" cy="0"/>
          </a:xfrm>
          <a:prstGeom prst="line">
            <a:avLst/>
          </a:prstGeom>
          <a:ln w="19050" cap="flat">
            <a:solidFill>
              <a:srgbClr val="FFFFFF"/>
            </a:solidFill>
            <a:prstDash val="solid"/>
            <a:headEnd type="none" w="sm" len="sm"/>
            <a:tailEnd type="none" w="sm" len="sm"/>
          </a:ln>
        </p:spPr>
        <p:txBody>
          <a:bodyPr/>
          <a:lstStyle/>
          <a:p>
            <a:endParaRPr lang="en-US"/>
          </a:p>
        </p:txBody>
      </p:sp>
      <p:sp>
        <p:nvSpPr>
          <p:cNvPr id="4" name="AutoShape 4"/>
          <p:cNvSpPr/>
          <p:nvPr/>
        </p:nvSpPr>
        <p:spPr>
          <a:xfrm flipH="1">
            <a:off x="17050227" y="9667013"/>
            <a:ext cx="960120" cy="0"/>
          </a:xfrm>
          <a:prstGeom prst="line">
            <a:avLst/>
          </a:prstGeom>
          <a:ln w="19050" cap="flat">
            <a:solidFill>
              <a:srgbClr val="FFFFFF"/>
            </a:solidFill>
            <a:prstDash val="solid"/>
            <a:headEnd type="none" w="sm" len="sm"/>
            <a:tailEnd type="none" w="sm" len="sm"/>
          </a:ln>
        </p:spPr>
        <p:txBody>
          <a:bodyPr/>
          <a:lstStyle/>
          <a:p>
            <a:endParaRPr lang="en-US"/>
          </a:p>
        </p:txBody>
      </p:sp>
      <p:sp>
        <p:nvSpPr>
          <p:cNvPr id="5" name="Freeform 5"/>
          <p:cNvSpPr/>
          <p:nvPr/>
        </p:nvSpPr>
        <p:spPr>
          <a:xfrm>
            <a:off x="-1732034" y="4893668"/>
            <a:ext cx="3691462" cy="3691462"/>
          </a:xfrm>
          <a:custGeom>
            <a:avLst/>
            <a:gdLst/>
            <a:ahLst/>
            <a:cxnLst/>
            <a:rect l="l" t="t" r="r" b="b"/>
            <a:pathLst>
              <a:path w="3691462" h="3691462">
                <a:moveTo>
                  <a:pt x="0" y="0"/>
                </a:moveTo>
                <a:lnTo>
                  <a:pt x="3691463" y="0"/>
                </a:lnTo>
                <a:lnTo>
                  <a:pt x="3691463" y="3691462"/>
                </a:lnTo>
                <a:lnTo>
                  <a:pt x="0" y="3691462"/>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TextBox 6"/>
          <p:cNvSpPr txBox="1"/>
          <p:nvPr/>
        </p:nvSpPr>
        <p:spPr>
          <a:xfrm>
            <a:off x="1086041" y="2051017"/>
            <a:ext cx="14157560" cy="1617622"/>
          </a:xfrm>
          <a:prstGeom prst="rect">
            <a:avLst/>
          </a:prstGeom>
        </p:spPr>
        <p:txBody>
          <a:bodyPr wrap="square" lIns="0" tIns="0" rIns="0" bIns="0" rtlCol="0" anchor="t">
            <a:spAutoFit/>
          </a:bodyPr>
          <a:lstStyle/>
          <a:p>
            <a:pPr>
              <a:lnSpc>
                <a:spcPts val="2538"/>
              </a:lnSpc>
            </a:pPr>
            <a:r>
              <a:rPr lang="en-US" sz="2800" b="1" dirty="0">
                <a:solidFill>
                  <a:srgbClr val="9CD52C"/>
                </a:solidFill>
              </a:rPr>
              <a:t>Real-time · Streaming · Causal · Adaptive · Sequential · Online · Nonstationary</a:t>
            </a:r>
            <a:endParaRPr lang="en-US" sz="2800" b="1" spc="-4" dirty="0">
              <a:solidFill>
                <a:srgbClr val="9CD52C"/>
              </a:solidFill>
              <a:latin typeface="IBM Plex Sans"/>
              <a:ea typeface="IBM Plex Sans"/>
              <a:cs typeface="IBM Plex Sans"/>
              <a:sym typeface="IBM Plex Sans"/>
            </a:endParaRPr>
          </a:p>
          <a:p>
            <a:pPr>
              <a:lnSpc>
                <a:spcPts val="2538"/>
              </a:lnSpc>
            </a:pPr>
            <a:endParaRPr lang="en-US" sz="2800" dirty="0">
              <a:solidFill>
                <a:schemeClr val="bg2"/>
              </a:solidFill>
            </a:endParaRPr>
          </a:p>
          <a:p>
            <a:pPr>
              <a:lnSpc>
                <a:spcPts val="2538"/>
              </a:lnSpc>
            </a:pPr>
            <a:r>
              <a:rPr lang="en-US" sz="2800" dirty="0">
                <a:solidFill>
                  <a:schemeClr val="bg2"/>
                </a:solidFill>
              </a:rPr>
              <a:t>Online causal time-series prediction uses patterns in sequential measurements to estimate future values as new data arrive, while relying only on observations available up to the present moment.</a:t>
            </a:r>
          </a:p>
          <a:p>
            <a:pPr>
              <a:lnSpc>
                <a:spcPts val="2538"/>
              </a:lnSpc>
            </a:pPr>
            <a:endParaRPr lang="en-US" sz="2800" dirty="0">
              <a:solidFill>
                <a:schemeClr val="bg2"/>
              </a:solidFill>
            </a:endParaRPr>
          </a:p>
        </p:txBody>
      </p:sp>
      <p:sp>
        <p:nvSpPr>
          <p:cNvPr id="7" name="TextBox 7"/>
          <p:cNvSpPr txBox="1"/>
          <p:nvPr/>
        </p:nvSpPr>
        <p:spPr>
          <a:xfrm>
            <a:off x="1117494" y="4398218"/>
            <a:ext cx="7303193" cy="1553502"/>
          </a:xfrm>
          <a:prstGeom prst="rect">
            <a:avLst/>
          </a:prstGeom>
        </p:spPr>
        <p:txBody>
          <a:bodyPr lIns="0" tIns="0" rIns="0" bIns="0" rtlCol="0" anchor="t">
            <a:spAutoFit/>
          </a:bodyPr>
          <a:lstStyle/>
          <a:p>
            <a:pPr marL="285750" indent="-285750">
              <a:lnSpc>
                <a:spcPts val="2428"/>
              </a:lnSpc>
              <a:buFont typeface="Arial" panose="020B0604020202020204" pitchFamily="34" charset="0"/>
              <a:buChar char="•"/>
            </a:pPr>
            <a:r>
              <a:rPr lang="en-US" sz="2200" dirty="0">
                <a:solidFill>
                  <a:schemeClr val="bg2"/>
                </a:solidFill>
              </a:rPr>
              <a:t>Maintenance and machine monitoring </a:t>
            </a:r>
          </a:p>
          <a:p>
            <a:pPr marL="285750" indent="-285750">
              <a:lnSpc>
                <a:spcPts val="2428"/>
              </a:lnSpc>
              <a:buFont typeface="Arial" panose="020B0604020202020204" pitchFamily="34" charset="0"/>
              <a:buChar char="•"/>
            </a:pPr>
            <a:r>
              <a:rPr lang="en-US" sz="2200" dirty="0">
                <a:solidFill>
                  <a:schemeClr val="bg2"/>
                </a:solidFill>
              </a:rPr>
              <a:t>Robotic and autonomous control </a:t>
            </a:r>
          </a:p>
          <a:p>
            <a:pPr marL="285750" indent="-285750">
              <a:lnSpc>
                <a:spcPts val="2428"/>
              </a:lnSpc>
              <a:buFont typeface="Arial" panose="020B0604020202020204" pitchFamily="34" charset="0"/>
              <a:buChar char="•"/>
            </a:pPr>
            <a:r>
              <a:rPr lang="en-US" sz="2200" dirty="0">
                <a:solidFill>
                  <a:schemeClr val="bg2"/>
                </a:solidFill>
              </a:rPr>
              <a:t>Wearable sensors </a:t>
            </a:r>
          </a:p>
          <a:p>
            <a:pPr marL="285750" indent="-285750">
              <a:lnSpc>
                <a:spcPts val="2428"/>
              </a:lnSpc>
              <a:buFont typeface="Arial" panose="020B0604020202020204" pitchFamily="34" charset="0"/>
              <a:buChar char="•"/>
            </a:pPr>
            <a:r>
              <a:rPr lang="en-US" sz="2200" dirty="0">
                <a:solidFill>
                  <a:schemeClr val="bg2"/>
                </a:solidFill>
              </a:rPr>
              <a:t>Energy, environmental, and industrial systems </a:t>
            </a:r>
          </a:p>
          <a:p>
            <a:pPr marL="285750" indent="-285750">
              <a:lnSpc>
                <a:spcPts val="2428"/>
              </a:lnSpc>
              <a:buFont typeface="Arial" panose="020B0604020202020204" pitchFamily="34" charset="0"/>
              <a:buChar char="•"/>
            </a:pPr>
            <a:r>
              <a:rPr lang="en-US" sz="2200" dirty="0">
                <a:solidFill>
                  <a:schemeClr val="bg2"/>
                </a:solidFill>
              </a:rPr>
              <a:t>Real-time anomaly detection</a:t>
            </a:r>
            <a:endParaRPr lang="en-US" sz="2200" spc="21" dirty="0">
              <a:solidFill>
                <a:schemeClr val="bg2"/>
              </a:solidFill>
              <a:latin typeface="Amicale Light"/>
              <a:ea typeface="Amicale Light"/>
              <a:cs typeface="Amicale Light"/>
              <a:sym typeface="Amicale Light"/>
            </a:endParaRPr>
          </a:p>
        </p:txBody>
      </p:sp>
      <p:sp>
        <p:nvSpPr>
          <p:cNvPr id="8" name="TextBox 8"/>
          <p:cNvSpPr txBox="1"/>
          <p:nvPr/>
        </p:nvSpPr>
        <p:spPr>
          <a:xfrm>
            <a:off x="1086041" y="3849834"/>
            <a:ext cx="4068760" cy="447880"/>
          </a:xfrm>
          <a:prstGeom prst="rect">
            <a:avLst/>
          </a:prstGeom>
        </p:spPr>
        <p:txBody>
          <a:bodyPr lIns="0" tIns="0" rIns="0" bIns="0" rtlCol="0" anchor="t">
            <a:spAutoFit/>
          </a:bodyPr>
          <a:lstStyle/>
          <a:p>
            <a:pPr>
              <a:lnSpc>
                <a:spcPts val="3435"/>
              </a:lnSpc>
            </a:pPr>
            <a:r>
              <a:rPr lang="en-US" sz="3200" b="1" dirty="0">
                <a:solidFill>
                  <a:srgbClr val="9CD52C"/>
                </a:solidFill>
              </a:rPr>
              <a:t>Where It Is Useful</a:t>
            </a:r>
            <a:endParaRPr lang="en-US" sz="3200" b="1" spc="26" dirty="0">
              <a:solidFill>
                <a:srgbClr val="9CD52C"/>
              </a:solidFill>
              <a:latin typeface="IBM Plex Sans Bold"/>
              <a:ea typeface="IBM Plex Sans Bold"/>
              <a:cs typeface="IBM Plex Sans Bold"/>
              <a:sym typeface="IBM Plex Sans Bold"/>
            </a:endParaRPr>
          </a:p>
        </p:txBody>
      </p:sp>
      <p:sp>
        <p:nvSpPr>
          <p:cNvPr id="18" name="Freeform 18"/>
          <p:cNvSpPr/>
          <p:nvPr/>
        </p:nvSpPr>
        <p:spPr>
          <a:xfrm>
            <a:off x="4542153" y="3206467"/>
            <a:ext cx="1920604" cy="1920604"/>
          </a:xfrm>
          <a:custGeom>
            <a:avLst/>
            <a:gdLst/>
            <a:ahLst/>
            <a:cxnLst/>
            <a:rect l="l" t="t" r="r" b="b"/>
            <a:pathLst>
              <a:path w="1920604" h="1920604">
                <a:moveTo>
                  <a:pt x="0" y="0"/>
                </a:moveTo>
                <a:lnTo>
                  <a:pt x="1920604" y="0"/>
                </a:lnTo>
                <a:lnTo>
                  <a:pt x="1920604" y="1920604"/>
                </a:lnTo>
                <a:lnTo>
                  <a:pt x="0" y="1920604"/>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19" name="Freeform 19"/>
          <p:cNvSpPr/>
          <p:nvPr/>
        </p:nvSpPr>
        <p:spPr>
          <a:xfrm>
            <a:off x="6660741" y="7236594"/>
            <a:ext cx="1142999" cy="1142999"/>
          </a:xfrm>
          <a:custGeom>
            <a:avLst/>
            <a:gdLst/>
            <a:ahLst/>
            <a:cxnLst/>
            <a:rect l="l" t="t" r="r" b="b"/>
            <a:pathLst>
              <a:path w="1142999" h="1142999">
                <a:moveTo>
                  <a:pt x="0" y="0"/>
                </a:moveTo>
                <a:lnTo>
                  <a:pt x="1143000" y="0"/>
                </a:lnTo>
                <a:lnTo>
                  <a:pt x="1143000" y="1143000"/>
                </a:lnTo>
                <a:lnTo>
                  <a:pt x="0" y="1143000"/>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20" name="Group 20"/>
          <p:cNvGrpSpPr/>
          <p:nvPr/>
        </p:nvGrpSpPr>
        <p:grpSpPr>
          <a:xfrm>
            <a:off x="0" y="8244826"/>
            <a:ext cx="2737757" cy="2737757"/>
            <a:chOff x="0" y="0"/>
            <a:chExt cx="3650343" cy="3650343"/>
          </a:xfrm>
        </p:grpSpPr>
        <p:sp>
          <p:nvSpPr>
            <p:cNvPr id="21" name="Freeform 21"/>
            <p:cNvSpPr/>
            <p:nvPr/>
          </p:nvSpPr>
          <p:spPr>
            <a:xfrm>
              <a:off x="0" y="0"/>
              <a:ext cx="3650343" cy="3650343"/>
            </a:xfrm>
            <a:custGeom>
              <a:avLst/>
              <a:gdLst/>
              <a:ahLst/>
              <a:cxnLst/>
              <a:rect l="l" t="t" r="r" b="b"/>
              <a:pathLst>
                <a:path w="3650343" h="3650343">
                  <a:moveTo>
                    <a:pt x="0" y="0"/>
                  </a:moveTo>
                  <a:lnTo>
                    <a:pt x="3650343" y="0"/>
                  </a:lnTo>
                  <a:lnTo>
                    <a:pt x="3650343" y="3650343"/>
                  </a:lnTo>
                  <a:lnTo>
                    <a:pt x="0" y="3650343"/>
                  </a:lnTo>
                  <a:lnTo>
                    <a:pt x="0" y="0"/>
                  </a:lnTo>
                  <a:close/>
                </a:path>
              </a:pathLst>
            </a:custGeom>
            <a:blipFill>
              <a:blip>
                <a:alphaModFix amt="4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2" name="Freeform 22"/>
            <p:cNvSpPr/>
            <p:nvPr/>
          </p:nvSpPr>
          <p:spPr>
            <a:xfrm>
              <a:off x="257215" y="827328"/>
              <a:ext cx="2779958" cy="1629020"/>
            </a:xfrm>
            <a:custGeom>
              <a:avLst/>
              <a:gdLst/>
              <a:ahLst/>
              <a:cxnLst/>
              <a:rect l="l" t="t" r="r" b="b"/>
              <a:pathLst>
                <a:path w="2779958" h="1629020">
                  <a:moveTo>
                    <a:pt x="0" y="0"/>
                  </a:moveTo>
                  <a:lnTo>
                    <a:pt x="2779958" y="0"/>
                  </a:lnTo>
                  <a:lnTo>
                    <a:pt x="2779958" y="1629020"/>
                  </a:lnTo>
                  <a:lnTo>
                    <a:pt x="0" y="1629020"/>
                  </a:lnTo>
                  <a:lnTo>
                    <a:pt x="0" y="0"/>
                  </a:lnTo>
                  <a:close/>
                </a:path>
              </a:pathLst>
            </a:custGeom>
            <a:blipFill>
              <a:blip r:embed="rId4"/>
              <a:stretch>
                <a:fillRect/>
              </a:stretch>
            </a:blipFill>
          </p:spPr>
          <p:txBody>
            <a:bodyPr/>
            <a:lstStyle/>
            <a:p>
              <a:endParaRPr lang="en-US"/>
            </a:p>
          </p:txBody>
        </p:sp>
      </p:grpSp>
      <p:sp>
        <p:nvSpPr>
          <p:cNvPr id="25" name="TextBox 8">
            <a:extLst>
              <a:ext uri="{FF2B5EF4-FFF2-40B4-BE49-F238E27FC236}">
                <a16:creationId xmlns:a16="http://schemas.microsoft.com/office/drawing/2014/main" id="{0306354E-F77C-802A-E691-53B771303766}"/>
              </a:ext>
            </a:extLst>
          </p:cNvPr>
          <p:cNvSpPr txBox="1"/>
          <p:nvPr/>
        </p:nvSpPr>
        <p:spPr>
          <a:xfrm>
            <a:off x="9310431" y="3863491"/>
            <a:ext cx="6350106" cy="447880"/>
          </a:xfrm>
          <a:prstGeom prst="rect">
            <a:avLst/>
          </a:prstGeom>
        </p:spPr>
        <p:txBody>
          <a:bodyPr wrap="square" lIns="0" tIns="0" rIns="0" bIns="0" rtlCol="0" anchor="t">
            <a:spAutoFit/>
          </a:bodyPr>
          <a:lstStyle/>
          <a:p>
            <a:pPr>
              <a:lnSpc>
                <a:spcPts val="3435"/>
              </a:lnSpc>
            </a:pPr>
            <a:r>
              <a:rPr lang="en-US" sz="3200" b="1" dirty="0">
                <a:solidFill>
                  <a:srgbClr val="9CD52C"/>
                </a:solidFill>
              </a:rPr>
              <a:t>Key Challenge: Categorical Drift</a:t>
            </a:r>
            <a:endParaRPr lang="en-US" sz="3200" b="1" spc="26" dirty="0">
              <a:solidFill>
                <a:srgbClr val="9CD52C"/>
              </a:solidFill>
              <a:latin typeface="IBM Plex Sans Bold"/>
              <a:ea typeface="IBM Plex Sans Bold"/>
              <a:cs typeface="IBM Plex Sans Bold"/>
              <a:sym typeface="IBM Plex Sans Bold"/>
            </a:endParaRPr>
          </a:p>
        </p:txBody>
      </p:sp>
      <p:sp>
        <p:nvSpPr>
          <p:cNvPr id="27" name="TextBox 7">
            <a:extLst>
              <a:ext uri="{FF2B5EF4-FFF2-40B4-BE49-F238E27FC236}">
                <a16:creationId xmlns:a16="http://schemas.microsoft.com/office/drawing/2014/main" id="{BC74E921-55C4-A22E-F548-0C0492363AAF}"/>
              </a:ext>
            </a:extLst>
          </p:cNvPr>
          <p:cNvSpPr txBox="1"/>
          <p:nvPr/>
        </p:nvSpPr>
        <p:spPr>
          <a:xfrm>
            <a:off x="9310431" y="4421250"/>
            <a:ext cx="7149659" cy="1238096"/>
          </a:xfrm>
          <a:prstGeom prst="rect">
            <a:avLst/>
          </a:prstGeom>
        </p:spPr>
        <p:txBody>
          <a:bodyPr wrap="square" lIns="0" tIns="0" rIns="0" bIns="0" rtlCol="0" anchor="t">
            <a:spAutoFit/>
          </a:bodyPr>
          <a:lstStyle/>
          <a:p>
            <a:pPr marL="285750" indent="-285750">
              <a:lnSpc>
                <a:spcPts val="2428"/>
              </a:lnSpc>
              <a:buFont typeface="Arial" panose="020B0604020202020204" pitchFamily="34" charset="0"/>
              <a:buChar char="•"/>
            </a:pPr>
            <a:r>
              <a:rPr lang="en-US" sz="2200" dirty="0">
                <a:solidFill>
                  <a:schemeClr val="bg2"/>
                </a:solidFill>
              </a:rPr>
              <a:t>Signal dynamics may change after deployment </a:t>
            </a:r>
          </a:p>
          <a:p>
            <a:pPr marL="285750" indent="-285750">
              <a:lnSpc>
                <a:spcPts val="2428"/>
              </a:lnSpc>
              <a:buFont typeface="Arial" panose="020B0604020202020204" pitchFamily="34" charset="0"/>
              <a:buChar char="•"/>
            </a:pPr>
            <a:r>
              <a:rPr lang="en-US" sz="2200" dirty="0">
                <a:solidFill>
                  <a:schemeClr val="bg2"/>
                </a:solidFill>
              </a:rPr>
              <a:t>Cycles can lengthen, shorten, disappear, or return </a:t>
            </a:r>
          </a:p>
          <a:p>
            <a:pPr marL="285750" indent="-285750">
              <a:lnSpc>
                <a:spcPts val="2428"/>
              </a:lnSpc>
              <a:buFont typeface="Arial" panose="020B0604020202020204" pitchFamily="34" charset="0"/>
              <a:buChar char="•"/>
            </a:pPr>
            <a:r>
              <a:rPr lang="en-US" sz="2200" dirty="0">
                <a:solidFill>
                  <a:schemeClr val="bg2"/>
                </a:solidFill>
              </a:rPr>
              <a:t>Predictions must remain accurate with limited time, memory, and computation</a:t>
            </a:r>
            <a:endParaRPr lang="en-US" sz="2200" spc="21" dirty="0">
              <a:solidFill>
                <a:schemeClr val="bg2"/>
              </a:solidFill>
              <a:latin typeface="Amicale Light"/>
              <a:ea typeface="Amicale Light"/>
              <a:cs typeface="Amicale Light"/>
              <a:sym typeface="Amicale Light"/>
            </a:endParaRPr>
          </a:p>
        </p:txBody>
      </p:sp>
      <p:pic>
        <p:nvPicPr>
          <p:cNvPr id="31" name="Picture 30">
            <a:extLst>
              <a:ext uri="{FF2B5EF4-FFF2-40B4-BE49-F238E27FC236}">
                <a16:creationId xmlns:a16="http://schemas.microsoft.com/office/drawing/2014/main" id="{8E4126F2-35A7-58AC-11EC-5BF9354EBCE4}"/>
              </a:ext>
            </a:extLst>
          </p:cNvPr>
          <p:cNvPicPr>
            <a:picLocks noChangeAspect="1"/>
          </p:cNvPicPr>
          <p:nvPr/>
        </p:nvPicPr>
        <p:blipFill>
          <a:blip r:embed="rId5" cstate="print">
            <a:extLst>
              <a:ext uri="{28A0092B-C50C-407E-A947-70E740481C1C}">
                <a14:useLocalDpi xmlns:a14="http://schemas.microsoft.com/office/drawing/2010/main" val="0"/>
              </a:ext>
            </a:extLst>
          </a:blip>
          <a:srcRect t="15132" b="26015"/>
          <a:stretch>
            <a:fillRect/>
          </a:stretch>
        </p:blipFill>
        <p:spPr>
          <a:xfrm>
            <a:off x="1959428" y="6358999"/>
            <a:ext cx="5919315" cy="1960619"/>
          </a:xfrm>
          <a:prstGeom prst="rect">
            <a:avLst/>
          </a:prstGeom>
        </p:spPr>
      </p:pic>
      <p:pic>
        <p:nvPicPr>
          <p:cNvPr id="10" name="Picture 9">
            <a:extLst>
              <a:ext uri="{FF2B5EF4-FFF2-40B4-BE49-F238E27FC236}">
                <a16:creationId xmlns:a16="http://schemas.microsoft.com/office/drawing/2014/main" id="{B2B5A4EB-54C2-10C2-96FC-DFA0CF857B0F}"/>
              </a:ext>
            </a:extLst>
          </p:cNvPr>
          <p:cNvPicPr>
            <a:picLocks noChangeAspect="1"/>
          </p:cNvPicPr>
          <p:nvPr/>
        </p:nvPicPr>
        <p:blipFill>
          <a:blip r:embed="rId6" cstate="print">
            <a:extLst>
              <a:ext uri="{28A0092B-C50C-407E-A947-70E740481C1C}">
                <a14:useLocalDpi xmlns:a14="http://schemas.microsoft.com/office/drawing/2010/main" val="0"/>
              </a:ext>
            </a:extLst>
          </a:blip>
          <a:srcRect t="11699"/>
          <a:stretch>
            <a:fillRect/>
          </a:stretch>
        </p:blipFill>
        <p:spPr>
          <a:xfrm>
            <a:off x="10643165" y="6342282"/>
            <a:ext cx="3948369" cy="1962172"/>
          </a:xfrm>
          <a:prstGeom prst="rect">
            <a:avLst/>
          </a:prstGeom>
        </p:spPr>
      </p:pic>
      <p:sp>
        <p:nvSpPr>
          <p:cNvPr id="9" name="Slide Number Placeholder 8">
            <a:extLst>
              <a:ext uri="{FF2B5EF4-FFF2-40B4-BE49-F238E27FC236}">
                <a16:creationId xmlns:a16="http://schemas.microsoft.com/office/drawing/2014/main" id="{B9CC8ABD-D5C5-E135-03CB-D61EDA52B899}"/>
              </a:ext>
            </a:extLst>
          </p:cNvPr>
          <p:cNvSpPr>
            <a:spLocks noGrp="1"/>
          </p:cNvSpPr>
          <p:nvPr>
            <p:ph type="sldNum" sz="quarter" idx="12"/>
          </p:nvPr>
        </p:nvSpPr>
        <p:spPr>
          <a:xfrm>
            <a:off x="15925800" y="9715500"/>
            <a:ext cx="2133600" cy="365125"/>
          </a:xfrm>
        </p:spPr>
        <p:txBody>
          <a:bodyPr/>
          <a:lstStyle/>
          <a:p>
            <a:fld id="{B6F15528-21DE-4FAA-801E-634DDDAF4B2B}"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lin ang="5400000"/>
        </a:gradFill>
        <a:effectLst/>
      </p:bgPr>
    </p:bg>
    <p:spTree>
      <p:nvGrpSpPr>
        <p:cNvPr id="1" name="">
          <a:extLst>
            <a:ext uri="{FF2B5EF4-FFF2-40B4-BE49-F238E27FC236}">
              <a16:creationId xmlns:a16="http://schemas.microsoft.com/office/drawing/2014/main" id="{A72C8F13-2EEF-2424-275B-EE9FC01E59AC}"/>
            </a:ext>
          </a:extLst>
        </p:cNvPr>
        <p:cNvGrpSpPr/>
        <p:nvPr/>
      </p:nvGrpSpPr>
      <p:grpSpPr>
        <a:xfrm>
          <a:off x="0" y="0"/>
          <a:ext cx="0" cy="0"/>
          <a:chOff x="0" y="0"/>
          <a:chExt cx="0" cy="0"/>
        </a:xfrm>
      </p:grpSpPr>
      <p:sp>
        <p:nvSpPr>
          <p:cNvPr id="4" name="AutoShape 4">
            <a:extLst>
              <a:ext uri="{FF2B5EF4-FFF2-40B4-BE49-F238E27FC236}">
                <a16:creationId xmlns:a16="http://schemas.microsoft.com/office/drawing/2014/main" id="{E2681CF3-71FF-B3DF-25D7-665C25217A7B}"/>
              </a:ext>
            </a:extLst>
          </p:cNvPr>
          <p:cNvSpPr/>
          <p:nvPr/>
        </p:nvSpPr>
        <p:spPr>
          <a:xfrm flipV="1">
            <a:off x="500412" y="62275"/>
            <a:ext cx="0" cy="6492240"/>
          </a:xfrm>
          <a:prstGeom prst="line">
            <a:avLst/>
          </a:prstGeom>
          <a:ln w="19050" cap="flat">
            <a:solidFill>
              <a:srgbClr val="FFFFFF"/>
            </a:solidFill>
            <a:prstDash val="solid"/>
            <a:headEnd type="none" w="sm" len="sm"/>
            <a:tailEnd type="none" w="sm" len="sm"/>
          </a:ln>
        </p:spPr>
        <p:txBody>
          <a:bodyPr/>
          <a:lstStyle/>
          <a:p>
            <a:endParaRPr lang="en-US"/>
          </a:p>
        </p:txBody>
      </p:sp>
      <p:sp>
        <p:nvSpPr>
          <p:cNvPr id="5" name="AutoShape 5">
            <a:extLst>
              <a:ext uri="{FF2B5EF4-FFF2-40B4-BE49-F238E27FC236}">
                <a16:creationId xmlns:a16="http://schemas.microsoft.com/office/drawing/2014/main" id="{2BA20B20-FAA8-B86F-73E8-4D9FBCB20A5A}"/>
              </a:ext>
            </a:extLst>
          </p:cNvPr>
          <p:cNvSpPr/>
          <p:nvPr/>
        </p:nvSpPr>
        <p:spPr>
          <a:xfrm flipV="1">
            <a:off x="500412" y="7053950"/>
            <a:ext cx="0" cy="960120"/>
          </a:xfrm>
          <a:prstGeom prst="line">
            <a:avLst/>
          </a:prstGeom>
          <a:ln w="19050" cap="flat">
            <a:solidFill>
              <a:srgbClr val="FFFFFF"/>
            </a:solidFill>
            <a:prstDash val="solid"/>
            <a:headEnd type="none" w="sm" len="sm"/>
            <a:tailEnd type="none" w="sm" len="sm"/>
          </a:ln>
        </p:spPr>
        <p:txBody>
          <a:bodyPr/>
          <a:lstStyle/>
          <a:p>
            <a:endParaRPr lang="en-US"/>
          </a:p>
        </p:txBody>
      </p:sp>
      <p:sp>
        <p:nvSpPr>
          <p:cNvPr id="6" name="AutoShape 6">
            <a:extLst>
              <a:ext uri="{FF2B5EF4-FFF2-40B4-BE49-F238E27FC236}">
                <a16:creationId xmlns:a16="http://schemas.microsoft.com/office/drawing/2014/main" id="{242DF8DE-B40B-E1AF-E93A-97367D192732}"/>
              </a:ext>
            </a:extLst>
          </p:cNvPr>
          <p:cNvSpPr/>
          <p:nvPr/>
        </p:nvSpPr>
        <p:spPr>
          <a:xfrm flipV="1">
            <a:off x="500412" y="8446345"/>
            <a:ext cx="0" cy="442454"/>
          </a:xfrm>
          <a:prstGeom prst="line">
            <a:avLst/>
          </a:prstGeom>
          <a:ln w="19050" cap="flat">
            <a:solidFill>
              <a:srgbClr val="FFFFFF"/>
            </a:solidFill>
            <a:prstDash val="solid"/>
            <a:headEnd type="none" w="sm" len="sm"/>
            <a:tailEnd type="none" w="sm" len="sm"/>
          </a:ln>
        </p:spPr>
        <p:txBody>
          <a:bodyPr/>
          <a:lstStyle/>
          <a:p>
            <a:endParaRPr lang="en-US"/>
          </a:p>
        </p:txBody>
      </p:sp>
      <p:sp>
        <p:nvSpPr>
          <p:cNvPr id="19" name="Freeform 19">
            <a:extLst>
              <a:ext uri="{FF2B5EF4-FFF2-40B4-BE49-F238E27FC236}">
                <a16:creationId xmlns:a16="http://schemas.microsoft.com/office/drawing/2014/main" id="{F24D9276-4D37-5F0D-9E4E-AEDB31ABAAAB}"/>
              </a:ext>
            </a:extLst>
          </p:cNvPr>
          <p:cNvSpPr/>
          <p:nvPr/>
        </p:nvSpPr>
        <p:spPr>
          <a:xfrm>
            <a:off x="15957252" y="1682187"/>
            <a:ext cx="2330748" cy="2330748"/>
          </a:xfrm>
          <a:custGeom>
            <a:avLst/>
            <a:gdLst/>
            <a:ahLst/>
            <a:cxnLst/>
            <a:rect l="l" t="t" r="r" b="b"/>
            <a:pathLst>
              <a:path w="2330748" h="2330748">
                <a:moveTo>
                  <a:pt x="0" y="0"/>
                </a:moveTo>
                <a:lnTo>
                  <a:pt x="2330748" y="0"/>
                </a:lnTo>
                <a:lnTo>
                  <a:pt x="2330748" y="2330748"/>
                </a:lnTo>
                <a:lnTo>
                  <a:pt x="0" y="2330748"/>
                </a:lnTo>
                <a:lnTo>
                  <a:pt x="0" y="0"/>
                </a:lnTo>
                <a:close/>
              </a:path>
            </a:pathLst>
          </a:custGeom>
          <a:blipFill>
            <a:blip>
              <a:alphaModFix amt="37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0" name="Freeform 20">
            <a:extLst>
              <a:ext uri="{FF2B5EF4-FFF2-40B4-BE49-F238E27FC236}">
                <a16:creationId xmlns:a16="http://schemas.microsoft.com/office/drawing/2014/main" id="{F7F91FE9-B64B-35DB-6834-916EA55ABD77}"/>
              </a:ext>
            </a:extLst>
          </p:cNvPr>
          <p:cNvSpPr/>
          <p:nvPr/>
        </p:nvSpPr>
        <p:spPr>
          <a:xfrm>
            <a:off x="10931283" y="9538070"/>
            <a:ext cx="964746" cy="964746"/>
          </a:xfrm>
          <a:custGeom>
            <a:avLst/>
            <a:gdLst/>
            <a:ahLst/>
            <a:cxnLst/>
            <a:rect l="l" t="t" r="r" b="b"/>
            <a:pathLst>
              <a:path w="964746" h="964746">
                <a:moveTo>
                  <a:pt x="0" y="0"/>
                </a:moveTo>
                <a:lnTo>
                  <a:pt x="964746" y="0"/>
                </a:lnTo>
                <a:lnTo>
                  <a:pt x="964746" y="964747"/>
                </a:lnTo>
                <a:lnTo>
                  <a:pt x="0" y="964747"/>
                </a:lnTo>
                <a:lnTo>
                  <a:pt x="0" y="0"/>
                </a:lnTo>
                <a:close/>
              </a:path>
            </a:pathLst>
          </a:custGeom>
          <a:blipFill>
            <a:blip>
              <a:alphaModFix amt="37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1" name="Freeform 21">
            <a:extLst>
              <a:ext uri="{FF2B5EF4-FFF2-40B4-BE49-F238E27FC236}">
                <a16:creationId xmlns:a16="http://schemas.microsoft.com/office/drawing/2014/main" id="{552155CC-44A2-A051-482E-4802ECB2D12A}"/>
              </a:ext>
            </a:extLst>
          </p:cNvPr>
          <p:cNvSpPr/>
          <p:nvPr/>
        </p:nvSpPr>
        <p:spPr>
          <a:xfrm>
            <a:off x="8899544" y="8542949"/>
            <a:ext cx="715351" cy="715351"/>
          </a:xfrm>
          <a:custGeom>
            <a:avLst/>
            <a:gdLst/>
            <a:ahLst/>
            <a:cxnLst/>
            <a:rect l="l" t="t" r="r" b="b"/>
            <a:pathLst>
              <a:path w="715351" h="715351">
                <a:moveTo>
                  <a:pt x="0" y="0"/>
                </a:moveTo>
                <a:lnTo>
                  <a:pt x="715351" y="0"/>
                </a:lnTo>
                <a:lnTo>
                  <a:pt x="715351" y="715351"/>
                </a:lnTo>
                <a:lnTo>
                  <a:pt x="0" y="715351"/>
                </a:lnTo>
                <a:lnTo>
                  <a:pt x="0" y="0"/>
                </a:lnTo>
                <a:close/>
              </a:path>
            </a:pathLst>
          </a:custGeom>
          <a:blipFill>
            <a:blip>
              <a:alphaModFix amt="37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22" name="Group 22">
            <a:extLst>
              <a:ext uri="{FF2B5EF4-FFF2-40B4-BE49-F238E27FC236}">
                <a16:creationId xmlns:a16="http://schemas.microsoft.com/office/drawing/2014/main" id="{EB86CAC5-6554-9159-C055-0D34BF618BFB}"/>
              </a:ext>
            </a:extLst>
          </p:cNvPr>
          <p:cNvGrpSpPr/>
          <p:nvPr/>
        </p:nvGrpSpPr>
        <p:grpSpPr>
          <a:xfrm>
            <a:off x="0" y="8244826"/>
            <a:ext cx="2737757" cy="2737757"/>
            <a:chOff x="0" y="0"/>
            <a:chExt cx="3650343" cy="3650343"/>
          </a:xfrm>
        </p:grpSpPr>
        <p:sp>
          <p:nvSpPr>
            <p:cNvPr id="23" name="Freeform 23">
              <a:extLst>
                <a:ext uri="{FF2B5EF4-FFF2-40B4-BE49-F238E27FC236}">
                  <a16:creationId xmlns:a16="http://schemas.microsoft.com/office/drawing/2014/main" id="{9887A1A5-15F7-DBEF-F69C-1A89EDB95B17}"/>
                </a:ext>
              </a:extLst>
            </p:cNvPr>
            <p:cNvSpPr/>
            <p:nvPr/>
          </p:nvSpPr>
          <p:spPr>
            <a:xfrm>
              <a:off x="0" y="0"/>
              <a:ext cx="3650343" cy="3650343"/>
            </a:xfrm>
            <a:custGeom>
              <a:avLst/>
              <a:gdLst/>
              <a:ahLst/>
              <a:cxnLst/>
              <a:rect l="l" t="t" r="r" b="b"/>
              <a:pathLst>
                <a:path w="3650343" h="3650343">
                  <a:moveTo>
                    <a:pt x="0" y="0"/>
                  </a:moveTo>
                  <a:lnTo>
                    <a:pt x="3650343" y="0"/>
                  </a:lnTo>
                  <a:lnTo>
                    <a:pt x="3650343" y="3650343"/>
                  </a:lnTo>
                  <a:lnTo>
                    <a:pt x="0" y="3650343"/>
                  </a:lnTo>
                  <a:lnTo>
                    <a:pt x="0" y="0"/>
                  </a:lnTo>
                  <a:close/>
                </a:path>
              </a:pathLst>
            </a:custGeom>
            <a:blipFill>
              <a:blip>
                <a:alphaModFix amt="4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4" name="Freeform 24">
              <a:extLst>
                <a:ext uri="{FF2B5EF4-FFF2-40B4-BE49-F238E27FC236}">
                  <a16:creationId xmlns:a16="http://schemas.microsoft.com/office/drawing/2014/main" id="{57D982A4-5120-7DCB-1ED4-DDE499A44ED0}"/>
                </a:ext>
              </a:extLst>
            </p:cNvPr>
            <p:cNvSpPr/>
            <p:nvPr/>
          </p:nvSpPr>
          <p:spPr>
            <a:xfrm>
              <a:off x="257215" y="827328"/>
              <a:ext cx="2779958" cy="1629020"/>
            </a:xfrm>
            <a:custGeom>
              <a:avLst/>
              <a:gdLst/>
              <a:ahLst/>
              <a:cxnLst/>
              <a:rect l="l" t="t" r="r" b="b"/>
              <a:pathLst>
                <a:path w="2779958" h="1629020">
                  <a:moveTo>
                    <a:pt x="0" y="0"/>
                  </a:moveTo>
                  <a:lnTo>
                    <a:pt x="2779958" y="0"/>
                  </a:lnTo>
                  <a:lnTo>
                    <a:pt x="2779958" y="1629020"/>
                  </a:lnTo>
                  <a:lnTo>
                    <a:pt x="0" y="1629020"/>
                  </a:lnTo>
                  <a:lnTo>
                    <a:pt x="0" y="0"/>
                  </a:lnTo>
                  <a:close/>
                </a:path>
              </a:pathLst>
            </a:custGeom>
            <a:blipFill>
              <a:blip r:embed="rId4"/>
              <a:stretch>
                <a:fillRect/>
              </a:stretch>
            </a:blipFill>
          </p:spPr>
          <p:txBody>
            <a:bodyPr/>
            <a:lstStyle/>
            <a:p>
              <a:endParaRPr lang="en-US"/>
            </a:p>
          </p:txBody>
        </p:sp>
      </p:grpSp>
      <p:sp>
        <p:nvSpPr>
          <p:cNvPr id="12" name="TextBox 3">
            <a:extLst>
              <a:ext uri="{FF2B5EF4-FFF2-40B4-BE49-F238E27FC236}">
                <a16:creationId xmlns:a16="http://schemas.microsoft.com/office/drawing/2014/main" id="{933E680B-C100-7F16-7B37-F4F1E83E8265}"/>
              </a:ext>
            </a:extLst>
          </p:cNvPr>
          <p:cNvSpPr txBox="1"/>
          <p:nvPr/>
        </p:nvSpPr>
        <p:spPr>
          <a:xfrm>
            <a:off x="1677381" y="1097131"/>
            <a:ext cx="15875028" cy="908655"/>
          </a:xfrm>
          <a:prstGeom prst="rect">
            <a:avLst/>
          </a:prstGeom>
        </p:spPr>
        <p:txBody>
          <a:bodyPr lIns="0" tIns="0" rIns="0" bIns="0" rtlCol="0" anchor="t">
            <a:spAutoFit/>
          </a:bodyPr>
          <a:lstStyle/>
          <a:p>
            <a:pPr algn="l">
              <a:lnSpc>
                <a:spcPts val="7351"/>
              </a:lnSpc>
            </a:pPr>
            <a:r>
              <a:rPr lang="en-US" sz="5876" b="1" spc="-17" dirty="0">
                <a:solidFill>
                  <a:srgbClr val="D7E5D8"/>
                </a:solidFill>
                <a:latin typeface="IBM Plex Sans Bold"/>
                <a:ea typeface="IBM Plex Sans Bold"/>
                <a:cs typeface="IBM Plex Sans Bold"/>
                <a:sym typeface="IBM Plex Sans Bold"/>
              </a:rPr>
              <a:t>RESEARCH GAP</a:t>
            </a:r>
          </a:p>
        </p:txBody>
      </p:sp>
      <p:sp>
        <p:nvSpPr>
          <p:cNvPr id="18" name="TextBox 7">
            <a:extLst>
              <a:ext uri="{FF2B5EF4-FFF2-40B4-BE49-F238E27FC236}">
                <a16:creationId xmlns:a16="http://schemas.microsoft.com/office/drawing/2014/main" id="{A665BEC3-1CDC-9AD4-CBE1-3CA69DDEA792}"/>
              </a:ext>
            </a:extLst>
          </p:cNvPr>
          <p:cNvSpPr txBox="1"/>
          <p:nvPr/>
        </p:nvSpPr>
        <p:spPr>
          <a:xfrm>
            <a:off x="1677381" y="2093249"/>
            <a:ext cx="12419617" cy="2031325"/>
          </a:xfrm>
          <a:prstGeom prst="rect">
            <a:avLst/>
          </a:prstGeom>
        </p:spPr>
        <p:txBody>
          <a:bodyPr wrap="square" lIns="0" tIns="0" rIns="0" bIns="0" rtlCol="0" anchor="t">
            <a:spAutoFit/>
          </a:bodyPr>
          <a:lstStyle/>
          <a:p>
            <a:r>
              <a:rPr lang="en-US" sz="2800" b="1" dirty="0">
                <a:solidFill>
                  <a:srgbClr val="9CD52C"/>
                </a:solidFill>
              </a:rPr>
              <a:t>Most modern forecasting models are loosely inspired by the brain. </a:t>
            </a:r>
            <a:endParaRPr lang="en-US" sz="2800" spc="-4" dirty="0">
              <a:solidFill>
                <a:srgbClr val="9CD52C"/>
              </a:solidFill>
              <a:latin typeface="IBM Plex Sans"/>
              <a:ea typeface="IBM Plex Sans"/>
              <a:cs typeface="IBM Plex Sans"/>
              <a:sym typeface="IBM Plex Sans"/>
            </a:endParaRPr>
          </a:p>
          <a:p>
            <a:endParaRPr lang="en-US" sz="2000" dirty="0">
              <a:solidFill>
                <a:schemeClr val="bg2"/>
              </a:solidFill>
            </a:endParaRPr>
          </a:p>
          <a:p>
            <a:r>
              <a:rPr lang="en-US" sz="2000" dirty="0">
                <a:solidFill>
                  <a:schemeClr val="bg2"/>
                </a:solidFill>
              </a:rPr>
              <a:t>Recurrent neural networks, linear decomposition, transformer-based models all employ interconnected units, distributed representations, and learned connection strengths to process temporal information</a:t>
            </a:r>
          </a:p>
          <a:p>
            <a:endParaRPr lang="en-US" sz="2000" dirty="0">
              <a:solidFill>
                <a:schemeClr val="bg2"/>
              </a:solidFill>
            </a:endParaRPr>
          </a:p>
          <a:p>
            <a:r>
              <a:rPr lang="en-US" sz="2400" dirty="0">
                <a:solidFill>
                  <a:schemeClr val="bg2"/>
                </a:solidFill>
              </a:rPr>
              <a:t>However, they differ from biological neural systems in important ways:</a:t>
            </a:r>
          </a:p>
        </p:txBody>
      </p:sp>
      <p:graphicFrame>
        <p:nvGraphicFramePr>
          <p:cNvPr id="3" name="Table 2">
            <a:extLst>
              <a:ext uri="{FF2B5EF4-FFF2-40B4-BE49-F238E27FC236}">
                <a16:creationId xmlns:a16="http://schemas.microsoft.com/office/drawing/2014/main" id="{1A6594E2-E734-9891-7929-4AB62C9FBAAC}"/>
              </a:ext>
            </a:extLst>
          </p:cNvPr>
          <p:cNvGraphicFramePr>
            <a:graphicFrameLocks noGrp="1"/>
          </p:cNvGraphicFramePr>
          <p:nvPr>
            <p:extLst>
              <p:ext uri="{D42A27DB-BD31-4B8C-83A1-F6EECF244321}">
                <p14:modId xmlns:p14="http://schemas.microsoft.com/office/powerpoint/2010/main" val="1293328701"/>
              </p:ext>
            </p:extLst>
          </p:nvPr>
        </p:nvGraphicFramePr>
        <p:xfrm>
          <a:off x="4283762" y="4436751"/>
          <a:ext cx="10662266" cy="4235528"/>
        </p:xfrm>
        <a:graphic>
          <a:graphicData uri="http://schemas.openxmlformats.org/drawingml/2006/table">
            <a:tbl>
              <a:tblPr firstRow="1" bandRow="1">
                <a:tableStyleId>{C083E6E3-FA7D-4D7B-A595-EF9225AFEA82}</a:tableStyleId>
              </a:tblPr>
              <a:tblGrid>
                <a:gridCol w="5331133">
                  <a:extLst>
                    <a:ext uri="{9D8B030D-6E8A-4147-A177-3AD203B41FA5}">
                      <a16:colId xmlns:a16="http://schemas.microsoft.com/office/drawing/2014/main" val="1502593930"/>
                    </a:ext>
                  </a:extLst>
                </a:gridCol>
                <a:gridCol w="5331133">
                  <a:extLst>
                    <a:ext uri="{9D8B030D-6E8A-4147-A177-3AD203B41FA5}">
                      <a16:colId xmlns:a16="http://schemas.microsoft.com/office/drawing/2014/main" val="1057772304"/>
                    </a:ext>
                  </a:extLst>
                </a:gridCol>
              </a:tblGrid>
              <a:tr h="529441">
                <a:tc>
                  <a:txBody>
                    <a:bodyPr/>
                    <a:lstStyle/>
                    <a:p>
                      <a:pPr algn="ctr">
                        <a:buNone/>
                      </a:pPr>
                      <a:r>
                        <a:rPr lang="en-US" sz="2000" b="1" dirty="0">
                          <a:solidFill>
                            <a:schemeClr val="bg2"/>
                          </a:solidFill>
                        </a:rPr>
                        <a:t>Biology</a:t>
                      </a:r>
                      <a:endParaRPr lang="en-US" sz="2000" dirty="0">
                        <a:solidFill>
                          <a:schemeClr val="bg2"/>
                        </a:solidFill>
                      </a:endParaRPr>
                    </a:p>
                  </a:txBody>
                  <a:tcPr anchor="ctr"/>
                </a:tc>
                <a:tc>
                  <a:txBody>
                    <a:bodyPr/>
                    <a:lstStyle/>
                    <a:p>
                      <a:pPr algn="ctr">
                        <a:buNone/>
                      </a:pPr>
                      <a:r>
                        <a:rPr lang="en-US" sz="2000" b="1" dirty="0">
                          <a:solidFill>
                            <a:schemeClr val="bg2"/>
                          </a:solidFill>
                        </a:rPr>
                        <a:t>Implementation</a:t>
                      </a:r>
                      <a:endParaRPr lang="en-US" sz="2000" dirty="0">
                        <a:solidFill>
                          <a:schemeClr val="bg2"/>
                        </a:solidFill>
                      </a:endParaRPr>
                    </a:p>
                  </a:txBody>
                  <a:tcPr anchor="ctr"/>
                </a:tc>
                <a:extLst>
                  <a:ext uri="{0D108BD9-81ED-4DB2-BD59-A6C34878D82A}">
                    <a16:rowId xmlns:a16="http://schemas.microsoft.com/office/drawing/2014/main" val="1616325603"/>
                  </a:ext>
                </a:extLst>
              </a:tr>
              <a:tr h="529441">
                <a:tc>
                  <a:txBody>
                    <a:bodyPr/>
                    <a:lstStyle/>
                    <a:p>
                      <a:pPr>
                        <a:buNone/>
                      </a:pPr>
                      <a:r>
                        <a:rPr lang="en-US" sz="2000" dirty="0">
                          <a:solidFill>
                            <a:schemeClr val="bg2"/>
                          </a:solidFill>
                        </a:rPr>
                        <a:t>Evolving topology</a:t>
                      </a:r>
                    </a:p>
                  </a:txBody>
                  <a:tcPr anchor="ctr"/>
                </a:tc>
                <a:tc>
                  <a:txBody>
                    <a:bodyPr/>
                    <a:lstStyle/>
                    <a:p>
                      <a:pPr>
                        <a:buNone/>
                      </a:pPr>
                      <a:r>
                        <a:rPr lang="en-US" sz="2000" dirty="0">
                          <a:solidFill>
                            <a:schemeClr val="bg2"/>
                          </a:solidFill>
                        </a:rPr>
                        <a:t>Fixed topology</a:t>
                      </a:r>
                    </a:p>
                  </a:txBody>
                  <a:tcPr anchor="ctr"/>
                </a:tc>
                <a:extLst>
                  <a:ext uri="{0D108BD9-81ED-4DB2-BD59-A6C34878D82A}">
                    <a16:rowId xmlns:a16="http://schemas.microsoft.com/office/drawing/2014/main" val="2714382775"/>
                  </a:ext>
                </a:extLst>
              </a:tr>
              <a:tr h="529441">
                <a:tc>
                  <a:txBody>
                    <a:bodyPr/>
                    <a:lstStyle/>
                    <a:p>
                      <a:pPr>
                        <a:buNone/>
                      </a:pPr>
                      <a:r>
                        <a:rPr lang="en-US" sz="2000" dirty="0">
                          <a:solidFill>
                            <a:schemeClr val="bg2"/>
                          </a:solidFill>
                        </a:rPr>
                        <a:t>Local adaptation</a:t>
                      </a:r>
                    </a:p>
                  </a:txBody>
                  <a:tcPr anchor="ctr"/>
                </a:tc>
                <a:tc>
                  <a:txBody>
                    <a:bodyPr/>
                    <a:lstStyle/>
                    <a:p>
                      <a:pPr>
                        <a:buNone/>
                      </a:pPr>
                      <a:r>
                        <a:rPr lang="en-US" sz="2000" dirty="0">
                          <a:solidFill>
                            <a:schemeClr val="bg2"/>
                          </a:solidFill>
                        </a:rPr>
                        <a:t>Global optimization</a:t>
                      </a:r>
                    </a:p>
                  </a:txBody>
                  <a:tcPr anchor="ctr"/>
                </a:tc>
                <a:extLst>
                  <a:ext uri="{0D108BD9-81ED-4DB2-BD59-A6C34878D82A}">
                    <a16:rowId xmlns:a16="http://schemas.microsoft.com/office/drawing/2014/main" val="1156521135"/>
                  </a:ext>
                </a:extLst>
              </a:tr>
              <a:tr h="529441">
                <a:tc>
                  <a:txBody>
                    <a:bodyPr/>
                    <a:lstStyle/>
                    <a:p>
                      <a:pPr>
                        <a:buNone/>
                      </a:pPr>
                      <a:r>
                        <a:rPr lang="en-US" sz="2000" dirty="0">
                          <a:solidFill>
                            <a:schemeClr val="bg2"/>
                          </a:solidFill>
                        </a:rPr>
                        <a:t>Pathway growth</a:t>
                      </a:r>
                    </a:p>
                  </a:txBody>
                  <a:tcPr anchor="ctr"/>
                </a:tc>
                <a:tc>
                  <a:txBody>
                    <a:bodyPr/>
                    <a:lstStyle/>
                    <a:p>
                      <a:pPr>
                        <a:buNone/>
                      </a:pPr>
                      <a:r>
                        <a:rPr lang="en-US" sz="2000" dirty="0">
                          <a:solidFill>
                            <a:schemeClr val="bg2"/>
                          </a:solidFill>
                        </a:rPr>
                        <a:t>Weight updates</a:t>
                      </a:r>
                    </a:p>
                  </a:txBody>
                  <a:tcPr anchor="ctr"/>
                </a:tc>
                <a:extLst>
                  <a:ext uri="{0D108BD9-81ED-4DB2-BD59-A6C34878D82A}">
                    <a16:rowId xmlns:a16="http://schemas.microsoft.com/office/drawing/2014/main" val="1437614458"/>
                  </a:ext>
                </a:extLst>
              </a:tr>
              <a:tr h="529441">
                <a:tc>
                  <a:txBody>
                    <a:bodyPr/>
                    <a:lstStyle/>
                    <a:p>
                      <a:pPr>
                        <a:buNone/>
                      </a:pPr>
                      <a:r>
                        <a:rPr lang="en-US" sz="2000" dirty="0">
                          <a:solidFill>
                            <a:schemeClr val="bg2"/>
                          </a:solidFill>
                        </a:rPr>
                        <a:t>Reinforcement / decay</a:t>
                      </a:r>
                    </a:p>
                  </a:txBody>
                  <a:tcPr anchor="ctr"/>
                </a:tc>
                <a:tc>
                  <a:txBody>
                    <a:bodyPr/>
                    <a:lstStyle/>
                    <a:p>
                      <a:pPr>
                        <a:buNone/>
                      </a:pPr>
                      <a:r>
                        <a:rPr lang="en-US" sz="2000" dirty="0">
                          <a:solidFill>
                            <a:schemeClr val="bg2"/>
                          </a:solidFill>
                        </a:rPr>
                        <a:t>Loss minimization</a:t>
                      </a:r>
                    </a:p>
                  </a:txBody>
                  <a:tcPr anchor="ctr"/>
                </a:tc>
                <a:extLst>
                  <a:ext uri="{0D108BD9-81ED-4DB2-BD59-A6C34878D82A}">
                    <a16:rowId xmlns:a16="http://schemas.microsoft.com/office/drawing/2014/main" val="2570498133"/>
                  </a:ext>
                </a:extLst>
              </a:tr>
              <a:tr h="529441">
                <a:tc>
                  <a:txBody>
                    <a:bodyPr/>
                    <a:lstStyle/>
                    <a:p>
                      <a:pPr>
                        <a:buNone/>
                      </a:pPr>
                      <a:r>
                        <a:rPr lang="en-US" sz="2000" dirty="0">
                          <a:solidFill>
                            <a:schemeClr val="bg2"/>
                          </a:solidFill>
                        </a:rPr>
                        <a:t>Dormancy / reactivation</a:t>
                      </a:r>
                    </a:p>
                  </a:txBody>
                  <a:tcPr anchor="ctr"/>
                </a:tc>
                <a:tc>
                  <a:txBody>
                    <a:bodyPr/>
                    <a:lstStyle/>
                    <a:p>
                      <a:pPr>
                        <a:buNone/>
                      </a:pPr>
                      <a:r>
                        <a:rPr lang="en-US" sz="2000" dirty="0">
                          <a:solidFill>
                            <a:schemeClr val="bg2"/>
                          </a:solidFill>
                        </a:rPr>
                        <a:t>Forgetting / retraining</a:t>
                      </a:r>
                    </a:p>
                  </a:txBody>
                  <a:tcPr anchor="ctr"/>
                </a:tc>
                <a:extLst>
                  <a:ext uri="{0D108BD9-81ED-4DB2-BD59-A6C34878D82A}">
                    <a16:rowId xmlns:a16="http://schemas.microsoft.com/office/drawing/2014/main" val="2746817805"/>
                  </a:ext>
                </a:extLst>
              </a:tr>
              <a:tr h="529441">
                <a:tc>
                  <a:txBody>
                    <a:bodyPr/>
                    <a:lstStyle/>
                    <a:p>
                      <a:pPr>
                        <a:buNone/>
                      </a:pPr>
                      <a:r>
                        <a:rPr lang="en-US" sz="2000" dirty="0">
                          <a:solidFill>
                            <a:schemeClr val="bg2"/>
                          </a:solidFill>
                        </a:rPr>
                        <a:t>Distributed memory</a:t>
                      </a:r>
                    </a:p>
                  </a:txBody>
                  <a:tcPr anchor="ctr"/>
                </a:tc>
                <a:tc>
                  <a:txBody>
                    <a:bodyPr/>
                    <a:lstStyle/>
                    <a:p>
                      <a:pPr>
                        <a:buNone/>
                      </a:pPr>
                      <a:r>
                        <a:rPr lang="en-US" sz="2000" dirty="0">
                          <a:solidFill>
                            <a:schemeClr val="bg2"/>
                          </a:solidFill>
                        </a:rPr>
                        <a:t>Shared parameters</a:t>
                      </a:r>
                    </a:p>
                  </a:txBody>
                  <a:tcPr anchor="ctr"/>
                </a:tc>
                <a:extLst>
                  <a:ext uri="{0D108BD9-81ED-4DB2-BD59-A6C34878D82A}">
                    <a16:rowId xmlns:a16="http://schemas.microsoft.com/office/drawing/2014/main" val="2730899754"/>
                  </a:ext>
                </a:extLst>
              </a:tr>
              <a:tr h="529441">
                <a:tc>
                  <a:txBody>
                    <a:bodyPr/>
                    <a:lstStyle/>
                    <a:p>
                      <a:pPr>
                        <a:buNone/>
                      </a:pPr>
                      <a:r>
                        <a:rPr lang="en-US" sz="2000" dirty="0">
                          <a:solidFill>
                            <a:schemeClr val="bg2"/>
                          </a:solidFill>
                        </a:rPr>
                        <a:t>Structure = computation</a:t>
                      </a:r>
                    </a:p>
                  </a:txBody>
                  <a:tcPr anchor="ctr"/>
                </a:tc>
                <a:tc>
                  <a:txBody>
                    <a:bodyPr/>
                    <a:lstStyle/>
                    <a:p>
                      <a:pPr>
                        <a:buNone/>
                      </a:pPr>
                      <a:r>
                        <a:rPr lang="en-US" sz="2000" dirty="0">
                          <a:solidFill>
                            <a:schemeClr val="bg2"/>
                          </a:solidFill>
                        </a:rPr>
                        <a:t>Structure ≠ learning</a:t>
                      </a:r>
                    </a:p>
                  </a:txBody>
                  <a:tcPr anchor="ctr"/>
                </a:tc>
                <a:extLst>
                  <a:ext uri="{0D108BD9-81ED-4DB2-BD59-A6C34878D82A}">
                    <a16:rowId xmlns:a16="http://schemas.microsoft.com/office/drawing/2014/main" val="611313867"/>
                  </a:ext>
                </a:extLst>
              </a:tr>
            </a:tbl>
          </a:graphicData>
        </a:graphic>
      </p:graphicFrame>
      <p:sp>
        <p:nvSpPr>
          <p:cNvPr id="10" name="Slide Number Placeholder 9">
            <a:extLst>
              <a:ext uri="{FF2B5EF4-FFF2-40B4-BE49-F238E27FC236}">
                <a16:creationId xmlns:a16="http://schemas.microsoft.com/office/drawing/2014/main" id="{652E000F-7C14-789B-934B-336488A93C01}"/>
              </a:ext>
            </a:extLst>
          </p:cNvPr>
          <p:cNvSpPr>
            <a:spLocks noGrp="1"/>
          </p:cNvSpPr>
          <p:nvPr>
            <p:ph type="sldNum" sz="quarter" idx="12"/>
          </p:nvPr>
        </p:nvSpPr>
        <p:spPr>
          <a:xfrm>
            <a:off x="15925800" y="9715500"/>
            <a:ext cx="2133600" cy="365125"/>
          </a:xfrm>
        </p:spPr>
        <p:txBody>
          <a:bodyPr/>
          <a:lstStyle/>
          <a:p>
            <a:fld id="{B6F15528-21DE-4FAA-801E-634DDDAF4B2B}" type="slidenum">
              <a:rPr lang="en-US" smtClean="0"/>
              <a:pPr/>
              <a:t>5</a:t>
            </a:fld>
            <a:endParaRPr lang="en-US"/>
          </a:p>
        </p:txBody>
      </p:sp>
      <p:sp>
        <p:nvSpPr>
          <p:cNvPr id="2" name="TextBox 7">
            <a:extLst>
              <a:ext uri="{FF2B5EF4-FFF2-40B4-BE49-F238E27FC236}">
                <a16:creationId xmlns:a16="http://schemas.microsoft.com/office/drawing/2014/main" id="{FFB49836-ECE7-543D-6318-3C49ACF5120D}"/>
              </a:ext>
            </a:extLst>
          </p:cNvPr>
          <p:cNvSpPr txBox="1"/>
          <p:nvPr/>
        </p:nvSpPr>
        <p:spPr>
          <a:xfrm>
            <a:off x="3047410" y="9205524"/>
            <a:ext cx="12419617" cy="430887"/>
          </a:xfrm>
          <a:prstGeom prst="rect">
            <a:avLst/>
          </a:prstGeom>
        </p:spPr>
        <p:txBody>
          <a:bodyPr wrap="square" lIns="0" tIns="0" rIns="0" bIns="0" rtlCol="0" anchor="t">
            <a:spAutoFit/>
          </a:bodyPr>
          <a:lstStyle/>
          <a:p>
            <a:pPr algn="ctr"/>
            <a:r>
              <a:rPr lang="en-US" sz="2800" b="1" dirty="0">
                <a:solidFill>
                  <a:srgbClr val="9CD52C"/>
                </a:solidFill>
              </a:rPr>
              <a:t>Core Problem: Limited capacity for structural adaptation</a:t>
            </a:r>
            <a:endParaRPr lang="en-US" sz="2800" spc="-4" dirty="0">
              <a:solidFill>
                <a:srgbClr val="9CD52C"/>
              </a:solidFill>
              <a:latin typeface="IBM Plex Sans"/>
              <a:ea typeface="IBM Plex Sans"/>
              <a:cs typeface="IBM Plex Sans"/>
              <a:sym typeface="IBM Plex Sans"/>
            </a:endParaRPr>
          </a:p>
        </p:txBody>
      </p:sp>
    </p:spTree>
    <p:extLst>
      <p:ext uri="{BB962C8B-B14F-4D97-AF65-F5344CB8AC3E}">
        <p14:creationId xmlns:p14="http://schemas.microsoft.com/office/powerpoint/2010/main" val="5107440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lin ang="5400000"/>
        </a:gradFill>
        <a:effectLst/>
      </p:bgPr>
    </p:bg>
    <p:spTree>
      <p:nvGrpSpPr>
        <p:cNvPr id="1" name="">
          <a:extLst>
            <a:ext uri="{FF2B5EF4-FFF2-40B4-BE49-F238E27FC236}">
              <a16:creationId xmlns:a16="http://schemas.microsoft.com/office/drawing/2014/main" id="{A531D77A-66AD-BED6-0199-B0355790B0EE}"/>
            </a:ext>
          </a:extLst>
        </p:cNvPr>
        <p:cNvGrpSpPr/>
        <p:nvPr/>
      </p:nvGrpSpPr>
      <p:grpSpPr>
        <a:xfrm>
          <a:off x="0" y="0"/>
          <a:ext cx="0" cy="0"/>
          <a:chOff x="0" y="0"/>
          <a:chExt cx="0" cy="0"/>
        </a:xfrm>
      </p:grpSpPr>
      <p:sp>
        <p:nvSpPr>
          <p:cNvPr id="4" name="AutoShape 4">
            <a:extLst>
              <a:ext uri="{FF2B5EF4-FFF2-40B4-BE49-F238E27FC236}">
                <a16:creationId xmlns:a16="http://schemas.microsoft.com/office/drawing/2014/main" id="{BD514922-739F-B133-A758-CB7C2A86EBE5}"/>
              </a:ext>
            </a:extLst>
          </p:cNvPr>
          <p:cNvSpPr/>
          <p:nvPr/>
        </p:nvSpPr>
        <p:spPr>
          <a:xfrm flipV="1">
            <a:off x="500412" y="62275"/>
            <a:ext cx="0" cy="6492240"/>
          </a:xfrm>
          <a:prstGeom prst="line">
            <a:avLst/>
          </a:prstGeom>
          <a:ln w="19050" cap="flat">
            <a:solidFill>
              <a:srgbClr val="FFFFFF"/>
            </a:solidFill>
            <a:prstDash val="solid"/>
            <a:headEnd type="none" w="sm" len="sm"/>
            <a:tailEnd type="none" w="sm" len="sm"/>
          </a:ln>
        </p:spPr>
        <p:txBody>
          <a:bodyPr/>
          <a:lstStyle/>
          <a:p>
            <a:endParaRPr lang="en-US"/>
          </a:p>
        </p:txBody>
      </p:sp>
      <p:sp>
        <p:nvSpPr>
          <p:cNvPr id="5" name="AutoShape 5">
            <a:extLst>
              <a:ext uri="{FF2B5EF4-FFF2-40B4-BE49-F238E27FC236}">
                <a16:creationId xmlns:a16="http://schemas.microsoft.com/office/drawing/2014/main" id="{676D8B49-3546-A159-EF2B-6E02B5FEE195}"/>
              </a:ext>
            </a:extLst>
          </p:cNvPr>
          <p:cNvSpPr/>
          <p:nvPr/>
        </p:nvSpPr>
        <p:spPr>
          <a:xfrm flipV="1">
            <a:off x="500412" y="7053950"/>
            <a:ext cx="0" cy="960120"/>
          </a:xfrm>
          <a:prstGeom prst="line">
            <a:avLst/>
          </a:prstGeom>
          <a:ln w="19050" cap="flat">
            <a:solidFill>
              <a:srgbClr val="FFFFFF"/>
            </a:solidFill>
            <a:prstDash val="solid"/>
            <a:headEnd type="none" w="sm" len="sm"/>
            <a:tailEnd type="none" w="sm" len="sm"/>
          </a:ln>
        </p:spPr>
        <p:txBody>
          <a:bodyPr/>
          <a:lstStyle/>
          <a:p>
            <a:endParaRPr lang="en-US"/>
          </a:p>
        </p:txBody>
      </p:sp>
      <p:sp>
        <p:nvSpPr>
          <p:cNvPr id="6" name="AutoShape 6">
            <a:extLst>
              <a:ext uri="{FF2B5EF4-FFF2-40B4-BE49-F238E27FC236}">
                <a16:creationId xmlns:a16="http://schemas.microsoft.com/office/drawing/2014/main" id="{76F0A3BB-D34F-4BDE-C6FD-98A429810171}"/>
              </a:ext>
            </a:extLst>
          </p:cNvPr>
          <p:cNvSpPr/>
          <p:nvPr/>
        </p:nvSpPr>
        <p:spPr>
          <a:xfrm flipV="1">
            <a:off x="500412" y="8446345"/>
            <a:ext cx="0" cy="442454"/>
          </a:xfrm>
          <a:prstGeom prst="line">
            <a:avLst/>
          </a:prstGeom>
          <a:ln w="19050" cap="flat">
            <a:solidFill>
              <a:srgbClr val="FFFFFF"/>
            </a:solidFill>
            <a:prstDash val="solid"/>
            <a:headEnd type="none" w="sm" len="sm"/>
            <a:tailEnd type="none" w="sm" len="sm"/>
          </a:ln>
        </p:spPr>
        <p:txBody>
          <a:bodyPr/>
          <a:lstStyle/>
          <a:p>
            <a:endParaRPr lang="en-US"/>
          </a:p>
        </p:txBody>
      </p:sp>
      <p:sp>
        <p:nvSpPr>
          <p:cNvPr id="14" name="TextBox 14">
            <a:extLst>
              <a:ext uri="{FF2B5EF4-FFF2-40B4-BE49-F238E27FC236}">
                <a16:creationId xmlns:a16="http://schemas.microsoft.com/office/drawing/2014/main" id="{05BE16A8-13E4-A5B5-0892-4FC880F5A1B8}"/>
              </a:ext>
            </a:extLst>
          </p:cNvPr>
          <p:cNvSpPr txBox="1"/>
          <p:nvPr/>
        </p:nvSpPr>
        <p:spPr>
          <a:xfrm>
            <a:off x="1677381" y="5112475"/>
            <a:ext cx="12756852" cy="2215991"/>
          </a:xfrm>
          <a:prstGeom prst="rect">
            <a:avLst/>
          </a:prstGeom>
        </p:spPr>
        <p:txBody>
          <a:bodyPr wrap="square" lIns="0" tIns="0" rIns="0" bIns="0" rtlCol="0" anchor="t">
            <a:spAutoFit/>
          </a:bodyPr>
          <a:lstStyle/>
          <a:p>
            <a:r>
              <a:rPr lang="en-US" sz="3600" dirty="0">
                <a:solidFill>
                  <a:schemeClr val="bg2"/>
                </a:solidFill>
                <a:latin typeface="+mj-lt"/>
              </a:rPr>
              <a:t>What if adaptive forecasting were inspired not only by the brain, but by other distributed biological networks whose physical structure continuously grows, strengthens, weakens, and reorganizes in response to the environment?</a:t>
            </a:r>
            <a:endParaRPr lang="en-US" sz="3600" spc="29" dirty="0">
              <a:solidFill>
                <a:schemeClr val="bg2"/>
              </a:solidFill>
              <a:latin typeface="+mj-lt"/>
              <a:ea typeface="IBM Plex Sans Bold"/>
              <a:cs typeface="IBM Plex Sans Bold"/>
              <a:sym typeface="IBM Plex Sans Bold"/>
            </a:endParaRPr>
          </a:p>
        </p:txBody>
      </p:sp>
      <p:sp>
        <p:nvSpPr>
          <p:cNvPr id="19" name="Freeform 19">
            <a:extLst>
              <a:ext uri="{FF2B5EF4-FFF2-40B4-BE49-F238E27FC236}">
                <a16:creationId xmlns:a16="http://schemas.microsoft.com/office/drawing/2014/main" id="{DC23CE54-7E15-0FBA-2D8B-BADC533A37E2}"/>
              </a:ext>
            </a:extLst>
          </p:cNvPr>
          <p:cNvSpPr/>
          <p:nvPr/>
        </p:nvSpPr>
        <p:spPr>
          <a:xfrm>
            <a:off x="15957252" y="1682187"/>
            <a:ext cx="2330748" cy="2330748"/>
          </a:xfrm>
          <a:custGeom>
            <a:avLst/>
            <a:gdLst/>
            <a:ahLst/>
            <a:cxnLst/>
            <a:rect l="l" t="t" r="r" b="b"/>
            <a:pathLst>
              <a:path w="2330748" h="2330748">
                <a:moveTo>
                  <a:pt x="0" y="0"/>
                </a:moveTo>
                <a:lnTo>
                  <a:pt x="2330748" y="0"/>
                </a:lnTo>
                <a:lnTo>
                  <a:pt x="2330748" y="2330748"/>
                </a:lnTo>
                <a:lnTo>
                  <a:pt x="0" y="2330748"/>
                </a:lnTo>
                <a:lnTo>
                  <a:pt x="0" y="0"/>
                </a:lnTo>
                <a:close/>
              </a:path>
            </a:pathLst>
          </a:custGeom>
          <a:blipFill>
            <a:blip>
              <a:alphaModFix amt="37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0" name="Freeform 20">
            <a:extLst>
              <a:ext uri="{FF2B5EF4-FFF2-40B4-BE49-F238E27FC236}">
                <a16:creationId xmlns:a16="http://schemas.microsoft.com/office/drawing/2014/main" id="{6E43E651-1B63-8D4D-A850-1FA0BC25DF1D}"/>
              </a:ext>
            </a:extLst>
          </p:cNvPr>
          <p:cNvSpPr/>
          <p:nvPr/>
        </p:nvSpPr>
        <p:spPr>
          <a:xfrm>
            <a:off x="10931283" y="9538070"/>
            <a:ext cx="964746" cy="964746"/>
          </a:xfrm>
          <a:custGeom>
            <a:avLst/>
            <a:gdLst/>
            <a:ahLst/>
            <a:cxnLst/>
            <a:rect l="l" t="t" r="r" b="b"/>
            <a:pathLst>
              <a:path w="964746" h="964746">
                <a:moveTo>
                  <a:pt x="0" y="0"/>
                </a:moveTo>
                <a:lnTo>
                  <a:pt x="964746" y="0"/>
                </a:lnTo>
                <a:lnTo>
                  <a:pt x="964746" y="964747"/>
                </a:lnTo>
                <a:lnTo>
                  <a:pt x="0" y="964747"/>
                </a:lnTo>
                <a:lnTo>
                  <a:pt x="0" y="0"/>
                </a:lnTo>
                <a:close/>
              </a:path>
            </a:pathLst>
          </a:custGeom>
          <a:blipFill>
            <a:blip>
              <a:alphaModFix amt="37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1" name="Freeform 21">
            <a:extLst>
              <a:ext uri="{FF2B5EF4-FFF2-40B4-BE49-F238E27FC236}">
                <a16:creationId xmlns:a16="http://schemas.microsoft.com/office/drawing/2014/main" id="{B0C20262-307B-3B0A-135B-49C21131535F}"/>
              </a:ext>
            </a:extLst>
          </p:cNvPr>
          <p:cNvSpPr/>
          <p:nvPr/>
        </p:nvSpPr>
        <p:spPr>
          <a:xfrm>
            <a:off x="8899544" y="8542949"/>
            <a:ext cx="715351" cy="715351"/>
          </a:xfrm>
          <a:custGeom>
            <a:avLst/>
            <a:gdLst/>
            <a:ahLst/>
            <a:cxnLst/>
            <a:rect l="l" t="t" r="r" b="b"/>
            <a:pathLst>
              <a:path w="715351" h="715351">
                <a:moveTo>
                  <a:pt x="0" y="0"/>
                </a:moveTo>
                <a:lnTo>
                  <a:pt x="715351" y="0"/>
                </a:lnTo>
                <a:lnTo>
                  <a:pt x="715351" y="715351"/>
                </a:lnTo>
                <a:lnTo>
                  <a:pt x="0" y="715351"/>
                </a:lnTo>
                <a:lnTo>
                  <a:pt x="0" y="0"/>
                </a:lnTo>
                <a:close/>
              </a:path>
            </a:pathLst>
          </a:custGeom>
          <a:blipFill>
            <a:blip>
              <a:alphaModFix amt="37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22" name="Group 22">
            <a:extLst>
              <a:ext uri="{FF2B5EF4-FFF2-40B4-BE49-F238E27FC236}">
                <a16:creationId xmlns:a16="http://schemas.microsoft.com/office/drawing/2014/main" id="{4405E187-C8EF-C9EC-1AC9-486CD7720EF3}"/>
              </a:ext>
            </a:extLst>
          </p:cNvPr>
          <p:cNvGrpSpPr/>
          <p:nvPr/>
        </p:nvGrpSpPr>
        <p:grpSpPr>
          <a:xfrm>
            <a:off x="0" y="8244826"/>
            <a:ext cx="2737757" cy="2737757"/>
            <a:chOff x="0" y="0"/>
            <a:chExt cx="3650343" cy="3650343"/>
          </a:xfrm>
        </p:grpSpPr>
        <p:sp>
          <p:nvSpPr>
            <p:cNvPr id="23" name="Freeform 23">
              <a:extLst>
                <a:ext uri="{FF2B5EF4-FFF2-40B4-BE49-F238E27FC236}">
                  <a16:creationId xmlns:a16="http://schemas.microsoft.com/office/drawing/2014/main" id="{0DCEEA7C-6675-C59D-BADC-FA1A70AC7C4C}"/>
                </a:ext>
              </a:extLst>
            </p:cNvPr>
            <p:cNvSpPr/>
            <p:nvPr/>
          </p:nvSpPr>
          <p:spPr>
            <a:xfrm>
              <a:off x="0" y="0"/>
              <a:ext cx="3650343" cy="3650343"/>
            </a:xfrm>
            <a:custGeom>
              <a:avLst/>
              <a:gdLst/>
              <a:ahLst/>
              <a:cxnLst/>
              <a:rect l="l" t="t" r="r" b="b"/>
              <a:pathLst>
                <a:path w="3650343" h="3650343">
                  <a:moveTo>
                    <a:pt x="0" y="0"/>
                  </a:moveTo>
                  <a:lnTo>
                    <a:pt x="3650343" y="0"/>
                  </a:lnTo>
                  <a:lnTo>
                    <a:pt x="3650343" y="3650343"/>
                  </a:lnTo>
                  <a:lnTo>
                    <a:pt x="0" y="3650343"/>
                  </a:lnTo>
                  <a:lnTo>
                    <a:pt x="0" y="0"/>
                  </a:lnTo>
                  <a:close/>
                </a:path>
              </a:pathLst>
            </a:custGeom>
            <a:blipFill>
              <a:blip>
                <a:alphaModFix amt="4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4" name="Freeform 24">
              <a:extLst>
                <a:ext uri="{FF2B5EF4-FFF2-40B4-BE49-F238E27FC236}">
                  <a16:creationId xmlns:a16="http://schemas.microsoft.com/office/drawing/2014/main" id="{21EDD0DB-2007-DF13-A222-0B4B3624932C}"/>
                </a:ext>
              </a:extLst>
            </p:cNvPr>
            <p:cNvSpPr/>
            <p:nvPr/>
          </p:nvSpPr>
          <p:spPr>
            <a:xfrm>
              <a:off x="257215" y="827328"/>
              <a:ext cx="2779958" cy="1629020"/>
            </a:xfrm>
            <a:custGeom>
              <a:avLst/>
              <a:gdLst/>
              <a:ahLst/>
              <a:cxnLst/>
              <a:rect l="l" t="t" r="r" b="b"/>
              <a:pathLst>
                <a:path w="2779958" h="1629020">
                  <a:moveTo>
                    <a:pt x="0" y="0"/>
                  </a:moveTo>
                  <a:lnTo>
                    <a:pt x="2779958" y="0"/>
                  </a:lnTo>
                  <a:lnTo>
                    <a:pt x="2779958" y="1629020"/>
                  </a:lnTo>
                  <a:lnTo>
                    <a:pt x="0" y="1629020"/>
                  </a:lnTo>
                  <a:lnTo>
                    <a:pt x="0" y="0"/>
                  </a:lnTo>
                  <a:close/>
                </a:path>
              </a:pathLst>
            </a:custGeom>
            <a:blipFill>
              <a:blip r:embed="rId4"/>
              <a:stretch>
                <a:fillRect/>
              </a:stretch>
            </a:blipFill>
          </p:spPr>
          <p:txBody>
            <a:bodyPr/>
            <a:lstStyle/>
            <a:p>
              <a:endParaRPr lang="en-US"/>
            </a:p>
          </p:txBody>
        </p:sp>
      </p:grpSp>
      <p:sp>
        <p:nvSpPr>
          <p:cNvPr id="12" name="TextBox 3">
            <a:extLst>
              <a:ext uri="{FF2B5EF4-FFF2-40B4-BE49-F238E27FC236}">
                <a16:creationId xmlns:a16="http://schemas.microsoft.com/office/drawing/2014/main" id="{A2574E7E-188A-8FD9-BC92-B46434C245ED}"/>
              </a:ext>
            </a:extLst>
          </p:cNvPr>
          <p:cNvSpPr txBox="1"/>
          <p:nvPr/>
        </p:nvSpPr>
        <p:spPr>
          <a:xfrm>
            <a:off x="1677381" y="1097131"/>
            <a:ext cx="15875028" cy="908655"/>
          </a:xfrm>
          <a:prstGeom prst="rect">
            <a:avLst/>
          </a:prstGeom>
        </p:spPr>
        <p:txBody>
          <a:bodyPr lIns="0" tIns="0" rIns="0" bIns="0" rtlCol="0" anchor="t">
            <a:spAutoFit/>
          </a:bodyPr>
          <a:lstStyle/>
          <a:p>
            <a:pPr algn="l">
              <a:lnSpc>
                <a:spcPts val="7351"/>
              </a:lnSpc>
            </a:pPr>
            <a:r>
              <a:rPr lang="en-US" sz="5876" b="1" spc="-17" dirty="0">
                <a:solidFill>
                  <a:srgbClr val="9CD52C"/>
                </a:solidFill>
                <a:latin typeface="IBM Plex Sans Bold"/>
                <a:ea typeface="IBM Plex Sans Bold"/>
                <a:cs typeface="IBM Plex Sans Bold"/>
                <a:sym typeface="IBM Plex Sans Bold"/>
              </a:rPr>
              <a:t>RESEARCH QUESTIONS</a:t>
            </a:r>
          </a:p>
        </p:txBody>
      </p:sp>
      <p:sp>
        <p:nvSpPr>
          <p:cNvPr id="7" name="TextBox 14">
            <a:extLst>
              <a:ext uri="{FF2B5EF4-FFF2-40B4-BE49-F238E27FC236}">
                <a16:creationId xmlns:a16="http://schemas.microsoft.com/office/drawing/2014/main" id="{8900988A-65A6-566D-4524-99917E050067}"/>
              </a:ext>
            </a:extLst>
          </p:cNvPr>
          <p:cNvSpPr txBox="1"/>
          <p:nvPr/>
        </p:nvSpPr>
        <p:spPr>
          <a:xfrm>
            <a:off x="1691236" y="3140371"/>
            <a:ext cx="12756852" cy="1107996"/>
          </a:xfrm>
          <a:prstGeom prst="rect">
            <a:avLst/>
          </a:prstGeom>
        </p:spPr>
        <p:txBody>
          <a:bodyPr wrap="square" lIns="0" tIns="0" rIns="0" bIns="0" rtlCol="0" anchor="t">
            <a:spAutoFit/>
          </a:bodyPr>
          <a:lstStyle/>
          <a:p>
            <a:r>
              <a:rPr lang="en-US" sz="3600" dirty="0">
                <a:solidFill>
                  <a:schemeClr val="bg2"/>
                </a:solidFill>
              </a:rPr>
              <a:t>What if computation were organized around network topology, rather than only the accuracy of an input–output mapping?</a:t>
            </a:r>
            <a:endParaRPr lang="en-US" sz="3600" spc="29" dirty="0">
              <a:solidFill>
                <a:schemeClr val="bg2"/>
              </a:solidFill>
              <a:latin typeface="+mj-lt"/>
              <a:ea typeface="IBM Plex Sans Bold"/>
              <a:cs typeface="IBM Plex Sans Bold"/>
              <a:sym typeface="IBM Plex Sans Bold"/>
            </a:endParaRPr>
          </a:p>
        </p:txBody>
      </p:sp>
      <p:sp>
        <p:nvSpPr>
          <p:cNvPr id="2" name="Slide Number Placeholder 1">
            <a:extLst>
              <a:ext uri="{FF2B5EF4-FFF2-40B4-BE49-F238E27FC236}">
                <a16:creationId xmlns:a16="http://schemas.microsoft.com/office/drawing/2014/main" id="{CA33980F-F2B9-7EA7-0D25-56C673546C5B}"/>
              </a:ext>
            </a:extLst>
          </p:cNvPr>
          <p:cNvSpPr>
            <a:spLocks noGrp="1"/>
          </p:cNvSpPr>
          <p:nvPr>
            <p:ph type="sldNum" sz="quarter" idx="12"/>
          </p:nvPr>
        </p:nvSpPr>
        <p:spPr>
          <a:xfrm>
            <a:off x="15925800" y="9715500"/>
            <a:ext cx="2133600" cy="365125"/>
          </a:xfrm>
        </p:spPr>
        <p:txBody>
          <a:bodyPr/>
          <a:lstStyle/>
          <a:p>
            <a:fld id="{B6F15528-21DE-4FAA-801E-634DDDAF4B2B}" type="slidenum">
              <a:rPr lang="en-US" smtClean="0"/>
              <a:pPr/>
              <a:t>6</a:t>
            </a:fld>
            <a:endParaRPr lang="en-US"/>
          </a:p>
        </p:txBody>
      </p:sp>
    </p:spTree>
    <p:extLst>
      <p:ext uri="{BB962C8B-B14F-4D97-AF65-F5344CB8AC3E}">
        <p14:creationId xmlns:p14="http://schemas.microsoft.com/office/powerpoint/2010/main" val="42359395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lin ang="0"/>
        </a:gradFill>
        <a:effectLst/>
      </p:bgPr>
    </p:bg>
    <p:spTree>
      <p:nvGrpSpPr>
        <p:cNvPr id="1" name=""/>
        <p:cNvGrpSpPr/>
        <p:nvPr/>
      </p:nvGrpSpPr>
      <p:grpSpPr>
        <a:xfrm>
          <a:off x="0" y="0"/>
          <a:ext cx="0" cy="0"/>
          <a:chOff x="0" y="0"/>
          <a:chExt cx="0" cy="0"/>
        </a:xfrm>
      </p:grpSpPr>
      <p:sp>
        <p:nvSpPr>
          <p:cNvPr id="3" name="AutoShape 3"/>
          <p:cNvSpPr/>
          <p:nvPr/>
        </p:nvSpPr>
        <p:spPr>
          <a:xfrm flipH="1">
            <a:off x="0" y="9676538"/>
            <a:ext cx="16463090" cy="0"/>
          </a:xfrm>
          <a:prstGeom prst="line">
            <a:avLst/>
          </a:prstGeom>
          <a:ln w="19050" cap="flat">
            <a:solidFill>
              <a:srgbClr val="FFFFFF"/>
            </a:solidFill>
            <a:prstDash val="solid"/>
            <a:headEnd type="none" w="sm" len="sm"/>
            <a:tailEnd type="none" w="sm" len="sm"/>
          </a:ln>
        </p:spPr>
        <p:txBody>
          <a:bodyPr/>
          <a:lstStyle/>
          <a:p>
            <a:endParaRPr lang="en-US"/>
          </a:p>
        </p:txBody>
      </p:sp>
      <p:sp>
        <p:nvSpPr>
          <p:cNvPr id="4" name="AutoShape 4"/>
          <p:cNvSpPr/>
          <p:nvPr/>
        </p:nvSpPr>
        <p:spPr>
          <a:xfrm flipH="1">
            <a:off x="17050227" y="9667013"/>
            <a:ext cx="960120" cy="0"/>
          </a:xfrm>
          <a:prstGeom prst="line">
            <a:avLst/>
          </a:prstGeom>
          <a:ln w="19050" cap="flat">
            <a:solidFill>
              <a:srgbClr val="FFFFFF"/>
            </a:solidFill>
            <a:prstDash val="solid"/>
            <a:headEnd type="none" w="sm" len="sm"/>
            <a:tailEnd type="none" w="sm" len="sm"/>
          </a:ln>
        </p:spPr>
        <p:txBody>
          <a:bodyPr/>
          <a:lstStyle/>
          <a:p>
            <a:endParaRPr lang="en-US"/>
          </a:p>
        </p:txBody>
      </p:sp>
      <p:sp>
        <p:nvSpPr>
          <p:cNvPr id="5" name="Freeform 5"/>
          <p:cNvSpPr/>
          <p:nvPr/>
        </p:nvSpPr>
        <p:spPr>
          <a:xfrm>
            <a:off x="768987" y="5669251"/>
            <a:ext cx="634107" cy="634107"/>
          </a:xfrm>
          <a:custGeom>
            <a:avLst/>
            <a:gdLst/>
            <a:ahLst/>
            <a:cxnLst/>
            <a:rect l="l" t="t" r="r" b="b"/>
            <a:pathLst>
              <a:path w="634107" h="634107">
                <a:moveTo>
                  <a:pt x="0" y="0"/>
                </a:moveTo>
                <a:lnTo>
                  <a:pt x="634107" y="0"/>
                </a:lnTo>
                <a:lnTo>
                  <a:pt x="634107" y="634107"/>
                </a:lnTo>
                <a:lnTo>
                  <a:pt x="0" y="634107"/>
                </a:lnTo>
                <a:lnTo>
                  <a:pt x="0" y="0"/>
                </a:lnTo>
                <a:close/>
              </a:path>
            </a:pathLst>
          </a:custGeom>
          <a:blipFill>
            <a:blip>
              <a:alphaModFix amt="32999"/>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6" name="Group 6"/>
          <p:cNvGrpSpPr/>
          <p:nvPr/>
        </p:nvGrpSpPr>
        <p:grpSpPr>
          <a:xfrm>
            <a:off x="0" y="8244826"/>
            <a:ext cx="2737757" cy="2737757"/>
            <a:chOff x="0" y="0"/>
            <a:chExt cx="3650343" cy="3650343"/>
          </a:xfrm>
        </p:grpSpPr>
        <p:sp>
          <p:nvSpPr>
            <p:cNvPr id="7" name="Freeform 7"/>
            <p:cNvSpPr/>
            <p:nvPr/>
          </p:nvSpPr>
          <p:spPr>
            <a:xfrm>
              <a:off x="0" y="0"/>
              <a:ext cx="3650343" cy="3650343"/>
            </a:xfrm>
            <a:custGeom>
              <a:avLst/>
              <a:gdLst/>
              <a:ahLst/>
              <a:cxnLst/>
              <a:rect l="l" t="t" r="r" b="b"/>
              <a:pathLst>
                <a:path w="3650343" h="3650343">
                  <a:moveTo>
                    <a:pt x="0" y="0"/>
                  </a:moveTo>
                  <a:lnTo>
                    <a:pt x="3650343" y="0"/>
                  </a:lnTo>
                  <a:lnTo>
                    <a:pt x="3650343" y="3650343"/>
                  </a:lnTo>
                  <a:lnTo>
                    <a:pt x="0" y="3650343"/>
                  </a:lnTo>
                  <a:lnTo>
                    <a:pt x="0" y="0"/>
                  </a:lnTo>
                  <a:close/>
                </a:path>
              </a:pathLst>
            </a:custGeom>
            <a:blipFill>
              <a:blip>
                <a:alphaModFix amt="4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8"/>
            <p:cNvSpPr/>
            <p:nvPr/>
          </p:nvSpPr>
          <p:spPr>
            <a:xfrm>
              <a:off x="257215" y="827328"/>
              <a:ext cx="2779958" cy="1629020"/>
            </a:xfrm>
            <a:custGeom>
              <a:avLst/>
              <a:gdLst/>
              <a:ahLst/>
              <a:cxnLst/>
              <a:rect l="l" t="t" r="r" b="b"/>
              <a:pathLst>
                <a:path w="2779958" h="1629020">
                  <a:moveTo>
                    <a:pt x="0" y="0"/>
                  </a:moveTo>
                  <a:lnTo>
                    <a:pt x="2779958" y="0"/>
                  </a:lnTo>
                  <a:lnTo>
                    <a:pt x="2779958" y="1629020"/>
                  </a:lnTo>
                  <a:lnTo>
                    <a:pt x="0" y="1629020"/>
                  </a:lnTo>
                  <a:lnTo>
                    <a:pt x="0" y="0"/>
                  </a:lnTo>
                  <a:close/>
                </a:path>
              </a:pathLst>
            </a:custGeom>
            <a:blipFill>
              <a:blip r:embed="rId4"/>
              <a:stretch>
                <a:fillRect/>
              </a:stretch>
            </a:blipFill>
          </p:spPr>
          <p:txBody>
            <a:bodyPr/>
            <a:lstStyle/>
            <a:p>
              <a:endParaRPr lang="en-US"/>
            </a:p>
          </p:txBody>
        </p:sp>
      </p:grpSp>
      <p:sp>
        <p:nvSpPr>
          <p:cNvPr id="9" name="Freeform 9"/>
          <p:cNvSpPr/>
          <p:nvPr/>
        </p:nvSpPr>
        <p:spPr>
          <a:xfrm>
            <a:off x="8428254" y="2259243"/>
            <a:ext cx="8831046" cy="6240606"/>
          </a:xfrm>
          <a:custGeom>
            <a:avLst/>
            <a:gdLst/>
            <a:ahLst/>
            <a:cxnLst/>
            <a:rect l="l" t="t" r="r" b="b"/>
            <a:pathLst>
              <a:path w="8831046" h="6240606">
                <a:moveTo>
                  <a:pt x="0" y="0"/>
                </a:moveTo>
                <a:lnTo>
                  <a:pt x="8831046" y="0"/>
                </a:lnTo>
                <a:lnTo>
                  <a:pt x="8831046" y="6240605"/>
                </a:lnTo>
                <a:lnTo>
                  <a:pt x="0" y="6240605"/>
                </a:lnTo>
                <a:lnTo>
                  <a:pt x="0" y="0"/>
                </a:lnTo>
                <a:close/>
              </a:path>
            </a:pathLst>
          </a:custGeom>
          <a:blipFill>
            <a:blip r:embed="rId5"/>
            <a:stretch>
              <a:fillRect/>
            </a:stretch>
          </a:blipFill>
        </p:spPr>
        <p:txBody>
          <a:bodyPr/>
          <a:lstStyle/>
          <a:p>
            <a:endParaRPr lang="en-US"/>
          </a:p>
        </p:txBody>
      </p:sp>
      <p:sp>
        <p:nvSpPr>
          <p:cNvPr id="10" name="TextBox 10"/>
          <p:cNvSpPr txBox="1"/>
          <p:nvPr/>
        </p:nvSpPr>
        <p:spPr>
          <a:xfrm>
            <a:off x="1028700" y="923925"/>
            <a:ext cx="15445245" cy="908655"/>
          </a:xfrm>
          <a:prstGeom prst="rect">
            <a:avLst/>
          </a:prstGeom>
        </p:spPr>
        <p:txBody>
          <a:bodyPr lIns="0" tIns="0" rIns="0" bIns="0" rtlCol="0" anchor="t">
            <a:spAutoFit/>
          </a:bodyPr>
          <a:lstStyle/>
          <a:p>
            <a:pPr algn="l">
              <a:lnSpc>
                <a:spcPts val="7351"/>
              </a:lnSpc>
            </a:pPr>
            <a:r>
              <a:rPr lang="en-US" sz="5876" b="1" spc="-17" dirty="0">
                <a:solidFill>
                  <a:srgbClr val="D7E5D8"/>
                </a:solidFill>
                <a:latin typeface="IBM Plex Sans Bold"/>
                <a:ea typeface="IBM Plex Sans Bold"/>
                <a:cs typeface="IBM Plex Sans Bold"/>
                <a:sym typeface="IBM Plex Sans Bold"/>
              </a:rPr>
              <a:t>BIOLOGICAL INSPIRATION</a:t>
            </a:r>
          </a:p>
        </p:txBody>
      </p:sp>
      <p:sp>
        <p:nvSpPr>
          <p:cNvPr id="11" name="TextBox 11"/>
          <p:cNvSpPr txBox="1"/>
          <p:nvPr/>
        </p:nvSpPr>
        <p:spPr>
          <a:xfrm>
            <a:off x="8826395" y="8673843"/>
            <a:ext cx="8034764" cy="335943"/>
          </a:xfrm>
          <a:prstGeom prst="rect">
            <a:avLst/>
          </a:prstGeom>
        </p:spPr>
        <p:txBody>
          <a:bodyPr lIns="0" tIns="0" rIns="0" bIns="0" rtlCol="0" anchor="t">
            <a:spAutoFit/>
          </a:bodyPr>
          <a:lstStyle/>
          <a:p>
            <a:pPr algn="ctr">
              <a:lnSpc>
                <a:spcPts val="2860"/>
              </a:lnSpc>
            </a:pPr>
            <a:r>
              <a:rPr lang="en-US" sz="1775" spc="-5">
                <a:solidFill>
                  <a:srgbClr val="D7E5D8"/>
                </a:solidFill>
                <a:latin typeface="IBM Plex Sans"/>
                <a:ea typeface="IBM Plex Sans"/>
                <a:cs typeface="IBM Plex Sans"/>
                <a:sym typeface="IBM Plex Sans"/>
              </a:rPr>
              <a:t>Figure 2.1: Functional comparison of distributed adaptive networks</a:t>
            </a:r>
          </a:p>
        </p:txBody>
      </p:sp>
      <p:sp>
        <p:nvSpPr>
          <p:cNvPr id="12" name="TextBox 1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5</a:t>
            </a:r>
          </a:p>
        </p:txBody>
      </p:sp>
      <p:sp>
        <p:nvSpPr>
          <p:cNvPr id="14" name="TextBox 7">
            <a:extLst>
              <a:ext uri="{FF2B5EF4-FFF2-40B4-BE49-F238E27FC236}">
                <a16:creationId xmlns:a16="http://schemas.microsoft.com/office/drawing/2014/main" id="{4365A542-08F9-EFD8-44CE-4C838A2C027D}"/>
              </a:ext>
            </a:extLst>
          </p:cNvPr>
          <p:cNvSpPr txBox="1"/>
          <p:nvPr/>
        </p:nvSpPr>
        <p:spPr>
          <a:xfrm>
            <a:off x="1065258" y="3326472"/>
            <a:ext cx="6630942" cy="666849"/>
          </a:xfrm>
          <a:prstGeom prst="rect">
            <a:avLst/>
          </a:prstGeom>
        </p:spPr>
        <p:txBody>
          <a:bodyPr wrap="square" lIns="0" tIns="0" rIns="0" bIns="0" rtlCol="0" anchor="t">
            <a:spAutoFit/>
          </a:bodyPr>
          <a:lstStyle/>
          <a:p>
            <a:pPr>
              <a:lnSpc>
                <a:spcPts val="2662"/>
              </a:lnSpc>
            </a:pPr>
            <a:r>
              <a:rPr lang="en-US" b="1" dirty="0">
                <a:solidFill>
                  <a:schemeClr val="bg2"/>
                </a:solidFill>
              </a:rPr>
              <a:t>Fungal mycelium:</a:t>
            </a:r>
            <a:r>
              <a:rPr lang="en-US" dirty="0">
                <a:solidFill>
                  <a:schemeClr val="bg2"/>
                </a:solidFill>
              </a:rPr>
              <a:t> branching vegetative network of a fungus </a:t>
            </a:r>
          </a:p>
          <a:p>
            <a:pPr>
              <a:lnSpc>
                <a:spcPts val="2662"/>
              </a:lnSpc>
            </a:pPr>
            <a:r>
              <a:rPr lang="en-US" b="1" i="1" dirty="0" err="1">
                <a:solidFill>
                  <a:schemeClr val="bg2"/>
                </a:solidFill>
              </a:rPr>
              <a:t>Physarum</a:t>
            </a:r>
            <a:r>
              <a:rPr lang="en-US" b="1" i="1" dirty="0">
                <a:solidFill>
                  <a:schemeClr val="bg2"/>
                </a:solidFill>
              </a:rPr>
              <a:t> </a:t>
            </a:r>
            <a:r>
              <a:rPr lang="en-US" b="1" i="1" dirty="0" err="1">
                <a:solidFill>
                  <a:schemeClr val="bg2"/>
                </a:solidFill>
              </a:rPr>
              <a:t>polycephalum</a:t>
            </a:r>
            <a:r>
              <a:rPr lang="en-US" b="1" i="1" dirty="0">
                <a:solidFill>
                  <a:schemeClr val="bg2"/>
                </a:solidFill>
              </a:rPr>
              <a:t>:</a:t>
            </a:r>
            <a:r>
              <a:rPr lang="en-US" i="1" dirty="0">
                <a:solidFill>
                  <a:schemeClr val="bg2"/>
                </a:solidFill>
              </a:rPr>
              <a:t> </a:t>
            </a:r>
            <a:r>
              <a:rPr lang="en-US" dirty="0">
                <a:solidFill>
                  <a:schemeClr val="bg2"/>
                </a:solidFill>
              </a:rPr>
              <a:t>slime mold forming adaptive transport tubes </a:t>
            </a:r>
          </a:p>
        </p:txBody>
      </p:sp>
      <p:sp>
        <p:nvSpPr>
          <p:cNvPr id="18" name="TextBox 8">
            <a:extLst>
              <a:ext uri="{FF2B5EF4-FFF2-40B4-BE49-F238E27FC236}">
                <a16:creationId xmlns:a16="http://schemas.microsoft.com/office/drawing/2014/main" id="{B968AB65-D072-8353-12F1-80103E4AD1C0}"/>
              </a:ext>
            </a:extLst>
          </p:cNvPr>
          <p:cNvSpPr txBox="1"/>
          <p:nvPr/>
        </p:nvSpPr>
        <p:spPr>
          <a:xfrm>
            <a:off x="1065258" y="2221939"/>
            <a:ext cx="7659267" cy="930896"/>
          </a:xfrm>
          <a:prstGeom prst="rect">
            <a:avLst/>
          </a:prstGeom>
        </p:spPr>
        <p:txBody>
          <a:bodyPr wrap="square" lIns="0" tIns="0" rIns="0" bIns="0" rtlCol="0" anchor="t">
            <a:spAutoFit/>
          </a:bodyPr>
          <a:lstStyle/>
          <a:p>
            <a:pPr algn="l">
              <a:lnSpc>
                <a:spcPts val="3766"/>
              </a:lnSpc>
            </a:pPr>
            <a:r>
              <a:rPr lang="en-US" sz="2400" b="1" spc="29" dirty="0">
                <a:solidFill>
                  <a:srgbClr val="B7EE4A"/>
                </a:solidFill>
                <a:latin typeface="IBM Plex Sans Bold"/>
                <a:ea typeface="IBM Plex Sans Bold"/>
                <a:cs typeface="IBM Plex Sans Bold"/>
                <a:sym typeface="IBM Plex Sans Bold"/>
              </a:rPr>
              <a:t>Decentralized, Adaptive, Self-organizing </a:t>
            </a:r>
          </a:p>
          <a:p>
            <a:pPr algn="l">
              <a:lnSpc>
                <a:spcPts val="3766"/>
              </a:lnSpc>
            </a:pPr>
            <a:r>
              <a:rPr lang="en-US" sz="2400" b="1" spc="29" dirty="0">
                <a:solidFill>
                  <a:srgbClr val="B7EE4A"/>
                </a:solidFill>
                <a:latin typeface="IBM Plex Sans Bold"/>
                <a:ea typeface="IBM Plex Sans Bold"/>
                <a:cs typeface="IBM Plex Sans Bold"/>
                <a:sym typeface="IBM Plex Sans Bold"/>
              </a:rPr>
              <a:t>Transport Networks </a:t>
            </a:r>
          </a:p>
        </p:txBody>
      </p:sp>
      <p:sp>
        <p:nvSpPr>
          <p:cNvPr id="22" name="TextBox 7">
            <a:extLst>
              <a:ext uri="{FF2B5EF4-FFF2-40B4-BE49-F238E27FC236}">
                <a16:creationId xmlns:a16="http://schemas.microsoft.com/office/drawing/2014/main" id="{55B8295F-94F7-9323-BE8C-9DA6D0D48A74}"/>
              </a:ext>
            </a:extLst>
          </p:cNvPr>
          <p:cNvSpPr txBox="1"/>
          <p:nvPr/>
        </p:nvSpPr>
        <p:spPr>
          <a:xfrm>
            <a:off x="1024465" y="4426288"/>
            <a:ext cx="5428568" cy="1384995"/>
          </a:xfrm>
          <a:prstGeom prst="rect">
            <a:avLst/>
          </a:prstGeom>
        </p:spPr>
        <p:txBody>
          <a:bodyPr lIns="0" tIns="0" rIns="0" bIns="0" rtlCol="0" anchor="t">
            <a:spAutoFit/>
          </a:bodyPr>
          <a:lstStyle/>
          <a:p>
            <a:r>
              <a:rPr lang="en-US" b="1" dirty="0">
                <a:solidFill>
                  <a:schemeClr val="bg2"/>
                </a:solidFill>
              </a:rPr>
              <a:t>Prior Computational Uses</a:t>
            </a:r>
          </a:p>
          <a:p>
            <a:pPr marL="285750" indent="-285750">
              <a:buFont typeface="Arial" panose="020B0604020202020204" pitchFamily="34" charset="0"/>
              <a:buChar char="•"/>
            </a:pPr>
            <a:r>
              <a:rPr lang="en-US" dirty="0">
                <a:solidFill>
                  <a:schemeClr val="bg2"/>
                </a:solidFill>
              </a:rPr>
              <a:t>Shortest-path and network optimization </a:t>
            </a:r>
          </a:p>
          <a:p>
            <a:pPr marL="285750" indent="-285750">
              <a:buFont typeface="Arial" panose="020B0604020202020204" pitchFamily="34" charset="0"/>
              <a:buChar char="•"/>
            </a:pPr>
            <a:r>
              <a:rPr lang="en-US" dirty="0">
                <a:solidFill>
                  <a:schemeClr val="bg2"/>
                </a:solidFill>
              </a:rPr>
              <a:t>Adaptive transport-network design </a:t>
            </a:r>
          </a:p>
          <a:p>
            <a:pPr marL="285750" indent="-285750">
              <a:buFont typeface="Arial" panose="020B0604020202020204" pitchFamily="34" charset="0"/>
              <a:buChar char="•"/>
            </a:pPr>
            <a:r>
              <a:rPr lang="en-US" dirty="0">
                <a:solidFill>
                  <a:schemeClr val="bg2"/>
                </a:solidFill>
              </a:rPr>
              <a:t>Robust routing and infrastructure modeling </a:t>
            </a:r>
          </a:p>
          <a:p>
            <a:pPr marL="285750" indent="-285750">
              <a:buFont typeface="Arial" panose="020B0604020202020204" pitchFamily="34" charset="0"/>
              <a:buChar char="•"/>
            </a:pPr>
            <a:r>
              <a:rPr lang="en-US" dirty="0">
                <a:solidFill>
                  <a:schemeClr val="bg2"/>
                </a:solidFill>
              </a:rPr>
              <a:t>Differentiable and neural-network formulations</a:t>
            </a:r>
          </a:p>
        </p:txBody>
      </p:sp>
      <mc:AlternateContent xmlns:mc="http://schemas.openxmlformats.org/markup-compatibility/2006" xmlns:a14="http://schemas.microsoft.com/office/drawing/2010/main">
        <mc:Choice Requires="a14">
          <p:sp>
            <p:nvSpPr>
              <p:cNvPr id="24" name="TextBox 7">
                <a:extLst>
                  <a:ext uri="{FF2B5EF4-FFF2-40B4-BE49-F238E27FC236}">
                    <a16:creationId xmlns:a16="http://schemas.microsoft.com/office/drawing/2014/main" id="{3A0587F3-BBDB-4079-9E65-7E9C2B7F7665}"/>
                  </a:ext>
                </a:extLst>
              </p:cNvPr>
              <p:cNvSpPr txBox="1"/>
              <p:nvPr/>
            </p:nvSpPr>
            <p:spPr>
              <a:xfrm>
                <a:off x="1024465" y="6328750"/>
                <a:ext cx="7659267" cy="2597762"/>
              </a:xfrm>
              <a:prstGeom prst="rect">
                <a:avLst/>
              </a:prstGeom>
            </p:spPr>
            <p:txBody>
              <a:bodyPr wrap="square" lIns="0" tIns="0" rIns="0" bIns="0" rtlCol="0" anchor="t">
                <a:spAutoFit/>
              </a:bodyPr>
              <a:lstStyle/>
              <a:p>
                <a:r>
                  <a:rPr lang="en-US" sz="2000" dirty="0">
                    <a:solidFill>
                      <a:schemeClr val="bg2"/>
                    </a:solidFill>
                  </a:rPr>
                  <a:t>Tero–Kobayashi–Nakagaki model for edge conductivity: </a:t>
                </a:r>
              </a:p>
              <a:p>
                <a:endParaRPr lang="en-US" sz="2000" dirty="0">
                  <a:solidFill>
                    <a:schemeClr val="bg2"/>
                  </a:solidFill>
                </a:endParaRPr>
              </a:p>
              <a:p>
                <a:r>
                  <a:rPr lang="en-US" sz="2000" dirty="0">
                    <a:solidFill>
                      <a:schemeClr val="bg2"/>
                    </a:solidFill>
                  </a:rPr>
                  <a:t>	</a:t>
                </a:r>
                <a14:m>
                  <m:oMath xmlns:m="http://schemas.openxmlformats.org/officeDocument/2006/math">
                    <m:f>
                      <m:fPr>
                        <m:ctrlPr>
                          <a:rPr lang="en-US" sz="2000" i="1" dirty="0">
                            <a:solidFill>
                              <a:schemeClr val="bg2"/>
                            </a:solidFill>
                            <a:latin typeface="Cambria Math" panose="02040503050406030204" pitchFamily="18" charset="0"/>
                          </a:rPr>
                        </m:ctrlPr>
                      </m:fPr>
                      <m:num>
                        <m:r>
                          <a:rPr lang="en-US" sz="2000" i="1" dirty="0">
                            <a:solidFill>
                              <a:schemeClr val="bg2"/>
                            </a:solidFill>
                            <a:latin typeface="Cambria Math" panose="02040503050406030204" pitchFamily="18" charset="0"/>
                          </a:rPr>
                          <m:t>𝑑𝐷</m:t>
                        </m:r>
                      </m:num>
                      <m:den>
                        <m:r>
                          <a:rPr lang="en-US" sz="2000" i="1" dirty="0">
                            <a:solidFill>
                              <a:schemeClr val="bg2"/>
                            </a:solidFill>
                            <a:latin typeface="Cambria Math" panose="02040503050406030204" pitchFamily="18" charset="0"/>
                          </a:rPr>
                          <m:t>𝑑𝑡</m:t>
                        </m:r>
                      </m:den>
                    </m:f>
                    <m:r>
                      <a:rPr lang="en-US" sz="2000" i="1" dirty="0">
                        <a:solidFill>
                          <a:schemeClr val="bg2"/>
                        </a:solidFill>
                        <a:latin typeface="Cambria Math" panose="02040503050406030204" pitchFamily="18" charset="0"/>
                      </a:rPr>
                      <m:t>=</m:t>
                    </m:r>
                    <m:r>
                      <a:rPr lang="en-US" sz="2000" i="1" dirty="0">
                        <a:solidFill>
                          <a:schemeClr val="bg2"/>
                        </a:solidFill>
                        <a:latin typeface="Cambria Math" panose="02040503050406030204" pitchFamily="18" charset="0"/>
                      </a:rPr>
                      <m:t>𝑓</m:t>
                    </m:r>
                    <m:d>
                      <m:dPr>
                        <m:ctrlPr>
                          <a:rPr lang="en-US" sz="2000" i="1" dirty="0">
                            <a:solidFill>
                              <a:schemeClr val="bg2"/>
                            </a:solidFill>
                            <a:latin typeface="Cambria Math" panose="02040503050406030204" pitchFamily="18" charset="0"/>
                          </a:rPr>
                        </m:ctrlPr>
                      </m:dPr>
                      <m:e>
                        <m:d>
                          <m:dPr>
                            <m:begChr m:val="|"/>
                            <m:endChr m:val="|"/>
                            <m:ctrlPr>
                              <a:rPr lang="en-US" sz="2000" i="1" dirty="0">
                                <a:solidFill>
                                  <a:schemeClr val="bg2"/>
                                </a:solidFill>
                                <a:latin typeface="Cambria Math" panose="02040503050406030204" pitchFamily="18" charset="0"/>
                              </a:rPr>
                            </m:ctrlPr>
                          </m:dPr>
                          <m:e>
                            <m:r>
                              <a:rPr lang="en-US" sz="2000" i="1" dirty="0">
                                <a:solidFill>
                                  <a:schemeClr val="bg2"/>
                                </a:solidFill>
                                <a:latin typeface="Cambria Math" panose="02040503050406030204" pitchFamily="18" charset="0"/>
                              </a:rPr>
                              <m:t>𝑄</m:t>
                            </m:r>
                          </m:e>
                        </m:d>
                      </m:e>
                    </m:d>
                    <m:r>
                      <a:rPr lang="en-US" sz="2000" i="1" dirty="0">
                        <a:solidFill>
                          <a:schemeClr val="bg2"/>
                        </a:solidFill>
                        <a:latin typeface="Cambria Math" panose="02040503050406030204" pitchFamily="18" charset="0"/>
                      </a:rPr>
                      <m:t>−</m:t>
                    </m:r>
                    <m:r>
                      <a:rPr lang="en-US" sz="2000" i="1" dirty="0">
                        <a:solidFill>
                          <a:schemeClr val="bg2"/>
                        </a:solidFill>
                        <a:latin typeface="Cambria Math" panose="02040503050406030204" pitchFamily="18" charset="0"/>
                      </a:rPr>
                      <m:t>𝛾</m:t>
                    </m:r>
                    <m:r>
                      <a:rPr lang="en-US" sz="2000" i="1" dirty="0">
                        <a:solidFill>
                          <a:schemeClr val="bg2"/>
                        </a:solidFill>
                        <a:latin typeface="Cambria Math" panose="02040503050406030204" pitchFamily="18" charset="0"/>
                      </a:rPr>
                      <m:t>𝐷</m:t>
                    </m:r>
                  </m:oMath>
                </a14:m>
                <a:endParaRPr lang="en-US" sz="2000" i="1" dirty="0">
                  <a:solidFill>
                    <a:schemeClr val="bg2"/>
                  </a:solidFill>
                  <a:latin typeface="Cambria Math" panose="02040503050406030204" pitchFamily="18" charset="0"/>
                </a:endParaRPr>
              </a:p>
              <a:p>
                <a:endParaRPr lang="en-US" sz="2000" i="1" dirty="0">
                  <a:solidFill>
                    <a:schemeClr val="bg2"/>
                  </a:solidFill>
                  <a:latin typeface="Cambria Math" panose="02040503050406030204" pitchFamily="18" charset="0"/>
                </a:endParaRPr>
              </a:p>
              <a:p>
                <a:r>
                  <a:rPr lang="en-US" sz="2000" dirty="0">
                    <a:solidFill>
                      <a:schemeClr val="bg2"/>
                    </a:solidFill>
                  </a:rPr>
                  <a:t>D: tube conductivity or thickness </a:t>
                </a:r>
              </a:p>
              <a:p>
                <a14:m>
                  <m:oMath xmlns:m="http://schemas.openxmlformats.org/officeDocument/2006/math">
                    <m:r>
                      <a:rPr lang="en-US" sz="2000" i="1">
                        <a:solidFill>
                          <a:schemeClr val="bg2"/>
                        </a:solidFill>
                        <a:latin typeface="Cambria Math" panose="02040503050406030204" pitchFamily="18" charset="0"/>
                      </a:rPr>
                      <m:t>𝑄</m:t>
                    </m:r>
                  </m:oMath>
                </a14:m>
                <a:r>
                  <a:rPr lang="en-US" sz="2000" dirty="0">
                    <a:solidFill>
                      <a:schemeClr val="bg2"/>
                    </a:solidFill>
                  </a:rPr>
                  <a:t>: flow through the tube </a:t>
                </a:r>
              </a:p>
              <a:p>
                <a14:m>
                  <m:oMath xmlns:m="http://schemas.openxmlformats.org/officeDocument/2006/math">
                    <m:r>
                      <a:rPr lang="en-US" sz="2000" i="1" dirty="0">
                        <a:solidFill>
                          <a:schemeClr val="bg2"/>
                        </a:solidFill>
                        <a:latin typeface="Cambria Math" panose="02040503050406030204" pitchFamily="18" charset="0"/>
                      </a:rPr>
                      <m:t>𝑓</m:t>
                    </m:r>
                    <m:d>
                      <m:dPr>
                        <m:ctrlPr>
                          <a:rPr lang="en-US" sz="2000" i="1" dirty="0">
                            <a:solidFill>
                              <a:schemeClr val="bg2"/>
                            </a:solidFill>
                            <a:latin typeface="Cambria Math" panose="02040503050406030204" pitchFamily="18" charset="0"/>
                          </a:rPr>
                        </m:ctrlPr>
                      </m:dPr>
                      <m:e>
                        <m:d>
                          <m:dPr>
                            <m:begChr m:val="|"/>
                            <m:endChr m:val="|"/>
                            <m:ctrlPr>
                              <a:rPr lang="en-US" sz="2000" i="1" dirty="0">
                                <a:solidFill>
                                  <a:schemeClr val="bg2"/>
                                </a:solidFill>
                                <a:latin typeface="Cambria Math" panose="02040503050406030204" pitchFamily="18" charset="0"/>
                              </a:rPr>
                            </m:ctrlPr>
                          </m:dPr>
                          <m:e>
                            <m:r>
                              <a:rPr lang="en-US" sz="2000" i="1" dirty="0">
                                <a:solidFill>
                                  <a:schemeClr val="bg2"/>
                                </a:solidFill>
                                <a:latin typeface="Cambria Math" panose="02040503050406030204" pitchFamily="18" charset="0"/>
                              </a:rPr>
                              <m:t>𝑄</m:t>
                            </m:r>
                          </m:e>
                        </m:d>
                      </m:e>
                    </m:d>
                  </m:oMath>
                </a14:m>
                <a:r>
                  <a:rPr lang="en-US" sz="2000" dirty="0">
                    <a:solidFill>
                      <a:schemeClr val="bg2"/>
                    </a:solidFill>
                  </a:rPr>
                  <a:t>: reinforcement from use </a:t>
                </a:r>
              </a:p>
              <a:p>
                <a14:m>
                  <m:oMath xmlns:m="http://schemas.openxmlformats.org/officeDocument/2006/math">
                    <m:r>
                      <a:rPr lang="en-US" sz="2000" i="1">
                        <a:solidFill>
                          <a:schemeClr val="bg2"/>
                        </a:solidFill>
                        <a:latin typeface="Cambria Math" panose="02040503050406030204" pitchFamily="18" charset="0"/>
                      </a:rPr>
                      <m:t>𝛾</m:t>
                    </m:r>
                    <m:r>
                      <a:rPr lang="en-US" sz="2000" i="1">
                        <a:solidFill>
                          <a:schemeClr val="bg2"/>
                        </a:solidFill>
                        <a:latin typeface="Cambria Math" panose="02040503050406030204" pitchFamily="18" charset="0"/>
                      </a:rPr>
                      <m:t>𝐷</m:t>
                    </m:r>
                  </m:oMath>
                </a14:m>
                <a:r>
                  <a:rPr lang="en-US" sz="2000" dirty="0">
                    <a:solidFill>
                      <a:schemeClr val="bg2"/>
                    </a:solidFill>
                  </a:rPr>
                  <a:t>: natural decay when the tube is underused</a:t>
                </a:r>
              </a:p>
            </p:txBody>
          </p:sp>
        </mc:Choice>
        <mc:Fallback xmlns="">
          <p:sp>
            <p:nvSpPr>
              <p:cNvPr id="24" name="TextBox 7">
                <a:extLst>
                  <a:ext uri="{FF2B5EF4-FFF2-40B4-BE49-F238E27FC236}">
                    <a16:creationId xmlns:a16="http://schemas.microsoft.com/office/drawing/2014/main" id="{3A0587F3-BBDB-4079-9E65-7E9C2B7F7665}"/>
                  </a:ext>
                </a:extLst>
              </p:cNvPr>
              <p:cNvSpPr txBox="1">
                <a:spLocks noRot="1" noChangeAspect="1" noMove="1" noResize="1" noEditPoints="1" noAdjustHandles="1" noChangeArrowheads="1" noChangeShapeType="1" noTextEdit="1"/>
              </p:cNvSpPr>
              <p:nvPr/>
            </p:nvSpPr>
            <p:spPr>
              <a:xfrm>
                <a:off x="1024465" y="6328750"/>
                <a:ext cx="7659267" cy="2597762"/>
              </a:xfrm>
              <a:prstGeom prst="rect">
                <a:avLst/>
              </a:prstGeom>
              <a:blipFill>
                <a:blip r:embed="rId7"/>
                <a:stretch>
                  <a:fillRect l="-1990" t="-3052" b="-5164"/>
                </a:stretch>
              </a:blipFill>
            </p:spPr>
            <p:txBody>
              <a:bodyPr/>
              <a:lstStyle/>
              <a:p>
                <a:r>
                  <a:rPr lang="en-US">
                    <a:noFill/>
                  </a:rPr>
                  <a:t> </a:t>
                </a:r>
              </a:p>
            </p:txBody>
          </p:sp>
        </mc:Fallback>
      </mc:AlternateContent>
      <p:sp>
        <p:nvSpPr>
          <p:cNvPr id="13" name="Slide Number Placeholder 12">
            <a:extLst>
              <a:ext uri="{FF2B5EF4-FFF2-40B4-BE49-F238E27FC236}">
                <a16:creationId xmlns:a16="http://schemas.microsoft.com/office/drawing/2014/main" id="{B5A0E227-28BF-84FC-83B2-809614215664}"/>
              </a:ext>
            </a:extLst>
          </p:cNvPr>
          <p:cNvSpPr>
            <a:spLocks noGrp="1"/>
          </p:cNvSpPr>
          <p:nvPr>
            <p:ph type="sldNum" sz="quarter" idx="12"/>
          </p:nvPr>
        </p:nvSpPr>
        <p:spPr>
          <a:xfrm>
            <a:off x="15925800" y="9715500"/>
            <a:ext cx="2133600" cy="365125"/>
          </a:xfrm>
        </p:spPr>
        <p:txBody>
          <a:bodyPr/>
          <a:lstStyle/>
          <a:p>
            <a:fld id="{B6F15528-21DE-4FAA-801E-634DDDAF4B2B}"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lin ang="5400000"/>
        </a:gradFill>
        <a:effectLst/>
      </p:bgPr>
    </p:bg>
    <p:spTree>
      <p:nvGrpSpPr>
        <p:cNvPr id="1" name=""/>
        <p:cNvGrpSpPr/>
        <p:nvPr/>
      </p:nvGrpSpPr>
      <p:grpSpPr>
        <a:xfrm>
          <a:off x="0" y="0"/>
          <a:ext cx="0" cy="0"/>
          <a:chOff x="0" y="0"/>
          <a:chExt cx="0" cy="0"/>
        </a:xfrm>
      </p:grpSpPr>
      <p:sp>
        <p:nvSpPr>
          <p:cNvPr id="3" name="TextBox 3"/>
          <p:cNvSpPr txBox="1"/>
          <p:nvPr/>
        </p:nvSpPr>
        <p:spPr>
          <a:xfrm>
            <a:off x="1677381" y="1097131"/>
            <a:ext cx="15875028" cy="908655"/>
          </a:xfrm>
          <a:prstGeom prst="rect">
            <a:avLst/>
          </a:prstGeom>
        </p:spPr>
        <p:txBody>
          <a:bodyPr lIns="0" tIns="0" rIns="0" bIns="0" rtlCol="0" anchor="t">
            <a:spAutoFit/>
          </a:bodyPr>
          <a:lstStyle/>
          <a:p>
            <a:pPr algn="l">
              <a:lnSpc>
                <a:spcPts val="7351"/>
              </a:lnSpc>
            </a:pPr>
            <a:r>
              <a:rPr lang="en-US" sz="5876" b="1" spc="-17" dirty="0">
                <a:solidFill>
                  <a:srgbClr val="D7E5D8"/>
                </a:solidFill>
                <a:latin typeface="IBM Plex Sans Bold"/>
                <a:ea typeface="IBM Plex Sans Bold"/>
                <a:cs typeface="IBM Plex Sans Bold"/>
                <a:sym typeface="IBM Plex Sans Bold"/>
              </a:rPr>
              <a:t>MYCOMORPH ARCHITECTURE</a:t>
            </a:r>
          </a:p>
        </p:txBody>
      </p:sp>
      <p:sp>
        <p:nvSpPr>
          <p:cNvPr id="4" name="AutoShape 4"/>
          <p:cNvSpPr/>
          <p:nvPr/>
        </p:nvSpPr>
        <p:spPr>
          <a:xfrm flipV="1">
            <a:off x="500412" y="62275"/>
            <a:ext cx="0" cy="6492240"/>
          </a:xfrm>
          <a:prstGeom prst="line">
            <a:avLst/>
          </a:prstGeom>
          <a:ln w="19050" cap="flat">
            <a:solidFill>
              <a:srgbClr val="FFFFFF"/>
            </a:solidFill>
            <a:prstDash val="solid"/>
            <a:headEnd type="none" w="sm" len="sm"/>
            <a:tailEnd type="none" w="sm" len="sm"/>
          </a:ln>
        </p:spPr>
        <p:txBody>
          <a:bodyPr/>
          <a:lstStyle/>
          <a:p>
            <a:endParaRPr lang="en-US"/>
          </a:p>
        </p:txBody>
      </p:sp>
      <p:sp>
        <p:nvSpPr>
          <p:cNvPr id="5" name="AutoShape 5"/>
          <p:cNvSpPr/>
          <p:nvPr/>
        </p:nvSpPr>
        <p:spPr>
          <a:xfrm flipV="1">
            <a:off x="500412" y="7053950"/>
            <a:ext cx="0" cy="960120"/>
          </a:xfrm>
          <a:prstGeom prst="line">
            <a:avLst/>
          </a:prstGeom>
          <a:ln w="19050" cap="flat">
            <a:solidFill>
              <a:srgbClr val="FFFFFF"/>
            </a:solidFill>
            <a:prstDash val="solid"/>
            <a:headEnd type="none" w="sm" len="sm"/>
            <a:tailEnd type="none" w="sm" len="sm"/>
          </a:ln>
        </p:spPr>
        <p:txBody>
          <a:bodyPr/>
          <a:lstStyle/>
          <a:p>
            <a:endParaRPr lang="en-US"/>
          </a:p>
        </p:txBody>
      </p:sp>
      <p:sp>
        <p:nvSpPr>
          <p:cNvPr id="6" name="AutoShape 6"/>
          <p:cNvSpPr/>
          <p:nvPr/>
        </p:nvSpPr>
        <p:spPr>
          <a:xfrm flipV="1">
            <a:off x="500412" y="8446345"/>
            <a:ext cx="0" cy="442454"/>
          </a:xfrm>
          <a:prstGeom prst="line">
            <a:avLst/>
          </a:prstGeom>
          <a:ln w="19050" cap="flat">
            <a:solidFill>
              <a:srgbClr val="FFFFFF"/>
            </a:solidFill>
            <a:prstDash val="solid"/>
            <a:headEnd type="none" w="sm" len="sm"/>
            <a:tailEnd type="none" w="sm" len="sm"/>
          </a:ln>
        </p:spPr>
        <p:txBody>
          <a:bodyPr/>
          <a:lstStyle/>
          <a:p>
            <a:endParaRPr lang="en-US"/>
          </a:p>
        </p:txBody>
      </p:sp>
      <p:sp>
        <p:nvSpPr>
          <p:cNvPr id="19" name="Freeform 19"/>
          <p:cNvSpPr/>
          <p:nvPr/>
        </p:nvSpPr>
        <p:spPr>
          <a:xfrm>
            <a:off x="15957252" y="1682187"/>
            <a:ext cx="2330748" cy="2330748"/>
          </a:xfrm>
          <a:custGeom>
            <a:avLst/>
            <a:gdLst/>
            <a:ahLst/>
            <a:cxnLst/>
            <a:rect l="l" t="t" r="r" b="b"/>
            <a:pathLst>
              <a:path w="2330748" h="2330748">
                <a:moveTo>
                  <a:pt x="0" y="0"/>
                </a:moveTo>
                <a:lnTo>
                  <a:pt x="2330748" y="0"/>
                </a:lnTo>
                <a:lnTo>
                  <a:pt x="2330748" y="2330748"/>
                </a:lnTo>
                <a:lnTo>
                  <a:pt x="0" y="2330748"/>
                </a:lnTo>
                <a:lnTo>
                  <a:pt x="0" y="0"/>
                </a:lnTo>
                <a:close/>
              </a:path>
            </a:pathLst>
          </a:custGeom>
          <a:blipFill>
            <a:blip>
              <a:alphaModFix amt="37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0" name="Freeform 20"/>
          <p:cNvSpPr/>
          <p:nvPr/>
        </p:nvSpPr>
        <p:spPr>
          <a:xfrm>
            <a:off x="10931283" y="9538070"/>
            <a:ext cx="964746" cy="964746"/>
          </a:xfrm>
          <a:custGeom>
            <a:avLst/>
            <a:gdLst/>
            <a:ahLst/>
            <a:cxnLst/>
            <a:rect l="l" t="t" r="r" b="b"/>
            <a:pathLst>
              <a:path w="964746" h="964746">
                <a:moveTo>
                  <a:pt x="0" y="0"/>
                </a:moveTo>
                <a:lnTo>
                  <a:pt x="964746" y="0"/>
                </a:lnTo>
                <a:lnTo>
                  <a:pt x="964746" y="964747"/>
                </a:lnTo>
                <a:lnTo>
                  <a:pt x="0" y="964747"/>
                </a:lnTo>
                <a:lnTo>
                  <a:pt x="0" y="0"/>
                </a:lnTo>
                <a:close/>
              </a:path>
            </a:pathLst>
          </a:custGeom>
          <a:blipFill>
            <a:blip>
              <a:alphaModFix amt="37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1" name="Freeform 21"/>
          <p:cNvSpPr/>
          <p:nvPr/>
        </p:nvSpPr>
        <p:spPr>
          <a:xfrm>
            <a:off x="8899544" y="8542949"/>
            <a:ext cx="715351" cy="715351"/>
          </a:xfrm>
          <a:custGeom>
            <a:avLst/>
            <a:gdLst/>
            <a:ahLst/>
            <a:cxnLst/>
            <a:rect l="l" t="t" r="r" b="b"/>
            <a:pathLst>
              <a:path w="715351" h="715351">
                <a:moveTo>
                  <a:pt x="0" y="0"/>
                </a:moveTo>
                <a:lnTo>
                  <a:pt x="715351" y="0"/>
                </a:lnTo>
                <a:lnTo>
                  <a:pt x="715351" y="715351"/>
                </a:lnTo>
                <a:lnTo>
                  <a:pt x="0" y="715351"/>
                </a:lnTo>
                <a:lnTo>
                  <a:pt x="0" y="0"/>
                </a:lnTo>
                <a:close/>
              </a:path>
            </a:pathLst>
          </a:custGeom>
          <a:blipFill>
            <a:blip>
              <a:alphaModFix amt="37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22" name="Group 22"/>
          <p:cNvGrpSpPr/>
          <p:nvPr/>
        </p:nvGrpSpPr>
        <p:grpSpPr>
          <a:xfrm>
            <a:off x="0" y="8244826"/>
            <a:ext cx="2737757" cy="2737757"/>
            <a:chOff x="0" y="0"/>
            <a:chExt cx="3650343" cy="3650343"/>
          </a:xfrm>
        </p:grpSpPr>
        <p:sp>
          <p:nvSpPr>
            <p:cNvPr id="23" name="Freeform 23"/>
            <p:cNvSpPr/>
            <p:nvPr/>
          </p:nvSpPr>
          <p:spPr>
            <a:xfrm>
              <a:off x="0" y="0"/>
              <a:ext cx="3650343" cy="3650343"/>
            </a:xfrm>
            <a:custGeom>
              <a:avLst/>
              <a:gdLst/>
              <a:ahLst/>
              <a:cxnLst/>
              <a:rect l="l" t="t" r="r" b="b"/>
              <a:pathLst>
                <a:path w="3650343" h="3650343">
                  <a:moveTo>
                    <a:pt x="0" y="0"/>
                  </a:moveTo>
                  <a:lnTo>
                    <a:pt x="3650343" y="0"/>
                  </a:lnTo>
                  <a:lnTo>
                    <a:pt x="3650343" y="3650343"/>
                  </a:lnTo>
                  <a:lnTo>
                    <a:pt x="0" y="3650343"/>
                  </a:lnTo>
                  <a:lnTo>
                    <a:pt x="0" y="0"/>
                  </a:lnTo>
                  <a:close/>
                </a:path>
              </a:pathLst>
            </a:custGeom>
            <a:blipFill>
              <a:blip>
                <a:alphaModFix amt="4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4" name="Freeform 24"/>
            <p:cNvSpPr/>
            <p:nvPr/>
          </p:nvSpPr>
          <p:spPr>
            <a:xfrm>
              <a:off x="257215" y="827328"/>
              <a:ext cx="2779958" cy="1629020"/>
            </a:xfrm>
            <a:custGeom>
              <a:avLst/>
              <a:gdLst/>
              <a:ahLst/>
              <a:cxnLst/>
              <a:rect l="l" t="t" r="r" b="b"/>
              <a:pathLst>
                <a:path w="2779958" h="1629020">
                  <a:moveTo>
                    <a:pt x="0" y="0"/>
                  </a:moveTo>
                  <a:lnTo>
                    <a:pt x="2779958" y="0"/>
                  </a:lnTo>
                  <a:lnTo>
                    <a:pt x="2779958" y="1629020"/>
                  </a:lnTo>
                  <a:lnTo>
                    <a:pt x="0" y="1629020"/>
                  </a:lnTo>
                  <a:lnTo>
                    <a:pt x="0" y="0"/>
                  </a:lnTo>
                  <a:close/>
                </a:path>
              </a:pathLst>
            </a:custGeom>
            <a:blipFill>
              <a:blip r:embed="rId4"/>
              <a:stretch>
                <a:fillRect/>
              </a:stretch>
            </a:blipFill>
          </p:spPr>
          <p:txBody>
            <a:bodyPr/>
            <a:lstStyle/>
            <a:p>
              <a:endParaRPr lang="en-US"/>
            </a:p>
          </p:txBody>
        </p:sp>
      </p:grpSp>
      <p:sp>
        <p:nvSpPr>
          <p:cNvPr id="31" name="Slide Number Placeholder 30">
            <a:extLst>
              <a:ext uri="{FF2B5EF4-FFF2-40B4-BE49-F238E27FC236}">
                <a16:creationId xmlns:a16="http://schemas.microsoft.com/office/drawing/2014/main" id="{9ACB0A4B-04F5-7206-AA8E-FE89CBBD0818}"/>
              </a:ext>
            </a:extLst>
          </p:cNvPr>
          <p:cNvSpPr>
            <a:spLocks noGrp="1"/>
          </p:cNvSpPr>
          <p:nvPr>
            <p:ph type="sldNum" sz="quarter" idx="12"/>
          </p:nvPr>
        </p:nvSpPr>
        <p:spPr>
          <a:xfrm>
            <a:off x="15925800" y="9715500"/>
            <a:ext cx="2133600" cy="365125"/>
          </a:xfrm>
        </p:spPr>
        <p:txBody>
          <a:bodyPr/>
          <a:lstStyle/>
          <a:p>
            <a:fld id="{B6F15528-21DE-4FAA-801E-634DDDAF4B2B}" type="slidenum">
              <a:rPr lang="en-US" smtClean="0"/>
              <a:pPr/>
              <a:t>8</a:t>
            </a:fld>
            <a:endParaRPr lang="en-US"/>
          </a:p>
        </p:txBody>
      </p:sp>
      <p:sp>
        <p:nvSpPr>
          <p:cNvPr id="8" name="TextBox 10">
            <a:extLst>
              <a:ext uri="{FF2B5EF4-FFF2-40B4-BE49-F238E27FC236}">
                <a16:creationId xmlns:a16="http://schemas.microsoft.com/office/drawing/2014/main" id="{43CA6034-EAE6-86BA-6096-53C8CE7C04BF}"/>
              </a:ext>
            </a:extLst>
          </p:cNvPr>
          <p:cNvSpPr txBox="1"/>
          <p:nvPr/>
        </p:nvSpPr>
        <p:spPr>
          <a:xfrm>
            <a:off x="1652938" y="2690032"/>
            <a:ext cx="7448608" cy="5139869"/>
          </a:xfrm>
          <a:prstGeom prst="rect">
            <a:avLst/>
          </a:prstGeom>
        </p:spPr>
        <p:txBody>
          <a:bodyPr wrap="square" lIns="0" tIns="0" rIns="0" bIns="0" rtlCol="0" anchor="t">
            <a:spAutoFit/>
          </a:bodyPr>
          <a:lstStyle/>
          <a:p>
            <a:pPr>
              <a:lnSpc>
                <a:spcPct val="150000"/>
              </a:lnSpc>
            </a:pPr>
            <a:r>
              <a:rPr lang="en-US" sz="3200" b="1" dirty="0">
                <a:solidFill>
                  <a:srgbClr val="9CD52C"/>
                </a:solidFill>
              </a:rPr>
              <a:t>Four Architectural Components</a:t>
            </a:r>
          </a:p>
          <a:p>
            <a:r>
              <a:rPr lang="en-US" sz="2200" b="1" dirty="0">
                <a:solidFill>
                  <a:schemeClr val="bg1"/>
                </a:solidFill>
              </a:rPr>
              <a:t>1. Causal Front End</a:t>
            </a:r>
          </a:p>
          <a:p>
            <a:r>
              <a:rPr lang="en-US" sz="2200" b="1" i="1" dirty="0">
                <a:solidFill>
                  <a:schemeClr val="bg1"/>
                </a:solidFill>
              </a:rPr>
              <a:t>     </a:t>
            </a:r>
            <a:r>
              <a:rPr lang="en-US" sz="2200" i="1" dirty="0">
                <a:solidFill>
                  <a:schemeClr val="bg1"/>
                </a:solidFill>
              </a:rPr>
              <a:t>Matérn-5/2 · Kalman filter · RTS · </a:t>
            </a:r>
            <a:r>
              <a:rPr lang="en-US" sz="2200" i="1" dirty="0" err="1">
                <a:solidFill>
                  <a:schemeClr val="bg1"/>
                </a:solidFill>
              </a:rPr>
              <a:t>Takens</a:t>
            </a:r>
            <a:r>
              <a:rPr lang="en-US" sz="2200" i="1" dirty="0">
                <a:solidFill>
                  <a:schemeClr val="bg1"/>
                </a:solidFill>
              </a:rPr>
              <a:t> embedding</a:t>
            </a:r>
          </a:p>
          <a:p>
            <a:endParaRPr lang="en-US" sz="2200" dirty="0">
              <a:solidFill>
                <a:schemeClr val="bg1"/>
              </a:solidFill>
            </a:endParaRPr>
          </a:p>
          <a:p>
            <a:r>
              <a:rPr lang="en-US" sz="2200" b="1" dirty="0">
                <a:solidFill>
                  <a:schemeClr val="bg1"/>
                </a:solidFill>
              </a:rPr>
              <a:t>2. Base Graph</a:t>
            </a:r>
            <a:br>
              <a:rPr lang="en-US" sz="2200" dirty="0">
                <a:solidFill>
                  <a:schemeClr val="bg1"/>
                </a:solidFill>
              </a:rPr>
            </a:br>
            <a:r>
              <a:rPr lang="en-US" sz="2200" dirty="0">
                <a:solidFill>
                  <a:schemeClr val="bg1"/>
                </a:solidFill>
              </a:rPr>
              <a:t>     </a:t>
            </a:r>
            <a:r>
              <a:rPr lang="en-US" sz="2200" i="1" dirty="0">
                <a:solidFill>
                  <a:schemeClr val="bg1"/>
                </a:solidFill>
              </a:rPr>
              <a:t>Pathway growth · conductivity · reinforcement · decay</a:t>
            </a:r>
          </a:p>
          <a:p>
            <a:endParaRPr lang="en-US" sz="2200" dirty="0">
              <a:solidFill>
                <a:schemeClr val="bg1"/>
              </a:solidFill>
            </a:endParaRPr>
          </a:p>
          <a:p>
            <a:r>
              <a:rPr lang="en-US" sz="2200" b="1" dirty="0">
                <a:solidFill>
                  <a:schemeClr val="bg1"/>
                </a:solidFill>
              </a:rPr>
              <a:t>3. Cycle Layer / Meta-Graph</a:t>
            </a:r>
            <a:br>
              <a:rPr lang="en-US" sz="2200" dirty="0">
                <a:solidFill>
                  <a:schemeClr val="bg1"/>
                </a:solidFill>
              </a:rPr>
            </a:br>
            <a:r>
              <a:rPr lang="en-US" sz="2200" dirty="0">
                <a:solidFill>
                  <a:schemeClr val="bg1"/>
                </a:solidFill>
              </a:rPr>
              <a:t>     </a:t>
            </a:r>
            <a:r>
              <a:rPr lang="en-US" sz="2200" i="1" dirty="0">
                <a:solidFill>
                  <a:schemeClr val="bg1"/>
                </a:solidFill>
              </a:rPr>
              <a:t>Cycle detection · consolidation · regime memory</a:t>
            </a:r>
            <a:endParaRPr lang="en-US" sz="2200" dirty="0">
              <a:solidFill>
                <a:schemeClr val="bg1"/>
              </a:solidFill>
            </a:endParaRPr>
          </a:p>
          <a:p>
            <a:endParaRPr lang="en-US" sz="2200" b="1" dirty="0">
              <a:solidFill>
                <a:schemeClr val="bg1"/>
              </a:solidFill>
            </a:endParaRPr>
          </a:p>
          <a:p>
            <a:r>
              <a:rPr lang="en-US" sz="2200" b="1" dirty="0">
                <a:solidFill>
                  <a:schemeClr val="bg1"/>
                </a:solidFill>
              </a:rPr>
              <a:t>4. Hybrid Prediction</a:t>
            </a:r>
            <a:br>
              <a:rPr lang="en-US" sz="2200" dirty="0">
                <a:solidFill>
                  <a:schemeClr val="bg1"/>
                </a:solidFill>
              </a:rPr>
            </a:br>
            <a:r>
              <a:rPr lang="en-US" sz="2200" dirty="0">
                <a:solidFill>
                  <a:schemeClr val="bg1"/>
                </a:solidFill>
              </a:rPr>
              <a:t>      </a:t>
            </a:r>
            <a:r>
              <a:rPr lang="en-US" sz="2200" i="1" dirty="0">
                <a:solidFill>
                  <a:schemeClr val="bg1"/>
                </a:solidFill>
              </a:rPr>
              <a:t>Follow track: pathway continuation</a:t>
            </a:r>
            <a:br>
              <a:rPr lang="en-US" sz="2200" dirty="0">
                <a:solidFill>
                  <a:schemeClr val="bg1"/>
                </a:solidFill>
              </a:rPr>
            </a:br>
            <a:r>
              <a:rPr lang="en-US" sz="2200" dirty="0">
                <a:solidFill>
                  <a:schemeClr val="bg1"/>
                </a:solidFill>
              </a:rPr>
              <a:t>      </a:t>
            </a:r>
            <a:r>
              <a:rPr lang="en-US" sz="2200" i="1" dirty="0">
                <a:solidFill>
                  <a:schemeClr val="bg1"/>
                </a:solidFill>
              </a:rPr>
              <a:t>Forecast track: projected cycle timing</a:t>
            </a:r>
            <a:br>
              <a:rPr lang="en-US" sz="2200" dirty="0">
                <a:solidFill>
                  <a:schemeClr val="bg1"/>
                </a:solidFill>
              </a:rPr>
            </a:br>
            <a:r>
              <a:rPr lang="en-US" sz="2200" dirty="0">
                <a:solidFill>
                  <a:schemeClr val="bg1"/>
                </a:solidFill>
              </a:rPr>
              <a:t>      </a:t>
            </a:r>
            <a:r>
              <a:rPr lang="en-US" sz="2200" i="1" dirty="0">
                <a:solidFill>
                  <a:schemeClr val="bg1"/>
                </a:solidFill>
              </a:rPr>
              <a:t>Inverse-variance blending</a:t>
            </a:r>
            <a:endParaRPr lang="en-US" sz="2200" dirty="0">
              <a:solidFill>
                <a:schemeClr val="bg1"/>
              </a:solidFill>
            </a:endParaRPr>
          </a:p>
        </p:txBody>
      </p:sp>
      <p:pic>
        <p:nvPicPr>
          <p:cNvPr id="9" name="Picture 8">
            <a:extLst>
              <a:ext uri="{FF2B5EF4-FFF2-40B4-BE49-F238E27FC236}">
                <a16:creationId xmlns:a16="http://schemas.microsoft.com/office/drawing/2014/main" id="{80B01989-E3B2-08A8-3D41-03D311481C18}"/>
              </a:ext>
            </a:extLst>
          </p:cNvPr>
          <p:cNvPicPr>
            <a:picLocks noChangeAspect="1"/>
          </p:cNvPicPr>
          <p:nvPr/>
        </p:nvPicPr>
        <p:blipFill>
          <a:blip r:embed="rId5" cstate="print">
            <a:extLst>
              <a:ext uri="{28A0092B-C50C-407E-A947-70E740481C1C}">
                <a14:useLocalDpi xmlns:a14="http://schemas.microsoft.com/office/drawing/2010/main" val="0"/>
              </a:ext>
            </a:extLst>
          </a:blip>
          <a:srcRect l="16771" t="3057" r="16149" b="35117"/>
          <a:stretch>
            <a:fillRect/>
          </a:stretch>
        </p:blipFill>
        <p:spPr>
          <a:xfrm>
            <a:off x="8770342" y="2436539"/>
            <a:ext cx="8767319" cy="6590761"/>
          </a:xfrm>
          <a:prstGeom prst="rect">
            <a:avLst/>
          </a:prstGeom>
        </p:spPr>
      </p:pic>
      <p:sp>
        <p:nvSpPr>
          <p:cNvPr id="11" name="TextBox 12">
            <a:extLst>
              <a:ext uri="{FF2B5EF4-FFF2-40B4-BE49-F238E27FC236}">
                <a16:creationId xmlns:a16="http://schemas.microsoft.com/office/drawing/2014/main" id="{CD693544-8AF9-5C76-CC0D-8C1817816577}"/>
              </a:ext>
            </a:extLst>
          </p:cNvPr>
          <p:cNvSpPr txBox="1"/>
          <p:nvPr/>
        </p:nvSpPr>
        <p:spPr>
          <a:xfrm>
            <a:off x="10287000" y="9254613"/>
            <a:ext cx="6446587" cy="335943"/>
          </a:xfrm>
          <a:prstGeom prst="rect">
            <a:avLst/>
          </a:prstGeom>
        </p:spPr>
        <p:txBody>
          <a:bodyPr lIns="0" tIns="0" rIns="0" bIns="0" rtlCol="0" anchor="t">
            <a:spAutoFit/>
          </a:bodyPr>
          <a:lstStyle/>
          <a:p>
            <a:pPr algn="ctr">
              <a:lnSpc>
                <a:spcPts val="2860"/>
              </a:lnSpc>
            </a:pPr>
            <a:r>
              <a:rPr lang="en-US" sz="1775" spc="-5" dirty="0">
                <a:solidFill>
                  <a:srgbClr val="D7E5D8"/>
                </a:solidFill>
                <a:latin typeface="IBM Plex Sans"/>
                <a:ea typeface="IBM Plex Sans"/>
                <a:cs typeface="IBM Plex Sans"/>
                <a:sym typeface="IBM Plex Sans"/>
              </a:rPr>
              <a:t>Figure 3.1: </a:t>
            </a:r>
            <a:r>
              <a:rPr lang="en-US" sz="1775" spc="-5" dirty="0" err="1">
                <a:solidFill>
                  <a:srgbClr val="D7E5D8"/>
                </a:solidFill>
                <a:latin typeface="IBM Plex Sans"/>
                <a:ea typeface="IBM Plex Sans"/>
                <a:cs typeface="IBM Plex Sans"/>
                <a:sym typeface="IBM Plex Sans"/>
              </a:rPr>
              <a:t>MycoMorph</a:t>
            </a:r>
            <a:r>
              <a:rPr lang="en-US" sz="1775" spc="-5" dirty="0">
                <a:solidFill>
                  <a:srgbClr val="D7E5D8"/>
                </a:solidFill>
                <a:latin typeface="IBM Plex Sans"/>
                <a:ea typeface="IBM Plex Sans"/>
                <a:cs typeface="IBM Plex Sans"/>
                <a:sym typeface="IBM Plex Sans"/>
              </a:rPr>
              <a:t> Four Stage Architecture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lin ang="5400000"/>
        </a:gradFill>
        <a:effectLst/>
      </p:bgPr>
    </p:bg>
    <p:spTree>
      <p:nvGrpSpPr>
        <p:cNvPr id="1" name=""/>
        <p:cNvGrpSpPr/>
        <p:nvPr/>
      </p:nvGrpSpPr>
      <p:grpSpPr>
        <a:xfrm>
          <a:off x="0" y="0"/>
          <a:ext cx="0" cy="0"/>
          <a:chOff x="0" y="0"/>
          <a:chExt cx="0" cy="0"/>
        </a:xfrm>
      </p:grpSpPr>
      <p:sp>
        <p:nvSpPr>
          <p:cNvPr id="4" name="AutoShape 4"/>
          <p:cNvSpPr/>
          <p:nvPr/>
        </p:nvSpPr>
        <p:spPr>
          <a:xfrm flipH="1">
            <a:off x="0" y="9676538"/>
            <a:ext cx="16463090" cy="0"/>
          </a:xfrm>
          <a:prstGeom prst="line">
            <a:avLst/>
          </a:prstGeom>
          <a:ln w="19050" cap="flat">
            <a:solidFill>
              <a:srgbClr val="FFFFFF"/>
            </a:solidFill>
            <a:prstDash val="solid"/>
            <a:headEnd type="none" w="sm" len="sm"/>
            <a:tailEnd type="none" w="sm" len="sm"/>
          </a:ln>
        </p:spPr>
        <p:txBody>
          <a:bodyPr/>
          <a:lstStyle/>
          <a:p>
            <a:endParaRPr lang="en-US"/>
          </a:p>
        </p:txBody>
      </p:sp>
      <p:sp>
        <p:nvSpPr>
          <p:cNvPr id="5" name="AutoShape 5"/>
          <p:cNvSpPr/>
          <p:nvPr/>
        </p:nvSpPr>
        <p:spPr>
          <a:xfrm flipH="1">
            <a:off x="17050227" y="9667013"/>
            <a:ext cx="960120" cy="0"/>
          </a:xfrm>
          <a:prstGeom prst="line">
            <a:avLst/>
          </a:prstGeom>
          <a:ln w="19050" cap="flat">
            <a:solidFill>
              <a:srgbClr val="FFFFFF"/>
            </a:solidFill>
            <a:prstDash val="solid"/>
            <a:headEnd type="none" w="sm" len="sm"/>
            <a:tailEnd type="none" w="sm" len="sm"/>
          </a:ln>
        </p:spPr>
        <p:txBody>
          <a:bodyPr/>
          <a:lstStyle/>
          <a:p>
            <a:endParaRPr lang="en-US"/>
          </a:p>
        </p:txBody>
      </p:sp>
      <p:sp>
        <p:nvSpPr>
          <p:cNvPr id="6" name="TextBox 6"/>
          <p:cNvSpPr txBox="1"/>
          <p:nvPr/>
        </p:nvSpPr>
        <p:spPr>
          <a:xfrm>
            <a:off x="1028700" y="1000125"/>
            <a:ext cx="16230600" cy="878835"/>
          </a:xfrm>
          <a:prstGeom prst="rect">
            <a:avLst/>
          </a:prstGeom>
        </p:spPr>
        <p:txBody>
          <a:bodyPr lIns="0" tIns="0" rIns="0" bIns="0" rtlCol="0" anchor="t">
            <a:spAutoFit/>
          </a:bodyPr>
          <a:lstStyle/>
          <a:p>
            <a:pPr algn="l">
              <a:lnSpc>
                <a:spcPts val="7025"/>
              </a:lnSpc>
            </a:pPr>
            <a:r>
              <a:rPr lang="en-US" sz="5616" b="1" spc="-16">
                <a:solidFill>
                  <a:srgbClr val="D7E5D8"/>
                </a:solidFill>
                <a:latin typeface="IBM Plex Sans Bold"/>
                <a:ea typeface="IBM Plex Sans Bold"/>
                <a:cs typeface="IBM Plex Sans Bold"/>
                <a:sym typeface="IBM Plex Sans Bold"/>
              </a:rPr>
              <a:t>FRONT END</a:t>
            </a:r>
          </a:p>
        </p:txBody>
      </p:sp>
      <p:sp>
        <p:nvSpPr>
          <p:cNvPr id="7" name="TextBox 7"/>
          <p:cNvSpPr txBox="1"/>
          <p:nvPr/>
        </p:nvSpPr>
        <p:spPr>
          <a:xfrm>
            <a:off x="1028700" y="2004098"/>
            <a:ext cx="15138291" cy="1038746"/>
          </a:xfrm>
          <a:prstGeom prst="rect">
            <a:avLst/>
          </a:prstGeom>
        </p:spPr>
        <p:txBody>
          <a:bodyPr lIns="0" tIns="0" rIns="0" bIns="0" rtlCol="0" anchor="t">
            <a:spAutoFit/>
          </a:bodyPr>
          <a:lstStyle/>
          <a:p>
            <a:pPr>
              <a:lnSpc>
                <a:spcPts val="2699"/>
              </a:lnSpc>
            </a:pPr>
            <a:r>
              <a:rPr lang="en-US" sz="2400" dirty="0">
                <a:solidFill>
                  <a:schemeClr val="bg2"/>
                </a:solidFill>
              </a:rPr>
              <a:t>The front end transforms a noisy scalar observation stream into a causal, denoised, locally phase-corrected trajectory of temporal motion, providing the graph with stable geometric states that encode how the signal is changing rather than merely its current amplitude.</a:t>
            </a:r>
            <a:endParaRPr lang="en-US" sz="2400" spc="-5" dirty="0">
              <a:solidFill>
                <a:schemeClr val="bg2"/>
              </a:solidFill>
              <a:latin typeface="IBM Plex Sans"/>
              <a:ea typeface="IBM Plex Sans"/>
              <a:cs typeface="IBM Plex Sans"/>
              <a:sym typeface="IBM Plex Sans"/>
            </a:endParaRPr>
          </a:p>
        </p:txBody>
      </p:sp>
      <p:sp>
        <p:nvSpPr>
          <p:cNvPr id="8" name="TextBox 8"/>
          <p:cNvSpPr txBox="1"/>
          <p:nvPr/>
        </p:nvSpPr>
        <p:spPr>
          <a:xfrm>
            <a:off x="6166847" y="4398542"/>
            <a:ext cx="4770994" cy="907428"/>
          </a:xfrm>
          <a:prstGeom prst="rect">
            <a:avLst/>
          </a:prstGeom>
        </p:spPr>
        <p:txBody>
          <a:bodyPr wrap="square" lIns="0" tIns="0" rIns="0" bIns="0" rtlCol="0" anchor="t">
            <a:spAutoFit/>
          </a:bodyPr>
          <a:lstStyle/>
          <a:p>
            <a:pPr marL="285750" indent="-285750">
              <a:lnSpc>
                <a:spcPts val="2428"/>
              </a:lnSpc>
              <a:buFont typeface="Arial" panose="020B0604020202020204" pitchFamily="34" charset="0"/>
              <a:buChar char="•"/>
            </a:pPr>
            <a:r>
              <a:rPr lang="en-US" sz="1600" dirty="0">
                <a:solidFill>
                  <a:schemeClr val="bg2"/>
                </a:solidFill>
              </a:rPr>
              <a:t>Models the latent signal and derivatives </a:t>
            </a:r>
          </a:p>
          <a:p>
            <a:pPr marL="285750" indent="-285750">
              <a:lnSpc>
                <a:spcPts val="2428"/>
              </a:lnSpc>
              <a:buFont typeface="Arial" panose="020B0604020202020204" pitchFamily="34" charset="0"/>
              <a:buChar char="•"/>
            </a:pPr>
            <a:r>
              <a:rPr lang="en-US" sz="1600" dirty="0">
                <a:solidFill>
                  <a:schemeClr val="bg2"/>
                </a:solidFill>
              </a:rPr>
              <a:t>Smooths noise without over-smoothing dynamics </a:t>
            </a:r>
          </a:p>
          <a:p>
            <a:pPr marL="285750" indent="-285750">
              <a:lnSpc>
                <a:spcPts val="2428"/>
              </a:lnSpc>
              <a:buFont typeface="Arial" panose="020B0604020202020204" pitchFamily="34" charset="0"/>
              <a:buChar char="•"/>
            </a:pPr>
            <a:r>
              <a:rPr lang="en-US" sz="1600" dirty="0">
                <a:solidFill>
                  <a:schemeClr val="bg2"/>
                </a:solidFill>
              </a:rPr>
              <a:t>Chosen for stable first-derivative estimation</a:t>
            </a:r>
            <a:endParaRPr lang="en-US" sz="1507" spc="21" dirty="0">
              <a:solidFill>
                <a:schemeClr val="bg2"/>
              </a:solidFill>
              <a:latin typeface="Amicale Light"/>
              <a:ea typeface="Amicale Light"/>
              <a:cs typeface="Amicale Light"/>
              <a:sym typeface="Amicale Light"/>
            </a:endParaRPr>
          </a:p>
        </p:txBody>
      </p:sp>
      <p:sp>
        <p:nvSpPr>
          <p:cNvPr id="9" name="TextBox 9"/>
          <p:cNvSpPr txBox="1"/>
          <p:nvPr/>
        </p:nvSpPr>
        <p:spPr>
          <a:xfrm>
            <a:off x="6121608" y="6844322"/>
            <a:ext cx="4555768" cy="907428"/>
          </a:xfrm>
          <a:prstGeom prst="rect">
            <a:avLst/>
          </a:prstGeom>
        </p:spPr>
        <p:txBody>
          <a:bodyPr wrap="square" lIns="0" tIns="0" rIns="0" bIns="0" rtlCol="0" anchor="t">
            <a:spAutoFit/>
          </a:bodyPr>
          <a:lstStyle/>
          <a:p>
            <a:pPr marL="285750" indent="-285750">
              <a:lnSpc>
                <a:spcPts val="2428"/>
              </a:lnSpc>
              <a:buFont typeface="Arial" panose="020B0604020202020204" pitchFamily="34" charset="0"/>
              <a:buChar char="•"/>
            </a:pPr>
            <a:r>
              <a:rPr lang="en-US" sz="1600" dirty="0">
                <a:solidFill>
                  <a:schemeClr val="bg2"/>
                </a:solidFill>
              </a:rPr>
              <a:t>Updates the state one sample at a time </a:t>
            </a:r>
          </a:p>
          <a:p>
            <a:pPr marL="285750" indent="-285750">
              <a:lnSpc>
                <a:spcPts val="2428"/>
              </a:lnSpc>
              <a:buFont typeface="Arial" panose="020B0604020202020204" pitchFamily="34" charset="0"/>
              <a:buChar char="•"/>
            </a:pPr>
            <a:r>
              <a:rPr lang="en-US" sz="1600" dirty="0">
                <a:solidFill>
                  <a:schemeClr val="bg2"/>
                </a:solidFill>
              </a:rPr>
              <a:t>Provides causal, uncertainty-weighted denoising </a:t>
            </a:r>
          </a:p>
          <a:p>
            <a:pPr marL="285750" indent="-285750">
              <a:lnSpc>
                <a:spcPts val="2428"/>
              </a:lnSpc>
              <a:buFont typeface="Arial" panose="020B0604020202020204" pitchFamily="34" charset="0"/>
              <a:buChar char="•"/>
            </a:pPr>
            <a:r>
              <a:rPr lang="en-US" sz="1600" dirty="0">
                <a:solidFill>
                  <a:schemeClr val="bg2"/>
                </a:solidFill>
              </a:rPr>
              <a:t>Chosen for real-time streaming efficiency</a:t>
            </a:r>
            <a:endParaRPr lang="en-US" sz="1507" spc="21" dirty="0">
              <a:solidFill>
                <a:schemeClr val="bg2"/>
              </a:solidFill>
              <a:latin typeface="Amicale Light"/>
              <a:ea typeface="Amicale Light"/>
              <a:cs typeface="Amicale Light"/>
              <a:sym typeface="Amicale Light"/>
            </a:endParaRPr>
          </a:p>
        </p:txBody>
      </p:sp>
      <p:sp>
        <p:nvSpPr>
          <p:cNvPr id="12" name="TextBox 12"/>
          <p:cNvSpPr txBox="1"/>
          <p:nvPr/>
        </p:nvSpPr>
        <p:spPr>
          <a:xfrm>
            <a:off x="5666811" y="3793418"/>
            <a:ext cx="6559309" cy="849720"/>
          </a:xfrm>
          <a:prstGeom prst="rect">
            <a:avLst/>
          </a:prstGeom>
        </p:spPr>
        <p:txBody>
          <a:bodyPr wrap="square" lIns="0" tIns="0" rIns="0" bIns="0" rtlCol="0" anchor="t">
            <a:spAutoFit/>
          </a:bodyPr>
          <a:lstStyle/>
          <a:p>
            <a:pPr marL="514350" indent="-514350" algn="l">
              <a:lnSpc>
                <a:spcPts val="3435"/>
              </a:lnSpc>
              <a:buAutoNum type="arabicPeriod"/>
            </a:pPr>
            <a:r>
              <a:rPr lang="en-US" sz="2664" b="1" spc="26" dirty="0">
                <a:solidFill>
                  <a:srgbClr val="B7EE4A"/>
                </a:solidFill>
                <a:latin typeface="IBM Plex Sans Bold"/>
                <a:ea typeface="IBM Plex Sans Bold"/>
                <a:cs typeface="IBM Plex Sans Bold"/>
                <a:sym typeface="IBM Plex Sans Bold"/>
              </a:rPr>
              <a:t>Matérn-5/2 State-Space Model</a:t>
            </a:r>
          </a:p>
          <a:p>
            <a:pPr algn="l">
              <a:lnSpc>
                <a:spcPts val="3435"/>
              </a:lnSpc>
            </a:pPr>
            <a:endParaRPr lang="en-US" sz="2664" b="1" spc="26" dirty="0">
              <a:solidFill>
                <a:srgbClr val="B7EE4A"/>
              </a:solidFill>
              <a:latin typeface="IBM Plex Sans Bold"/>
              <a:ea typeface="IBM Plex Sans Bold"/>
              <a:cs typeface="IBM Plex Sans Bold"/>
              <a:sym typeface="IBM Plex Sans Bold"/>
            </a:endParaRPr>
          </a:p>
        </p:txBody>
      </p:sp>
      <p:sp>
        <p:nvSpPr>
          <p:cNvPr id="13" name="TextBox 13"/>
          <p:cNvSpPr txBox="1"/>
          <p:nvPr/>
        </p:nvSpPr>
        <p:spPr>
          <a:xfrm>
            <a:off x="5666811" y="6259419"/>
            <a:ext cx="4068760" cy="417553"/>
          </a:xfrm>
          <a:prstGeom prst="rect">
            <a:avLst/>
          </a:prstGeom>
        </p:spPr>
        <p:txBody>
          <a:bodyPr wrap="square" lIns="0" tIns="0" rIns="0" bIns="0" rtlCol="0" anchor="t">
            <a:spAutoFit/>
          </a:bodyPr>
          <a:lstStyle/>
          <a:p>
            <a:pPr algn="l">
              <a:lnSpc>
                <a:spcPts val="3435"/>
              </a:lnSpc>
            </a:pPr>
            <a:r>
              <a:rPr lang="en-US" sz="2664" b="1" spc="26" dirty="0">
                <a:solidFill>
                  <a:srgbClr val="B7EE4A"/>
                </a:solidFill>
                <a:latin typeface="IBM Plex Sans Bold"/>
                <a:ea typeface="IBM Plex Sans Bold"/>
                <a:cs typeface="IBM Plex Sans Bold"/>
                <a:sym typeface="IBM Plex Sans Bold"/>
              </a:rPr>
              <a:t>2. Forward Kalman Filter</a:t>
            </a:r>
          </a:p>
        </p:txBody>
      </p:sp>
      <p:sp>
        <p:nvSpPr>
          <p:cNvPr id="14" name="TextBox 14"/>
          <p:cNvSpPr txBox="1"/>
          <p:nvPr/>
        </p:nvSpPr>
        <p:spPr>
          <a:xfrm>
            <a:off x="12192000" y="3729488"/>
            <a:ext cx="6559308" cy="413703"/>
          </a:xfrm>
          <a:prstGeom prst="rect">
            <a:avLst/>
          </a:prstGeom>
        </p:spPr>
        <p:txBody>
          <a:bodyPr wrap="square" lIns="0" tIns="0" rIns="0" bIns="0" rtlCol="0" anchor="t">
            <a:spAutoFit/>
          </a:bodyPr>
          <a:lstStyle/>
          <a:p>
            <a:pPr algn="l">
              <a:lnSpc>
                <a:spcPts val="3435"/>
              </a:lnSpc>
            </a:pPr>
            <a:r>
              <a:rPr lang="en-US" sz="2664" b="1" spc="26" dirty="0">
                <a:solidFill>
                  <a:srgbClr val="B7EE4A"/>
                </a:solidFill>
                <a:latin typeface="IBM Plex Sans Bold"/>
                <a:ea typeface="IBM Plex Sans Bold"/>
                <a:cs typeface="IBM Plex Sans Bold"/>
                <a:sym typeface="IBM Plex Sans Bold"/>
              </a:rPr>
              <a:t>3. Fixed-Lag RTS Smoother</a:t>
            </a:r>
          </a:p>
        </p:txBody>
      </p:sp>
      <p:sp>
        <p:nvSpPr>
          <p:cNvPr id="15" name="TextBox 15"/>
          <p:cNvSpPr txBox="1"/>
          <p:nvPr/>
        </p:nvSpPr>
        <p:spPr>
          <a:xfrm>
            <a:off x="12306342" y="6252992"/>
            <a:ext cx="5638889" cy="846178"/>
          </a:xfrm>
          <a:prstGeom prst="rect">
            <a:avLst/>
          </a:prstGeom>
        </p:spPr>
        <p:txBody>
          <a:bodyPr wrap="square" lIns="0" tIns="0" rIns="0" bIns="0" rtlCol="0" anchor="t">
            <a:spAutoFit/>
          </a:bodyPr>
          <a:lstStyle/>
          <a:p>
            <a:pPr algn="l">
              <a:lnSpc>
                <a:spcPts val="3435"/>
              </a:lnSpc>
            </a:pPr>
            <a:r>
              <a:rPr lang="en-US" sz="2664" b="1" spc="26" dirty="0">
                <a:solidFill>
                  <a:srgbClr val="B7EE4A"/>
                </a:solidFill>
                <a:latin typeface="IBM Plex Sans Bold"/>
                <a:ea typeface="IBM Plex Sans Bold"/>
                <a:cs typeface="IBM Plex Sans Bold"/>
                <a:sym typeface="IBM Plex Sans Bold"/>
              </a:rPr>
              <a:t>4. </a:t>
            </a:r>
            <a:r>
              <a:rPr lang="en-US" sz="2664" b="1" spc="26" dirty="0" err="1">
                <a:solidFill>
                  <a:srgbClr val="B7EE4A"/>
                </a:solidFill>
                <a:latin typeface="IBM Plex Sans Bold"/>
                <a:ea typeface="IBM Plex Sans Bold"/>
                <a:cs typeface="IBM Plex Sans Bold"/>
                <a:sym typeface="IBM Plex Sans Bold"/>
              </a:rPr>
              <a:t>Takens</a:t>
            </a:r>
            <a:r>
              <a:rPr lang="en-US" sz="2664" b="1" spc="26" dirty="0">
                <a:solidFill>
                  <a:srgbClr val="B7EE4A"/>
                </a:solidFill>
                <a:latin typeface="IBM Plex Sans Bold"/>
                <a:ea typeface="IBM Plex Sans Bold"/>
                <a:cs typeface="IBM Plex Sans Bold"/>
                <a:sym typeface="IBM Plex Sans Bold"/>
              </a:rPr>
              <a:t> Delay Embedding</a:t>
            </a:r>
          </a:p>
          <a:p>
            <a:pPr algn="l">
              <a:lnSpc>
                <a:spcPts val="3435"/>
              </a:lnSpc>
            </a:pPr>
            <a:endParaRPr lang="en-US" sz="2664" b="1" spc="26" dirty="0">
              <a:solidFill>
                <a:srgbClr val="B7EE4A"/>
              </a:solidFill>
              <a:latin typeface="IBM Plex Sans Bold"/>
              <a:ea typeface="IBM Plex Sans Bold"/>
              <a:cs typeface="IBM Plex Sans Bold"/>
              <a:sym typeface="IBM Plex Sans Bold"/>
            </a:endParaRPr>
          </a:p>
        </p:txBody>
      </p:sp>
      <p:grpSp>
        <p:nvGrpSpPr>
          <p:cNvPr id="16" name="Group 16"/>
          <p:cNvGrpSpPr/>
          <p:nvPr/>
        </p:nvGrpSpPr>
        <p:grpSpPr>
          <a:xfrm>
            <a:off x="0" y="8244826"/>
            <a:ext cx="2737757" cy="2737757"/>
            <a:chOff x="0" y="0"/>
            <a:chExt cx="3650343" cy="3650343"/>
          </a:xfrm>
        </p:grpSpPr>
        <p:sp>
          <p:nvSpPr>
            <p:cNvPr id="17" name="Freeform 17"/>
            <p:cNvSpPr/>
            <p:nvPr/>
          </p:nvSpPr>
          <p:spPr>
            <a:xfrm>
              <a:off x="0" y="0"/>
              <a:ext cx="3650343" cy="3650343"/>
            </a:xfrm>
            <a:custGeom>
              <a:avLst/>
              <a:gdLst/>
              <a:ahLst/>
              <a:cxnLst/>
              <a:rect l="l" t="t" r="r" b="b"/>
              <a:pathLst>
                <a:path w="3650343" h="3650343">
                  <a:moveTo>
                    <a:pt x="0" y="0"/>
                  </a:moveTo>
                  <a:lnTo>
                    <a:pt x="3650343" y="0"/>
                  </a:lnTo>
                  <a:lnTo>
                    <a:pt x="3650343" y="3650343"/>
                  </a:lnTo>
                  <a:lnTo>
                    <a:pt x="0" y="3650343"/>
                  </a:lnTo>
                  <a:lnTo>
                    <a:pt x="0" y="0"/>
                  </a:lnTo>
                  <a:close/>
                </a:path>
              </a:pathLst>
            </a:custGeom>
            <a:blipFill>
              <a:blip>
                <a:alphaModFix amt="4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8" name="Freeform 18"/>
            <p:cNvSpPr/>
            <p:nvPr/>
          </p:nvSpPr>
          <p:spPr>
            <a:xfrm>
              <a:off x="257215" y="827328"/>
              <a:ext cx="2779958" cy="1629020"/>
            </a:xfrm>
            <a:custGeom>
              <a:avLst/>
              <a:gdLst/>
              <a:ahLst/>
              <a:cxnLst/>
              <a:rect l="l" t="t" r="r" b="b"/>
              <a:pathLst>
                <a:path w="2779958" h="1629020">
                  <a:moveTo>
                    <a:pt x="0" y="0"/>
                  </a:moveTo>
                  <a:lnTo>
                    <a:pt x="2779958" y="0"/>
                  </a:lnTo>
                  <a:lnTo>
                    <a:pt x="2779958" y="1629020"/>
                  </a:lnTo>
                  <a:lnTo>
                    <a:pt x="0" y="1629020"/>
                  </a:lnTo>
                  <a:lnTo>
                    <a:pt x="0" y="0"/>
                  </a:lnTo>
                  <a:close/>
                </a:path>
              </a:pathLst>
            </a:custGeom>
            <a:blipFill>
              <a:blip r:embed="rId4"/>
              <a:stretch>
                <a:fillRect/>
              </a:stretch>
            </a:blipFill>
          </p:spPr>
          <p:txBody>
            <a:bodyPr/>
            <a:lstStyle/>
            <a:p>
              <a:endParaRPr lang="en-US"/>
            </a:p>
          </p:txBody>
        </p:sp>
      </p:grpSp>
      <p:sp>
        <p:nvSpPr>
          <p:cNvPr id="24" name="Freeform 7">
            <a:extLst>
              <a:ext uri="{FF2B5EF4-FFF2-40B4-BE49-F238E27FC236}">
                <a16:creationId xmlns:a16="http://schemas.microsoft.com/office/drawing/2014/main" id="{FAD3BDA1-BE73-F71C-15A3-D2CA47F33FF8}"/>
              </a:ext>
            </a:extLst>
          </p:cNvPr>
          <p:cNvSpPr/>
          <p:nvPr/>
        </p:nvSpPr>
        <p:spPr>
          <a:xfrm>
            <a:off x="901036" y="4343185"/>
            <a:ext cx="4068760" cy="2737757"/>
          </a:xfrm>
          <a:custGeom>
            <a:avLst/>
            <a:gdLst/>
            <a:ahLst/>
            <a:cxnLst/>
            <a:rect l="l" t="t" r="r" b="b"/>
            <a:pathLst>
              <a:path w="4463787" h="4114800">
                <a:moveTo>
                  <a:pt x="0" y="0"/>
                </a:moveTo>
                <a:lnTo>
                  <a:pt x="4463787" y="0"/>
                </a:lnTo>
                <a:lnTo>
                  <a:pt x="4463787"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8" name="TextBox 8">
            <a:extLst>
              <a:ext uri="{FF2B5EF4-FFF2-40B4-BE49-F238E27FC236}">
                <a16:creationId xmlns:a16="http://schemas.microsoft.com/office/drawing/2014/main" id="{423AB8EE-9DF2-9903-70B1-2E2E60E54A6E}"/>
              </a:ext>
            </a:extLst>
          </p:cNvPr>
          <p:cNvSpPr txBox="1"/>
          <p:nvPr/>
        </p:nvSpPr>
        <p:spPr>
          <a:xfrm>
            <a:off x="12621190" y="4297029"/>
            <a:ext cx="4612271" cy="907428"/>
          </a:xfrm>
          <a:prstGeom prst="rect">
            <a:avLst/>
          </a:prstGeom>
        </p:spPr>
        <p:txBody>
          <a:bodyPr wrap="square" lIns="0" tIns="0" rIns="0" bIns="0" rtlCol="0" anchor="t">
            <a:spAutoFit/>
          </a:bodyPr>
          <a:lstStyle/>
          <a:p>
            <a:pPr marL="285750" indent="-285750">
              <a:lnSpc>
                <a:spcPts val="2428"/>
              </a:lnSpc>
              <a:buFont typeface="Arial" panose="020B0604020202020204" pitchFamily="34" charset="0"/>
              <a:buChar char="•"/>
            </a:pPr>
            <a:r>
              <a:rPr lang="en-US" sz="1600" dirty="0">
                <a:solidFill>
                  <a:schemeClr val="bg2"/>
                </a:solidFill>
              </a:rPr>
              <a:t>Refines recent state and derivative estimates </a:t>
            </a:r>
          </a:p>
          <a:p>
            <a:pPr marL="285750" indent="-285750">
              <a:lnSpc>
                <a:spcPts val="2428"/>
              </a:lnSpc>
              <a:buFont typeface="Arial" panose="020B0604020202020204" pitchFamily="34" charset="0"/>
              <a:buChar char="•"/>
            </a:pPr>
            <a:r>
              <a:rPr lang="en-US" sz="1600" dirty="0">
                <a:solidFill>
                  <a:schemeClr val="bg2"/>
                </a:solidFill>
              </a:rPr>
              <a:t>Reduces derivative noise and phase lag </a:t>
            </a:r>
          </a:p>
          <a:p>
            <a:pPr marL="285750" indent="-285750">
              <a:lnSpc>
                <a:spcPts val="2428"/>
              </a:lnSpc>
              <a:buFont typeface="Arial" panose="020B0604020202020204" pitchFamily="34" charset="0"/>
              <a:buChar char="•"/>
            </a:pPr>
            <a:r>
              <a:rPr lang="en-US" sz="1600" dirty="0">
                <a:solidFill>
                  <a:schemeClr val="bg2"/>
                </a:solidFill>
              </a:rPr>
              <a:t>Chosen as a balance between accuracy and causality</a:t>
            </a:r>
            <a:endParaRPr lang="en-US" sz="1507" spc="21" dirty="0">
              <a:solidFill>
                <a:schemeClr val="bg2"/>
              </a:solidFill>
              <a:latin typeface="Amicale Light"/>
              <a:ea typeface="Amicale Light"/>
              <a:cs typeface="Amicale Light"/>
              <a:sym typeface="Amicale Light"/>
            </a:endParaRPr>
          </a:p>
        </p:txBody>
      </p:sp>
      <p:sp>
        <p:nvSpPr>
          <p:cNvPr id="30" name="TextBox 9">
            <a:extLst>
              <a:ext uri="{FF2B5EF4-FFF2-40B4-BE49-F238E27FC236}">
                <a16:creationId xmlns:a16="http://schemas.microsoft.com/office/drawing/2014/main" id="{4B073D75-54D0-CC16-C853-9C245D7C6591}"/>
              </a:ext>
            </a:extLst>
          </p:cNvPr>
          <p:cNvSpPr txBox="1"/>
          <p:nvPr/>
        </p:nvSpPr>
        <p:spPr>
          <a:xfrm>
            <a:off x="12671666" y="6856593"/>
            <a:ext cx="4555768" cy="1215204"/>
          </a:xfrm>
          <a:prstGeom prst="rect">
            <a:avLst/>
          </a:prstGeom>
        </p:spPr>
        <p:txBody>
          <a:bodyPr wrap="square" lIns="0" tIns="0" rIns="0" bIns="0" rtlCol="0" anchor="t">
            <a:spAutoFit/>
          </a:bodyPr>
          <a:lstStyle/>
          <a:p>
            <a:pPr marL="285750" indent="-285750">
              <a:lnSpc>
                <a:spcPts val="2428"/>
              </a:lnSpc>
              <a:buFont typeface="Arial" panose="020B0604020202020204" pitchFamily="34" charset="0"/>
              <a:buChar char="•"/>
            </a:pPr>
            <a:r>
              <a:rPr lang="en-US" sz="1600" dirty="0">
                <a:solidFill>
                  <a:schemeClr val="bg2"/>
                </a:solidFill>
              </a:rPr>
              <a:t>Converts the derivative trace into a trajectory Represents direction and local temporal motion Reduces sensitivity to absolute signal level </a:t>
            </a:r>
          </a:p>
          <a:p>
            <a:pPr marL="285750" indent="-285750">
              <a:lnSpc>
                <a:spcPts val="2428"/>
              </a:lnSpc>
              <a:buFont typeface="Arial" panose="020B0604020202020204" pitchFamily="34" charset="0"/>
              <a:buChar char="•"/>
            </a:pPr>
            <a:r>
              <a:rPr lang="en-US" sz="1600" dirty="0">
                <a:solidFill>
                  <a:schemeClr val="bg2"/>
                </a:solidFill>
              </a:rPr>
              <a:t>Chosen to expose recurring dynamical patterns</a:t>
            </a:r>
            <a:endParaRPr lang="en-US" sz="1507" spc="21" dirty="0">
              <a:solidFill>
                <a:schemeClr val="bg2"/>
              </a:solidFill>
              <a:latin typeface="Amicale Light"/>
              <a:ea typeface="Amicale Light"/>
              <a:cs typeface="Amicale Light"/>
              <a:sym typeface="Amicale Light"/>
            </a:endParaRPr>
          </a:p>
        </p:txBody>
      </p:sp>
      <p:sp>
        <p:nvSpPr>
          <p:cNvPr id="2" name="Slide Number Placeholder 1">
            <a:extLst>
              <a:ext uri="{FF2B5EF4-FFF2-40B4-BE49-F238E27FC236}">
                <a16:creationId xmlns:a16="http://schemas.microsoft.com/office/drawing/2014/main" id="{DE3C0D9A-85AA-D8DF-F211-6E30B1C14730}"/>
              </a:ext>
            </a:extLst>
          </p:cNvPr>
          <p:cNvSpPr>
            <a:spLocks noGrp="1"/>
          </p:cNvSpPr>
          <p:nvPr>
            <p:ph type="sldNum" sz="quarter" idx="12"/>
          </p:nvPr>
        </p:nvSpPr>
        <p:spPr>
          <a:xfrm>
            <a:off x="15925800" y="9715500"/>
            <a:ext cx="2133600" cy="365125"/>
          </a:xfrm>
        </p:spPr>
        <p:txBody>
          <a:bodyPr/>
          <a:lstStyle/>
          <a:p>
            <a:fld id="{B6F15528-21DE-4FAA-801E-634DDDAF4B2B}"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lin ang="5400000"/>
        </a:gradFill>
        <a:effectLst/>
      </p:bgPr>
    </p:bg>
    <p:spTree>
      <p:nvGrpSpPr>
        <p:cNvPr id="1" name=""/>
        <p:cNvGrpSpPr/>
        <p:nvPr/>
      </p:nvGrpSpPr>
      <p:grpSpPr>
        <a:xfrm>
          <a:off x="0" y="0"/>
          <a:ext cx="0" cy="0"/>
          <a:chOff x="0" y="0"/>
          <a:chExt cx="0" cy="0"/>
        </a:xfrm>
      </p:grpSpPr>
      <p:sp>
        <p:nvSpPr>
          <p:cNvPr id="3" name="AutoShape 3"/>
          <p:cNvSpPr/>
          <p:nvPr/>
        </p:nvSpPr>
        <p:spPr>
          <a:xfrm flipH="1">
            <a:off x="0" y="9676538"/>
            <a:ext cx="16463090" cy="0"/>
          </a:xfrm>
          <a:prstGeom prst="line">
            <a:avLst/>
          </a:prstGeom>
          <a:ln w="19050" cap="flat">
            <a:solidFill>
              <a:srgbClr val="FFFFFF"/>
            </a:solidFill>
            <a:prstDash val="solid"/>
            <a:headEnd type="none" w="sm" len="sm"/>
            <a:tailEnd type="none" w="sm" len="sm"/>
          </a:ln>
        </p:spPr>
        <p:txBody>
          <a:bodyPr/>
          <a:lstStyle/>
          <a:p>
            <a:endParaRPr lang="en-US"/>
          </a:p>
        </p:txBody>
      </p:sp>
      <p:sp>
        <p:nvSpPr>
          <p:cNvPr id="4" name="AutoShape 4"/>
          <p:cNvSpPr/>
          <p:nvPr/>
        </p:nvSpPr>
        <p:spPr>
          <a:xfrm flipH="1">
            <a:off x="17050227" y="9667013"/>
            <a:ext cx="960120" cy="0"/>
          </a:xfrm>
          <a:prstGeom prst="line">
            <a:avLst/>
          </a:prstGeom>
          <a:ln w="19050" cap="flat">
            <a:solidFill>
              <a:srgbClr val="FFFFFF"/>
            </a:solidFill>
            <a:prstDash val="solid"/>
            <a:headEnd type="none" w="sm" len="sm"/>
            <a:tailEnd type="none" w="sm" len="sm"/>
          </a:ln>
        </p:spPr>
        <p:txBody>
          <a:bodyPr/>
          <a:lstStyle/>
          <a:p>
            <a:endParaRPr lang="en-US"/>
          </a:p>
        </p:txBody>
      </p:sp>
      <p:sp>
        <p:nvSpPr>
          <p:cNvPr id="5" name="TextBox 5"/>
          <p:cNvSpPr txBox="1"/>
          <p:nvPr/>
        </p:nvSpPr>
        <p:spPr>
          <a:xfrm>
            <a:off x="1028700" y="1000125"/>
            <a:ext cx="16230600" cy="856068"/>
          </a:xfrm>
          <a:prstGeom prst="rect">
            <a:avLst/>
          </a:prstGeom>
        </p:spPr>
        <p:txBody>
          <a:bodyPr lIns="0" tIns="0" rIns="0" bIns="0" rtlCol="0" anchor="t">
            <a:spAutoFit/>
          </a:bodyPr>
          <a:lstStyle/>
          <a:p>
            <a:pPr algn="l">
              <a:lnSpc>
                <a:spcPts val="7025"/>
              </a:lnSpc>
            </a:pPr>
            <a:r>
              <a:rPr lang="en-US" sz="5616" b="1" spc="-16" dirty="0">
                <a:solidFill>
                  <a:srgbClr val="D7E5D8"/>
                </a:solidFill>
                <a:latin typeface="IBM Plex Sans Bold"/>
                <a:ea typeface="IBM Plex Sans Bold"/>
                <a:cs typeface="IBM Plex Sans Bold"/>
                <a:sym typeface="IBM Plex Sans Bold"/>
              </a:rPr>
              <a:t>MATÉRN-5/2 &amp; KALMAN &amp; RTS SMOOTHER</a:t>
            </a:r>
          </a:p>
        </p:txBody>
      </p:sp>
      <p:sp>
        <p:nvSpPr>
          <p:cNvPr id="6" name="TextBox 6"/>
          <p:cNvSpPr txBox="1"/>
          <p:nvPr/>
        </p:nvSpPr>
        <p:spPr>
          <a:xfrm>
            <a:off x="1028700" y="2004098"/>
            <a:ext cx="15138291" cy="346249"/>
          </a:xfrm>
          <a:prstGeom prst="rect">
            <a:avLst/>
          </a:prstGeom>
        </p:spPr>
        <p:txBody>
          <a:bodyPr lIns="0" tIns="0" rIns="0" bIns="0" rtlCol="0" anchor="t">
            <a:spAutoFit/>
          </a:bodyPr>
          <a:lstStyle/>
          <a:p>
            <a:pPr>
              <a:lnSpc>
                <a:spcPts val="2699"/>
              </a:lnSpc>
            </a:pPr>
            <a:r>
              <a:rPr lang="en-US" sz="2400" dirty="0">
                <a:solidFill>
                  <a:schemeClr val="bg2"/>
                </a:solidFill>
              </a:rPr>
              <a:t>Individual stages are well established -- </a:t>
            </a:r>
            <a:r>
              <a:rPr lang="en-US" sz="2400" dirty="0" err="1">
                <a:solidFill>
                  <a:schemeClr val="bg2"/>
                </a:solidFill>
              </a:rPr>
              <a:t>Matérn</a:t>
            </a:r>
            <a:r>
              <a:rPr lang="en-US" sz="2400" dirty="0">
                <a:solidFill>
                  <a:schemeClr val="bg2"/>
                </a:solidFill>
              </a:rPr>
              <a:t> + Kalman + RTS is a known GP pipeline.</a:t>
            </a:r>
            <a:endParaRPr lang="en-US" sz="2400" spc="-5" dirty="0">
              <a:solidFill>
                <a:schemeClr val="bg2"/>
              </a:solidFill>
              <a:latin typeface="IBM Plex Sans"/>
              <a:ea typeface="IBM Plex Sans"/>
              <a:cs typeface="IBM Plex Sans"/>
              <a:sym typeface="IBM Plex Sans"/>
            </a:endParaRPr>
          </a:p>
        </p:txBody>
      </p:sp>
      <p:sp>
        <p:nvSpPr>
          <p:cNvPr id="7" name="TextBox 7"/>
          <p:cNvSpPr txBox="1"/>
          <p:nvPr/>
        </p:nvSpPr>
        <p:spPr>
          <a:xfrm>
            <a:off x="1042555" y="2995088"/>
            <a:ext cx="6559309" cy="846178"/>
          </a:xfrm>
          <a:prstGeom prst="rect">
            <a:avLst/>
          </a:prstGeom>
        </p:spPr>
        <p:txBody>
          <a:bodyPr lIns="0" tIns="0" rIns="0" bIns="0" rtlCol="0" anchor="t">
            <a:spAutoFit/>
          </a:bodyPr>
          <a:lstStyle/>
          <a:p>
            <a:pPr algn="l">
              <a:lnSpc>
                <a:spcPts val="3435"/>
              </a:lnSpc>
            </a:pPr>
            <a:r>
              <a:rPr lang="en-US" sz="2664" b="1" spc="26" dirty="0">
                <a:solidFill>
                  <a:srgbClr val="B7EE4A"/>
                </a:solidFill>
                <a:latin typeface="IBM Plex Sans Bold"/>
                <a:ea typeface="IBM Plex Sans Bold"/>
                <a:cs typeface="IBM Plex Sans Bold"/>
                <a:sym typeface="IBM Plex Sans Bold"/>
              </a:rPr>
              <a:t>1. Matérn-5/2 State-Space Model</a:t>
            </a:r>
          </a:p>
          <a:p>
            <a:pPr algn="l">
              <a:lnSpc>
                <a:spcPts val="3435"/>
              </a:lnSpc>
            </a:pPr>
            <a:endParaRPr lang="en-US" sz="2664" b="1" spc="26" dirty="0">
              <a:solidFill>
                <a:srgbClr val="B7EE4A"/>
              </a:solidFill>
              <a:latin typeface="IBM Plex Sans Bold"/>
              <a:ea typeface="IBM Plex Sans Bold"/>
              <a:cs typeface="IBM Plex Sans Bold"/>
              <a:sym typeface="IBM Plex Sans Bold"/>
            </a:endParaRPr>
          </a:p>
        </p:txBody>
      </p:sp>
      <p:sp>
        <p:nvSpPr>
          <p:cNvPr id="8" name="TextBox 8"/>
          <p:cNvSpPr txBox="1"/>
          <p:nvPr/>
        </p:nvSpPr>
        <p:spPr>
          <a:xfrm>
            <a:off x="8647870" y="3007924"/>
            <a:ext cx="4068760" cy="417553"/>
          </a:xfrm>
          <a:prstGeom prst="rect">
            <a:avLst/>
          </a:prstGeom>
        </p:spPr>
        <p:txBody>
          <a:bodyPr lIns="0" tIns="0" rIns="0" bIns="0" rtlCol="0" anchor="t">
            <a:spAutoFit/>
          </a:bodyPr>
          <a:lstStyle/>
          <a:p>
            <a:pPr algn="l">
              <a:lnSpc>
                <a:spcPts val="3435"/>
              </a:lnSpc>
            </a:pPr>
            <a:r>
              <a:rPr lang="en-US" sz="2664" b="1" spc="26" dirty="0">
                <a:solidFill>
                  <a:srgbClr val="B7EE4A"/>
                </a:solidFill>
                <a:latin typeface="IBM Plex Sans Bold"/>
                <a:ea typeface="IBM Plex Sans Bold"/>
                <a:cs typeface="IBM Plex Sans Bold"/>
                <a:sym typeface="IBM Plex Sans Bold"/>
              </a:rPr>
              <a:t>2. Forward Kalman Filter</a:t>
            </a:r>
          </a:p>
        </p:txBody>
      </p:sp>
      <p:grpSp>
        <p:nvGrpSpPr>
          <p:cNvPr id="9" name="Group 9"/>
          <p:cNvGrpSpPr/>
          <p:nvPr/>
        </p:nvGrpSpPr>
        <p:grpSpPr>
          <a:xfrm>
            <a:off x="0" y="8244826"/>
            <a:ext cx="2737757" cy="2737757"/>
            <a:chOff x="0" y="0"/>
            <a:chExt cx="3650343" cy="3650343"/>
          </a:xfrm>
        </p:grpSpPr>
        <p:sp>
          <p:nvSpPr>
            <p:cNvPr id="10" name="Freeform 10"/>
            <p:cNvSpPr/>
            <p:nvPr/>
          </p:nvSpPr>
          <p:spPr>
            <a:xfrm>
              <a:off x="0" y="0"/>
              <a:ext cx="3650343" cy="3650343"/>
            </a:xfrm>
            <a:custGeom>
              <a:avLst/>
              <a:gdLst/>
              <a:ahLst/>
              <a:cxnLst/>
              <a:rect l="l" t="t" r="r" b="b"/>
              <a:pathLst>
                <a:path w="3650343" h="3650343">
                  <a:moveTo>
                    <a:pt x="0" y="0"/>
                  </a:moveTo>
                  <a:lnTo>
                    <a:pt x="3650343" y="0"/>
                  </a:lnTo>
                  <a:lnTo>
                    <a:pt x="3650343" y="3650343"/>
                  </a:lnTo>
                  <a:lnTo>
                    <a:pt x="0" y="3650343"/>
                  </a:lnTo>
                  <a:lnTo>
                    <a:pt x="0" y="0"/>
                  </a:lnTo>
                  <a:close/>
                </a:path>
              </a:pathLst>
            </a:custGeom>
            <a:blipFill>
              <a:blip>
                <a:alphaModFix amt="4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p:cNvSpPr/>
            <p:nvPr/>
          </p:nvSpPr>
          <p:spPr>
            <a:xfrm>
              <a:off x="257215" y="827328"/>
              <a:ext cx="2779958" cy="1629020"/>
            </a:xfrm>
            <a:custGeom>
              <a:avLst/>
              <a:gdLst/>
              <a:ahLst/>
              <a:cxnLst/>
              <a:rect l="l" t="t" r="r" b="b"/>
              <a:pathLst>
                <a:path w="2779958" h="1629020">
                  <a:moveTo>
                    <a:pt x="0" y="0"/>
                  </a:moveTo>
                  <a:lnTo>
                    <a:pt x="2779958" y="0"/>
                  </a:lnTo>
                  <a:lnTo>
                    <a:pt x="2779958" y="1629020"/>
                  </a:lnTo>
                  <a:lnTo>
                    <a:pt x="0" y="1629020"/>
                  </a:lnTo>
                  <a:lnTo>
                    <a:pt x="0" y="0"/>
                  </a:lnTo>
                  <a:close/>
                </a:path>
              </a:pathLst>
            </a:custGeom>
            <a:blipFill>
              <a:blip r:embed="rId4"/>
              <a:stretch>
                <a:fillRect/>
              </a:stretch>
            </a:blipFill>
          </p:spPr>
          <p:txBody>
            <a:bodyPr/>
            <a:lstStyle/>
            <a:p>
              <a:endParaRPr lang="en-US"/>
            </a:p>
          </p:txBody>
        </p:sp>
      </p:grpSp>
      <mc:AlternateContent xmlns:mc="http://schemas.openxmlformats.org/markup-compatibility/2006" xmlns:a14="http://schemas.microsoft.com/office/drawing/2010/main">
        <mc:Choice Requires="a14">
          <p:sp>
            <p:nvSpPr>
              <p:cNvPr id="16" name="TextBox 7">
                <a:extLst>
                  <a:ext uri="{FF2B5EF4-FFF2-40B4-BE49-F238E27FC236}">
                    <a16:creationId xmlns:a16="http://schemas.microsoft.com/office/drawing/2014/main" id="{0B7BFE4F-351F-A3B5-672F-73E9A23A7E00}"/>
                  </a:ext>
                </a:extLst>
              </p:cNvPr>
              <p:cNvSpPr txBox="1"/>
              <p:nvPr/>
            </p:nvSpPr>
            <p:spPr>
              <a:xfrm>
                <a:off x="1458179" y="3606958"/>
                <a:ext cx="7589100" cy="4796826"/>
              </a:xfrm>
              <a:prstGeom prst="rect">
                <a:avLst/>
              </a:prstGeom>
            </p:spPr>
            <p:txBody>
              <a:bodyPr wrap="square" lIns="0" tIns="0" rIns="0" bIns="0" rtlCol="0" anchor="t">
                <a:spAutoFit/>
              </a:bodyPr>
              <a:lstStyle/>
              <a:p>
                <a:pPr hangingPunct="0"/>
                <a:r>
                  <a:rPr lang="en-US" dirty="0">
                    <a:solidFill>
                      <a:schemeClr val="bg2"/>
                    </a:solidFill>
                  </a:rPr>
                  <a:t>With length scale </a:t>
                </a:r>
                <a14:m>
                  <m:oMath xmlns:m="http://schemas.openxmlformats.org/officeDocument/2006/math">
                    <m:r>
                      <a:rPr lang="en-US" i="1">
                        <a:solidFill>
                          <a:schemeClr val="bg2"/>
                        </a:solidFill>
                        <a:latin typeface="Cambria Math" panose="02040503050406030204" pitchFamily="18" charset="0"/>
                      </a:rPr>
                      <m:t>𝓁</m:t>
                    </m:r>
                  </m:oMath>
                </a14:m>
                <a:r>
                  <a:rPr lang="en-US" dirty="0">
                    <a:solidFill>
                      <a:schemeClr val="bg2"/>
                    </a:solidFill>
                  </a:rPr>
                  <a:t> and </a:t>
                </a:r>
                <a14:m>
                  <m:oMath xmlns:m="http://schemas.openxmlformats.org/officeDocument/2006/math">
                    <m:r>
                      <a:rPr lang="en-US" i="1">
                        <a:solidFill>
                          <a:schemeClr val="bg2"/>
                        </a:solidFill>
                        <a:latin typeface="Cambria Math" panose="02040503050406030204" pitchFamily="18" charset="0"/>
                      </a:rPr>
                      <m:t>𝜆</m:t>
                    </m:r>
                    <m:r>
                      <a:rPr lang="en-US" i="1">
                        <a:solidFill>
                          <a:schemeClr val="bg2"/>
                        </a:solidFill>
                        <a:latin typeface="Cambria Math" panose="02040503050406030204" pitchFamily="18" charset="0"/>
                      </a:rPr>
                      <m:t> = √5/</m:t>
                    </m:r>
                    <m:r>
                      <a:rPr lang="en-US" i="1">
                        <a:solidFill>
                          <a:schemeClr val="bg2"/>
                        </a:solidFill>
                        <a:latin typeface="Cambria Math" panose="02040503050406030204" pitchFamily="18" charset="0"/>
                      </a:rPr>
                      <m:t>𝓁</m:t>
                    </m:r>
                  </m:oMath>
                </a14:m>
                <a:r>
                  <a:rPr lang="en-US" dirty="0">
                    <a:solidFill>
                      <a:schemeClr val="bg2"/>
                    </a:solidFill>
                  </a:rPr>
                  <a:t>, the state matrix is</a:t>
                </a:r>
              </a:p>
              <a:p>
                <a:pPr hangingPunct="0"/>
                <a:endParaRPr lang="en-US" dirty="0">
                  <a:solidFill>
                    <a:schemeClr val="bg2"/>
                  </a:solidFill>
                </a:endParaRPr>
              </a:p>
              <a:p>
                <a:pPr hangingPunct="0"/>
                <a:r>
                  <a:rPr lang="en-US" dirty="0">
                    <a:solidFill>
                      <a:schemeClr val="bg2"/>
                    </a:solidFill>
                  </a:rPr>
                  <a:t>	</a:t>
                </a:r>
                <a14:m>
                  <m:oMath xmlns:m="http://schemas.openxmlformats.org/officeDocument/2006/math">
                    <m:r>
                      <a:rPr lang="en-US" i="1">
                        <a:solidFill>
                          <a:schemeClr val="bg2"/>
                        </a:solidFill>
                        <a:latin typeface="Cambria Math" panose="02040503050406030204" pitchFamily="18" charset="0"/>
                      </a:rPr>
                      <m:t>𝐹</m:t>
                    </m:r>
                    <m:r>
                      <a:rPr lang="en-US" i="1">
                        <a:solidFill>
                          <a:schemeClr val="bg2"/>
                        </a:solidFill>
                        <a:latin typeface="Cambria Math" panose="02040503050406030204" pitchFamily="18" charset="0"/>
                      </a:rPr>
                      <m:t>=</m:t>
                    </m:r>
                    <m:d>
                      <m:dPr>
                        <m:begChr m:val="["/>
                        <m:endChr m:val="]"/>
                        <m:ctrlPr>
                          <a:rPr lang="en-US" i="1">
                            <a:solidFill>
                              <a:schemeClr val="bg2"/>
                            </a:solidFill>
                            <a:latin typeface="Cambria Math" panose="02040503050406030204" pitchFamily="18" charset="0"/>
                          </a:rPr>
                        </m:ctrlPr>
                      </m:dPr>
                      <m:e>
                        <m:m>
                          <m:mPr>
                            <m:plcHide m:val="on"/>
                            <m:mcs>
                              <m:mc>
                                <m:mcPr>
                                  <m:count m:val="3"/>
                                  <m:mcJc m:val="center"/>
                                </m:mcPr>
                              </m:mc>
                            </m:mcs>
                            <m:ctrlPr>
                              <a:rPr lang="en-US" i="1">
                                <a:solidFill>
                                  <a:schemeClr val="bg2"/>
                                </a:solidFill>
                                <a:latin typeface="Cambria Math" panose="02040503050406030204" pitchFamily="18" charset="0"/>
                              </a:rPr>
                            </m:ctrlPr>
                          </m:mPr>
                          <m:mr>
                            <m:e>
                              <m:r>
                                <a:rPr lang="en-US" i="1">
                                  <a:solidFill>
                                    <a:schemeClr val="bg2"/>
                                  </a:solidFill>
                                  <a:latin typeface="Cambria Math" panose="02040503050406030204" pitchFamily="18" charset="0"/>
                                </a:rPr>
                                <m:t>0</m:t>
                              </m:r>
                            </m:e>
                            <m:e>
                              <m:r>
                                <a:rPr lang="en-US" i="1">
                                  <a:solidFill>
                                    <a:schemeClr val="bg2"/>
                                  </a:solidFill>
                                  <a:latin typeface="Cambria Math" panose="02040503050406030204" pitchFamily="18" charset="0"/>
                                </a:rPr>
                                <m:t>1</m:t>
                              </m:r>
                            </m:e>
                            <m:e>
                              <m:r>
                                <a:rPr lang="en-US" i="1">
                                  <a:solidFill>
                                    <a:schemeClr val="bg2"/>
                                  </a:solidFill>
                                  <a:latin typeface="Cambria Math" panose="02040503050406030204" pitchFamily="18" charset="0"/>
                                </a:rPr>
                                <m:t>0</m:t>
                              </m:r>
                            </m:e>
                          </m:mr>
                          <m:mr>
                            <m:e>
                              <m:r>
                                <a:rPr lang="en-US" i="1">
                                  <a:solidFill>
                                    <a:schemeClr val="bg2"/>
                                  </a:solidFill>
                                  <a:latin typeface="Cambria Math" panose="02040503050406030204" pitchFamily="18" charset="0"/>
                                </a:rPr>
                                <m:t>0</m:t>
                              </m:r>
                            </m:e>
                            <m:e>
                              <m:r>
                                <a:rPr lang="en-US" i="1">
                                  <a:solidFill>
                                    <a:schemeClr val="bg2"/>
                                  </a:solidFill>
                                  <a:latin typeface="Cambria Math" panose="02040503050406030204" pitchFamily="18" charset="0"/>
                                </a:rPr>
                                <m:t>0</m:t>
                              </m:r>
                            </m:e>
                            <m:e>
                              <m:r>
                                <a:rPr lang="en-US" i="1">
                                  <a:solidFill>
                                    <a:schemeClr val="bg2"/>
                                  </a:solidFill>
                                  <a:latin typeface="Cambria Math" panose="02040503050406030204" pitchFamily="18" charset="0"/>
                                </a:rPr>
                                <m:t>1</m:t>
                              </m:r>
                            </m:e>
                          </m:mr>
                          <m:mr>
                            <m:e>
                              <m:r>
                                <a:rPr lang="en-US" i="1">
                                  <a:solidFill>
                                    <a:schemeClr val="bg2"/>
                                  </a:solidFill>
                                  <a:latin typeface="Cambria Math" panose="02040503050406030204" pitchFamily="18" charset="0"/>
                                </a:rPr>
                                <m:t>−</m:t>
                              </m:r>
                              <m:sSup>
                                <m:sSupPr>
                                  <m:ctrlPr>
                                    <a:rPr lang="en-US" i="1">
                                      <a:solidFill>
                                        <a:schemeClr val="bg2"/>
                                      </a:solidFill>
                                      <a:latin typeface="Cambria Math" panose="02040503050406030204" pitchFamily="18" charset="0"/>
                                    </a:rPr>
                                  </m:ctrlPr>
                                </m:sSupPr>
                                <m:e>
                                  <m:r>
                                    <a:rPr lang="en-US" i="1">
                                      <a:solidFill>
                                        <a:schemeClr val="bg2"/>
                                      </a:solidFill>
                                      <a:latin typeface="Cambria Math" panose="02040503050406030204" pitchFamily="18" charset="0"/>
                                    </a:rPr>
                                    <m:t>𝜆</m:t>
                                  </m:r>
                                </m:e>
                                <m:sup>
                                  <m:r>
                                    <a:rPr lang="en-US" i="1">
                                      <a:solidFill>
                                        <a:schemeClr val="bg2"/>
                                      </a:solidFill>
                                      <a:latin typeface="Cambria Math" panose="02040503050406030204" pitchFamily="18" charset="0"/>
                                    </a:rPr>
                                    <m:t>3</m:t>
                                  </m:r>
                                </m:sup>
                              </m:sSup>
                            </m:e>
                            <m:e>
                              <m:r>
                                <a:rPr lang="en-US" i="1">
                                  <a:solidFill>
                                    <a:schemeClr val="bg2"/>
                                  </a:solidFill>
                                  <a:latin typeface="Cambria Math" panose="02040503050406030204" pitchFamily="18" charset="0"/>
                                </a:rPr>
                                <m:t>−3</m:t>
                              </m:r>
                              <m:sSup>
                                <m:sSupPr>
                                  <m:ctrlPr>
                                    <a:rPr lang="en-US" i="1">
                                      <a:solidFill>
                                        <a:schemeClr val="bg2"/>
                                      </a:solidFill>
                                      <a:latin typeface="Cambria Math" panose="02040503050406030204" pitchFamily="18" charset="0"/>
                                    </a:rPr>
                                  </m:ctrlPr>
                                </m:sSupPr>
                                <m:e>
                                  <m:r>
                                    <a:rPr lang="en-US" i="1">
                                      <a:solidFill>
                                        <a:schemeClr val="bg2"/>
                                      </a:solidFill>
                                      <a:latin typeface="Cambria Math" panose="02040503050406030204" pitchFamily="18" charset="0"/>
                                    </a:rPr>
                                    <m:t>𝜆</m:t>
                                  </m:r>
                                </m:e>
                                <m:sup>
                                  <m:r>
                                    <a:rPr lang="en-US" i="1">
                                      <a:solidFill>
                                        <a:schemeClr val="bg2"/>
                                      </a:solidFill>
                                      <a:latin typeface="Cambria Math" panose="02040503050406030204" pitchFamily="18" charset="0"/>
                                    </a:rPr>
                                    <m:t>2</m:t>
                                  </m:r>
                                </m:sup>
                              </m:sSup>
                            </m:e>
                            <m:e>
                              <m:r>
                                <a:rPr lang="en-US" i="1">
                                  <a:solidFill>
                                    <a:schemeClr val="bg2"/>
                                  </a:solidFill>
                                  <a:latin typeface="Cambria Math" panose="02040503050406030204" pitchFamily="18" charset="0"/>
                                </a:rPr>
                                <m:t>−3</m:t>
                              </m:r>
                              <m:r>
                                <a:rPr lang="en-US" i="1">
                                  <a:solidFill>
                                    <a:schemeClr val="bg2"/>
                                  </a:solidFill>
                                  <a:latin typeface="Cambria Math" panose="02040503050406030204" pitchFamily="18" charset="0"/>
                                </a:rPr>
                                <m:t>𝜆</m:t>
                              </m:r>
                            </m:e>
                          </m:mr>
                        </m:m>
                      </m:e>
                    </m:d>
                  </m:oMath>
                </a14:m>
                <a:r>
                  <a:rPr lang="en-US" dirty="0">
                    <a:solidFill>
                      <a:schemeClr val="bg2"/>
                    </a:solidFill>
                  </a:rPr>
                  <a:t>			(3.1)</a:t>
                </a:r>
              </a:p>
              <a:p>
                <a:pPr hangingPunct="0"/>
                <a:endParaRPr lang="en-US" dirty="0">
                  <a:solidFill>
                    <a:schemeClr val="bg2"/>
                  </a:solidFill>
                </a:endParaRPr>
              </a:p>
              <a:p>
                <a:pPr hangingPunct="0"/>
                <a:r>
                  <a:rPr lang="en-US" dirty="0">
                    <a:solidFill>
                      <a:schemeClr val="bg2"/>
                    </a:solidFill>
                  </a:rPr>
                  <a:t>For signal scale </a:t>
                </a:r>
                <a14:m>
                  <m:oMath xmlns:m="http://schemas.openxmlformats.org/officeDocument/2006/math">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𝜎</m:t>
                        </m:r>
                      </m:e>
                      <m:sub>
                        <m:r>
                          <a:rPr lang="en-US" i="1">
                            <a:solidFill>
                              <a:schemeClr val="bg2"/>
                            </a:solidFill>
                            <a:latin typeface="Cambria Math" panose="02040503050406030204" pitchFamily="18" charset="0"/>
                          </a:rPr>
                          <m:t>𝑓</m:t>
                        </m:r>
                      </m:sub>
                    </m:sSub>
                  </m:oMath>
                </a14:m>
                <a:r>
                  <a:rPr lang="en-US" dirty="0">
                    <a:solidFill>
                      <a:schemeClr val="bg2"/>
                    </a:solidFill>
                  </a:rPr>
                  <a:t>, its spectral density is</a:t>
                </a:r>
              </a:p>
              <a:p>
                <a:pPr hangingPunct="0"/>
                <a:endParaRPr lang="en-US" dirty="0">
                  <a:solidFill>
                    <a:schemeClr val="bg2"/>
                  </a:solidFill>
                </a:endParaRPr>
              </a:p>
              <a:p>
                <a:pPr hangingPunct="0"/>
                <a:r>
                  <a:rPr lang="en-US" dirty="0">
                    <a:solidFill>
                      <a:schemeClr val="bg2"/>
                    </a:solidFill>
                  </a:rPr>
                  <a:t>	</a:t>
                </a:r>
                <a14:m>
                  <m:oMath xmlns:m="http://schemas.openxmlformats.org/officeDocument/2006/math">
                    <m:r>
                      <a:rPr lang="en-US" i="1">
                        <a:solidFill>
                          <a:schemeClr val="bg2"/>
                        </a:solidFill>
                        <a:latin typeface="Cambria Math" panose="02040503050406030204" pitchFamily="18" charset="0"/>
                      </a:rPr>
                      <m:t>𝑞</m:t>
                    </m:r>
                    <m:r>
                      <a:rPr lang="en-US" i="1">
                        <a:solidFill>
                          <a:schemeClr val="bg2"/>
                        </a:solidFill>
                        <a:latin typeface="Cambria Math" panose="02040503050406030204" pitchFamily="18" charset="0"/>
                      </a:rPr>
                      <m:t>=</m:t>
                    </m:r>
                    <m:sSubSup>
                      <m:sSubSupPr>
                        <m:ctrlPr>
                          <a:rPr lang="en-US" i="1">
                            <a:solidFill>
                              <a:schemeClr val="bg2"/>
                            </a:solidFill>
                            <a:latin typeface="Cambria Math" panose="02040503050406030204" pitchFamily="18" charset="0"/>
                          </a:rPr>
                        </m:ctrlPr>
                      </m:sSubSupPr>
                      <m:e>
                        <m:r>
                          <a:rPr lang="en-US" i="1">
                            <a:solidFill>
                              <a:schemeClr val="bg2"/>
                            </a:solidFill>
                            <a:latin typeface="Cambria Math" panose="02040503050406030204" pitchFamily="18" charset="0"/>
                          </a:rPr>
                          <m:t>𝜎</m:t>
                        </m:r>
                      </m:e>
                      <m:sub>
                        <m:r>
                          <a:rPr lang="en-US" i="1">
                            <a:solidFill>
                              <a:schemeClr val="bg2"/>
                            </a:solidFill>
                            <a:latin typeface="Cambria Math" panose="02040503050406030204" pitchFamily="18" charset="0"/>
                          </a:rPr>
                          <m:t>𝑓</m:t>
                        </m:r>
                      </m:sub>
                      <m:sup>
                        <m:r>
                          <a:rPr lang="en-US" i="1">
                            <a:solidFill>
                              <a:schemeClr val="bg2"/>
                            </a:solidFill>
                            <a:latin typeface="Cambria Math" panose="02040503050406030204" pitchFamily="18" charset="0"/>
                          </a:rPr>
                          <m:t>2</m:t>
                        </m:r>
                      </m:sup>
                    </m:sSubSup>
                    <m:f>
                      <m:fPr>
                        <m:ctrlPr>
                          <a:rPr lang="en-US" i="1">
                            <a:solidFill>
                              <a:schemeClr val="bg2"/>
                            </a:solidFill>
                            <a:latin typeface="Cambria Math" panose="02040503050406030204" pitchFamily="18" charset="0"/>
                          </a:rPr>
                        </m:ctrlPr>
                      </m:fPr>
                      <m:num>
                        <m:r>
                          <a:rPr lang="en-US" i="1">
                            <a:solidFill>
                              <a:schemeClr val="bg2"/>
                            </a:solidFill>
                            <a:latin typeface="Cambria Math" panose="02040503050406030204" pitchFamily="18" charset="0"/>
                          </a:rPr>
                          <m:t>16</m:t>
                        </m:r>
                      </m:num>
                      <m:den>
                        <m:r>
                          <a:rPr lang="en-US" i="1">
                            <a:solidFill>
                              <a:schemeClr val="bg2"/>
                            </a:solidFill>
                            <a:latin typeface="Cambria Math" panose="02040503050406030204" pitchFamily="18" charset="0"/>
                          </a:rPr>
                          <m:t>3</m:t>
                        </m:r>
                      </m:den>
                    </m:f>
                    <m:sSup>
                      <m:sSupPr>
                        <m:ctrlPr>
                          <a:rPr lang="en-US" i="1">
                            <a:solidFill>
                              <a:schemeClr val="bg2"/>
                            </a:solidFill>
                            <a:latin typeface="Cambria Math" panose="02040503050406030204" pitchFamily="18" charset="0"/>
                          </a:rPr>
                        </m:ctrlPr>
                      </m:sSupPr>
                      <m:e>
                        <m:r>
                          <a:rPr lang="en-US" i="1">
                            <a:solidFill>
                              <a:schemeClr val="bg2"/>
                            </a:solidFill>
                            <a:latin typeface="Cambria Math" panose="02040503050406030204" pitchFamily="18" charset="0"/>
                          </a:rPr>
                          <m:t>𝜆</m:t>
                        </m:r>
                      </m:e>
                      <m:sup>
                        <m:r>
                          <a:rPr lang="en-US" i="1">
                            <a:solidFill>
                              <a:schemeClr val="bg2"/>
                            </a:solidFill>
                            <a:latin typeface="Cambria Math" panose="02040503050406030204" pitchFamily="18" charset="0"/>
                          </a:rPr>
                          <m:t>5</m:t>
                        </m:r>
                      </m:sup>
                    </m:sSup>
                  </m:oMath>
                </a14:m>
                <a:r>
                  <a:rPr lang="en-US" dirty="0">
                    <a:solidFill>
                      <a:schemeClr val="bg2"/>
                    </a:solidFill>
                  </a:rPr>
                  <a:t>				(3.2)</a:t>
                </a:r>
              </a:p>
              <a:p>
                <a:pPr hangingPunct="0"/>
                <a:endParaRPr lang="en-US" dirty="0">
                  <a:solidFill>
                    <a:schemeClr val="bg2"/>
                  </a:solidFill>
                </a:endParaRPr>
              </a:p>
              <a:p>
                <a:pPr hangingPunct="0"/>
                <a:r>
                  <a:rPr lang="en-US" dirty="0">
                    <a:solidFill>
                      <a:schemeClr val="bg2"/>
                    </a:solidFill>
                  </a:rPr>
                  <a:t>	</a:t>
                </a:r>
                <a14:m>
                  <m:oMath xmlns:m="http://schemas.openxmlformats.org/officeDocument/2006/math">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𝑄</m:t>
                        </m:r>
                      </m:e>
                      <m:sub>
                        <m:r>
                          <a:rPr lang="en-US" i="1">
                            <a:solidFill>
                              <a:schemeClr val="bg2"/>
                            </a:solidFill>
                            <a:latin typeface="Cambria Math" panose="02040503050406030204" pitchFamily="18" charset="0"/>
                          </a:rPr>
                          <m:t>𝑐</m:t>
                        </m:r>
                      </m:sub>
                    </m:sSub>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𝑑𝑖𝑎𝑔</m:t>
                    </m:r>
                    <m:d>
                      <m:dPr>
                        <m:ctrlPr>
                          <a:rPr lang="en-US" i="1">
                            <a:solidFill>
                              <a:schemeClr val="bg2"/>
                            </a:solidFill>
                            <a:latin typeface="Cambria Math" panose="02040503050406030204" pitchFamily="18" charset="0"/>
                          </a:rPr>
                        </m:ctrlPr>
                      </m:dPr>
                      <m:e>
                        <m:r>
                          <a:rPr lang="en-US" i="1">
                            <a:solidFill>
                              <a:schemeClr val="bg2"/>
                            </a:solidFill>
                            <a:latin typeface="Cambria Math" panose="02040503050406030204" pitchFamily="18" charset="0"/>
                          </a:rPr>
                          <m:t>0,0,</m:t>
                        </m:r>
                        <m:r>
                          <a:rPr lang="en-US" i="1">
                            <a:solidFill>
                              <a:schemeClr val="bg2"/>
                            </a:solidFill>
                            <a:latin typeface="Cambria Math" panose="02040503050406030204" pitchFamily="18" charset="0"/>
                          </a:rPr>
                          <m:t>𝑞</m:t>
                        </m:r>
                      </m:e>
                    </m:d>
                  </m:oMath>
                </a14:m>
                <a:r>
                  <a:rPr lang="en-US" dirty="0">
                    <a:solidFill>
                      <a:schemeClr val="bg2"/>
                    </a:solidFill>
                  </a:rPr>
                  <a:t>				(3.3)</a:t>
                </a:r>
              </a:p>
              <a:p>
                <a:pPr hangingPunct="0"/>
                <a:endParaRPr lang="en-US" dirty="0">
                  <a:solidFill>
                    <a:schemeClr val="bg2"/>
                  </a:solidFill>
                </a:endParaRPr>
              </a:p>
              <a:p>
                <a:pPr hangingPunct="0"/>
                <a:r>
                  <a:rPr lang="en-US" dirty="0">
                    <a:solidFill>
                      <a:schemeClr val="bg2"/>
                    </a:solidFill>
                  </a:rPr>
                  <a:t>	</a:t>
                </a:r>
                <a14:m>
                  <m:oMath xmlns:m="http://schemas.openxmlformats.org/officeDocument/2006/math">
                    <m:r>
                      <a:rPr lang="en-US" i="1">
                        <a:solidFill>
                          <a:schemeClr val="bg2"/>
                        </a:solidFill>
                        <a:latin typeface="Cambria Math" panose="02040503050406030204" pitchFamily="18" charset="0"/>
                      </a:rPr>
                      <m:t>𝐹</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𝑃</m:t>
                        </m:r>
                      </m:e>
                      <m:sub>
                        <m:r>
                          <a:rPr lang="en-US" i="1">
                            <a:solidFill>
                              <a:schemeClr val="bg2"/>
                            </a:solidFill>
                            <a:latin typeface="Cambria Math" panose="02040503050406030204" pitchFamily="18" charset="0"/>
                          </a:rPr>
                          <m:t>∞</m:t>
                        </m:r>
                      </m:sub>
                    </m:sSub>
                    <m:r>
                      <a:rPr lang="en-US" i="1">
                        <a:solidFill>
                          <a:schemeClr val="bg2"/>
                        </a:solidFill>
                        <a:latin typeface="Cambria Math" panose="02040503050406030204" pitchFamily="18" charset="0"/>
                      </a:rPr>
                      <m:t>+</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𝑃</m:t>
                        </m:r>
                      </m:e>
                      <m:sub>
                        <m:r>
                          <a:rPr lang="en-US" i="1">
                            <a:solidFill>
                              <a:schemeClr val="bg2"/>
                            </a:solidFill>
                            <a:latin typeface="Cambria Math" panose="02040503050406030204" pitchFamily="18" charset="0"/>
                          </a:rPr>
                          <m:t>∞</m:t>
                        </m:r>
                      </m:sub>
                    </m:sSub>
                    <m:sSup>
                      <m:sSupPr>
                        <m:ctrlPr>
                          <a:rPr lang="en-US" i="1">
                            <a:solidFill>
                              <a:schemeClr val="bg2"/>
                            </a:solidFill>
                            <a:latin typeface="Cambria Math" panose="02040503050406030204" pitchFamily="18" charset="0"/>
                          </a:rPr>
                        </m:ctrlPr>
                      </m:sSupPr>
                      <m:e>
                        <m:r>
                          <a:rPr lang="en-US" i="1">
                            <a:solidFill>
                              <a:schemeClr val="bg2"/>
                            </a:solidFill>
                            <a:latin typeface="Cambria Math" panose="02040503050406030204" pitchFamily="18" charset="0"/>
                          </a:rPr>
                          <m:t>𝐹</m:t>
                        </m:r>
                      </m:e>
                      <m:sup>
                        <m:r>
                          <a:rPr lang="en-US" i="1">
                            <a:solidFill>
                              <a:schemeClr val="bg2"/>
                            </a:solidFill>
                            <a:latin typeface="Cambria Math" panose="02040503050406030204" pitchFamily="18" charset="0"/>
                          </a:rPr>
                          <m:t>𝘛</m:t>
                        </m:r>
                      </m:sup>
                    </m:sSup>
                    <m:r>
                      <a:rPr lang="en-US" i="1">
                        <a:solidFill>
                          <a:schemeClr val="bg2"/>
                        </a:solidFill>
                        <a:latin typeface="Cambria Math" panose="02040503050406030204" pitchFamily="18" charset="0"/>
                      </a:rPr>
                      <m:t>=−</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𝑄</m:t>
                        </m:r>
                      </m:e>
                      <m:sub>
                        <m:r>
                          <a:rPr lang="en-US" i="1">
                            <a:solidFill>
                              <a:schemeClr val="bg2"/>
                            </a:solidFill>
                            <a:latin typeface="Cambria Math" panose="02040503050406030204" pitchFamily="18" charset="0"/>
                          </a:rPr>
                          <m:t>𝑐</m:t>
                        </m:r>
                      </m:sub>
                    </m:sSub>
                  </m:oMath>
                </a14:m>
                <a:r>
                  <a:rPr lang="en-US" dirty="0">
                    <a:solidFill>
                      <a:schemeClr val="bg2"/>
                    </a:solidFill>
                  </a:rPr>
                  <a:t>			(3.4)</a:t>
                </a:r>
              </a:p>
              <a:p>
                <a:pPr hangingPunct="0"/>
                <a:endParaRPr lang="en-US" dirty="0">
                  <a:solidFill>
                    <a:schemeClr val="bg2"/>
                  </a:solidFill>
                </a:endParaRPr>
              </a:p>
              <a:p>
                <a:pPr hangingPunct="0"/>
                <a:endParaRPr lang="en-US" dirty="0">
                  <a:solidFill>
                    <a:schemeClr val="bg2"/>
                  </a:solidFill>
                </a:endParaRPr>
              </a:p>
              <a:p>
                <a:pPr hangingPunct="0"/>
                <a14:m>
                  <m:oMath xmlns:m="http://schemas.openxmlformats.org/officeDocument/2006/math">
                    <m:r>
                      <a:rPr lang="en-US" i="1">
                        <a:solidFill>
                          <a:schemeClr val="bg2"/>
                        </a:solidFill>
                        <a:latin typeface="Cambria Math" panose="02040503050406030204" pitchFamily="18" charset="0"/>
                      </a:rPr>
                      <m:t>𝐻</m:t>
                    </m:r>
                    <m:r>
                      <a:rPr lang="en-US" i="1">
                        <a:solidFill>
                          <a:schemeClr val="bg2"/>
                        </a:solidFill>
                        <a:latin typeface="Cambria Math" panose="02040503050406030204" pitchFamily="18" charset="0"/>
                      </a:rPr>
                      <m:t> = [1, 0, 0]</m:t>
                    </m:r>
                  </m:oMath>
                </a14:m>
                <a:r>
                  <a:rPr lang="en-US" dirty="0">
                    <a:solidFill>
                      <a:schemeClr val="bg2"/>
                    </a:solidFill>
                  </a:rPr>
                  <a:t> with </a:t>
                </a:r>
                <a14:m>
                  <m:oMath xmlns:m="http://schemas.openxmlformats.org/officeDocument/2006/math">
                    <m:r>
                      <a:rPr lang="en-US" i="1">
                        <a:solidFill>
                          <a:schemeClr val="bg2"/>
                        </a:solidFill>
                        <a:latin typeface="Cambria Math" panose="02040503050406030204" pitchFamily="18" charset="0"/>
                      </a:rPr>
                      <m:t>𝑅</m:t>
                    </m:r>
                    <m:r>
                      <a:rPr lang="en-US" i="1">
                        <a:solidFill>
                          <a:schemeClr val="bg2"/>
                        </a:solidFill>
                        <a:latin typeface="Cambria Math" panose="02040503050406030204" pitchFamily="18" charset="0"/>
                      </a:rPr>
                      <m:t> = </m:t>
                    </m:r>
                    <m:sSubSup>
                      <m:sSubSupPr>
                        <m:ctrlPr>
                          <a:rPr lang="en-US" i="1">
                            <a:solidFill>
                              <a:schemeClr val="bg2"/>
                            </a:solidFill>
                            <a:latin typeface="Cambria Math" panose="02040503050406030204" pitchFamily="18" charset="0"/>
                          </a:rPr>
                        </m:ctrlPr>
                      </m:sSubSupPr>
                      <m:e>
                        <m:r>
                          <a:rPr lang="en-US" i="1">
                            <a:solidFill>
                              <a:schemeClr val="bg2"/>
                            </a:solidFill>
                            <a:latin typeface="Cambria Math" panose="02040503050406030204" pitchFamily="18" charset="0"/>
                          </a:rPr>
                          <m:t>𝜎</m:t>
                        </m:r>
                      </m:e>
                      <m:sub>
                        <m:r>
                          <a:rPr lang="en-US" i="1">
                            <a:solidFill>
                              <a:schemeClr val="bg2"/>
                            </a:solidFill>
                            <a:latin typeface="Cambria Math" panose="02040503050406030204" pitchFamily="18" charset="0"/>
                          </a:rPr>
                          <m:t>𝑛</m:t>
                        </m:r>
                      </m:sub>
                      <m:sup>
                        <m:r>
                          <a:rPr lang="en-US" i="1">
                            <a:solidFill>
                              <a:schemeClr val="bg2"/>
                            </a:solidFill>
                            <a:latin typeface="Cambria Math" panose="02040503050406030204" pitchFamily="18" charset="0"/>
                          </a:rPr>
                          <m:t>2</m:t>
                        </m:r>
                      </m:sup>
                    </m:sSubSup>
                  </m:oMath>
                </a14:m>
                <a:r>
                  <a:rPr lang="en-US" dirty="0">
                    <a:solidFill>
                      <a:schemeClr val="bg2"/>
                    </a:solidFill>
                  </a:rPr>
                  <a:t>. </a:t>
                </a:r>
              </a:p>
              <a:p>
                <a:pPr hangingPunct="0"/>
                <a:r>
                  <a:rPr lang="en-US" dirty="0">
                    <a:solidFill>
                      <a:schemeClr val="bg2"/>
                    </a:solidFill>
                  </a:rPr>
                  <a:t>The fitted front-end parameters are </a:t>
                </a:r>
                <a14:m>
                  <m:oMath xmlns:m="http://schemas.openxmlformats.org/officeDocument/2006/math">
                    <m:r>
                      <a:rPr lang="en-US" i="1">
                        <a:solidFill>
                          <a:schemeClr val="bg2"/>
                        </a:solidFill>
                        <a:latin typeface="Cambria Math" panose="02040503050406030204" pitchFamily="18" charset="0"/>
                      </a:rPr>
                      <m:t>𝓁</m:t>
                    </m:r>
                  </m:oMath>
                </a14:m>
                <a:r>
                  <a:rPr lang="en-US" dirty="0">
                    <a:solidFill>
                      <a:schemeClr val="bg2"/>
                    </a:solidFill>
                  </a:rPr>
                  <a:t>, </a:t>
                </a:r>
                <a14:m>
                  <m:oMath xmlns:m="http://schemas.openxmlformats.org/officeDocument/2006/math">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𝜎</m:t>
                        </m:r>
                      </m:e>
                      <m:sub>
                        <m:r>
                          <a:rPr lang="en-US" i="1">
                            <a:solidFill>
                              <a:schemeClr val="bg2"/>
                            </a:solidFill>
                            <a:latin typeface="Cambria Math" panose="02040503050406030204" pitchFamily="18" charset="0"/>
                          </a:rPr>
                          <m:t>𝑓</m:t>
                        </m:r>
                      </m:sub>
                    </m:sSub>
                  </m:oMath>
                </a14:m>
                <a:r>
                  <a:rPr lang="en-US" dirty="0">
                    <a:solidFill>
                      <a:schemeClr val="bg2"/>
                    </a:solidFill>
                  </a:rPr>
                  <a:t>, and </a:t>
                </a:r>
                <a14:m>
                  <m:oMath xmlns:m="http://schemas.openxmlformats.org/officeDocument/2006/math">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𝜎</m:t>
                        </m:r>
                      </m:e>
                      <m:sub>
                        <m:r>
                          <a:rPr lang="en-US" i="1">
                            <a:solidFill>
                              <a:schemeClr val="bg2"/>
                            </a:solidFill>
                            <a:latin typeface="Cambria Math" panose="02040503050406030204" pitchFamily="18" charset="0"/>
                          </a:rPr>
                          <m:t>𝑛</m:t>
                        </m:r>
                      </m:sub>
                    </m:sSub>
                  </m:oMath>
                </a14:m>
                <a:r>
                  <a:rPr lang="en-US" dirty="0">
                    <a:solidFill>
                      <a:schemeClr val="bg2"/>
                    </a:solidFill>
                  </a:rPr>
                  <a:t>.</a:t>
                </a:r>
              </a:p>
            </p:txBody>
          </p:sp>
        </mc:Choice>
        <mc:Fallback xmlns="">
          <p:sp>
            <p:nvSpPr>
              <p:cNvPr id="16" name="TextBox 7">
                <a:extLst>
                  <a:ext uri="{FF2B5EF4-FFF2-40B4-BE49-F238E27FC236}">
                    <a16:creationId xmlns:a16="http://schemas.microsoft.com/office/drawing/2014/main" id="{0B7BFE4F-351F-A3B5-672F-73E9A23A7E00}"/>
                  </a:ext>
                </a:extLst>
              </p:cNvPr>
              <p:cNvSpPr txBox="1">
                <a:spLocks noRot="1" noChangeAspect="1" noMove="1" noResize="1" noEditPoints="1" noAdjustHandles="1" noChangeArrowheads="1" noChangeShapeType="1" noTextEdit="1"/>
              </p:cNvSpPr>
              <p:nvPr/>
            </p:nvSpPr>
            <p:spPr>
              <a:xfrm>
                <a:off x="1458179" y="3606958"/>
                <a:ext cx="7589100" cy="4796826"/>
              </a:xfrm>
              <a:prstGeom prst="rect">
                <a:avLst/>
              </a:prstGeom>
              <a:blipFill>
                <a:blip r:embed="rId6"/>
                <a:stretch>
                  <a:fillRect l="-1847" t="-1144" b="-15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7">
                <a:extLst>
                  <a:ext uri="{FF2B5EF4-FFF2-40B4-BE49-F238E27FC236}">
                    <a16:creationId xmlns:a16="http://schemas.microsoft.com/office/drawing/2014/main" id="{0D38A620-D5B5-0AF7-686A-E6BAF31ADEC7}"/>
                  </a:ext>
                </a:extLst>
              </p:cNvPr>
              <p:cNvSpPr txBox="1"/>
              <p:nvPr/>
            </p:nvSpPr>
            <p:spPr>
              <a:xfrm>
                <a:off x="9056278" y="3593480"/>
                <a:ext cx="8348495" cy="3254545"/>
              </a:xfrm>
              <a:prstGeom prst="rect">
                <a:avLst/>
              </a:prstGeom>
            </p:spPr>
            <p:txBody>
              <a:bodyPr wrap="square" lIns="0" tIns="0" rIns="0" bIns="0" rtlCol="0" anchor="t">
                <a:spAutoFit/>
              </a:bodyPr>
              <a:lstStyle/>
              <a:p>
                <a:pPr hangingPunct="0"/>
                <a:r>
                  <a:rPr lang="en-US" dirty="0">
                    <a:solidFill>
                      <a:schemeClr val="bg2"/>
                    </a:solidFill>
                  </a:rPr>
                  <a:t>The filter starts from </a:t>
                </a:r>
                <a14:m>
                  <m:oMath xmlns:m="http://schemas.openxmlformats.org/officeDocument/2006/math">
                    <m:r>
                      <a:rPr lang="en-US" i="1">
                        <a:solidFill>
                          <a:schemeClr val="bg2"/>
                        </a:solidFill>
                        <a:latin typeface="Cambria Math" panose="02040503050406030204" pitchFamily="18" charset="0"/>
                      </a:rPr>
                      <m:t>𝑥</m:t>
                    </m:r>
                    <m:r>
                      <a:rPr lang="en-US" i="1">
                        <a:solidFill>
                          <a:schemeClr val="bg2"/>
                        </a:solidFill>
                        <a:latin typeface="Cambria Math" panose="02040503050406030204" pitchFamily="18" charset="0"/>
                      </a:rPr>
                      <m:t>(0) = [</m:t>
                    </m:r>
                    <m:r>
                      <a:rPr lang="en-US" i="1">
                        <a:solidFill>
                          <a:schemeClr val="bg2"/>
                        </a:solidFill>
                        <a:latin typeface="Cambria Math" panose="02040503050406030204" pitchFamily="18" charset="0"/>
                      </a:rPr>
                      <m:t>𝑦</m:t>
                    </m:r>
                    <m:r>
                      <a:rPr lang="en-US" i="1">
                        <a:solidFill>
                          <a:schemeClr val="bg2"/>
                        </a:solidFill>
                        <a:latin typeface="Cambria Math" panose="02040503050406030204" pitchFamily="18" charset="0"/>
                      </a:rPr>
                      <m:t>(0), 0, 0]ᵀ</m:t>
                    </m:r>
                  </m:oMath>
                </a14:m>
                <a:r>
                  <a:rPr lang="en-US" dirty="0">
                    <a:solidFill>
                      <a:schemeClr val="bg2"/>
                    </a:solidFill>
                  </a:rPr>
                  <a:t> and covariance </a:t>
                </a:r>
                <a14:m>
                  <m:oMath xmlns:m="http://schemas.openxmlformats.org/officeDocument/2006/math">
                    <m:r>
                      <a:rPr lang="en-US" i="1">
                        <a:solidFill>
                          <a:schemeClr val="bg2"/>
                        </a:solidFill>
                        <a:latin typeface="Cambria Math" panose="02040503050406030204" pitchFamily="18" charset="0"/>
                      </a:rPr>
                      <m:t>𝑃</m:t>
                    </m:r>
                    <m:r>
                      <a:rPr lang="en-US" i="1">
                        <a:solidFill>
                          <a:schemeClr val="bg2"/>
                        </a:solidFill>
                        <a:latin typeface="Cambria Math" panose="02040503050406030204" pitchFamily="18" charset="0"/>
                      </a:rPr>
                      <m:t>∞</m:t>
                    </m:r>
                  </m:oMath>
                </a14:m>
                <a:r>
                  <a:rPr lang="en-US" dirty="0">
                    <a:solidFill>
                      <a:schemeClr val="bg2"/>
                    </a:solidFill>
                  </a:rPr>
                  <a:t>.</a:t>
                </a:r>
              </a:p>
              <a:p>
                <a:pPr hangingPunct="0"/>
                <a:endParaRPr lang="en-US" dirty="0">
                  <a:solidFill>
                    <a:schemeClr val="bg2"/>
                  </a:solidFill>
                </a:endParaRPr>
              </a:p>
              <a:p>
                <a:pPr hangingPunct="0"/>
                <a:r>
                  <a:rPr lang="en-US" dirty="0">
                    <a:solidFill>
                      <a:schemeClr val="bg2"/>
                    </a:solidFill>
                  </a:rPr>
                  <a:t> 	</a:t>
                </a:r>
                <a14:m>
                  <m:oMath xmlns:m="http://schemas.openxmlformats.org/officeDocument/2006/math">
                    <m:sSubSup>
                      <m:sSubSupPr>
                        <m:ctrlPr>
                          <a:rPr lang="en-US" i="1">
                            <a:solidFill>
                              <a:schemeClr val="bg2"/>
                            </a:solidFill>
                            <a:latin typeface="Cambria Math" panose="02040503050406030204" pitchFamily="18" charset="0"/>
                          </a:rPr>
                        </m:ctrlPr>
                      </m:sSubSupPr>
                      <m:e>
                        <m:r>
                          <a:rPr lang="en-US" i="1">
                            <a:solidFill>
                              <a:schemeClr val="bg2"/>
                            </a:solidFill>
                            <a:latin typeface="Cambria Math" panose="02040503050406030204" pitchFamily="18" charset="0"/>
                          </a:rPr>
                          <m:t>𝑥</m:t>
                        </m:r>
                      </m:e>
                      <m:sub>
                        <m:r>
                          <a:rPr lang="en-US" i="1">
                            <a:solidFill>
                              <a:schemeClr val="bg2"/>
                            </a:solidFill>
                            <a:latin typeface="Cambria Math" panose="02040503050406030204" pitchFamily="18" charset="0"/>
                          </a:rPr>
                          <m:t>𝑡</m:t>
                        </m:r>
                      </m:sub>
                      <m:sup>
                        <m:r>
                          <a:rPr lang="en-US" i="1">
                            <a:solidFill>
                              <a:schemeClr val="bg2"/>
                            </a:solidFill>
                            <a:latin typeface="Cambria Math" panose="02040503050406030204" pitchFamily="18" charset="0"/>
                          </a:rPr>
                          <m:t>−</m:t>
                        </m:r>
                      </m:sup>
                    </m:sSubSup>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𝐴</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𝑥</m:t>
                        </m:r>
                      </m:e>
                      <m:sub>
                        <m:r>
                          <a:rPr lang="en-US" i="1">
                            <a:solidFill>
                              <a:schemeClr val="bg2"/>
                            </a:solidFill>
                            <a:latin typeface="Cambria Math" panose="02040503050406030204" pitchFamily="18" charset="0"/>
                          </a:rPr>
                          <m:t>𝑡</m:t>
                        </m:r>
                        <m:r>
                          <a:rPr lang="en-US" i="1">
                            <a:solidFill>
                              <a:schemeClr val="bg2"/>
                            </a:solidFill>
                            <a:latin typeface="Cambria Math" panose="02040503050406030204" pitchFamily="18" charset="0"/>
                          </a:rPr>
                          <m:t>−1</m:t>
                        </m:r>
                      </m:sub>
                    </m:sSub>
                    <m:r>
                      <a:rPr lang="en-US" i="1">
                        <a:solidFill>
                          <a:schemeClr val="bg2"/>
                        </a:solidFill>
                        <a:latin typeface="Cambria Math" panose="02040503050406030204" pitchFamily="18" charset="0"/>
                      </a:rPr>
                      <m:t>,  </m:t>
                    </m:r>
                    <m:sSubSup>
                      <m:sSubSupPr>
                        <m:ctrlPr>
                          <a:rPr lang="en-US" i="1">
                            <a:solidFill>
                              <a:schemeClr val="bg2"/>
                            </a:solidFill>
                            <a:latin typeface="Cambria Math" panose="02040503050406030204" pitchFamily="18" charset="0"/>
                          </a:rPr>
                        </m:ctrlPr>
                      </m:sSubSupPr>
                      <m:e>
                        <m:r>
                          <a:rPr lang="en-US" i="1">
                            <a:solidFill>
                              <a:schemeClr val="bg2"/>
                            </a:solidFill>
                            <a:latin typeface="Cambria Math" panose="02040503050406030204" pitchFamily="18" charset="0"/>
                          </a:rPr>
                          <m:t>𝑃</m:t>
                        </m:r>
                      </m:e>
                      <m:sub>
                        <m:r>
                          <a:rPr lang="en-US" i="1">
                            <a:solidFill>
                              <a:schemeClr val="bg2"/>
                            </a:solidFill>
                            <a:latin typeface="Cambria Math" panose="02040503050406030204" pitchFamily="18" charset="0"/>
                          </a:rPr>
                          <m:t>𝑡</m:t>
                        </m:r>
                      </m:sub>
                      <m:sup>
                        <m:r>
                          <a:rPr lang="en-US" i="1">
                            <a:solidFill>
                              <a:schemeClr val="bg2"/>
                            </a:solidFill>
                            <a:latin typeface="Cambria Math" panose="02040503050406030204" pitchFamily="18" charset="0"/>
                          </a:rPr>
                          <m:t>−</m:t>
                        </m:r>
                      </m:sup>
                    </m:sSubSup>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𝐴</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𝑃</m:t>
                        </m:r>
                      </m:e>
                      <m:sub>
                        <m:r>
                          <a:rPr lang="en-US" i="1">
                            <a:solidFill>
                              <a:schemeClr val="bg2"/>
                            </a:solidFill>
                            <a:latin typeface="Cambria Math" panose="02040503050406030204" pitchFamily="18" charset="0"/>
                          </a:rPr>
                          <m:t>𝑡</m:t>
                        </m:r>
                        <m:r>
                          <a:rPr lang="en-US" i="1">
                            <a:solidFill>
                              <a:schemeClr val="bg2"/>
                            </a:solidFill>
                            <a:latin typeface="Cambria Math" panose="02040503050406030204" pitchFamily="18" charset="0"/>
                          </a:rPr>
                          <m:t>−1</m:t>
                        </m:r>
                      </m:sub>
                    </m:sSub>
                    <m:sSup>
                      <m:sSupPr>
                        <m:ctrlPr>
                          <a:rPr lang="en-US" i="1">
                            <a:solidFill>
                              <a:schemeClr val="bg2"/>
                            </a:solidFill>
                            <a:latin typeface="Cambria Math" panose="02040503050406030204" pitchFamily="18" charset="0"/>
                          </a:rPr>
                        </m:ctrlPr>
                      </m:sSupPr>
                      <m:e>
                        <m:r>
                          <a:rPr lang="en-US" i="1">
                            <a:solidFill>
                              <a:schemeClr val="bg2"/>
                            </a:solidFill>
                            <a:latin typeface="Cambria Math" panose="02040503050406030204" pitchFamily="18" charset="0"/>
                          </a:rPr>
                          <m:t>𝐴</m:t>
                        </m:r>
                      </m:e>
                      <m:sup>
                        <m:r>
                          <a:rPr lang="en-US" i="1">
                            <a:solidFill>
                              <a:schemeClr val="bg2"/>
                            </a:solidFill>
                            <a:latin typeface="Cambria Math" panose="02040503050406030204" pitchFamily="18" charset="0"/>
                          </a:rPr>
                          <m:t>𝘛</m:t>
                        </m:r>
                      </m:sup>
                    </m:sSup>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𝑄</m:t>
                    </m:r>
                  </m:oMath>
                </a14:m>
                <a:r>
                  <a:rPr lang="en-US" dirty="0">
                    <a:solidFill>
                      <a:schemeClr val="bg2"/>
                    </a:solidFill>
                  </a:rPr>
                  <a:t>				(3.5)</a:t>
                </a:r>
              </a:p>
              <a:p>
                <a:pPr hangingPunct="0"/>
                <a:endParaRPr lang="en-US" dirty="0">
                  <a:solidFill>
                    <a:schemeClr val="bg2"/>
                  </a:solidFill>
                </a:endParaRPr>
              </a:p>
              <a:p>
                <a:pPr hangingPunct="0"/>
                <a:r>
                  <a:rPr lang="en-US" dirty="0">
                    <a:solidFill>
                      <a:schemeClr val="bg2"/>
                    </a:solidFill>
                  </a:rPr>
                  <a:t>	</a:t>
                </a:r>
                <a14:m>
                  <m:oMath xmlns:m="http://schemas.openxmlformats.org/officeDocument/2006/math">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𝑆</m:t>
                        </m:r>
                      </m:e>
                      <m:sub>
                        <m:r>
                          <a:rPr lang="en-US" i="1">
                            <a:solidFill>
                              <a:schemeClr val="bg2"/>
                            </a:solidFill>
                            <a:latin typeface="Cambria Math" panose="02040503050406030204" pitchFamily="18" charset="0"/>
                          </a:rPr>
                          <m:t>𝑡</m:t>
                        </m:r>
                      </m:sub>
                    </m:sSub>
                    <m:r>
                      <a:rPr lang="en-US">
                        <a:solidFill>
                          <a:schemeClr val="bg2"/>
                        </a:solidFill>
                        <a:latin typeface="Cambria Math" panose="02040503050406030204" pitchFamily="18" charset="0"/>
                      </a:rPr>
                      <m:t>=</m:t>
                    </m:r>
                    <m:r>
                      <a:rPr lang="en-US" i="1">
                        <a:solidFill>
                          <a:schemeClr val="bg2"/>
                        </a:solidFill>
                        <a:latin typeface="Cambria Math" panose="02040503050406030204" pitchFamily="18" charset="0"/>
                      </a:rPr>
                      <m:t>𝐻</m:t>
                    </m:r>
                    <m:sSubSup>
                      <m:sSubSupPr>
                        <m:ctrlPr>
                          <a:rPr lang="en-US" i="1">
                            <a:solidFill>
                              <a:schemeClr val="bg2"/>
                            </a:solidFill>
                            <a:latin typeface="Cambria Math" panose="02040503050406030204" pitchFamily="18" charset="0"/>
                          </a:rPr>
                        </m:ctrlPr>
                      </m:sSubSupPr>
                      <m:e>
                        <m:r>
                          <a:rPr lang="en-US" i="1">
                            <a:solidFill>
                              <a:schemeClr val="bg2"/>
                            </a:solidFill>
                            <a:latin typeface="Cambria Math" panose="02040503050406030204" pitchFamily="18" charset="0"/>
                          </a:rPr>
                          <m:t>𝑃</m:t>
                        </m:r>
                      </m:e>
                      <m:sub>
                        <m:r>
                          <a:rPr lang="en-US" i="1">
                            <a:solidFill>
                              <a:schemeClr val="bg2"/>
                            </a:solidFill>
                            <a:latin typeface="Cambria Math" panose="02040503050406030204" pitchFamily="18" charset="0"/>
                          </a:rPr>
                          <m:t>𝑡</m:t>
                        </m:r>
                      </m:sub>
                      <m:sup>
                        <m:r>
                          <a:rPr lang="en-US">
                            <a:solidFill>
                              <a:schemeClr val="bg2"/>
                            </a:solidFill>
                            <a:latin typeface="Cambria Math" panose="02040503050406030204" pitchFamily="18" charset="0"/>
                          </a:rPr>
                          <m:t>−</m:t>
                        </m:r>
                      </m:sup>
                    </m:sSubSup>
                    <m:sSup>
                      <m:sSupPr>
                        <m:ctrlPr>
                          <a:rPr lang="en-US" i="1">
                            <a:solidFill>
                              <a:schemeClr val="bg2"/>
                            </a:solidFill>
                            <a:latin typeface="Cambria Math" panose="02040503050406030204" pitchFamily="18" charset="0"/>
                          </a:rPr>
                        </m:ctrlPr>
                      </m:sSupPr>
                      <m:e>
                        <m:r>
                          <a:rPr lang="en-US" i="1">
                            <a:solidFill>
                              <a:schemeClr val="bg2"/>
                            </a:solidFill>
                            <a:latin typeface="Cambria Math" panose="02040503050406030204" pitchFamily="18" charset="0"/>
                          </a:rPr>
                          <m:t>𝐻</m:t>
                        </m:r>
                      </m:e>
                      <m:sup>
                        <m:r>
                          <a:rPr lang="en-US">
                            <a:solidFill>
                              <a:schemeClr val="bg2"/>
                            </a:solidFill>
                            <a:latin typeface="Cambria Math" panose="02040503050406030204" pitchFamily="18" charset="0"/>
                          </a:rPr>
                          <m:t>𝖳</m:t>
                        </m:r>
                      </m:sup>
                    </m:sSup>
                    <m:r>
                      <a:rPr lang="en-US">
                        <a:solidFill>
                          <a:schemeClr val="bg2"/>
                        </a:solidFill>
                        <a:latin typeface="Cambria Math" panose="02040503050406030204" pitchFamily="18" charset="0"/>
                      </a:rPr>
                      <m:t>+</m:t>
                    </m:r>
                    <m:r>
                      <a:rPr lang="en-US" i="1">
                        <a:solidFill>
                          <a:schemeClr val="bg2"/>
                        </a:solidFill>
                        <a:latin typeface="Cambria Math" panose="02040503050406030204" pitchFamily="18" charset="0"/>
                      </a:rPr>
                      <m:t>𝑅</m:t>
                    </m:r>
                    <m:r>
                      <a:rPr lang="en-US">
                        <a:solidFill>
                          <a:schemeClr val="bg2"/>
                        </a:solidFill>
                        <a:latin typeface="Cambria Math" panose="02040503050406030204" pitchFamily="18" charset="0"/>
                      </a:rPr>
                      <m:t>,</m:t>
                    </m:r>
                    <m:r>
                      <a:rPr lang="en-US" i="1">
                        <a:solidFill>
                          <a:schemeClr val="bg2"/>
                        </a:solidFill>
                        <a:latin typeface="Cambria Math" panose="02040503050406030204" pitchFamily="18" charset="0"/>
                      </a:rPr>
                      <m:t>  </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𝐾</m:t>
                        </m:r>
                      </m:e>
                      <m:sub>
                        <m:r>
                          <a:rPr lang="en-US" i="1">
                            <a:solidFill>
                              <a:schemeClr val="bg2"/>
                            </a:solidFill>
                            <a:latin typeface="Cambria Math" panose="02040503050406030204" pitchFamily="18" charset="0"/>
                          </a:rPr>
                          <m:t>𝑡</m:t>
                        </m:r>
                      </m:sub>
                    </m:sSub>
                    <m:r>
                      <a:rPr lang="en-US">
                        <a:solidFill>
                          <a:schemeClr val="bg2"/>
                        </a:solidFill>
                        <a:latin typeface="Cambria Math" panose="02040503050406030204" pitchFamily="18" charset="0"/>
                      </a:rPr>
                      <m:t>=</m:t>
                    </m:r>
                    <m:f>
                      <m:fPr>
                        <m:ctrlPr>
                          <a:rPr lang="en-US" i="1">
                            <a:solidFill>
                              <a:schemeClr val="bg2"/>
                            </a:solidFill>
                            <a:latin typeface="Cambria Math" panose="02040503050406030204" pitchFamily="18" charset="0"/>
                          </a:rPr>
                        </m:ctrlPr>
                      </m:fPr>
                      <m:num>
                        <m:sSubSup>
                          <m:sSubSupPr>
                            <m:ctrlPr>
                              <a:rPr lang="en-US" i="1">
                                <a:solidFill>
                                  <a:schemeClr val="bg2"/>
                                </a:solidFill>
                                <a:latin typeface="Cambria Math" panose="02040503050406030204" pitchFamily="18" charset="0"/>
                              </a:rPr>
                            </m:ctrlPr>
                          </m:sSubSupPr>
                          <m:e>
                            <m:r>
                              <a:rPr lang="en-US" i="1">
                                <a:solidFill>
                                  <a:schemeClr val="bg2"/>
                                </a:solidFill>
                                <a:latin typeface="Cambria Math" panose="02040503050406030204" pitchFamily="18" charset="0"/>
                              </a:rPr>
                              <m:t>𝑃</m:t>
                            </m:r>
                          </m:e>
                          <m:sub>
                            <m:r>
                              <a:rPr lang="en-US" i="1">
                                <a:solidFill>
                                  <a:schemeClr val="bg2"/>
                                </a:solidFill>
                                <a:latin typeface="Cambria Math" panose="02040503050406030204" pitchFamily="18" charset="0"/>
                              </a:rPr>
                              <m:t>𝑡</m:t>
                            </m:r>
                          </m:sub>
                          <m:sup>
                            <m:r>
                              <a:rPr lang="en-US">
                                <a:solidFill>
                                  <a:schemeClr val="bg2"/>
                                </a:solidFill>
                                <a:latin typeface="Cambria Math" panose="02040503050406030204" pitchFamily="18" charset="0"/>
                              </a:rPr>
                              <m:t>−</m:t>
                            </m:r>
                          </m:sup>
                        </m:sSubSup>
                        <m:sSup>
                          <m:sSupPr>
                            <m:ctrlPr>
                              <a:rPr lang="en-US" i="1">
                                <a:solidFill>
                                  <a:schemeClr val="bg2"/>
                                </a:solidFill>
                                <a:latin typeface="Cambria Math" panose="02040503050406030204" pitchFamily="18" charset="0"/>
                              </a:rPr>
                            </m:ctrlPr>
                          </m:sSupPr>
                          <m:e>
                            <m:r>
                              <a:rPr lang="en-US" i="1">
                                <a:solidFill>
                                  <a:schemeClr val="bg2"/>
                                </a:solidFill>
                                <a:latin typeface="Cambria Math" panose="02040503050406030204" pitchFamily="18" charset="0"/>
                              </a:rPr>
                              <m:t>𝐻</m:t>
                            </m:r>
                          </m:e>
                          <m:sup>
                            <m:r>
                              <a:rPr lang="en-US">
                                <a:solidFill>
                                  <a:schemeClr val="bg2"/>
                                </a:solidFill>
                                <a:latin typeface="Cambria Math" panose="02040503050406030204" pitchFamily="18" charset="0"/>
                              </a:rPr>
                              <m:t>𝖳</m:t>
                            </m:r>
                          </m:sup>
                        </m:sSup>
                      </m:num>
                      <m:den>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𝑆</m:t>
                            </m:r>
                          </m:e>
                          <m:sub>
                            <m:r>
                              <a:rPr lang="en-US" i="1">
                                <a:solidFill>
                                  <a:schemeClr val="bg2"/>
                                </a:solidFill>
                                <a:latin typeface="Cambria Math" panose="02040503050406030204" pitchFamily="18" charset="0"/>
                              </a:rPr>
                              <m:t>𝑡</m:t>
                            </m:r>
                          </m:sub>
                        </m:sSub>
                      </m:den>
                    </m:f>
                  </m:oMath>
                </a14:m>
                <a:r>
                  <a:rPr lang="en-US" dirty="0">
                    <a:solidFill>
                      <a:schemeClr val="bg2"/>
                    </a:solidFill>
                  </a:rPr>
                  <a:t>				(3.6)</a:t>
                </a:r>
              </a:p>
              <a:p>
                <a:pPr hangingPunct="0"/>
                <a:endParaRPr lang="en-US" dirty="0">
                  <a:solidFill>
                    <a:schemeClr val="bg2"/>
                  </a:solidFill>
                </a:endParaRPr>
              </a:p>
              <a:p>
                <a:pPr hangingPunct="0"/>
                <a:r>
                  <a:rPr lang="en-US" dirty="0">
                    <a:solidFill>
                      <a:schemeClr val="bg2"/>
                    </a:solidFill>
                  </a:rPr>
                  <a:t>	</a:t>
                </a:r>
                <a14:m>
                  <m:oMath xmlns:m="http://schemas.openxmlformats.org/officeDocument/2006/math">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𝜄</m:t>
                        </m:r>
                      </m:e>
                      <m:sub>
                        <m:r>
                          <a:rPr lang="en-US" i="1">
                            <a:solidFill>
                              <a:schemeClr val="bg2"/>
                            </a:solidFill>
                            <a:latin typeface="Cambria Math" panose="02040503050406030204" pitchFamily="18" charset="0"/>
                          </a:rPr>
                          <m:t>𝑡</m:t>
                        </m:r>
                      </m:sub>
                    </m:sSub>
                    <m:r>
                      <a:rPr lang="en-US">
                        <a:solidFill>
                          <a:schemeClr val="bg2"/>
                        </a:solidFill>
                        <a:latin typeface="Cambria Math" panose="02040503050406030204" pitchFamily="18" charset="0"/>
                      </a:rPr>
                      <m:t>=</m:t>
                    </m:r>
                    <m:r>
                      <a:rPr lang="en-US" i="1">
                        <a:solidFill>
                          <a:schemeClr val="bg2"/>
                        </a:solidFill>
                        <a:latin typeface="Cambria Math" panose="02040503050406030204" pitchFamily="18" charset="0"/>
                      </a:rPr>
                      <m:t>𝑦</m:t>
                    </m:r>
                    <m:d>
                      <m:dPr>
                        <m:ctrlPr>
                          <a:rPr lang="en-US" i="1">
                            <a:solidFill>
                              <a:schemeClr val="bg2"/>
                            </a:solidFill>
                            <a:latin typeface="Cambria Math" panose="02040503050406030204" pitchFamily="18" charset="0"/>
                          </a:rPr>
                        </m:ctrlPr>
                      </m:dPr>
                      <m:e>
                        <m:r>
                          <a:rPr lang="en-US" i="1">
                            <a:solidFill>
                              <a:schemeClr val="bg2"/>
                            </a:solidFill>
                            <a:latin typeface="Cambria Math" panose="02040503050406030204" pitchFamily="18" charset="0"/>
                          </a:rPr>
                          <m:t>𝑡</m:t>
                        </m:r>
                      </m:e>
                    </m:d>
                    <m:r>
                      <a:rPr lang="en-US">
                        <a:solidFill>
                          <a:schemeClr val="bg2"/>
                        </a:solidFill>
                        <a:latin typeface="Cambria Math" panose="02040503050406030204" pitchFamily="18" charset="0"/>
                      </a:rPr>
                      <m:t>−</m:t>
                    </m:r>
                    <m:r>
                      <a:rPr lang="en-US" i="1">
                        <a:solidFill>
                          <a:schemeClr val="bg2"/>
                        </a:solidFill>
                        <a:latin typeface="Cambria Math" panose="02040503050406030204" pitchFamily="18" charset="0"/>
                      </a:rPr>
                      <m:t>𝐻</m:t>
                    </m:r>
                    <m:sSubSup>
                      <m:sSubSupPr>
                        <m:ctrlPr>
                          <a:rPr lang="en-US" i="1">
                            <a:solidFill>
                              <a:schemeClr val="bg2"/>
                            </a:solidFill>
                            <a:latin typeface="Cambria Math" panose="02040503050406030204" pitchFamily="18" charset="0"/>
                          </a:rPr>
                        </m:ctrlPr>
                      </m:sSubSupPr>
                      <m:e>
                        <m:r>
                          <a:rPr lang="en-US" i="1">
                            <a:solidFill>
                              <a:schemeClr val="bg2"/>
                            </a:solidFill>
                            <a:latin typeface="Cambria Math" panose="02040503050406030204" pitchFamily="18" charset="0"/>
                          </a:rPr>
                          <m:t>𝑥</m:t>
                        </m:r>
                      </m:e>
                      <m:sub>
                        <m:r>
                          <a:rPr lang="en-US" i="1">
                            <a:solidFill>
                              <a:schemeClr val="bg2"/>
                            </a:solidFill>
                            <a:latin typeface="Cambria Math" panose="02040503050406030204" pitchFamily="18" charset="0"/>
                          </a:rPr>
                          <m:t>𝑡</m:t>
                        </m:r>
                      </m:sub>
                      <m:sup>
                        <m:r>
                          <a:rPr lang="en-US">
                            <a:solidFill>
                              <a:schemeClr val="bg2"/>
                            </a:solidFill>
                            <a:latin typeface="Cambria Math" panose="02040503050406030204" pitchFamily="18" charset="0"/>
                          </a:rPr>
                          <m:t>−</m:t>
                        </m:r>
                      </m:sup>
                    </m:sSubSup>
                    <m:r>
                      <a:rPr lang="en-US">
                        <a:solidFill>
                          <a:schemeClr val="bg2"/>
                        </a:solidFill>
                        <a:latin typeface="Cambria Math" panose="02040503050406030204" pitchFamily="18" charset="0"/>
                      </a:rPr>
                      <m:t>,</m:t>
                    </m:r>
                    <m:r>
                      <a:rPr lang="en-US" i="1">
                        <a:solidFill>
                          <a:schemeClr val="bg2"/>
                        </a:solidFill>
                        <a:latin typeface="Cambria Math" panose="02040503050406030204" pitchFamily="18" charset="0"/>
                      </a:rPr>
                      <m:t>  </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𝑥</m:t>
                        </m:r>
                      </m:e>
                      <m:sub>
                        <m:r>
                          <a:rPr lang="en-US" i="1">
                            <a:solidFill>
                              <a:schemeClr val="bg2"/>
                            </a:solidFill>
                            <a:latin typeface="Cambria Math" panose="02040503050406030204" pitchFamily="18" charset="0"/>
                          </a:rPr>
                          <m:t>𝑡</m:t>
                        </m:r>
                      </m:sub>
                    </m:sSub>
                    <m:r>
                      <a:rPr lang="en-US">
                        <a:solidFill>
                          <a:schemeClr val="bg2"/>
                        </a:solidFill>
                        <a:latin typeface="Cambria Math" panose="02040503050406030204" pitchFamily="18" charset="0"/>
                      </a:rPr>
                      <m:t>=</m:t>
                    </m:r>
                    <m:sSubSup>
                      <m:sSubSupPr>
                        <m:ctrlPr>
                          <a:rPr lang="en-US" i="1">
                            <a:solidFill>
                              <a:schemeClr val="bg2"/>
                            </a:solidFill>
                            <a:latin typeface="Cambria Math" panose="02040503050406030204" pitchFamily="18" charset="0"/>
                          </a:rPr>
                        </m:ctrlPr>
                      </m:sSubSupPr>
                      <m:e>
                        <m:r>
                          <a:rPr lang="en-US" i="1">
                            <a:solidFill>
                              <a:schemeClr val="bg2"/>
                            </a:solidFill>
                            <a:latin typeface="Cambria Math" panose="02040503050406030204" pitchFamily="18" charset="0"/>
                          </a:rPr>
                          <m:t>𝑥</m:t>
                        </m:r>
                      </m:e>
                      <m:sub>
                        <m:r>
                          <a:rPr lang="en-US" i="1">
                            <a:solidFill>
                              <a:schemeClr val="bg2"/>
                            </a:solidFill>
                            <a:latin typeface="Cambria Math" panose="02040503050406030204" pitchFamily="18" charset="0"/>
                          </a:rPr>
                          <m:t>𝑡</m:t>
                        </m:r>
                      </m:sub>
                      <m:sup>
                        <m:r>
                          <a:rPr lang="en-US">
                            <a:solidFill>
                              <a:schemeClr val="bg2"/>
                            </a:solidFill>
                            <a:latin typeface="Cambria Math" panose="02040503050406030204" pitchFamily="18" charset="0"/>
                          </a:rPr>
                          <m:t>−</m:t>
                        </m:r>
                      </m:sup>
                    </m:sSubSup>
                    <m:r>
                      <a:rPr lang="en-US">
                        <a:solidFill>
                          <a:schemeClr val="bg2"/>
                        </a:solidFill>
                        <a:latin typeface="Cambria Math" panose="02040503050406030204" pitchFamily="18" charset="0"/>
                      </a:rPr>
                      <m:t>+</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𝐾</m:t>
                        </m:r>
                      </m:e>
                      <m:sub>
                        <m:r>
                          <a:rPr lang="en-US" i="1">
                            <a:solidFill>
                              <a:schemeClr val="bg2"/>
                            </a:solidFill>
                            <a:latin typeface="Cambria Math" panose="02040503050406030204" pitchFamily="18" charset="0"/>
                          </a:rPr>
                          <m:t>𝑡</m:t>
                        </m:r>
                      </m:sub>
                    </m:sSub>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𝜄</m:t>
                        </m:r>
                      </m:e>
                      <m:sub>
                        <m:r>
                          <a:rPr lang="en-US" i="1">
                            <a:solidFill>
                              <a:schemeClr val="bg2"/>
                            </a:solidFill>
                            <a:latin typeface="Cambria Math" panose="02040503050406030204" pitchFamily="18" charset="0"/>
                          </a:rPr>
                          <m:t>𝑡</m:t>
                        </m:r>
                      </m:sub>
                    </m:sSub>
                  </m:oMath>
                </a14:m>
                <a:r>
                  <a:rPr lang="en-US" dirty="0">
                    <a:solidFill>
                      <a:schemeClr val="bg2"/>
                    </a:solidFill>
                  </a:rPr>
                  <a:t>				(3.7)</a:t>
                </a:r>
              </a:p>
              <a:p>
                <a:pPr hangingPunct="0"/>
                <a:endParaRPr lang="en-US" dirty="0">
                  <a:solidFill>
                    <a:schemeClr val="bg2"/>
                  </a:solidFill>
                </a:endParaRPr>
              </a:p>
              <a:p>
                <a:pPr hangingPunct="0"/>
                <a:r>
                  <a:rPr lang="en-US" dirty="0">
                    <a:solidFill>
                      <a:schemeClr val="bg2"/>
                    </a:solidFill>
                  </a:rPr>
                  <a:t>	</a:t>
                </a:r>
                <a14:m>
                  <m:oMath xmlns:m="http://schemas.openxmlformats.org/officeDocument/2006/math">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𝑃</m:t>
                        </m:r>
                      </m:e>
                      <m:sub>
                        <m:r>
                          <a:rPr lang="en-US" i="1">
                            <a:solidFill>
                              <a:schemeClr val="bg2"/>
                            </a:solidFill>
                            <a:latin typeface="Cambria Math" panose="02040503050406030204" pitchFamily="18" charset="0"/>
                          </a:rPr>
                          <m:t>𝑡</m:t>
                        </m:r>
                      </m:sub>
                    </m:sSub>
                    <m:r>
                      <a:rPr lang="en-US">
                        <a:solidFill>
                          <a:schemeClr val="bg2"/>
                        </a:solidFill>
                        <a:latin typeface="Cambria Math" panose="02040503050406030204" pitchFamily="18" charset="0"/>
                      </a:rPr>
                      <m:t>=</m:t>
                    </m:r>
                    <m:sSubSup>
                      <m:sSubSupPr>
                        <m:ctrlPr>
                          <a:rPr lang="en-US" i="1">
                            <a:solidFill>
                              <a:schemeClr val="bg2"/>
                            </a:solidFill>
                            <a:latin typeface="Cambria Math" panose="02040503050406030204" pitchFamily="18" charset="0"/>
                          </a:rPr>
                        </m:ctrlPr>
                      </m:sSubSupPr>
                      <m:e>
                        <m:r>
                          <a:rPr lang="en-US" i="1">
                            <a:solidFill>
                              <a:schemeClr val="bg2"/>
                            </a:solidFill>
                            <a:latin typeface="Cambria Math" panose="02040503050406030204" pitchFamily="18" charset="0"/>
                          </a:rPr>
                          <m:t>𝑃</m:t>
                        </m:r>
                      </m:e>
                      <m:sub>
                        <m:r>
                          <a:rPr lang="en-US" i="1">
                            <a:solidFill>
                              <a:schemeClr val="bg2"/>
                            </a:solidFill>
                            <a:latin typeface="Cambria Math" panose="02040503050406030204" pitchFamily="18" charset="0"/>
                          </a:rPr>
                          <m:t>𝑡</m:t>
                        </m:r>
                      </m:sub>
                      <m:sup>
                        <m:r>
                          <a:rPr lang="en-US">
                            <a:solidFill>
                              <a:schemeClr val="bg2"/>
                            </a:solidFill>
                            <a:latin typeface="Cambria Math" panose="02040503050406030204" pitchFamily="18" charset="0"/>
                          </a:rPr>
                          <m:t>−</m:t>
                        </m:r>
                      </m:sup>
                    </m:sSubSup>
                    <m:r>
                      <a:rPr lang="en-US">
                        <a:solidFill>
                          <a:schemeClr val="bg2"/>
                        </a:solidFill>
                        <a:latin typeface="Cambria Math" panose="02040503050406030204" pitchFamily="18" charset="0"/>
                      </a:rPr>
                      <m:t>−</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𝐾</m:t>
                        </m:r>
                      </m:e>
                      <m:sub>
                        <m:r>
                          <a:rPr lang="en-US" i="1">
                            <a:solidFill>
                              <a:schemeClr val="bg2"/>
                            </a:solidFill>
                            <a:latin typeface="Cambria Math" panose="02040503050406030204" pitchFamily="18" charset="0"/>
                          </a:rPr>
                          <m:t>𝑡</m:t>
                        </m:r>
                      </m:sub>
                    </m:sSub>
                    <m:r>
                      <a:rPr lang="en-US" i="1">
                        <a:solidFill>
                          <a:schemeClr val="bg2"/>
                        </a:solidFill>
                        <a:latin typeface="Cambria Math" panose="02040503050406030204" pitchFamily="18" charset="0"/>
                      </a:rPr>
                      <m:t>𝐻</m:t>
                    </m:r>
                    <m:sSubSup>
                      <m:sSubSupPr>
                        <m:ctrlPr>
                          <a:rPr lang="en-US" i="1">
                            <a:solidFill>
                              <a:schemeClr val="bg2"/>
                            </a:solidFill>
                            <a:latin typeface="Cambria Math" panose="02040503050406030204" pitchFamily="18" charset="0"/>
                          </a:rPr>
                        </m:ctrlPr>
                      </m:sSubSupPr>
                      <m:e>
                        <m:r>
                          <a:rPr lang="en-US" i="1">
                            <a:solidFill>
                              <a:schemeClr val="bg2"/>
                            </a:solidFill>
                            <a:latin typeface="Cambria Math" panose="02040503050406030204" pitchFamily="18" charset="0"/>
                          </a:rPr>
                          <m:t>𝑃</m:t>
                        </m:r>
                      </m:e>
                      <m:sub>
                        <m:r>
                          <a:rPr lang="en-US" i="1">
                            <a:solidFill>
                              <a:schemeClr val="bg2"/>
                            </a:solidFill>
                            <a:latin typeface="Cambria Math" panose="02040503050406030204" pitchFamily="18" charset="0"/>
                          </a:rPr>
                          <m:t>𝑡</m:t>
                        </m:r>
                      </m:sub>
                      <m:sup>
                        <m:r>
                          <a:rPr lang="en-US">
                            <a:solidFill>
                              <a:schemeClr val="bg2"/>
                            </a:solidFill>
                            <a:latin typeface="Cambria Math" panose="02040503050406030204" pitchFamily="18" charset="0"/>
                          </a:rPr>
                          <m:t>−</m:t>
                        </m:r>
                      </m:sup>
                    </m:sSubSup>
                  </m:oMath>
                </a14:m>
                <a:r>
                  <a:rPr lang="en-US" dirty="0">
                    <a:solidFill>
                      <a:schemeClr val="bg2"/>
                    </a:solidFill>
                  </a:rPr>
                  <a:t>						(3.8)</a:t>
                </a:r>
              </a:p>
              <a:p>
                <a:pPr hangingPunct="0"/>
                <a:endParaRPr lang="en-US" dirty="0">
                  <a:solidFill>
                    <a:schemeClr val="bg2"/>
                  </a:solidFill>
                </a:endParaRPr>
              </a:p>
              <a:p>
                <a:pPr hangingPunct="0"/>
                <a:r>
                  <a:rPr lang="en-US" dirty="0">
                    <a:solidFill>
                      <a:schemeClr val="bg2"/>
                    </a:solidFill>
                  </a:rPr>
                  <a:t>	</a:t>
                </a:r>
                <a14:m>
                  <m:oMath xmlns:m="http://schemas.openxmlformats.org/officeDocument/2006/math">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𝐶</m:t>
                        </m:r>
                      </m:e>
                      <m:sub>
                        <m:r>
                          <a:rPr lang="en-US" i="1">
                            <a:solidFill>
                              <a:schemeClr val="bg2"/>
                            </a:solidFill>
                            <a:latin typeface="Cambria Math" panose="02040503050406030204" pitchFamily="18" charset="0"/>
                          </a:rPr>
                          <m:t>𝑡</m:t>
                        </m:r>
                      </m:sub>
                    </m:sSub>
                    <m:r>
                      <a:rPr lang="en-US" i="1">
                        <a:solidFill>
                          <a:schemeClr val="bg2"/>
                        </a:solidFill>
                        <a:latin typeface="Cambria Math" panose="02040503050406030204" pitchFamily="18" charset="0"/>
                      </a:rPr>
                      <m:t>=</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𝑃</m:t>
                        </m:r>
                      </m:e>
                      <m:sub>
                        <m:r>
                          <a:rPr lang="en-US" i="1">
                            <a:solidFill>
                              <a:schemeClr val="bg2"/>
                            </a:solidFill>
                            <a:latin typeface="Cambria Math" panose="02040503050406030204" pitchFamily="18" charset="0"/>
                          </a:rPr>
                          <m:t>𝑡</m:t>
                        </m:r>
                        <m:r>
                          <a:rPr lang="en-US" i="1">
                            <a:solidFill>
                              <a:schemeClr val="bg2"/>
                            </a:solidFill>
                            <a:latin typeface="Cambria Math" panose="02040503050406030204" pitchFamily="18" charset="0"/>
                          </a:rPr>
                          <m:t>−1</m:t>
                        </m:r>
                      </m:sub>
                    </m:sSub>
                    <m:sSup>
                      <m:sSupPr>
                        <m:ctrlPr>
                          <a:rPr lang="en-US" i="1">
                            <a:solidFill>
                              <a:schemeClr val="bg2"/>
                            </a:solidFill>
                            <a:latin typeface="Cambria Math" panose="02040503050406030204" pitchFamily="18" charset="0"/>
                          </a:rPr>
                        </m:ctrlPr>
                      </m:sSupPr>
                      <m:e>
                        <m:r>
                          <a:rPr lang="en-US" i="1">
                            <a:solidFill>
                              <a:schemeClr val="bg2"/>
                            </a:solidFill>
                            <a:latin typeface="Cambria Math" panose="02040503050406030204" pitchFamily="18" charset="0"/>
                          </a:rPr>
                          <m:t>𝐴</m:t>
                        </m:r>
                      </m:e>
                      <m:sup>
                        <m:r>
                          <a:rPr lang="en-US" i="1">
                            <a:solidFill>
                              <a:schemeClr val="bg2"/>
                            </a:solidFill>
                            <a:latin typeface="Cambria Math" panose="02040503050406030204" pitchFamily="18" charset="0"/>
                          </a:rPr>
                          <m:t>𝘛</m:t>
                        </m:r>
                      </m:sup>
                    </m:sSup>
                    <m:sSup>
                      <m:sSupPr>
                        <m:ctrlPr>
                          <a:rPr lang="en-US" i="1">
                            <a:solidFill>
                              <a:schemeClr val="bg2"/>
                            </a:solidFill>
                            <a:latin typeface="Cambria Math" panose="02040503050406030204" pitchFamily="18" charset="0"/>
                          </a:rPr>
                        </m:ctrlPr>
                      </m:sSupPr>
                      <m:e>
                        <m:d>
                          <m:dPr>
                            <m:ctrlPr>
                              <a:rPr lang="en-US" i="1">
                                <a:solidFill>
                                  <a:schemeClr val="bg2"/>
                                </a:solidFill>
                                <a:latin typeface="Cambria Math" panose="02040503050406030204" pitchFamily="18" charset="0"/>
                              </a:rPr>
                            </m:ctrlPr>
                          </m:dPr>
                          <m:e>
                            <m:sSubSup>
                              <m:sSubSupPr>
                                <m:ctrlPr>
                                  <a:rPr lang="en-US" i="1">
                                    <a:solidFill>
                                      <a:schemeClr val="bg2"/>
                                    </a:solidFill>
                                    <a:latin typeface="Cambria Math" panose="02040503050406030204" pitchFamily="18" charset="0"/>
                                  </a:rPr>
                                </m:ctrlPr>
                              </m:sSubSupPr>
                              <m:e>
                                <m:r>
                                  <a:rPr lang="en-US" i="1">
                                    <a:solidFill>
                                      <a:schemeClr val="bg2"/>
                                    </a:solidFill>
                                    <a:latin typeface="Cambria Math" panose="02040503050406030204" pitchFamily="18" charset="0"/>
                                  </a:rPr>
                                  <m:t>𝑃</m:t>
                                </m:r>
                              </m:e>
                              <m:sub>
                                <m:r>
                                  <a:rPr lang="en-US" i="1">
                                    <a:solidFill>
                                      <a:schemeClr val="bg2"/>
                                    </a:solidFill>
                                    <a:latin typeface="Cambria Math" panose="02040503050406030204" pitchFamily="18" charset="0"/>
                                  </a:rPr>
                                  <m:t>𝑡</m:t>
                                </m:r>
                              </m:sub>
                              <m:sup>
                                <m:r>
                                  <a:rPr lang="en-US" i="1">
                                    <a:solidFill>
                                      <a:schemeClr val="bg2"/>
                                    </a:solidFill>
                                    <a:latin typeface="Cambria Math" panose="02040503050406030204" pitchFamily="18" charset="0"/>
                                  </a:rPr>
                                  <m:t>−</m:t>
                                </m:r>
                              </m:sup>
                            </m:sSubSup>
                          </m:e>
                        </m:d>
                      </m:e>
                      <m:sup>
                        <m:r>
                          <a:rPr lang="en-US" i="1">
                            <a:solidFill>
                              <a:schemeClr val="bg2"/>
                            </a:solidFill>
                            <a:latin typeface="Cambria Math" panose="02040503050406030204" pitchFamily="18" charset="0"/>
                          </a:rPr>
                          <m:t>−1</m:t>
                        </m:r>
                      </m:sup>
                    </m:sSup>
                    <m:r>
                      <a:rPr lang="en-US" i="1">
                        <a:solidFill>
                          <a:schemeClr val="bg2"/>
                        </a:solidFill>
                        <a:latin typeface="Cambria Math" panose="02040503050406030204" pitchFamily="18" charset="0"/>
                      </a:rPr>
                      <m:t>,  </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𝐶</m:t>
                        </m:r>
                      </m:e>
                      <m:sub>
                        <m:r>
                          <a:rPr lang="en-US" i="1">
                            <a:solidFill>
                              <a:schemeClr val="bg2"/>
                            </a:solidFill>
                            <a:latin typeface="Cambria Math" panose="02040503050406030204" pitchFamily="18" charset="0"/>
                          </a:rPr>
                          <m:t>0</m:t>
                        </m:r>
                      </m:sub>
                    </m:sSub>
                    <m:r>
                      <a:rPr lang="en-US" i="1">
                        <a:solidFill>
                          <a:schemeClr val="bg2"/>
                        </a:solidFill>
                        <a:latin typeface="Cambria Math" panose="02040503050406030204" pitchFamily="18" charset="0"/>
                      </a:rPr>
                      <m:t>=0</m:t>
                    </m:r>
                  </m:oMath>
                </a14:m>
                <a:r>
                  <a:rPr lang="en-US" dirty="0">
                    <a:solidFill>
                      <a:schemeClr val="bg2"/>
                    </a:solidFill>
                  </a:rPr>
                  <a:t>				(3.9)</a:t>
                </a:r>
              </a:p>
            </p:txBody>
          </p:sp>
        </mc:Choice>
        <mc:Fallback xmlns="">
          <p:sp>
            <p:nvSpPr>
              <p:cNvPr id="26" name="TextBox 7">
                <a:extLst>
                  <a:ext uri="{FF2B5EF4-FFF2-40B4-BE49-F238E27FC236}">
                    <a16:creationId xmlns:a16="http://schemas.microsoft.com/office/drawing/2014/main" id="{0D38A620-D5B5-0AF7-686A-E6BAF31ADEC7}"/>
                  </a:ext>
                </a:extLst>
              </p:cNvPr>
              <p:cNvSpPr txBox="1">
                <a:spLocks noRot="1" noChangeAspect="1" noMove="1" noResize="1" noEditPoints="1" noAdjustHandles="1" noChangeArrowheads="1" noChangeShapeType="1" noTextEdit="1"/>
              </p:cNvSpPr>
              <p:nvPr/>
            </p:nvSpPr>
            <p:spPr>
              <a:xfrm>
                <a:off x="9056278" y="3593480"/>
                <a:ext cx="8348495" cy="3254545"/>
              </a:xfrm>
              <a:prstGeom prst="rect">
                <a:avLst/>
              </a:prstGeom>
              <a:blipFill>
                <a:blip r:embed="rId7"/>
                <a:stretch>
                  <a:fillRect l="-1753" t="-2434" b="-3558"/>
                </a:stretch>
              </a:blipFill>
            </p:spPr>
            <p:txBody>
              <a:bodyPr/>
              <a:lstStyle/>
              <a:p>
                <a:r>
                  <a:rPr lang="en-US">
                    <a:noFill/>
                  </a:rPr>
                  <a:t> </a:t>
                </a:r>
              </a:p>
            </p:txBody>
          </p:sp>
        </mc:Fallback>
      </mc:AlternateContent>
      <p:sp>
        <p:nvSpPr>
          <p:cNvPr id="42" name="TextBox 8">
            <a:extLst>
              <a:ext uri="{FF2B5EF4-FFF2-40B4-BE49-F238E27FC236}">
                <a16:creationId xmlns:a16="http://schemas.microsoft.com/office/drawing/2014/main" id="{958683FD-B90C-62C3-5D0F-305546F62660}"/>
              </a:ext>
            </a:extLst>
          </p:cNvPr>
          <p:cNvSpPr txBox="1"/>
          <p:nvPr/>
        </p:nvSpPr>
        <p:spPr>
          <a:xfrm>
            <a:off x="8763000" y="7253043"/>
            <a:ext cx="5100040" cy="413703"/>
          </a:xfrm>
          <a:prstGeom prst="rect">
            <a:avLst/>
          </a:prstGeom>
        </p:spPr>
        <p:txBody>
          <a:bodyPr wrap="square" lIns="0" tIns="0" rIns="0" bIns="0" rtlCol="0" anchor="t">
            <a:spAutoFit/>
          </a:bodyPr>
          <a:lstStyle/>
          <a:p>
            <a:pPr algn="l">
              <a:lnSpc>
                <a:spcPts val="3435"/>
              </a:lnSpc>
            </a:pPr>
            <a:r>
              <a:rPr lang="en-US" sz="2664" b="1" spc="26" dirty="0">
                <a:solidFill>
                  <a:srgbClr val="B7EE4A"/>
                </a:solidFill>
                <a:latin typeface="IBM Plex Sans Bold"/>
                <a:ea typeface="IBM Plex Sans Bold"/>
                <a:cs typeface="IBM Plex Sans Bold"/>
                <a:sym typeface="IBM Plex Sans Bold"/>
              </a:rPr>
              <a:t>3. Fixed-Lag RTS Smoother</a:t>
            </a:r>
          </a:p>
        </p:txBody>
      </p:sp>
      <mc:AlternateContent xmlns:mc="http://schemas.openxmlformats.org/markup-compatibility/2006" xmlns:a14="http://schemas.microsoft.com/office/drawing/2010/main">
        <mc:Choice Requires="a14">
          <p:sp>
            <p:nvSpPr>
              <p:cNvPr id="44" name="TextBox 7">
                <a:extLst>
                  <a:ext uri="{FF2B5EF4-FFF2-40B4-BE49-F238E27FC236}">
                    <a16:creationId xmlns:a16="http://schemas.microsoft.com/office/drawing/2014/main" id="{8CBBA620-7754-7D87-93DD-D42DCD1D30A2}"/>
                  </a:ext>
                </a:extLst>
              </p:cNvPr>
              <p:cNvSpPr txBox="1"/>
              <p:nvPr/>
            </p:nvSpPr>
            <p:spPr>
              <a:xfrm>
                <a:off x="9047279" y="7974125"/>
                <a:ext cx="7892027" cy="576312"/>
              </a:xfrm>
              <a:prstGeom prst="rect">
                <a:avLst/>
              </a:prstGeom>
            </p:spPr>
            <p:txBody>
              <a:bodyPr wrap="square" lIns="0" tIns="0" rIns="0" bIns="0" rtlCol="0" anchor="t">
                <a:spAutoFit/>
              </a:bodyPr>
              <a:lstStyle/>
              <a:p>
                <a:pPr hangingPunct="0"/>
                <a:r>
                  <a:rPr lang="en-US" dirty="0">
                    <a:solidFill>
                      <a:schemeClr val="bg2"/>
                    </a:solidFill>
                  </a:rPr>
                  <a:t>	</a:t>
                </a:r>
                <a14:m>
                  <m:oMath xmlns:m="http://schemas.openxmlformats.org/officeDocument/2006/math">
                    <m:acc>
                      <m:accPr>
                        <m:chr m:val="̂"/>
                        <m:ctrlPr>
                          <a:rPr lang="en-US" i="1">
                            <a:solidFill>
                              <a:schemeClr val="bg2"/>
                            </a:solidFill>
                            <a:latin typeface="Cambria Math" panose="02040503050406030204" pitchFamily="18" charset="0"/>
                          </a:rPr>
                        </m:ctrlPr>
                      </m:accPr>
                      <m:e>
                        <m:r>
                          <a:rPr lang="en-US" i="1">
                            <a:solidFill>
                              <a:schemeClr val="bg2"/>
                            </a:solidFill>
                            <a:latin typeface="Cambria Math" panose="02040503050406030204" pitchFamily="18" charset="0"/>
                          </a:rPr>
                          <m:t>𝑥</m:t>
                        </m:r>
                      </m:e>
                    </m:acc>
                    <m:d>
                      <m:dPr>
                        <m:ctrlPr>
                          <a:rPr lang="en-US" i="1">
                            <a:solidFill>
                              <a:schemeClr val="bg2"/>
                            </a:solidFill>
                            <a:latin typeface="Cambria Math" panose="02040503050406030204" pitchFamily="18" charset="0"/>
                          </a:rPr>
                        </m:ctrlPr>
                      </m:dPr>
                      <m:e>
                        <m:r>
                          <a:rPr lang="en-US" i="1">
                            <a:solidFill>
                              <a:schemeClr val="bg2"/>
                            </a:solidFill>
                            <a:latin typeface="Cambria Math" panose="02040503050406030204" pitchFamily="18" charset="0"/>
                          </a:rPr>
                          <m:t>𝑗</m:t>
                        </m:r>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𝑗</m:t>
                        </m:r>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𝑑</m:t>
                        </m:r>
                      </m:e>
                    </m:d>
                    <m:r>
                      <a:rPr lang="en-US" i="1">
                        <a:solidFill>
                          <a:schemeClr val="bg2"/>
                        </a:solidFill>
                        <a:latin typeface="Cambria Math" panose="02040503050406030204" pitchFamily="18" charset="0"/>
                      </a:rPr>
                      <m:t>=</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𝑥</m:t>
                        </m:r>
                      </m:e>
                      <m:sub>
                        <m:r>
                          <a:rPr lang="en-US" i="1">
                            <a:solidFill>
                              <a:schemeClr val="bg2"/>
                            </a:solidFill>
                            <a:latin typeface="Cambria Math" panose="02040503050406030204" pitchFamily="18" charset="0"/>
                          </a:rPr>
                          <m:t>𝑓𝑖𝑙𝑡</m:t>
                        </m:r>
                      </m:sub>
                    </m:sSub>
                    <m:d>
                      <m:dPr>
                        <m:ctrlPr>
                          <a:rPr lang="en-US" i="1">
                            <a:solidFill>
                              <a:schemeClr val="bg2"/>
                            </a:solidFill>
                            <a:latin typeface="Cambria Math" panose="02040503050406030204" pitchFamily="18" charset="0"/>
                          </a:rPr>
                        </m:ctrlPr>
                      </m:dPr>
                      <m:e>
                        <m:r>
                          <a:rPr lang="en-US" i="1">
                            <a:solidFill>
                              <a:schemeClr val="bg2"/>
                            </a:solidFill>
                            <a:latin typeface="Cambria Math" panose="02040503050406030204" pitchFamily="18" charset="0"/>
                          </a:rPr>
                          <m:t>𝑗</m:t>
                        </m:r>
                      </m:e>
                    </m:d>
                    <m:r>
                      <a:rPr lang="en-US" i="1">
                        <a:solidFill>
                          <a:schemeClr val="bg2"/>
                        </a:solidFill>
                        <a:latin typeface="Cambria Math" panose="02040503050406030204" pitchFamily="18" charset="0"/>
                      </a:rPr>
                      <m:t>+</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𝐶</m:t>
                        </m:r>
                      </m:e>
                      <m:sub>
                        <m:r>
                          <a:rPr lang="en-US" i="1">
                            <a:solidFill>
                              <a:schemeClr val="bg2"/>
                            </a:solidFill>
                            <a:latin typeface="Cambria Math" panose="02040503050406030204" pitchFamily="18" charset="0"/>
                          </a:rPr>
                          <m:t>𝑗</m:t>
                        </m:r>
                        <m:r>
                          <a:rPr lang="en-US" i="1">
                            <a:solidFill>
                              <a:schemeClr val="bg2"/>
                            </a:solidFill>
                            <a:latin typeface="Cambria Math" panose="02040503050406030204" pitchFamily="18" charset="0"/>
                          </a:rPr>
                          <m:t>+1</m:t>
                        </m:r>
                      </m:sub>
                    </m:sSub>
                    <m:d>
                      <m:dPr>
                        <m:begChr m:val="["/>
                        <m:endChr m:val="]"/>
                        <m:ctrlPr>
                          <a:rPr lang="en-US" i="1">
                            <a:solidFill>
                              <a:schemeClr val="bg2"/>
                            </a:solidFill>
                            <a:latin typeface="Cambria Math" panose="02040503050406030204" pitchFamily="18" charset="0"/>
                          </a:rPr>
                        </m:ctrlPr>
                      </m:dPr>
                      <m:e>
                        <m:acc>
                          <m:accPr>
                            <m:chr m:val="̂"/>
                            <m:ctrlPr>
                              <a:rPr lang="en-US" i="1">
                                <a:solidFill>
                                  <a:schemeClr val="bg2"/>
                                </a:solidFill>
                                <a:latin typeface="Cambria Math" panose="02040503050406030204" pitchFamily="18" charset="0"/>
                              </a:rPr>
                            </m:ctrlPr>
                          </m:accPr>
                          <m:e>
                            <m:r>
                              <a:rPr lang="en-US" i="1">
                                <a:solidFill>
                                  <a:schemeClr val="bg2"/>
                                </a:solidFill>
                                <a:latin typeface="Cambria Math" panose="02040503050406030204" pitchFamily="18" charset="0"/>
                              </a:rPr>
                              <m:t>𝑥</m:t>
                            </m:r>
                          </m:e>
                        </m:acc>
                        <m:d>
                          <m:dPr>
                            <m:ctrlPr>
                              <a:rPr lang="en-US" i="1">
                                <a:solidFill>
                                  <a:schemeClr val="bg2"/>
                                </a:solidFill>
                                <a:latin typeface="Cambria Math" panose="02040503050406030204" pitchFamily="18" charset="0"/>
                              </a:rPr>
                            </m:ctrlPr>
                          </m:dPr>
                          <m:e>
                            <m:r>
                              <a:rPr lang="en-US" i="1">
                                <a:solidFill>
                                  <a:schemeClr val="bg2"/>
                                </a:solidFill>
                                <a:latin typeface="Cambria Math" panose="02040503050406030204" pitchFamily="18" charset="0"/>
                              </a:rPr>
                              <m:t>𝑗</m:t>
                            </m:r>
                            <m:r>
                              <a:rPr lang="en-US" i="1">
                                <a:solidFill>
                                  <a:schemeClr val="bg2"/>
                                </a:solidFill>
                                <a:latin typeface="Cambria Math" panose="02040503050406030204" pitchFamily="18" charset="0"/>
                              </a:rPr>
                              <m:t>+1∣</m:t>
                            </m:r>
                            <m:r>
                              <a:rPr lang="en-US" i="1">
                                <a:solidFill>
                                  <a:schemeClr val="bg2"/>
                                </a:solidFill>
                                <a:latin typeface="Cambria Math" panose="02040503050406030204" pitchFamily="18" charset="0"/>
                              </a:rPr>
                              <m:t>𝑗</m:t>
                            </m:r>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𝑑</m:t>
                            </m:r>
                          </m:e>
                        </m:d>
                        <m:r>
                          <a:rPr lang="en-US" i="1">
                            <a:solidFill>
                              <a:schemeClr val="bg2"/>
                            </a:solidFill>
                            <a:latin typeface="Cambria Math" panose="02040503050406030204" pitchFamily="18" charset="0"/>
                          </a:rPr>
                          <m:t>−</m:t>
                        </m:r>
                        <m:sSup>
                          <m:sSupPr>
                            <m:ctrlPr>
                              <a:rPr lang="en-US" i="1">
                                <a:solidFill>
                                  <a:schemeClr val="bg2"/>
                                </a:solidFill>
                                <a:latin typeface="Cambria Math" panose="02040503050406030204" pitchFamily="18" charset="0"/>
                              </a:rPr>
                            </m:ctrlPr>
                          </m:sSupPr>
                          <m:e>
                            <m:r>
                              <a:rPr lang="en-US" i="1">
                                <a:solidFill>
                                  <a:schemeClr val="bg2"/>
                                </a:solidFill>
                                <a:latin typeface="Cambria Math" panose="02040503050406030204" pitchFamily="18" charset="0"/>
                              </a:rPr>
                              <m:t>𝑥</m:t>
                            </m:r>
                          </m:e>
                          <m:sup>
                            <m:r>
                              <a:rPr lang="en-US" i="1">
                                <a:solidFill>
                                  <a:schemeClr val="bg2"/>
                                </a:solidFill>
                                <a:latin typeface="Cambria Math" panose="02040503050406030204" pitchFamily="18" charset="0"/>
                              </a:rPr>
                              <m:t>−</m:t>
                            </m:r>
                          </m:sup>
                        </m:sSup>
                        <m:d>
                          <m:dPr>
                            <m:ctrlPr>
                              <a:rPr lang="en-US" i="1">
                                <a:solidFill>
                                  <a:schemeClr val="bg2"/>
                                </a:solidFill>
                                <a:latin typeface="Cambria Math" panose="02040503050406030204" pitchFamily="18" charset="0"/>
                              </a:rPr>
                            </m:ctrlPr>
                          </m:dPr>
                          <m:e>
                            <m:r>
                              <a:rPr lang="en-US" i="1">
                                <a:solidFill>
                                  <a:schemeClr val="bg2"/>
                                </a:solidFill>
                                <a:latin typeface="Cambria Math" panose="02040503050406030204" pitchFamily="18" charset="0"/>
                              </a:rPr>
                              <m:t>𝑗</m:t>
                            </m:r>
                            <m:r>
                              <a:rPr lang="en-US" i="1">
                                <a:solidFill>
                                  <a:schemeClr val="bg2"/>
                                </a:solidFill>
                                <a:latin typeface="Cambria Math" panose="02040503050406030204" pitchFamily="18" charset="0"/>
                              </a:rPr>
                              <m:t>+1</m:t>
                            </m:r>
                          </m:e>
                        </m:d>
                      </m:e>
                    </m:d>
                  </m:oMath>
                </a14:m>
                <a:r>
                  <a:rPr lang="en-US" dirty="0">
                    <a:solidFill>
                      <a:schemeClr val="bg2"/>
                    </a:solidFill>
                  </a:rPr>
                  <a:t>	(3.10)</a:t>
                </a:r>
              </a:p>
              <a:p>
                <a:pPr hangingPunct="0"/>
                <a:endParaRPr lang="en-US" dirty="0">
                  <a:solidFill>
                    <a:schemeClr val="bg2"/>
                  </a:solidFill>
                </a:endParaRPr>
              </a:p>
            </p:txBody>
          </p:sp>
        </mc:Choice>
        <mc:Fallback xmlns="">
          <p:sp>
            <p:nvSpPr>
              <p:cNvPr id="44" name="TextBox 7">
                <a:extLst>
                  <a:ext uri="{FF2B5EF4-FFF2-40B4-BE49-F238E27FC236}">
                    <a16:creationId xmlns:a16="http://schemas.microsoft.com/office/drawing/2014/main" id="{8CBBA620-7754-7D87-93DD-D42DCD1D30A2}"/>
                  </a:ext>
                </a:extLst>
              </p:cNvPr>
              <p:cNvSpPr txBox="1">
                <a:spLocks noRot="1" noChangeAspect="1" noMove="1" noResize="1" noEditPoints="1" noAdjustHandles="1" noChangeArrowheads="1" noChangeShapeType="1" noTextEdit="1"/>
              </p:cNvSpPr>
              <p:nvPr/>
            </p:nvSpPr>
            <p:spPr>
              <a:xfrm>
                <a:off x="9047279" y="7974125"/>
                <a:ext cx="7892027" cy="576312"/>
              </a:xfrm>
              <a:prstGeom prst="rect">
                <a:avLst/>
              </a:prstGeom>
              <a:blipFill>
                <a:blip r:embed="rId8"/>
                <a:stretch>
                  <a:fillRect t="-12632" r="-1544"/>
                </a:stretch>
              </a:blipFill>
            </p:spPr>
            <p:txBody>
              <a:bodyPr/>
              <a:lstStyle/>
              <a:p>
                <a:r>
                  <a:rPr lang="en-US">
                    <a:noFill/>
                  </a:rPr>
                  <a:t> </a:t>
                </a:r>
              </a:p>
            </p:txBody>
          </p:sp>
        </mc:Fallback>
      </mc:AlternateContent>
      <p:sp>
        <p:nvSpPr>
          <p:cNvPr id="13" name="Slide Number Placeholder 12">
            <a:extLst>
              <a:ext uri="{FF2B5EF4-FFF2-40B4-BE49-F238E27FC236}">
                <a16:creationId xmlns:a16="http://schemas.microsoft.com/office/drawing/2014/main" id="{D3902E82-CE30-2E69-04E8-E960FF367F28}"/>
              </a:ext>
            </a:extLst>
          </p:cNvPr>
          <p:cNvSpPr>
            <a:spLocks noGrp="1"/>
          </p:cNvSpPr>
          <p:nvPr>
            <p:ph type="sldNum" sz="quarter" idx="12"/>
          </p:nvPr>
        </p:nvSpPr>
        <p:spPr>
          <a:xfrm>
            <a:off x="15925800" y="9715500"/>
            <a:ext cx="2133600" cy="365125"/>
          </a:xfrm>
        </p:spPr>
        <p:txBody>
          <a:bodyPr/>
          <a:lstStyle/>
          <a:p>
            <a:fld id="{B6F15528-21DE-4FAA-801E-634DDDAF4B2B}"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lin ang="5400000"/>
        </a:gradFill>
        <a:effectLst/>
      </p:bgPr>
    </p:bg>
    <p:spTree>
      <p:nvGrpSpPr>
        <p:cNvPr id="1" name="">
          <a:extLst>
            <a:ext uri="{FF2B5EF4-FFF2-40B4-BE49-F238E27FC236}">
              <a16:creationId xmlns:a16="http://schemas.microsoft.com/office/drawing/2014/main" id="{7CBAE570-003B-1950-AFFF-CCE38C53633E}"/>
            </a:ext>
          </a:extLst>
        </p:cNvPr>
        <p:cNvGrpSpPr/>
        <p:nvPr/>
      </p:nvGrpSpPr>
      <p:grpSpPr>
        <a:xfrm>
          <a:off x="0" y="0"/>
          <a:ext cx="0" cy="0"/>
          <a:chOff x="0" y="0"/>
          <a:chExt cx="0" cy="0"/>
        </a:xfrm>
      </p:grpSpPr>
      <p:sp>
        <p:nvSpPr>
          <p:cNvPr id="3" name="AutoShape 3">
            <a:extLst>
              <a:ext uri="{FF2B5EF4-FFF2-40B4-BE49-F238E27FC236}">
                <a16:creationId xmlns:a16="http://schemas.microsoft.com/office/drawing/2014/main" id="{95DC1834-B6E0-7707-782D-1E3FE12F0B67}"/>
              </a:ext>
            </a:extLst>
          </p:cNvPr>
          <p:cNvSpPr/>
          <p:nvPr/>
        </p:nvSpPr>
        <p:spPr>
          <a:xfrm flipH="1">
            <a:off x="0" y="9676538"/>
            <a:ext cx="16463090" cy="0"/>
          </a:xfrm>
          <a:prstGeom prst="line">
            <a:avLst/>
          </a:prstGeom>
          <a:ln w="19050" cap="flat">
            <a:solidFill>
              <a:srgbClr val="FFFFFF"/>
            </a:solidFill>
            <a:prstDash val="solid"/>
            <a:headEnd type="none" w="sm" len="sm"/>
            <a:tailEnd type="none" w="sm" len="sm"/>
          </a:ln>
        </p:spPr>
        <p:txBody>
          <a:bodyPr/>
          <a:lstStyle/>
          <a:p>
            <a:endParaRPr lang="en-US"/>
          </a:p>
        </p:txBody>
      </p:sp>
      <p:sp>
        <p:nvSpPr>
          <p:cNvPr id="4" name="AutoShape 4">
            <a:extLst>
              <a:ext uri="{FF2B5EF4-FFF2-40B4-BE49-F238E27FC236}">
                <a16:creationId xmlns:a16="http://schemas.microsoft.com/office/drawing/2014/main" id="{B2032E05-CE9D-FCA9-6377-680CE21B3118}"/>
              </a:ext>
            </a:extLst>
          </p:cNvPr>
          <p:cNvSpPr/>
          <p:nvPr/>
        </p:nvSpPr>
        <p:spPr>
          <a:xfrm flipH="1">
            <a:off x="17050227" y="9667013"/>
            <a:ext cx="960120" cy="0"/>
          </a:xfrm>
          <a:prstGeom prst="line">
            <a:avLst/>
          </a:prstGeom>
          <a:ln w="19050" cap="flat">
            <a:solidFill>
              <a:srgbClr val="FFFFFF"/>
            </a:solidFill>
            <a:prstDash val="solid"/>
            <a:headEnd type="none" w="sm" len="sm"/>
            <a:tailEnd type="none" w="sm" len="sm"/>
          </a:ln>
        </p:spPr>
        <p:txBody>
          <a:bodyPr/>
          <a:lstStyle/>
          <a:p>
            <a:endParaRPr lang="en-US"/>
          </a:p>
        </p:txBody>
      </p:sp>
      <p:sp>
        <p:nvSpPr>
          <p:cNvPr id="5" name="TextBox 5">
            <a:extLst>
              <a:ext uri="{FF2B5EF4-FFF2-40B4-BE49-F238E27FC236}">
                <a16:creationId xmlns:a16="http://schemas.microsoft.com/office/drawing/2014/main" id="{C5782B3F-542C-2D65-E4AB-B304B59872D4}"/>
              </a:ext>
            </a:extLst>
          </p:cNvPr>
          <p:cNvSpPr txBox="1"/>
          <p:nvPr/>
        </p:nvSpPr>
        <p:spPr>
          <a:xfrm>
            <a:off x="1028700" y="1000125"/>
            <a:ext cx="16230600" cy="878835"/>
          </a:xfrm>
          <a:prstGeom prst="rect">
            <a:avLst/>
          </a:prstGeom>
        </p:spPr>
        <p:txBody>
          <a:bodyPr lIns="0" tIns="0" rIns="0" bIns="0" rtlCol="0" anchor="t">
            <a:spAutoFit/>
          </a:bodyPr>
          <a:lstStyle/>
          <a:p>
            <a:pPr algn="l">
              <a:lnSpc>
                <a:spcPts val="7025"/>
              </a:lnSpc>
            </a:pPr>
            <a:r>
              <a:rPr lang="en-US" sz="5616" b="1" spc="-16" dirty="0">
                <a:solidFill>
                  <a:srgbClr val="D7E5D8"/>
                </a:solidFill>
                <a:latin typeface="IBM Plex Sans Bold"/>
                <a:ea typeface="IBM Plex Sans Bold"/>
                <a:cs typeface="IBM Plex Sans Bold"/>
                <a:sym typeface="IBM Plex Sans Bold"/>
              </a:rPr>
              <a:t>DE-NOISING EFFECT OF FRONT END</a:t>
            </a:r>
          </a:p>
        </p:txBody>
      </p:sp>
      <p:sp>
        <p:nvSpPr>
          <p:cNvPr id="6" name="TextBox 6">
            <a:extLst>
              <a:ext uri="{FF2B5EF4-FFF2-40B4-BE49-F238E27FC236}">
                <a16:creationId xmlns:a16="http://schemas.microsoft.com/office/drawing/2014/main" id="{F48C6E7A-C874-8A99-F989-3BF63FB43983}"/>
              </a:ext>
            </a:extLst>
          </p:cNvPr>
          <p:cNvSpPr txBox="1"/>
          <p:nvPr/>
        </p:nvSpPr>
        <p:spPr>
          <a:xfrm>
            <a:off x="1574853" y="8900112"/>
            <a:ext cx="15138291" cy="320088"/>
          </a:xfrm>
          <a:prstGeom prst="rect">
            <a:avLst/>
          </a:prstGeom>
        </p:spPr>
        <p:txBody>
          <a:bodyPr lIns="0" tIns="0" rIns="0" bIns="0" rtlCol="0" anchor="t">
            <a:spAutoFit/>
          </a:bodyPr>
          <a:lstStyle/>
          <a:p>
            <a:pPr algn="ctr">
              <a:lnSpc>
                <a:spcPts val="2699"/>
              </a:lnSpc>
            </a:pPr>
            <a:r>
              <a:rPr lang="en-US" dirty="0">
                <a:solidFill>
                  <a:schemeClr val="bg2"/>
                </a:solidFill>
              </a:rPr>
              <a:t>Figure 3.2 Matérn-5/2 Kalman filtering and fixed-lag Rauch–Tung–Striebel smoothing of a noisy periodic signal</a:t>
            </a:r>
            <a:endParaRPr lang="en-US" sz="1675" spc="-5" dirty="0">
              <a:solidFill>
                <a:schemeClr val="bg2"/>
              </a:solidFill>
              <a:latin typeface="IBM Plex Sans"/>
              <a:ea typeface="IBM Plex Sans"/>
              <a:cs typeface="IBM Plex Sans"/>
              <a:sym typeface="IBM Plex Sans"/>
            </a:endParaRPr>
          </a:p>
        </p:txBody>
      </p:sp>
      <p:grpSp>
        <p:nvGrpSpPr>
          <p:cNvPr id="9" name="Group 9">
            <a:extLst>
              <a:ext uri="{FF2B5EF4-FFF2-40B4-BE49-F238E27FC236}">
                <a16:creationId xmlns:a16="http://schemas.microsoft.com/office/drawing/2014/main" id="{7C231905-A4F9-DB64-F141-5E38494BB73F}"/>
              </a:ext>
            </a:extLst>
          </p:cNvPr>
          <p:cNvGrpSpPr/>
          <p:nvPr/>
        </p:nvGrpSpPr>
        <p:grpSpPr>
          <a:xfrm>
            <a:off x="0" y="8244826"/>
            <a:ext cx="2737757" cy="2737757"/>
            <a:chOff x="0" y="0"/>
            <a:chExt cx="3650343" cy="3650343"/>
          </a:xfrm>
        </p:grpSpPr>
        <p:sp>
          <p:nvSpPr>
            <p:cNvPr id="10" name="Freeform 10">
              <a:extLst>
                <a:ext uri="{FF2B5EF4-FFF2-40B4-BE49-F238E27FC236}">
                  <a16:creationId xmlns:a16="http://schemas.microsoft.com/office/drawing/2014/main" id="{79DA2F89-C2DD-F694-A384-624F9BD126EC}"/>
                </a:ext>
              </a:extLst>
            </p:cNvPr>
            <p:cNvSpPr/>
            <p:nvPr/>
          </p:nvSpPr>
          <p:spPr>
            <a:xfrm>
              <a:off x="0" y="0"/>
              <a:ext cx="3650343" cy="3650343"/>
            </a:xfrm>
            <a:custGeom>
              <a:avLst/>
              <a:gdLst/>
              <a:ahLst/>
              <a:cxnLst/>
              <a:rect l="l" t="t" r="r" b="b"/>
              <a:pathLst>
                <a:path w="3650343" h="3650343">
                  <a:moveTo>
                    <a:pt x="0" y="0"/>
                  </a:moveTo>
                  <a:lnTo>
                    <a:pt x="3650343" y="0"/>
                  </a:lnTo>
                  <a:lnTo>
                    <a:pt x="3650343" y="3650343"/>
                  </a:lnTo>
                  <a:lnTo>
                    <a:pt x="0" y="3650343"/>
                  </a:lnTo>
                  <a:lnTo>
                    <a:pt x="0" y="0"/>
                  </a:lnTo>
                  <a:close/>
                </a:path>
              </a:pathLst>
            </a:custGeom>
            <a:blipFill>
              <a:blip>
                <a:alphaModFix amt="4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a:extLst>
                <a:ext uri="{FF2B5EF4-FFF2-40B4-BE49-F238E27FC236}">
                  <a16:creationId xmlns:a16="http://schemas.microsoft.com/office/drawing/2014/main" id="{AB6E4514-461E-B567-A9E2-EF4CA4FB9798}"/>
                </a:ext>
              </a:extLst>
            </p:cNvPr>
            <p:cNvSpPr/>
            <p:nvPr/>
          </p:nvSpPr>
          <p:spPr>
            <a:xfrm>
              <a:off x="257215" y="827328"/>
              <a:ext cx="2779958" cy="1629020"/>
            </a:xfrm>
            <a:custGeom>
              <a:avLst/>
              <a:gdLst/>
              <a:ahLst/>
              <a:cxnLst/>
              <a:rect l="l" t="t" r="r" b="b"/>
              <a:pathLst>
                <a:path w="2779958" h="1629020">
                  <a:moveTo>
                    <a:pt x="0" y="0"/>
                  </a:moveTo>
                  <a:lnTo>
                    <a:pt x="2779958" y="0"/>
                  </a:lnTo>
                  <a:lnTo>
                    <a:pt x="2779958" y="1629020"/>
                  </a:lnTo>
                  <a:lnTo>
                    <a:pt x="0" y="1629020"/>
                  </a:lnTo>
                  <a:lnTo>
                    <a:pt x="0" y="0"/>
                  </a:lnTo>
                  <a:close/>
                </a:path>
              </a:pathLst>
            </a:custGeom>
            <a:blipFill>
              <a:blip r:embed="rId4"/>
              <a:stretch>
                <a:fillRect/>
              </a:stretch>
            </a:blipFill>
          </p:spPr>
          <p:txBody>
            <a:bodyPr/>
            <a:lstStyle/>
            <a:p>
              <a:endParaRPr lang="en-US"/>
            </a:p>
          </p:txBody>
        </p:sp>
      </p:grpSp>
      <p:pic>
        <p:nvPicPr>
          <p:cNvPr id="15" name="Picture 14">
            <a:extLst>
              <a:ext uri="{FF2B5EF4-FFF2-40B4-BE49-F238E27FC236}">
                <a16:creationId xmlns:a16="http://schemas.microsoft.com/office/drawing/2014/main" id="{7D9C8431-F1EB-E46E-819A-A468708C9C7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48739" y="2148086"/>
            <a:ext cx="11590521" cy="6533629"/>
          </a:xfrm>
          <a:prstGeom prst="rect">
            <a:avLst/>
          </a:prstGeom>
        </p:spPr>
      </p:pic>
      <p:sp>
        <p:nvSpPr>
          <p:cNvPr id="7" name="Slide Number Placeholder 6">
            <a:extLst>
              <a:ext uri="{FF2B5EF4-FFF2-40B4-BE49-F238E27FC236}">
                <a16:creationId xmlns:a16="http://schemas.microsoft.com/office/drawing/2014/main" id="{4F2654D4-15D6-35E0-1CC5-34419644CEBA}"/>
              </a:ext>
            </a:extLst>
          </p:cNvPr>
          <p:cNvSpPr>
            <a:spLocks noGrp="1"/>
          </p:cNvSpPr>
          <p:nvPr>
            <p:ph type="sldNum" sz="quarter" idx="12"/>
          </p:nvPr>
        </p:nvSpPr>
        <p:spPr>
          <a:xfrm>
            <a:off x="15925800" y="9715500"/>
            <a:ext cx="2133600" cy="365125"/>
          </a:xfrm>
        </p:spPr>
        <p:txBody>
          <a:bodyPr/>
          <a:lstStyle/>
          <a:p>
            <a:fld id="{B6F15528-21DE-4FAA-801E-634DDDAF4B2B}" type="slidenum">
              <a:rPr lang="en-US" smtClean="0"/>
              <a:pPr/>
              <a:t>11</a:t>
            </a:fld>
            <a:endParaRPr lang="en-US"/>
          </a:p>
        </p:txBody>
      </p:sp>
    </p:spTree>
    <p:extLst>
      <p:ext uri="{BB962C8B-B14F-4D97-AF65-F5344CB8AC3E}">
        <p14:creationId xmlns:p14="http://schemas.microsoft.com/office/powerpoint/2010/main" val="34038723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lin ang="5400000"/>
        </a:gradFill>
        <a:effectLst/>
      </p:bgPr>
    </p:bg>
    <p:spTree>
      <p:nvGrpSpPr>
        <p:cNvPr id="1" name=""/>
        <p:cNvGrpSpPr/>
        <p:nvPr/>
      </p:nvGrpSpPr>
      <p:grpSpPr>
        <a:xfrm>
          <a:off x="0" y="0"/>
          <a:ext cx="0" cy="0"/>
          <a:chOff x="0" y="0"/>
          <a:chExt cx="0" cy="0"/>
        </a:xfrm>
      </p:grpSpPr>
      <p:sp>
        <p:nvSpPr>
          <p:cNvPr id="4" name="AutoShape 4"/>
          <p:cNvSpPr/>
          <p:nvPr/>
        </p:nvSpPr>
        <p:spPr>
          <a:xfrm flipH="1">
            <a:off x="0" y="9676538"/>
            <a:ext cx="16463090" cy="0"/>
          </a:xfrm>
          <a:prstGeom prst="line">
            <a:avLst/>
          </a:prstGeom>
          <a:ln w="19050" cap="flat">
            <a:solidFill>
              <a:srgbClr val="FFFFFF"/>
            </a:solidFill>
            <a:prstDash val="solid"/>
            <a:headEnd type="none" w="sm" len="sm"/>
            <a:tailEnd type="none" w="sm" len="sm"/>
          </a:ln>
        </p:spPr>
        <p:txBody>
          <a:bodyPr/>
          <a:lstStyle/>
          <a:p>
            <a:endParaRPr lang="en-US"/>
          </a:p>
        </p:txBody>
      </p:sp>
      <p:sp>
        <p:nvSpPr>
          <p:cNvPr id="5" name="AutoShape 5"/>
          <p:cNvSpPr/>
          <p:nvPr/>
        </p:nvSpPr>
        <p:spPr>
          <a:xfrm flipH="1">
            <a:off x="17050227" y="9667013"/>
            <a:ext cx="960120" cy="0"/>
          </a:xfrm>
          <a:prstGeom prst="line">
            <a:avLst/>
          </a:prstGeom>
          <a:ln w="19050" cap="flat">
            <a:solidFill>
              <a:srgbClr val="FFFFFF"/>
            </a:solidFill>
            <a:prstDash val="solid"/>
            <a:headEnd type="none" w="sm" len="sm"/>
            <a:tailEnd type="none" w="sm" len="sm"/>
          </a:ln>
        </p:spPr>
        <p:txBody>
          <a:bodyPr/>
          <a:lstStyle/>
          <a:p>
            <a:endParaRPr lang="en-US"/>
          </a:p>
        </p:txBody>
      </p:sp>
      <p:sp>
        <p:nvSpPr>
          <p:cNvPr id="6" name="TextBox 6"/>
          <p:cNvSpPr txBox="1"/>
          <p:nvPr/>
        </p:nvSpPr>
        <p:spPr>
          <a:xfrm>
            <a:off x="1028700" y="1000125"/>
            <a:ext cx="16230600" cy="856068"/>
          </a:xfrm>
          <a:prstGeom prst="rect">
            <a:avLst/>
          </a:prstGeom>
        </p:spPr>
        <p:txBody>
          <a:bodyPr lIns="0" tIns="0" rIns="0" bIns="0" rtlCol="0" anchor="t">
            <a:spAutoFit/>
          </a:bodyPr>
          <a:lstStyle/>
          <a:p>
            <a:pPr algn="l">
              <a:lnSpc>
                <a:spcPts val="7025"/>
              </a:lnSpc>
            </a:pPr>
            <a:r>
              <a:rPr lang="en-US" sz="5616" b="1" spc="-16" dirty="0">
                <a:solidFill>
                  <a:srgbClr val="D7E5D8"/>
                </a:solidFill>
                <a:latin typeface="IBM Plex Sans Bold"/>
                <a:ea typeface="IBM Plex Sans Bold"/>
                <a:cs typeface="IBM Plex Sans Bold"/>
                <a:sym typeface="IBM Plex Sans Bold"/>
              </a:rPr>
              <a:t>TAKENS EMBEDDING</a:t>
            </a:r>
          </a:p>
        </p:txBody>
      </p:sp>
      <p:sp>
        <p:nvSpPr>
          <p:cNvPr id="7" name="TextBox 7"/>
          <p:cNvSpPr txBox="1"/>
          <p:nvPr/>
        </p:nvSpPr>
        <p:spPr>
          <a:xfrm>
            <a:off x="1028700" y="2004098"/>
            <a:ext cx="8029765" cy="680443"/>
          </a:xfrm>
          <a:prstGeom prst="rect">
            <a:avLst/>
          </a:prstGeom>
        </p:spPr>
        <p:txBody>
          <a:bodyPr wrap="square" lIns="0" tIns="0" rIns="0" bIns="0" rtlCol="0" anchor="t">
            <a:spAutoFit/>
          </a:bodyPr>
          <a:lstStyle/>
          <a:p>
            <a:pPr>
              <a:lnSpc>
                <a:spcPts val="2699"/>
              </a:lnSpc>
            </a:pPr>
            <a:r>
              <a:rPr lang="en-US" sz="2200" dirty="0" err="1">
                <a:solidFill>
                  <a:schemeClr val="bg2"/>
                </a:solidFill>
              </a:rPr>
              <a:t>Takens</a:t>
            </a:r>
            <a:r>
              <a:rPr lang="en-US" sz="2200" dirty="0">
                <a:solidFill>
                  <a:schemeClr val="bg2"/>
                </a:solidFill>
              </a:rPr>
              <a:t> embedding turns a single time-series signal into a multidimensional trajectory by stacking delayed versions of the signal.</a:t>
            </a:r>
          </a:p>
        </p:txBody>
      </p:sp>
      <mc:AlternateContent xmlns:mc="http://schemas.openxmlformats.org/markup-compatibility/2006" xmlns:a14="http://schemas.microsoft.com/office/drawing/2010/main">
        <mc:Choice Requires="a14">
          <p:sp>
            <p:nvSpPr>
              <p:cNvPr id="10" name="TextBox 10"/>
              <p:cNvSpPr txBox="1"/>
              <p:nvPr/>
            </p:nvSpPr>
            <p:spPr>
              <a:xfrm>
                <a:off x="1114237" y="3034612"/>
                <a:ext cx="7700787" cy="1938992"/>
              </a:xfrm>
              <a:prstGeom prst="rect">
                <a:avLst/>
              </a:prstGeom>
            </p:spPr>
            <p:txBody>
              <a:bodyPr wrap="square" lIns="0" tIns="0" rIns="0" bIns="0" rtlCol="0" anchor="t">
                <a:spAutoFit/>
              </a:bodyPr>
              <a:lstStyle/>
              <a:p>
                <a:pPr hangingPunct="0"/>
                <a:r>
                  <a:rPr lang="en-US" dirty="0">
                    <a:solidFill>
                      <a:schemeClr val="bg2"/>
                    </a:solidFill>
                  </a:rPr>
                  <a:t>Embedding </a:t>
                </a:r>
                <a14:m>
                  <m:oMath xmlns:m="http://schemas.openxmlformats.org/officeDocument/2006/math">
                    <m:r>
                      <a:rPr lang="en-US" i="1">
                        <a:solidFill>
                          <a:schemeClr val="bg2"/>
                        </a:solidFill>
                        <a:latin typeface="Cambria Math" panose="02040503050406030204" pitchFamily="18" charset="0"/>
                      </a:rPr>
                      <m:t>𝑒</m:t>
                    </m:r>
                    <m:d>
                      <m:dPr>
                        <m:ctrlPr>
                          <a:rPr lang="en-US" i="1">
                            <a:solidFill>
                              <a:schemeClr val="bg2"/>
                            </a:solidFill>
                            <a:latin typeface="Cambria Math" panose="02040503050406030204" pitchFamily="18" charset="0"/>
                          </a:rPr>
                        </m:ctrlPr>
                      </m:dPr>
                      <m:e>
                        <m:r>
                          <a:rPr lang="en-US" i="1">
                            <a:solidFill>
                              <a:schemeClr val="bg2"/>
                            </a:solidFill>
                            <a:latin typeface="Cambria Math" panose="02040503050406030204" pitchFamily="18" charset="0"/>
                          </a:rPr>
                          <m:t>𝜏</m:t>
                        </m:r>
                      </m:e>
                    </m:d>
                  </m:oMath>
                </a14:m>
                <a:r>
                  <a:rPr lang="en-US" dirty="0">
                    <a:solidFill>
                      <a:schemeClr val="bg2"/>
                    </a:solidFill>
                  </a:rPr>
                  <a:t> is therefore defined as:</a:t>
                </a:r>
              </a:p>
              <a:p>
                <a:pPr hangingPunct="0"/>
                <a:endParaRPr lang="en-US" dirty="0">
                  <a:solidFill>
                    <a:schemeClr val="bg2"/>
                  </a:solidFill>
                </a:endParaRPr>
              </a:p>
              <a:p>
                <a:pPr hangingPunct="0"/>
                <a:r>
                  <a:rPr lang="en-US" dirty="0">
                    <a:solidFill>
                      <a:schemeClr val="bg2"/>
                    </a:solidFill>
                  </a:rPr>
                  <a:t>	</a:t>
                </a:r>
                <a14:m>
                  <m:oMath xmlns:m="http://schemas.openxmlformats.org/officeDocument/2006/math">
                    <m:r>
                      <a:rPr lang="en-US" i="1">
                        <a:solidFill>
                          <a:schemeClr val="bg2"/>
                        </a:solidFill>
                        <a:latin typeface="Cambria Math" panose="02040503050406030204" pitchFamily="18" charset="0"/>
                      </a:rPr>
                      <m:t>𝑒</m:t>
                    </m:r>
                    <m:d>
                      <m:dPr>
                        <m:ctrlPr>
                          <a:rPr lang="en-US" i="1">
                            <a:solidFill>
                              <a:schemeClr val="bg2"/>
                            </a:solidFill>
                            <a:latin typeface="Cambria Math" panose="02040503050406030204" pitchFamily="18" charset="0"/>
                          </a:rPr>
                        </m:ctrlPr>
                      </m:dPr>
                      <m:e>
                        <m:r>
                          <a:rPr lang="en-US" i="1">
                            <a:solidFill>
                              <a:schemeClr val="bg2"/>
                            </a:solidFill>
                            <a:latin typeface="Cambria Math" panose="02040503050406030204" pitchFamily="18" charset="0"/>
                          </a:rPr>
                          <m:t>𝜏</m:t>
                        </m:r>
                      </m:e>
                    </m:d>
                    <m:r>
                      <a:rPr lang="en-US">
                        <a:solidFill>
                          <a:schemeClr val="bg2"/>
                        </a:solidFill>
                        <a:latin typeface="Cambria Math" panose="02040503050406030204" pitchFamily="18" charset="0"/>
                      </a:rPr>
                      <m:t>=</m:t>
                    </m:r>
                    <m:d>
                      <m:dPr>
                        <m:begChr m:val="["/>
                        <m:endChr m:val="]"/>
                        <m:ctrlPr>
                          <a:rPr lang="en-US" i="1">
                            <a:solidFill>
                              <a:schemeClr val="bg2"/>
                            </a:solidFill>
                            <a:latin typeface="Cambria Math" panose="02040503050406030204" pitchFamily="18" charset="0"/>
                          </a:rPr>
                        </m:ctrlPr>
                      </m:dPr>
                      <m:e>
                        <m:m>
                          <m:mPr>
                            <m:plcHide m:val="on"/>
                            <m:mcs>
                              <m:mc>
                                <m:mcPr>
                                  <m:count m:val="3"/>
                                  <m:mcJc m:val="center"/>
                                </m:mcPr>
                              </m:mc>
                            </m:mcs>
                            <m:ctrlPr>
                              <a:rPr lang="en-US" i="1">
                                <a:solidFill>
                                  <a:schemeClr val="bg2"/>
                                </a:solidFill>
                                <a:latin typeface="Cambria Math" panose="02040503050406030204" pitchFamily="18" charset="0"/>
                              </a:rPr>
                            </m:ctrlPr>
                          </m:mPr>
                          <m:mr>
                            <m:e>
                              <m:acc>
                                <m:accPr>
                                  <m:chr m:val="̂"/>
                                  <m:ctrlPr>
                                    <a:rPr lang="en-US" i="1">
                                      <a:solidFill>
                                        <a:schemeClr val="bg2"/>
                                      </a:solidFill>
                                      <a:latin typeface="Cambria Math" panose="02040503050406030204" pitchFamily="18" charset="0"/>
                                    </a:rPr>
                                  </m:ctrlPr>
                                </m:accPr>
                                <m:e>
                                  <m:r>
                                    <a:rPr lang="en-US" i="1">
                                      <a:solidFill>
                                        <a:schemeClr val="bg2"/>
                                      </a:solidFill>
                                      <a:latin typeface="Cambria Math" panose="02040503050406030204" pitchFamily="18" charset="0"/>
                                    </a:rPr>
                                    <m:t>𝑣</m:t>
                                  </m:r>
                                </m:e>
                              </m:acc>
                              <m:d>
                                <m:dPr>
                                  <m:ctrlPr>
                                    <a:rPr lang="en-US" i="1">
                                      <a:solidFill>
                                        <a:schemeClr val="bg2"/>
                                      </a:solidFill>
                                      <a:latin typeface="Cambria Math" panose="02040503050406030204" pitchFamily="18" charset="0"/>
                                    </a:rPr>
                                  </m:ctrlPr>
                                </m:dPr>
                                <m:e>
                                  <m:r>
                                    <a:rPr lang="en-US" i="1">
                                      <a:solidFill>
                                        <a:schemeClr val="bg2"/>
                                      </a:solidFill>
                                      <a:latin typeface="Cambria Math" panose="02040503050406030204" pitchFamily="18" charset="0"/>
                                    </a:rPr>
                                    <m:t>𝜏</m:t>
                                  </m:r>
                                </m:e>
                              </m:d>
                            </m:e>
                            <m:e>
                              <m:acc>
                                <m:accPr>
                                  <m:chr m:val="̂"/>
                                  <m:ctrlPr>
                                    <a:rPr lang="en-US" i="1">
                                      <a:solidFill>
                                        <a:schemeClr val="bg2"/>
                                      </a:solidFill>
                                      <a:latin typeface="Cambria Math" panose="02040503050406030204" pitchFamily="18" charset="0"/>
                                    </a:rPr>
                                  </m:ctrlPr>
                                </m:accPr>
                                <m:e>
                                  <m:r>
                                    <a:rPr lang="en-US" i="1">
                                      <a:solidFill>
                                        <a:schemeClr val="bg2"/>
                                      </a:solidFill>
                                      <a:latin typeface="Cambria Math" panose="02040503050406030204" pitchFamily="18" charset="0"/>
                                    </a:rPr>
                                    <m:t>𝑣</m:t>
                                  </m:r>
                                </m:e>
                              </m:acc>
                              <m:d>
                                <m:dPr>
                                  <m:ctrlPr>
                                    <a:rPr lang="en-US" i="1">
                                      <a:solidFill>
                                        <a:schemeClr val="bg2"/>
                                      </a:solidFill>
                                      <a:latin typeface="Cambria Math" panose="02040503050406030204" pitchFamily="18" charset="0"/>
                                    </a:rPr>
                                  </m:ctrlPr>
                                </m:dPr>
                                <m:e>
                                  <m:r>
                                    <a:rPr lang="en-US" i="1">
                                      <a:solidFill>
                                        <a:schemeClr val="bg2"/>
                                      </a:solidFill>
                                      <a:latin typeface="Cambria Math" panose="02040503050406030204" pitchFamily="18" charset="0"/>
                                    </a:rPr>
                                    <m:t>𝜏</m:t>
                                  </m:r>
                                  <m:r>
                                    <a:rPr lang="en-US">
                                      <a:solidFill>
                                        <a:schemeClr val="bg2"/>
                                      </a:solidFill>
                                      <a:latin typeface="Cambria Math" panose="02040503050406030204" pitchFamily="18" charset="0"/>
                                    </a:rPr>
                                    <m:t>−</m:t>
                                  </m:r>
                                  <m:r>
                                    <a:rPr lang="en-US" i="1">
                                      <a:solidFill>
                                        <a:schemeClr val="bg2"/>
                                      </a:solidFill>
                                      <a:latin typeface="Cambria Math" panose="02040503050406030204" pitchFamily="18" charset="0"/>
                                    </a:rPr>
                                    <m:t>𝐿</m:t>
                                  </m:r>
                                </m:e>
                              </m:d>
                            </m:e>
                            <m:e>
                              <m:acc>
                                <m:accPr>
                                  <m:chr m:val="̂"/>
                                  <m:ctrlPr>
                                    <a:rPr lang="en-US" i="1">
                                      <a:solidFill>
                                        <a:schemeClr val="bg2"/>
                                      </a:solidFill>
                                      <a:latin typeface="Cambria Math" panose="02040503050406030204" pitchFamily="18" charset="0"/>
                                    </a:rPr>
                                  </m:ctrlPr>
                                </m:accPr>
                                <m:e>
                                  <m:r>
                                    <a:rPr lang="en-US" i="1">
                                      <a:solidFill>
                                        <a:schemeClr val="bg2"/>
                                      </a:solidFill>
                                      <a:latin typeface="Cambria Math" panose="02040503050406030204" pitchFamily="18" charset="0"/>
                                    </a:rPr>
                                    <m:t>𝑣</m:t>
                                  </m:r>
                                </m:e>
                              </m:acc>
                              <m:d>
                                <m:dPr>
                                  <m:ctrlPr>
                                    <a:rPr lang="en-US" i="1">
                                      <a:solidFill>
                                        <a:schemeClr val="bg2"/>
                                      </a:solidFill>
                                      <a:latin typeface="Cambria Math" panose="02040503050406030204" pitchFamily="18" charset="0"/>
                                    </a:rPr>
                                  </m:ctrlPr>
                                </m:dPr>
                                <m:e>
                                  <m:r>
                                    <a:rPr lang="en-US" i="1">
                                      <a:solidFill>
                                        <a:schemeClr val="bg2"/>
                                      </a:solidFill>
                                      <a:latin typeface="Cambria Math" panose="02040503050406030204" pitchFamily="18" charset="0"/>
                                    </a:rPr>
                                    <m:t>𝜏</m:t>
                                  </m:r>
                                  <m:r>
                                    <a:rPr lang="en-US">
                                      <a:solidFill>
                                        <a:schemeClr val="bg2"/>
                                      </a:solidFill>
                                      <a:latin typeface="Cambria Math" panose="02040503050406030204" pitchFamily="18" charset="0"/>
                                    </a:rPr>
                                    <m:t>−</m:t>
                                  </m:r>
                                  <m:r>
                                    <a:rPr lang="en-US" i="1">
                                      <a:solidFill>
                                        <a:schemeClr val="bg2"/>
                                      </a:solidFill>
                                      <a:latin typeface="Cambria Math" panose="02040503050406030204" pitchFamily="18" charset="0"/>
                                    </a:rPr>
                                    <m:t>2</m:t>
                                  </m:r>
                                  <m:r>
                                    <a:rPr lang="en-US" i="1">
                                      <a:solidFill>
                                        <a:schemeClr val="bg2"/>
                                      </a:solidFill>
                                      <a:latin typeface="Cambria Math" panose="02040503050406030204" pitchFamily="18" charset="0"/>
                                    </a:rPr>
                                    <m:t>𝐿</m:t>
                                  </m:r>
                                </m:e>
                              </m:d>
                            </m:e>
                          </m:mr>
                        </m:m>
                      </m:e>
                    </m:d>
                  </m:oMath>
                </a14:m>
                <a:r>
                  <a:rPr lang="en-US" dirty="0">
                    <a:solidFill>
                      <a:schemeClr val="bg2"/>
                    </a:solidFill>
                  </a:rPr>
                  <a:t>			(3.11)</a:t>
                </a:r>
              </a:p>
              <a:p>
                <a:pPr hangingPunct="0"/>
                <a:endParaRPr lang="en-US" dirty="0">
                  <a:solidFill>
                    <a:schemeClr val="bg2"/>
                  </a:solidFill>
                </a:endParaRPr>
              </a:p>
              <a:p>
                <a:pPr hangingPunct="0"/>
                <a:r>
                  <a:rPr lang="en-US" dirty="0">
                    <a:solidFill>
                      <a:schemeClr val="bg2"/>
                    </a:solidFill>
                  </a:rPr>
                  <a:t>Base lag L is the first positive lag at which the mean-removed calibration autocorrelation becomes non-positive.</a:t>
                </a:r>
                <a:endParaRPr lang="en-US" sz="1507" spc="21" dirty="0">
                  <a:solidFill>
                    <a:schemeClr val="bg2"/>
                  </a:solidFill>
                  <a:latin typeface="Amicale Light"/>
                  <a:ea typeface="Amicale Light"/>
                  <a:cs typeface="Amicale Light"/>
                  <a:sym typeface="Amicale Light"/>
                </a:endParaRPr>
              </a:p>
              <a:p>
                <a:pPr hangingPunct="0"/>
                <a:endParaRPr lang="en-US" dirty="0">
                  <a:solidFill>
                    <a:schemeClr val="bg2"/>
                  </a:solidFill>
                </a:endParaRPr>
              </a:p>
            </p:txBody>
          </p:sp>
        </mc:Choice>
        <mc:Fallback xmlns="">
          <p:sp>
            <p:nvSpPr>
              <p:cNvPr id="10" name="TextBox 10"/>
              <p:cNvSpPr txBox="1">
                <a:spLocks noRot="1" noChangeAspect="1" noMove="1" noResize="1" noEditPoints="1" noAdjustHandles="1" noChangeArrowheads="1" noChangeShapeType="1" noTextEdit="1"/>
              </p:cNvSpPr>
              <p:nvPr/>
            </p:nvSpPr>
            <p:spPr>
              <a:xfrm>
                <a:off x="1114237" y="3034612"/>
                <a:ext cx="7700787" cy="1938992"/>
              </a:xfrm>
              <a:prstGeom prst="rect">
                <a:avLst/>
              </a:prstGeom>
              <a:blipFill>
                <a:blip r:embed="rId3"/>
                <a:stretch>
                  <a:fillRect l="-1900" t="-4088"/>
                </a:stretch>
              </a:blipFill>
            </p:spPr>
            <p:txBody>
              <a:bodyPr/>
              <a:lstStyle/>
              <a:p>
                <a:r>
                  <a:rPr lang="en-US">
                    <a:noFill/>
                  </a:rPr>
                  <a:t> </a:t>
                </a:r>
              </a:p>
            </p:txBody>
          </p:sp>
        </mc:Fallback>
      </mc:AlternateContent>
      <p:grpSp>
        <p:nvGrpSpPr>
          <p:cNvPr id="16" name="Group 16"/>
          <p:cNvGrpSpPr/>
          <p:nvPr/>
        </p:nvGrpSpPr>
        <p:grpSpPr>
          <a:xfrm>
            <a:off x="0" y="8244826"/>
            <a:ext cx="2737757" cy="2737757"/>
            <a:chOff x="0" y="0"/>
            <a:chExt cx="3650343" cy="3650343"/>
          </a:xfrm>
        </p:grpSpPr>
        <p:sp>
          <p:nvSpPr>
            <p:cNvPr id="17" name="Freeform 17"/>
            <p:cNvSpPr/>
            <p:nvPr/>
          </p:nvSpPr>
          <p:spPr>
            <a:xfrm>
              <a:off x="0" y="0"/>
              <a:ext cx="3650343" cy="3650343"/>
            </a:xfrm>
            <a:custGeom>
              <a:avLst/>
              <a:gdLst/>
              <a:ahLst/>
              <a:cxnLst/>
              <a:rect l="l" t="t" r="r" b="b"/>
              <a:pathLst>
                <a:path w="3650343" h="3650343">
                  <a:moveTo>
                    <a:pt x="0" y="0"/>
                  </a:moveTo>
                  <a:lnTo>
                    <a:pt x="3650343" y="0"/>
                  </a:lnTo>
                  <a:lnTo>
                    <a:pt x="3650343" y="3650343"/>
                  </a:lnTo>
                  <a:lnTo>
                    <a:pt x="0" y="3650343"/>
                  </a:lnTo>
                  <a:lnTo>
                    <a:pt x="0" y="0"/>
                  </a:lnTo>
                  <a:close/>
                </a:path>
              </a:pathLst>
            </a:custGeom>
            <a:blipFill>
              <a:blip>
                <a:alphaModFix amt="41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8" name="Freeform 18"/>
            <p:cNvSpPr/>
            <p:nvPr/>
          </p:nvSpPr>
          <p:spPr>
            <a:xfrm>
              <a:off x="257215" y="827328"/>
              <a:ext cx="2779958" cy="1629020"/>
            </a:xfrm>
            <a:custGeom>
              <a:avLst/>
              <a:gdLst/>
              <a:ahLst/>
              <a:cxnLst/>
              <a:rect l="l" t="t" r="r" b="b"/>
              <a:pathLst>
                <a:path w="2779958" h="1629020">
                  <a:moveTo>
                    <a:pt x="0" y="0"/>
                  </a:moveTo>
                  <a:lnTo>
                    <a:pt x="2779958" y="0"/>
                  </a:lnTo>
                  <a:lnTo>
                    <a:pt x="2779958" y="1629020"/>
                  </a:lnTo>
                  <a:lnTo>
                    <a:pt x="0" y="1629020"/>
                  </a:lnTo>
                  <a:lnTo>
                    <a:pt x="0" y="0"/>
                  </a:lnTo>
                  <a:close/>
                </a:path>
              </a:pathLst>
            </a:custGeom>
            <a:blipFill>
              <a:blip r:embed="rId5"/>
              <a:stretch>
                <a:fillRect/>
              </a:stretch>
            </a:blipFill>
          </p:spPr>
          <p:txBody>
            <a:bodyPr/>
            <a:lstStyle/>
            <a:p>
              <a:endParaRPr lang="en-US"/>
            </a:p>
          </p:txBody>
        </p:sp>
      </p:grpSp>
      <p:sp>
        <p:nvSpPr>
          <p:cNvPr id="19" name="TextBox 19"/>
          <p:cNvSpPr txBox="1"/>
          <p:nvPr/>
        </p:nvSpPr>
        <p:spPr>
          <a:xfrm>
            <a:off x="17245732" y="9210675"/>
            <a:ext cx="179536" cy="335541"/>
          </a:xfrm>
          <a:prstGeom prst="rect">
            <a:avLst/>
          </a:prstGeom>
        </p:spPr>
        <p:txBody>
          <a:bodyPr wrap="none" lIns="0" tIns="0" rIns="0" bIns="0" rtlCol="0" anchor="t">
            <a:spAutoFit/>
          </a:bodyPr>
          <a:lstStyle/>
          <a:p>
            <a:pPr algn="ctr">
              <a:lnSpc>
                <a:spcPts val="2800"/>
              </a:lnSpc>
              <a:spcBef>
                <a:spcPct val="0"/>
              </a:spcBef>
            </a:pPr>
            <a:r>
              <a:rPr lang="en-US" sz="2000" dirty="0">
                <a:solidFill>
                  <a:srgbClr val="000000"/>
                </a:solidFill>
                <a:latin typeface="Canva Sans"/>
                <a:ea typeface="Canva Sans"/>
                <a:cs typeface="Canva Sans"/>
                <a:sym typeface="Canva Sans"/>
              </a:rPr>
              <a:t>0</a:t>
            </a:r>
          </a:p>
        </p:txBody>
      </p:sp>
      <p:pic>
        <p:nvPicPr>
          <p:cNvPr id="21" name="Picture 20">
            <a:extLst>
              <a:ext uri="{FF2B5EF4-FFF2-40B4-BE49-F238E27FC236}">
                <a16:creationId xmlns:a16="http://schemas.microsoft.com/office/drawing/2014/main" id="{8C414970-ABCE-80A9-94F4-D2DFA5A81CF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14237" y="5018030"/>
            <a:ext cx="8029764" cy="4168378"/>
          </a:xfrm>
          <a:prstGeom prst="rect">
            <a:avLst/>
          </a:prstGeom>
        </p:spPr>
      </p:pic>
      <p:pic>
        <p:nvPicPr>
          <p:cNvPr id="23" name="Picture 22">
            <a:extLst>
              <a:ext uri="{FF2B5EF4-FFF2-40B4-BE49-F238E27FC236}">
                <a16:creationId xmlns:a16="http://schemas.microsoft.com/office/drawing/2014/main" id="{3779D36E-AA45-6832-E972-E4619A8A683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248738" y="5331307"/>
            <a:ext cx="6801489" cy="3534015"/>
          </a:xfrm>
          <a:prstGeom prst="rect">
            <a:avLst/>
          </a:prstGeom>
        </p:spPr>
      </p:pic>
      <p:pic>
        <p:nvPicPr>
          <p:cNvPr id="25" name="Picture 24">
            <a:extLst>
              <a:ext uri="{FF2B5EF4-FFF2-40B4-BE49-F238E27FC236}">
                <a16:creationId xmlns:a16="http://schemas.microsoft.com/office/drawing/2014/main" id="{2BF0DE2C-8564-1B98-CF6E-614C9AE5FF9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284064" y="1004867"/>
            <a:ext cx="6766163" cy="3515659"/>
          </a:xfrm>
          <a:prstGeom prst="rect">
            <a:avLst/>
          </a:prstGeom>
        </p:spPr>
      </p:pic>
      <p:sp>
        <p:nvSpPr>
          <p:cNvPr id="27" name="TextBox 7">
            <a:extLst>
              <a:ext uri="{FF2B5EF4-FFF2-40B4-BE49-F238E27FC236}">
                <a16:creationId xmlns:a16="http://schemas.microsoft.com/office/drawing/2014/main" id="{DDEE274F-278D-A4D9-F716-F4BF233F8B57}"/>
              </a:ext>
            </a:extLst>
          </p:cNvPr>
          <p:cNvSpPr txBox="1"/>
          <p:nvPr/>
        </p:nvSpPr>
        <p:spPr>
          <a:xfrm>
            <a:off x="10714964" y="4584053"/>
            <a:ext cx="6204158" cy="553998"/>
          </a:xfrm>
          <a:prstGeom prst="rect">
            <a:avLst/>
          </a:prstGeom>
        </p:spPr>
        <p:txBody>
          <a:bodyPr wrap="square" lIns="0" tIns="0" rIns="0" bIns="0" rtlCol="0" anchor="t">
            <a:spAutoFit/>
          </a:bodyPr>
          <a:lstStyle/>
          <a:p>
            <a:pPr algn="ctr" hangingPunct="0"/>
            <a:r>
              <a:rPr lang="en-US" dirty="0">
                <a:solidFill>
                  <a:schemeClr val="bg2"/>
                </a:solidFill>
              </a:rPr>
              <a:t>Figure 3.5 Delay-coordinate embedding of a rational-frequency-ratio periodic signal</a:t>
            </a:r>
          </a:p>
        </p:txBody>
      </p:sp>
      <p:sp>
        <p:nvSpPr>
          <p:cNvPr id="29" name="TextBox 7">
            <a:extLst>
              <a:ext uri="{FF2B5EF4-FFF2-40B4-BE49-F238E27FC236}">
                <a16:creationId xmlns:a16="http://schemas.microsoft.com/office/drawing/2014/main" id="{1D8236F9-855E-3BCF-BDE8-BE5A4E84158D}"/>
              </a:ext>
            </a:extLst>
          </p:cNvPr>
          <p:cNvSpPr txBox="1"/>
          <p:nvPr/>
        </p:nvSpPr>
        <p:spPr>
          <a:xfrm>
            <a:off x="10304239" y="8954174"/>
            <a:ext cx="6574770" cy="553998"/>
          </a:xfrm>
          <a:prstGeom prst="rect">
            <a:avLst/>
          </a:prstGeom>
        </p:spPr>
        <p:txBody>
          <a:bodyPr wrap="square" lIns="0" tIns="0" rIns="0" bIns="0" rtlCol="0" anchor="t">
            <a:spAutoFit/>
          </a:bodyPr>
          <a:lstStyle/>
          <a:p>
            <a:pPr algn="ctr" hangingPunct="0"/>
            <a:r>
              <a:rPr lang="en-US" dirty="0">
                <a:solidFill>
                  <a:schemeClr val="bg2"/>
                </a:solidFill>
              </a:rPr>
              <a:t>Figure 3.4 Delay-coordinate embedding of quasi-periodic two-frequency signal</a:t>
            </a:r>
          </a:p>
        </p:txBody>
      </p:sp>
      <p:sp>
        <p:nvSpPr>
          <p:cNvPr id="31" name="TextBox 7">
            <a:extLst>
              <a:ext uri="{FF2B5EF4-FFF2-40B4-BE49-F238E27FC236}">
                <a16:creationId xmlns:a16="http://schemas.microsoft.com/office/drawing/2014/main" id="{E6BA07C8-F6D8-1979-1B48-4560133C4282}"/>
              </a:ext>
            </a:extLst>
          </p:cNvPr>
          <p:cNvSpPr txBox="1"/>
          <p:nvPr/>
        </p:nvSpPr>
        <p:spPr>
          <a:xfrm>
            <a:off x="1368878" y="9310687"/>
            <a:ext cx="7124700" cy="276999"/>
          </a:xfrm>
          <a:prstGeom prst="rect">
            <a:avLst/>
          </a:prstGeom>
        </p:spPr>
        <p:txBody>
          <a:bodyPr wrap="square" lIns="0" tIns="0" rIns="0" bIns="0" rtlCol="0" anchor="t">
            <a:spAutoFit/>
          </a:bodyPr>
          <a:lstStyle/>
          <a:p>
            <a:pPr algn="ctr" hangingPunct="0"/>
            <a:r>
              <a:rPr lang="en-US" dirty="0">
                <a:solidFill>
                  <a:schemeClr val="bg2"/>
                </a:solidFill>
              </a:rPr>
              <a:t>Figure 3.3 Delay-coordinate embedding of a sinusoid with increasing period</a:t>
            </a:r>
          </a:p>
        </p:txBody>
      </p:sp>
      <p:sp>
        <p:nvSpPr>
          <p:cNvPr id="2" name="Slide Number Placeholder 1">
            <a:extLst>
              <a:ext uri="{FF2B5EF4-FFF2-40B4-BE49-F238E27FC236}">
                <a16:creationId xmlns:a16="http://schemas.microsoft.com/office/drawing/2014/main" id="{56297FD0-2056-345F-A068-9617A97FD654}"/>
              </a:ext>
            </a:extLst>
          </p:cNvPr>
          <p:cNvSpPr>
            <a:spLocks noGrp="1"/>
          </p:cNvSpPr>
          <p:nvPr>
            <p:ph type="sldNum" sz="quarter" idx="12"/>
          </p:nvPr>
        </p:nvSpPr>
        <p:spPr>
          <a:xfrm>
            <a:off x="15925800" y="9715500"/>
            <a:ext cx="2133600" cy="365125"/>
          </a:xfrm>
        </p:spPr>
        <p:txBody>
          <a:bodyPr/>
          <a:lstStyle/>
          <a:p>
            <a:fld id="{B6F15528-21DE-4FAA-801E-634DDDAF4B2B}"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lin ang="5400000"/>
        </a:gradFill>
        <a:effectLst/>
      </p:bgPr>
    </p:bg>
    <p:spTree>
      <p:nvGrpSpPr>
        <p:cNvPr id="1" name="">
          <a:extLst>
            <a:ext uri="{FF2B5EF4-FFF2-40B4-BE49-F238E27FC236}">
              <a16:creationId xmlns:a16="http://schemas.microsoft.com/office/drawing/2014/main" id="{D3FCF3D8-E832-F397-2AE9-4A78B4CABD87}"/>
            </a:ext>
          </a:extLst>
        </p:cNvPr>
        <p:cNvGrpSpPr/>
        <p:nvPr/>
      </p:nvGrpSpPr>
      <p:grpSpPr>
        <a:xfrm>
          <a:off x="0" y="0"/>
          <a:ext cx="0" cy="0"/>
          <a:chOff x="0" y="0"/>
          <a:chExt cx="0" cy="0"/>
        </a:xfrm>
      </p:grpSpPr>
      <p:sp>
        <p:nvSpPr>
          <p:cNvPr id="4" name="AutoShape 4">
            <a:extLst>
              <a:ext uri="{FF2B5EF4-FFF2-40B4-BE49-F238E27FC236}">
                <a16:creationId xmlns:a16="http://schemas.microsoft.com/office/drawing/2014/main" id="{357AD6E0-1852-9FAA-254C-17CC40109A0E}"/>
              </a:ext>
            </a:extLst>
          </p:cNvPr>
          <p:cNvSpPr/>
          <p:nvPr/>
        </p:nvSpPr>
        <p:spPr>
          <a:xfrm flipH="1">
            <a:off x="0" y="9676538"/>
            <a:ext cx="16463090" cy="0"/>
          </a:xfrm>
          <a:prstGeom prst="line">
            <a:avLst/>
          </a:prstGeom>
          <a:ln w="19050" cap="flat">
            <a:solidFill>
              <a:srgbClr val="FFFFFF"/>
            </a:solidFill>
            <a:prstDash val="solid"/>
            <a:headEnd type="none" w="sm" len="sm"/>
            <a:tailEnd type="none" w="sm" len="sm"/>
          </a:ln>
        </p:spPr>
        <p:txBody>
          <a:bodyPr/>
          <a:lstStyle/>
          <a:p>
            <a:endParaRPr lang="en-US"/>
          </a:p>
        </p:txBody>
      </p:sp>
      <p:sp>
        <p:nvSpPr>
          <p:cNvPr id="5" name="AutoShape 5">
            <a:extLst>
              <a:ext uri="{FF2B5EF4-FFF2-40B4-BE49-F238E27FC236}">
                <a16:creationId xmlns:a16="http://schemas.microsoft.com/office/drawing/2014/main" id="{60FE34EB-2E15-C9D0-EDD6-2DBA76AAF157}"/>
              </a:ext>
            </a:extLst>
          </p:cNvPr>
          <p:cNvSpPr/>
          <p:nvPr/>
        </p:nvSpPr>
        <p:spPr>
          <a:xfrm flipH="1">
            <a:off x="17050227" y="9667013"/>
            <a:ext cx="960120" cy="0"/>
          </a:xfrm>
          <a:prstGeom prst="line">
            <a:avLst/>
          </a:prstGeom>
          <a:ln w="19050" cap="flat">
            <a:solidFill>
              <a:srgbClr val="FFFFFF"/>
            </a:solidFill>
            <a:prstDash val="solid"/>
            <a:headEnd type="none" w="sm" len="sm"/>
            <a:tailEnd type="none" w="sm" len="sm"/>
          </a:ln>
        </p:spPr>
        <p:txBody>
          <a:bodyPr/>
          <a:lstStyle/>
          <a:p>
            <a:endParaRPr lang="en-US"/>
          </a:p>
        </p:txBody>
      </p:sp>
      <p:sp>
        <p:nvSpPr>
          <p:cNvPr id="6" name="TextBox 6">
            <a:extLst>
              <a:ext uri="{FF2B5EF4-FFF2-40B4-BE49-F238E27FC236}">
                <a16:creationId xmlns:a16="http://schemas.microsoft.com/office/drawing/2014/main" id="{F01A76EE-E496-D1BB-11B2-C2F86641CE23}"/>
              </a:ext>
            </a:extLst>
          </p:cNvPr>
          <p:cNvSpPr txBox="1"/>
          <p:nvPr/>
        </p:nvSpPr>
        <p:spPr>
          <a:xfrm>
            <a:off x="1028700" y="1000125"/>
            <a:ext cx="16230600" cy="878835"/>
          </a:xfrm>
          <a:prstGeom prst="rect">
            <a:avLst/>
          </a:prstGeom>
        </p:spPr>
        <p:txBody>
          <a:bodyPr lIns="0" tIns="0" rIns="0" bIns="0" rtlCol="0" anchor="t">
            <a:spAutoFit/>
          </a:bodyPr>
          <a:lstStyle/>
          <a:p>
            <a:pPr algn="l">
              <a:lnSpc>
                <a:spcPts val="7025"/>
              </a:lnSpc>
            </a:pPr>
            <a:r>
              <a:rPr lang="en-US" sz="5616" b="1" spc="-16" dirty="0">
                <a:solidFill>
                  <a:srgbClr val="D7E5D8"/>
                </a:solidFill>
                <a:latin typeface="IBM Plex Sans Bold"/>
                <a:ea typeface="IBM Plex Sans Bold"/>
                <a:cs typeface="IBM Plex Sans Bold"/>
                <a:sym typeface="IBM Plex Sans Bold"/>
              </a:rPr>
              <a:t>BASE GRAPH</a:t>
            </a:r>
          </a:p>
        </p:txBody>
      </p:sp>
      <p:sp>
        <p:nvSpPr>
          <p:cNvPr id="7" name="TextBox 7">
            <a:extLst>
              <a:ext uri="{FF2B5EF4-FFF2-40B4-BE49-F238E27FC236}">
                <a16:creationId xmlns:a16="http://schemas.microsoft.com/office/drawing/2014/main" id="{2131EE27-F755-AF0A-C096-A622A7D1CE98}"/>
              </a:ext>
            </a:extLst>
          </p:cNvPr>
          <p:cNvSpPr txBox="1"/>
          <p:nvPr/>
        </p:nvSpPr>
        <p:spPr>
          <a:xfrm>
            <a:off x="1028700" y="2004098"/>
            <a:ext cx="15138291" cy="738664"/>
          </a:xfrm>
          <a:prstGeom prst="rect">
            <a:avLst/>
          </a:prstGeom>
        </p:spPr>
        <p:txBody>
          <a:bodyPr lIns="0" tIns="0" rIns="0" bIns="0" rtlCol="0" anchor="t">
            <a:spAutoFit/>
          </a:bodyPr>
          <a:lstStyle/>
          <a:p>
            <a:r>
              <a:rPr lang="en-US" sz="2400" dirty="0">
                <a:solidFill>
                  <a:schemeClr val="bg2"/>
                </a:solidFill>
              </a:rPr>
              <a:t>Which dynamical states have occurred • Which states tend to follow one another  •  What signal change usually occurs during each transition  •  Which temporal pathways recur  • Which pathways are currently most relevant</a:t>
            </a:r>
          </a:p>
        </p:txBody>
      </p:sp>
      <p:sp>
        <p:nvSpPr>
          <p:cNvPr id="8" name="TextBox 8">
            <a:extLst>
              <a:ext uri="{FF2B5EF4-FFF2-40B4-BE49-F238E27FC236}">
                <a16:creationId xmlns:a16="http://schemas.microsoft.com/office/drawing/2014/main" id="{ECF75A08-FADE-74DC-3465-888886FE5912}"/>
              </a:ext>
            </a:extLst>
          </p:cNvPr>
          <p:cNvSpPr txBox="1"/>
          <p:nvPr/>
        </p:nvSpPr>
        <p:spPr>
          <a:xfrm>
            <a:off x="7162800" y="4275515"/>
            <a:ext cx="8666130" cy="3570208"/>
          </a:xfrm>
          <a:prstGeom prst="rect">
            <a:avLst/>
          </a:prstGeom>
        </p:spPr>
        <p:txBody>
          <a:bodyPr wrap="square" lIns="0" tIns="0" rIns="0" bIns="0" rtlCol="0" anchor="t">
            <a:spAutoFit/>
          </a:bodyPr>
          <a:lstStyle/>
          <a:p>
            <a:r>
              <a:rPr lang="en-US" sz="2400" b="1" dirty="0">
                <a:solidFill>
                  <a:schemeClr val="bg2"/>
                </a:solidFill>
              </a:rPr>
              <a:t>Node = Embedded Dynamical State</a:t>
            </a:r>
          </a:p>
          <a:p>
            <a:pPr marL="342900" indent="-342900">
              <a:buFont typeface="Arial" panose="020B0604020202020204" pitchFamily="34" charset="0"/>
              <a:buChar char="•"/>
            </a:pPr>
            <a:r>
              <a:rPr lang="en-US" sz="2000" dirty="0">
                <a:solidFill>
                  <a:schemeClr val="bg2"/>
                </a:solidFill>
              </a:rPr>
              <a:t>Each node is one </a:t>
            </a:r>
            <a:r>
              <a:rPr lang="en-US" sz="2000" b="1" dirty="0" err="1">
                <a:solidFill>
                  <a:schemeClr val="bg2"/>
                </a:solidFill>
              </a:rPr>
              <a:t>Takens</a:t>
            </a:r>
            <a:r>
              <a:rPr lang="en-US" sz="2000" b="1" dirty="0">
                <a:solidFill>
                  <a:schemeClr val="bg2"/>
                </a:solidFill>
              </a:rPr>
              <a:t> delay embedding</a:t>
            </a:r>
            <a:r>
              <a:rPr lang="en-US" sz="2000" dirty="0">
                <a:solidFill>
                  <a:schemeClr val="bg2"/>
                </a:solidFill>
              </a:rPr>
              <a:t> </a:t>
            </a:r>
          </a:p>
          <a:p>
            <a:pPr marL="342900" indent="-342900">
              <a:buFont typeface="Arial" panose="020B0604020202020204" pitchFamily="34" charset="0"/>
              <a:buChar char="•"/>
            </a:pPr>
            <a:r>
              <a:rPr lang="en-US" sz="2000" dirty="0">
                <a:solidFill>
                  <a:schemeClr val="bg2"/>
                </a:solidFill>
              </a:rPr>
              <a:t>Represents the signal’s recent pattern of motion </a:t>
            </a:r>
          </a:p>
          <a:p>
            <a:pPr marL="342900" indent="-342900">
              <a:buFont typeface="Arial" panose="020B0604020202020204" pitchFamily="34" charset="0"/>
              <a:buChar char="•"/>
            </a:pPr>
            <a:r>
              <a:rPr lang="en-US" sz="2000" dirty="0">
                <a:solidFill>
                  <a:schemeClr val="bg2"/>
                </a:solidFill>
              </a:rPr>
              <a:t>Describes the current dynamical state, not just one signal value </a:t>
            </a:r>
          </a:p>
          <a:p>
            <a:endParaRPr lang="en-US" sz="2000" dirty="0">
              <a:solidFill>
                <a:schemeClr val="bg2"/>
              </a:solidFill>
            </a:endParaRPr>
          </a:p>
          <a:p>
            <a:r>
              <a:rPr lang="en-US" sz="2400" b="1" dirty="0">
                <a:solidFill>
                  <a:schemeClr val="bg2"/>
                </a:solidFill>
              </a:rPr>
              <a:t>Edge = Temporal Transition</a:t>
            </a:r>
          </a:p>
          <a:p>
            <a:pPr marL="342900" indent="-342900">
              <a:buFont typeface="Arial" panose="020B0604020202020204" pitchFamily="34" charset="0"/>
              <a:buChar char="•"/>
            </a:pPr>
            <a:r>
              <a:rPr lang="en-US" sz="2000" dirty="0">
                <a:solidFill>
                  <a:schemeClr val="bg2"/>
                </a:solidFill>
              </a:rPr>
              <a:t>connects one embedding to the embedding observed next </a:t>
            </a:r>
          </a:p>
          <a:p>
            <a:pPr marL="342900" indent="-342900">
              <a:buFont typeface="Arial" panose="020B0604020202020204" pitchFamily="34" charset="0"/>
              <a:buChar char="•"/>
            </a:pPr>
            <a:r>
              <a:rPr lang="en-US" sz="2000" dirty="0">
                <a:solidFill>
                  <a:schemeClr val="bg2"/>
                </a:solidFill>
              </a:rPr>
              <a:t>Represents </a:t>
            </a:r>
            <a:r>
              <a:rPr lang="en-US" sz="2000" b="1" dirty="0">
                <a:solidFill>
                  <a:schemeClr val="bg2"/>
                </a:solidFill>
              </a:rPr>
              <a:t>how the signal moved from one state to another</a:t>
            </a:r>
            <a:r>
              <a:rPr lang="en-US" sz="2000" dirty="0">
                <a:solidFill>
                  <a:schemeClr val="bg2"/>
                </a:solidFill>
              </a:rPr>
              <a:t> </a:t>
            </a:r>
          </a:p>
          <a:p>
            <a:pPr marL="342900" indent="-342900">
              <a:buFont typeface="Arial" panose="020B0604020202020204" pitchFamily="34" charset="0"/>
              <a:buChar char="•"/>
            </a:pPr>
            <a:r>
              <a:rPr lang="en-US" sz="2000" dirty="0">
                <a:solidFill>
                  <a:schemeClr val="bg2"/>
                </a:solidFill>
              </a:rPr>
              <a:t>Stores the signal change associated with that transition</a:t>
            </a:r>
          </a:p>
          <a:p>
            <a:endParaRPr lang="en-US" sz="2000" dirty="0">
              <a:solidFill>
                <a:schemeClr val="bg2"/>
              </a:solidFill>
            </a:endParaRPr>
          </a:p>
          <a:p>
            <a:r>
              <a:rPr lang="en-US" sz="2600" dirty="0">
                <a:solidFill>
                  <a:schemeClr val="bg2"/>
                </a:solidFill>
              </a:rPr>
              <a:t>The result is a </a:t>
            </a:r>
            <a:r>
              <a:rPr lang="en-US" sz="2600" b="1" dirty="0">
                <a:solidFill>
                  <a:srgbClr val="92D050"/>
                </a:solidFill>
              </a:rPr>
              <a:t>directed map of the signal’s learned dynamics</a:t>
            </a:r>
            <a:r>
              <a:rPr lang="en-US" sz="2600" dirty="0">
                <a:solidFill>
                  <a:srgbClr val="92D050"/>
                </a:solidFill>
              </a:rPr>
              <a:t>.</a:t>
            </a:r>
          </a:p>
        </p:txBody>
      </p:sp>
      <p:sp>
        <p:nvSpPr>
          <p:cNvPr id="12" name="TextBox 12">
            <a:extLst>
              <a:ext uri="{FF2B5EF4-FFF2-40B4-BE49-F238E27FC236}">
                <a16:creationId xmlns:a16="http://schemas.microsoft.com/office/drawing/2014/main" id="{D01272D5-0BCC-A250-BE14-A7F0D6AEFA1E}"/>
              </a:ext>
            </a:extLst>
          </p:cNvPr>
          <p:cNvSpPr txBox="1"/>
          <p:nvPr/>
        </p:nvSpPr>
        <p:spPr>
          <a:xfrm>
            <a:off x="7162800" y="3425795"/>
            <a:ext cx="8666130" cy="849720"/>
          </a:xfrm>
          <a:prstGeom prst="rect">
            <a:avLst/>
          </a:prstGeom>
        </p:spPr>
        <p:txBody>
          <a:bodyPr wrap="square" lIns="0" tIns="0" rIns="0" bIns="0" rtlCol="0" anchor="t">
            <a:spAutoFit/>
          </a:bodyPr>
          <a:lstStyle/>
          <a:p>
            <a:pPr algn="l">
              <a:lnSpc>
                <a:spcPts val="3435"/>
              </a:lnSpc>
            </a:pPr>
            <a:r>
              <a:rPr lang="en-US" sz="2800" b="1" spc="26" dirty="0">
                <a:solidFill>
                  <a:srgbClr val="B7EE4A"/>
                </a:solidFill>
                <a:latin typeface="IBM Plex Sans Bold"/>
                <a:ea typeface="IBM Plex Sans Bold"/>
                <a:cs typeface="IBM Plex Sans Bold"/>
                <a:sym typeface="IBM Plex Sans Bold"/>
              </a:rPr>
              <a:t>What the </a:t>
            </a:r>
            <a:r>
              <a:rPr lang="en-US" sz="2800" b="1" spc="26" dirty="0" err="1">
                <a:solidFill>
                  <a:srgbClr val="B7EE4A"/>
                </a:solidFill>
                <a:latin typeface="IBM Plex Sans Bold"/>
                <a:ea typeface="IBM Plex Sans Bold"/>
                <a:cs typeface="IBM Plex Sans Bold"/>
                <a:sym typeface="IBM Plex Sans Bold"/>
              </a:rPr>
              <a:t>MycoMorph</a:t>
            </a:r>
            <a:r>
              <a:rPr lang="en-US" sz="2800" b="1" spc="26" dirty="0">
                <a:solidFill>
                  <a:srgbClr val="B7EE4A"/>
                </a:solidFill>
                <a:latin typeface="IBM Plex Sans Bold"/>
                <a:ea typeface="IBM Plex Sans Bold"/>
                <a:cs typeface="IBM Plex Sans Bold"/>
                <a:sym typeface="IBM Plex Sans Bold"/>
              </a:rPr>
              <a:t> Base Graph Represents </a:t>
            </a:r>
          </a:p>
          <a:p>
            <a:pPr algn="l">
              <a:lnSpc>
                <a:spcPts val="3435"/>
              </a:lnSpc>
            </a:pPr>
            <a:endParaRPr lang="en-US" sz="2664" b="1" spc="26" dirty="0">
              <a:solidFill>
                <a:srgbClr val="B7EE4A"/>
              </a:solidFill>
              <a:latin typeface="IBM Plex Sans Bold"/>
              <a:ea typeface="IBM Plex Sans Bold"/>
              <a:cs typeface="IBM Plex Sans Bold"/>
              <a:sym typeface="IBM Plex Sans Bold"/>
            </a:endParaRPr>
          </a:p>
        </p:txBody>
      </p:sp>
      <p:grpSp>
        <p:nvGrpSpPr>
          <p:cNvPr id="16" name="Group 16">
            <a:extLst>
              <a:ext uri="{FF2B5EF4-FFF2-40B4-BE49-F238E27FC236}">
                <a16:creationId xmlns:a16="http://schemas.microsoft.com/office/drawing/2014/main" id="{F05440A3-669F-B801-51B1-8F45704C33F5}"/>
              </a:ext>
            </a:extLst>
          </p:cNvPr>
          <p:cNvGrpSpPr/>
          <p:nvPr/>
        </p:nvGrpSpPr>
        <p:grpSpPr>
          <a:xfrm>
            <a:off x="0" y="8244826"/>
            <a:ext cx="2737757" cy="2737757"/>
            <a:chOff x="0" y="0"/>
            <a:chExt cx="3650343" cy="3650343"/>
          </a:xfrm>
        </p:grpSpPr>
        <p:sp>
          <p:nvSpPr>
            <p:cNvPr id="17" name="Freeform 17">
              <a:extLst>
                <a:ext uri="{FF2B5EF4-FFF2-40B4-BE49-F238E27FC236}">
                  <a16:creationId xmlns:a16="http://schemas.microsoft.com/office/drawing/2014/main" id="{85769AB9-58ED-5A1B-9EF3-0486119E8888}"/>
                </a:ext>
              </a:extLst>
            </p:cNvPr>
            <p:cNvSpPr/>
            <p:nvPr/>
          </p:nvSpPr>
          <p:spPr>
            <a:xfrm>
              <a:off x="0" y="0"/>
              <a:ext cx="3650343" cy="3650343"/>
            </a:xfrm>
            <a:custGeom>
              <a:avLst/>
              <a:gdLst/>
              <a:ahLst/>
              <a:cxnLst/>
              <a:rect l="l" t="t" r="r" b="b"/>
              <a:pathLst>
                <a:path w="3650343" h="3650343">
                  <a:moveTo>
                    <a:pt x="0" y="0"/>
                  </a:moveTo>
                  <a:lnTo>
                    <a:pt x="3650343" y="0"/>
                  </a:lnTo>
                  <a:lnTo>
                    <a:pt x="3650343" y="3650343"/>
                  </a:lnTo>
                  <a:lnTo>
                    <a:pt x="0" y="3650343"/>
                  </a:lnTo>
                  <a:lnTo>
                    <a:pt x="0" y="0"/>
                  </a:lnTo>
                  <a:close/>
                </a:path>
              </a:pathLst>
            </a:custGeom>
            <a:blipFill>
              <a:blip>
                <a:alphaModFix amt="4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8" name="Freeform 18">
              <a:extLst>
                <a:ext uri="{FF2B5EF4-FFF2-40B4-BE49-F238E27FC236}">
                  <a16:creationId xmlns:a16="http://schemas.microsoft.com/office/drawing/2014/main" id="{E261E0CB-61A0-5F24-F6F4-C9347BDF0EBF}"/>
                </a:ext>
              </a:extLst>
            </p:cNvPr>
            <p:cNvSpPr/>
            <p:nvPr/>
          </p:nvSpPr>
          <p:spPr>
            <a:xfrm>
              <a:off x="257215" y="827328"/>
              <a:ext cx="2779958" cy="1629020"/>
            </a:xfrm>
            <a:custGeom>
              <a:avLst/>
              <a:gdLst/>
              <a:ahLst/>
              <a:cxnLst/>
              <a:rect l="l" t="t" r="r" b="b"/>
              <a:pathLst>
                <a:path w="2779958" h="1629020">
                  <a:moveTo>
                    <a:pt x="0" y="0"/>
                  </a:moveTo>
                  <a:lnTo>
                    <a:pt x="2779958" y="0"/>
                  </a:lnTo>
                  <a:lnTo>
                    <a:pt x="2779958" y="1629020"/>
                  </a:lnTo>
                  <a:lnTo>
                    <a:pt x="0" y="1629020"/>
                  </a:lnTo>
                  <a:lnTo>
                    <a:pt x="0" y="0"/>
                  </a:lnTo>
                  <a:close/>
                </a:path>
              </a:pathLst>
            </a:custGeom>
            <a:blipFill>
              <a:blip r:embed="rId4"/>
              <a:stretch>
                <a:fillRect/>
              </a:stretch>
            </a:blipFill>
          </p:spPr>
          <p:txBody>
            <a:bodyPr/>
            <a:lstStyle/>
            <a:p>
              <a:endParaRPr lang="en-US"/>
            </a:p>
          </p:txBody>
        </p:sp>
      </p:grpSp>
      <p:sp>
        <p:nvSpPr>
          <p:cNvPr id="20" name="Freeform 5">
            <a:extLst>
              <a:ext uri="{FF2B5EF4-FFF2-40B4-BE49-F238E27FC236}">
                <a16:creationId xmlns:a16="http://schemas.microsoft.com/office/drawing/2014/main" id="{A9DD0134-9CA0-AC88-55EE-52EFDDDD69A2}"/>
              </a:ext>
            </a:extLst>
          </p:cNvPr>
          <p:cNvSpPr/>
          <p:nvPr/>
        </p:nvSpPr>
        <p:spPr>
          <a:xfrm>
            <a:off x="1676400" y="3695326"/>
            <a:ext cx="4046220" cy="4114800"/>
          </a:xfrm>
          <a:custGeom>
            <a:avLst/>
            <a:gdLst/>
            <a:ahLst/>
            <a:cxnLst/>
            <a:rect l="l" t="t" r="r" b="b"/>
            <a:pathLst>
              <a:path w="4046220" h="4114800">
                <a:moveTo>
                  <a:pt x="0" y="0"/>
                </a:moveTo>
                <a:lnTo>
                  <a:pt x="4046220" y="0"/>
                </a:lnTo>
                <a:lnTo>
                  <a:pt x="4046220"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 name="Slide Number Placeholder 1">
            <a:extLst>
              <a:ext uri="{FF2B5EF4-FFF2-40B4-BE49-F238E27FC236}">
                <a16:creationId xmlns:a16="http://schemas.microsoft.com/office/drawing/2014/main" id="{94A34620-7FD8-FC0F-73E1-25BCCB64B519}"/>
              </a:ext>
            </a:extLst>
          </p:cNvPr>
          <p:cNvSpPr>
            <a:spLocks noGrp="1"/>
          </p:cNvSpPr>
          <p:nvPr>
            <p:ph type="sldNum" sz="quarter" idx="12"/>
          </p:nvPr>
        </p:nvSpPr>
        <p:spPr>
          <a:xfrm>
            <a:off x="15925800" y="9715500"/>
            <a:ext cx="2133600" cy="365125"/>
          </a:xfrm>
        </p:spPr>
        <p:txBody>
          <a:bodyPr/>
          <a:lstStyle/>
          <a:p>
            <a:fld id="{B6F15528-21DE-4FAA-801E-634DDDAF4B2B}" type="slidenum">
              <a:rPr lang="en-US" smtClean="0"/>
              <a:pPr/>
              <a:t>13</a:t>
            </a:fld>
            <a:endParaRPr lang="en-US"/>
          </a:p>
        </p:txBody>
      </p:sp>
    </p:spTree>
    <p:extLst>
      <p:ext uri="{BB962C8B-B14F-4D97-AF65-F5344CB8AC3E}">
        <p14:creationId xmlns:p14="http://schemas.microsoft.com/office/powerpoint/2010/main" val="38977690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lin ang="5400000"/>
        </a:gradFill>
        <a:effectLst/>
      </p:bgPr>
    </p:bg>
    <p:spTree>
      <p:nvGrpSpPr>
        <p:cNvPr id="1" name=""/>
        <p:cNvGrpSpPr/>
        <p:nvPr/>
      </p:nvGrpSpPr>
      <p:grpSpPr>
        <a:xfrm>
          <a:off x="0" y="0"/>
          <a:ext cx="0" cy="0"/>
          <a:chOff x="0" y="0"/>
          <a:chExt cx="0" cy="0"/>
        </a:xfrm>
      </p:grpSpPr>
      <p:sp>
        <p:nvSpPr>
          <p:cNvPr id="4" name="AutoShape 4"/>
          <p:cNvSpPr/>
          <p:nvPr/>
        </p:nvSpPr>
        <p:spPr>
          <a:xfrm flipH="1">
            <a:off x="0" y="9676538"/>
            <a:ext cx="16463090" cy="0"/>
          </a:xfrm>
          <a:prstGeom prst="line">
            <a:avLst/>
          </a:prstGeom>
          <a:ln w="19050" cap="flat">
            <a:solidFill>
              <a:srgbClr val="FFFFFF"/>
            </a:solidFill>
            <a:prstDash val="solid"/>
            <a:headEnd type="none" w="sm" len="sm"/>
            <a:tailEnd type="none" w="sm" len="sm"/>
          </a:ln>
        </p:spPr>
        <p:txBody>
          <a:bodyPr/>
          <a:lstStyle/>
          <a:p>
            <a:endParaRPr lang="en-US"/>
          </a:p>
        </p:txBody>
      </p:sp>
      <p:sp>
        <p:nvSpPr>
          <p:cNvPr id="5" name="AutoShape 5"/>
          <p:cNvSpPr/>
          <p:nvPr/>
        </p:nvSpPr>
        <p:spPr>
          <a:xfrm flipH="1">
            <a:off x="17050227" y="9667013"/>
            <a:ext cx="960120" cy="0"/>
          </a:xfrm>
          <a:prstGeom prst="line">
            <a:avLst/>
          </a:prstGeom>
          <a:ln w="19050" cap="flat">
            <a:solidFill>
              <a:srgbClr val="FFFFFF"/>
            </a:solidFill>
            <a:prstDash val="solid"/>
            <a:headEnd type="none" w="sm" len="sm"/>
            <a:tailEnd type="none" w="sm" len="sm"/>
          </a:ln>
        </p:spPr>
        <p:txBody>
          <a:bodyPr/>
          <a:lstStyle/>
          <a:p>
            <a:endParaRPr lang="en-US"/>
          </a:p>
        </p:txBody>
      </p:sp>
      <p:sp>
        <p:nvSpPr>
          <p:cNvPr id="6" name="TextBox 6"/>
          <p:cNvSpPr txBox="1"/>
          <p:nvPr/>
        </p:nvSpPr>
        <p:spPr>
          <a:xfrm>
            <a:off x="1028700" y="1000125"/>
            <a:ext cx="16230600" cy="878835"/>
          </a:xfrm>
          <a:prstGeom prst="rect">
            <a:avLst/>
          </a:prstGeom>
        </p:spPr>
        <p:txBody>
          <a:bodyPr lIns="0" tIns="0" rIns="0" bIns="0" rtlCol="0" anchor="t">
            <a:spAutoFit/>
          </a:bodyPr>
          <a:lstStyle/>
          <a:p>
            <a:pPr algn="l">
              <a:lnSpc>
                <a:spcPts val="7025"/>
              </a:lnSpc>
            </a:pPr>
            <a:r>
              <a:rPr lang="en-US" sz="5616" b="1" spc="-16" dirty="0">
                <a:solidFill>
                  <a:srgbClr val="D7E5D8"/>
                </a:solidFill>
                <a:latin typeface="IBM Plex Sans Bold"/>
                <a:ea typeface="IBM Plex Sans Bold"/>
                <a:cs typeface="IBM Plex Sans Bold"/>
                <a:sym typeface="IBM Plex Sans Bold"/>
              </a:rPr>
              <a:t>BASE GRAPH</a:t>
            </a:r>
          </a:p>
        </p:txBody>
      </p:sp>
      <p:sp>
        <p:nvSpPr>
          <p:cNvPr id="7" name="TextBox 7"/>
          <p:cNvSpPr txBox="1"/>
          <p:nvPr/>
        </p:nvSpPr>
        <p:spPr>
          <a:xfrm>
            <a:off x="1028700" y="2004098"/>
            <a:ext cx="15138291" cy="692497"/>
          </a:xfrm>
          <a:prstGeom prst="rect">
            <a:avLst/>
          </a:prstGeom>
        </p:spPr>
        <p:txBody>
          <a:bodyPr lIns="0" tIns="0" rIns="0" bIns="0" rtlCol="0" anchor="t">
            <a:spAutoFit/>
          </a:bodyPr>
          <a:lstStyle/>
          <a:p>
            <a:pPr>
              <a:lnSpc>
                <a:spcPts val="2699"/>
              </a:lnSpc>
            </a:pPr>
            <a:r>
              <a:rPr lang="en-US" sz="2400" dirty="0">
                <a:solidFill>
                  <a:schemeClr val="bg2"/>
                </a:solidFill>
              </a:rPr>
              <a:t>Conductivity is an edge strength that reflects how recently and reliably a transition has been used, allowing relevant pathways to influence prediction more strongly while inactive pathways gradually weaken without being erased.</a:t>
            </a:r>
            <a:endParaRPr lang="en-US" sz="2400" spc="-5" dirty="0">
              <a:solidFill>
                <a:schemeClr val="bg2"/>
              </a:solidFill>
              <a:latin typeface="IBM Plex Sans"/>
              <a:ea typeface="IBM Plex Sans"/>
              <a:cs typeface="IBM Plex Sans"/>
              <a:sym typeface="IBM Plex Sans"/>
            </a:endParaRPr>
          </a:p>
        </p:txBody>
      </p:sp>
      <mc:AlternateContent xmlns:mc="http://schemas.openxmlformats.org/markup-compatibility/2006" xmlns:a14="http://schemas.microsoft.com/office/drawing/2010/main">
        <mc:Choice Requires="a14">
          <p:sp>
            <p:nvSpPr>
              <p:cNvPr id="8" name="TextBox 8"/>
              <p:cNvSpPr txBox="1"/>
              <p:nvPr/>
            </p:nvSpPr>
            <p:spPr>
              <a:xfrm>
                <a:off x="1028700" y="3809475"/>
                <a:ext cx="7705838" cy="4597734"/>
              </a:xfrm>
              <a:prstGeom prst="rect">
                <a:avLst/>
              </a:prstGeom>
            </p:spPr>
            <p:txBody>
              <a:bodyPr wrap="square" lIns="0" tIns="0" rIns="0" bIns="0" rtlCol="0" anchor="t">
                <a:spAutoFit/>
              </a:bodyPr>
              <a:lstStyle/>
              <a:p>
                <a:pPr>
                  <a:lnSpc>
                    <a:spcPts val="2428"/>
                  </a:lnSpc>
                </a:pPr>
                <a:r>
                  <a:rPr lang="en-US" dirty="0">
                    <a:solidFill>
                      <a:schemeClr val="bg2"/>
                    </a:solidFill>
                  </a:rPr>
                  <a:t>Each directed edge stores</a:t>
                </a:r>
              </a:p>
              <a:p>
                <a:pPr>
                  <a:lnSpc>
                    <a:spcPts val="2428"/>
                  </a:lnSpc>
                </a:pPr>
                <a:endParaRPr lang="en-US" i="1" dirty="0">
                  <a:solidFill>
                    <a:schemeClr val="bg2"/>
                  </a:solidFill>
                </a:endParaRPr>
              </a:p>
              <a:p>
                <a:pPr>
                  <a:lnSpc>
                    <a:spcPts val="2428"/>
                  </a:lnSpc>
                </a:pPr>
                <a:r>
                  <a:rPr lang="en-US" dirty="0">
                    <a:solidFill>
                      <a:schemeClr val="bg2"/>
                    </a:solidFill>
                  </a:rPr>
                  <a:t>	</a:t>
                </a:r>
                <a14:m>
                  <m:oMath xmlns:m="http://schemas.openxmlformats.org/officeDocument/2006/math">
                    <m:r>
                      <a:rPr lang="en-US" i="1" smtClean="0">
                        <a:solidFill>
                          <a:schemeClr val="bg2"/>
                        </a:solidFill>
                        <a:latin typeface="Cambria Math" panose="02040503050406030204" pitchFamily="18" charset="0"/>
                      </a:rPr>
                      <m:t>𝑒</m:t>
                    </m:r>
                    <m:r>
                      <a:rPr lang="en-US" i="1" smtClean="0">
                        <a:solidFill>
                          <a:schemeClr val="bg2"/>
                        </a:solidFill>
                        <a:latin typeface="Cambria Math" panose="02040503050406030204" pitchFamily="18" charset="0"/>
                      </a:rPr>
                      <m:t>=</m:t>
                    </m:r>
                    <m:d>
                      <m:dPr>
                        <m:begChr m:val="["/>
                        <m:endChr m:val="]"/>
                        <m:ctrlPr>
                          <a:rPr lang="en-US" i="1">
                            <a:solidFill>
                              <a:schemeClr val="bg2"/>
                            </a:solidFill>
                            <a:latin typeface="Cambria Math" panose="02040503050406030204" pitchFamily="18" charset="0"/>
                          </a:rPr>
                        </m:ctrlPr>
                      </m:dPr>
                      <m:e>
                        <m:m>
                          <m:mPr>
                            <m:plcHide m:val="on"/>
                            <m:mcs>
                              <m:mc>
                                <m:mcPr>
                                  <m:count m:val="4"/>
                                  <m:mcJc m:val="center"/>
                                </m:mcPr>
                              </m:mc>
                            </m:mcs>
                            <m:ctrlPr>
                              <a:rPr lang="en-US" i="1">
                                <a:solidFill>
                                  <a:schemeClr val="bg2"/>
                                </a:solidFill>
                                <a:latin typeface="Cambria Math" panose="02040503050406030204" pitchFamily="18" charset="0"/>
                              </a:rPr>
                            </m:ctrlPr>
                          </m:mPr>
                          <m:mr>
                            <m:e>
                              <m:r>
                                <a:rPr lang="en-US" i="1">
                                  <a:solidFill>
                                    <a:schemeClr val="bg2"/>
                                  </a:solidFill>
                                  <a:latin typeface="Cambria Math" panose="02040503050406030204" pitchFamily="18" charset="0"/>
                                </a:rPr>
                                <m:t>𝑤</m:t>
                              </m:r>
                            </m:e>
                            <m:e>
                              <m:acc>
                                <m:accPr>
                                  <m:chr m:val="‾"/>
                                  <m:ctrlPr>
                                    <a:rPr lang="en-US" i="1">
                                      <a:solidFill>
                                        <a:schemeClr val="bg2"/>
                                      </a:solidFill>
                                      <a:latin typeface="Cambria Math" panose="02040503050406030204" pitchFamily="18" charset="0"/>
                                    </a:rPr>
                                  </m:ctrlPr>
                                </m:accPr>
                                <m:e>
                                  <m:r>
                                    <a:rPr lang="en-US" i="1">
                                      <a:solidFill>
                                        <a:schemeClr val="bg2"/>
                                      </a:solidFill>
                                      <a:latin typeface="Cambria Math" panose="02040503050406030204" pitchFamily="18" charset="0"/>
                                    </a:rPr>
                                    <m:t>𝛿</m:t>
                                  </m:r>
                                </m:e>
                              </m:acc>
                            </m:e>
                            <m:e>
                              <m:r>
                                <a:rPr lang="en-US" i="1">
                                  <a:solidFill>
                                    <a:schemeClr val="bg2"/>
                                  </a:solidFill>
                                  <a:latin typeface="Cambria Math" panose="02040503050406030204" pitchFamily="18" charset="0"/>
                                </a:rPr>
                                <m:t>𝐷</m:t>
                              </m:r>
                            </m:e>
                            <m:e>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𝑡</m:t>
                                  </m:r>
                                </m:e>
                                <m:sub>
                                  <m:r>
                                    <a:rPr lang="en-US" i="1">
                                      <a:solidFill>
                                        <a:schemeClr val="bg2"/>
                                      </a:solidFill>
                                      <a:latin typeface="Cambria Math" panose="02040503050406030204" pitchFamily="18" charset="0"/>
                                    </a:rPr>
                                    <m:t>𝑙𝑎𝑠𝑡</m:t>
                                  </m:r>
                                </m:sub>
                              </m:sSub>
                            </m:e>
                          </m:mr>
                        </m:m>
                      </m:e>
                    </m:d>
                  </m:oMath>
                </a14:m>
                <a:r>
                  <a:rPr lang="en-US" dirty="0">
                    <a:solidFill>
                      <a:schemeClr val="bg2"/>
                    </a:solidFill>
                  </a:rPr>
                  <a:t>			(3.12)</a:t>
                </a:r>
              </a:p>
              <a:p>
                <a:pPr>
                  <a:lnSpc>
                    <a:spcPts val="2428"/>
                  </a:lnSpc>
                </a:pPr>
                <a:endParaRPr lang="en-US" dirty="0">
                  <a:solidFill>
                    <a:schemeClr val="bg2"/>
                  </a:solidFill>
                </a:endParaRPr>
              </a:p>
              <a:p>
                <a:pPr marL="285750" indent="-285750">
                  <a:lnSpc>
                    <a:spcPts val="2428"/>
                  </a:lnSpc>
                  <a:buFont typeface="Arial" panose="020B0604020202020204" pitchFamily="34" charset="0"/>
                  <a:buChar char="•"/>
                </a:pPr>
                <a:r>
                  <a:rPr lang="en-US" dirty="0">
                    <a:solidFill>
                      <a:schemeClr val="bg2"/>
                    </a:solidFill>
                  </a:rPr>
                  <a:t>w is traversal count,</a:t>
                </a:r>
              </a:p>
              <a:p>
                <a:pPr marL="285750" indent="-285750">
                  <a:lnSpc>
                    <a:spcPts val="2428"/>
                  </a:lnSpc>
                  <a:buFont typeface="Arial" panose="020B0604020202020204" pitchFamily="34" charset="0"/>
                  <a:buChar char="•"/>
                </a:pPr>
                <a:r>
                  <a:rPr lang="en-US" dirty="0">
                    <a:solidFill>
                      <a:schemeClr val="bg2"/>
                    </a:solidFill>
                  </a:rPr>
                  <a:t>δ̄ is the running mean signal increment, </a:t>
                </a:r>
                <a:endParaRPr lang="en-US" i="1" dirty="0">
                  <a:solidFill>
                    <a:schemeClr val="bg2"/>
                  </a:solidFill>
                </a:endParaRPr>
              </a:p>
              <a:p>
                <a:pPr marL="285750" indent="-285750">
                  <a:lnSpc>
                    <a:spcPts val="2428"/>
                  </a:lnSpc>
                  <a:buFont typeface="Arial" panose="020B0604020202020204" pitchFamily="34" charset="0"/>
                  <a:buChar char="•"/>
                </a:pPr>
                <a14:m>
                  <m:oMath xmlns:m="http://schemas.openxmlformats.org/officeDocument/2006/math">
                    <m:r>
                      <a:rPr lang="en-US" i="1">
                        <a:solidFill>
                          <a:schemeClr val="bg2"/>
                        </a:solidFill>
                        <a:latin typeface="Cambria Math" panose="02040503050406030204" pitchFamily="18" charset="0"/>
                      </a:rPr>
                      <m:t>𝐷</m:t>
                    </m:r>
                  </m:oMath>
                </a14:m>
                <a:r>
                  <a:rPr lang="en-US" dirty="0">
                    <a:solidFill>
                      <a:schemeClr val="bg2"/>
                    </a:solidFill>
                  </a:rPr>
                  <a:t> is conductivity, and </a:t>
                </a:r>
              </a:p>
              <a:p>
                <a:pPr marL="285750" indent="-285750">
                  <a:lnSpc>
                    <a:spcPts val="2428"/>
                  </a:lnSpc>
                  <a:buFont typeface="Arial" panose="020B0604020202020204" pitchFamily="34" charset="0"/>
                  <a:buChar char="•"/>
                </a:pPr>
                <a14:m>
                  <m:oMath xmlns:m="http://schemas.openxmlformats.org/officeDocument/2006/math">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𝑡</m:t>
                        </m:r>
                      </m:e>
                      <m:sub>
                        <m:r>
                          <a:rPr lang="en-US" i="1">
                            <a:solidFill>
                              <a:schemeClr val="bg2"/>
                            </a:solidFill>
                            <a:latin typeface="Cambria Math" panose="02040503050406030204" pitchFamily="18" charset="0"/>
                          </a:rPr>
                          <m:t>𝑙𝑎𝑠𝑡</m:t>
                        </m:r>
                      </m:sub>
                    </m:sSub>
                  </m:oMath>
                </a14:m>
                <a:r>
                  <a:rPr lang="en-US" dirty="0">
                    <a:solidFill>
                      <a:schemeClr val="bg2"/>
                    </a:solidFill>
                  </a:rPr>
                  <a:t> is the last reinforcement time</a:t>
                </a:r>
              </a:p>
              <a:p>
                <a:pPr>
                  <a:lnSpc>
                    <a:spcPts val="2428"/>
                  </a:lnSpc>
                </a:pPr>
                <a:endParaRPr lang="en-US" sz="1507" spc="21" dirty="0">
                  <a:solidFill>
                    <a:schemeClr val="bg2"/>
                  </a:solidFill>
                  <a:latin typeface="Amicale Light"/>
                  <a:ea typeface="Amicale Light"/>
                  <a:cs typeface="Amicale Light"/>
                  <a:sym typeface="Amicale Light"/>
                </a:endParaRPr>
              </a:p>
              <a:p>
                <a:pPr>
                  <a:lnSpc>
                    <a:spcPts val="2428"/>
                  </a:lnSpc>
                </a:pPr>
                <a:r>
                  <a:rPr lang="en-US" dirty="0">
                    <a:solidFill>
                      <a:schemeClr val="bg2"/>
                    </a:solidFill>
                  </a:rPr>
                  <a:t>Appending position </a:t>
                </a:r>
                <a14:m>
                  <m:oMath xmlns:m="http://schemas.openxmlformats.org/officeDocument/2006/math">
                    <m:r>
                      <a:rPr lang="en-US" i="1">
                        <a:solidFill>
                          <a:schemeClr val="bg2"/>
                        </a:solidFill>
                        <a:latin typeface="Cambria Math" panose="02040503050406030204" pitchFamily="18" charset="0"/>
                      </a:rPr>
                      <m:t>𝑖</m:t>
                    </m:r>
                    <m:r>
                      <a:rPr lang="en-US" i="1">
                        <a:solidFill>
                          <a:schemeClr val="bg2"/>
                        </a:solidFill>
                        <a:latin typeface="Cambria Math" panose="02040503050406030204" pitchFamily="18" charset="0"/>
                      </a:rPr>
                      <m:t> </m:t>
                    </m:r>
                  </m:oMath>
                </a14:m>
                <a:r>
                  <a:rPr lang="en-US" dirty="0">
                    <a:solidFill>
                      <a:schemeClr val="bg2"/>
                    </a:solidFill>
                  </a:rPr>
                  <a:t>creates find</a:t>
                </a:r>
                <a14:m>
                  <m:oMath xmlns:m="http://schemas.openxmlformats.org/officeDocument/2006/math">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𝑖</m:t>
                    </m:r>
                    <m:r>
                      <a:rPr lang="en-US" i="1">
                        <a:solidFill>
                          <a:schemeClr val="bg2"/>
                        </a:solidFill>
                        <a:latin typeface="Cambria Math" panose="02040503050406030204" pitchFamily="18" charset="0"/>
                      </a:rPr>
                      <m:t>−1) → </m:t>
                    </m:r>
                    <m:r>
                      <a:rPr lang="en-US" i="1">
                        <a:solidFill>
                          <a:schemeClr val="bg2"/>
                        </a:solidFill>
                        <a:latin typeface="Cambria Math" panose="02040503050406030204" pitchFamily="18" charset="0"/>
                      </a:rPr>
                      <m:t>𝑖</m:t>
                    </m:r>
                  </m:oMath>
                </a14:m>
                <a:r>
                  <a:rPr lang="en-US" dirty="0">
                    <a:solidFill>
                      <a:schemeClr val="bg2"/>
                    </a:solidFill>
                  </a:rPr>
                  <a:t> and updates</a:t>
                </a:r>
              </a:p>
              <a:p>
                <a:pPr>
                  <a:lnSpc>
                    <a:spcPts val="2428"/>
                  </a:lnSpc>
                </a:pPr>
                <a:endParaRPr lang="en-US" dirty="0">
                  <a:solidFill>
                    <a:schemeClr val="bg2"/>
                  </a:solidFill>
                </a:endParaRPr>
              </a:p>
              <a:p>
                <a:pPr>
                  <a:lnSpc>
                    <a:spcPts val="2428"/>
                  </a:lnSpc>
                </a:pPr>
                <a:r>
                  <a:rPr lang="en-US" dirty="0">
                    <a:solidFill>
                      <a:schemeClr val="bg2"/>
                    </a:solidFill>
                  </a:rPr>
                  <a:t>	</a:t>
                </a:r>
                <a14:m>
                  <m:oMath xmlns:m="http://schemas.openxmlformats.org/officeDocument/2006/math">
                    <m:r>
                      <a:rPr lang="en-US" i="1">
                        <a:solidFill>
                          <a:schemeClr val="bg2"/>
                        </a:solidFill>
                        <a:latin typeface="Cambria Math" panose="02040503050406030204" pitchFamily="18" charset="0"/>
                      </a:rPr>
                      <m:t>𝑤</m:t>
                    </m:r>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𝑤</m:t>
                    </m:r>
                    <m:r>
                      <a:rPr lang="en-US" i="1">
                        <a:solidFill>
                          <a:schemeClr val="bg2"/>
                        </a:solidFill>
                        <a:latin typeface="Cambria Math" panose="02040503050406030204" pitchFamily="18" charset="0"/>
                      </a:rPr>
                      <m:t>+1,  </m:t>
                    </m:r>
                    <m:acc>
                      <m:accPr>
                        <m:chr m:val="‾"/>
                        <m:ctrlPr>
                          <a:rPr lang="en-US" i="1">
                            <a:solidFill>
                              <a:schemeClr val="bg2"/>
                            </a:solidFill>
                            <a:latin typeface="Cambria Math" panose="02040503050406030204" pitchFamily="18" charset="0"/>
                          </a:rPr>
                        </m:ctrlPr>
                      </m:accPr>
                      <m:e>
                        <m:r>
                          <a:rPr lang="en-US" i="1">
                            <a:solidFill>
                              <a:schemeClr val="bg2"/>
                            </a:solidFill>
                            <a:latin typeface="Cambria Math" panose="02040503050406030204" pitchFamily="18" charset="0"/>
                          </a:rPr>
                          <m:t>𝛿</m:t>
                        </m:r>
                      </m:e>
                    </m:acc>
                    <m:r>
                      <a:rPr lang="en-US" i="1">
                        <a:solidFill>
                          <a:schemeClr val="bg2"/>
                        </a:solidFill>
                        <a:latin typeface="Cambria Math" panose="02040503050406030204" pitchFamily="18" charset="0"/>
                      </a:rPr>
                      <m:t>←</m:t>
                    </m:r>
                    <m:acc>
                      <m:accPr>
                        <m:chr m:val="‾"/>
                        <m:ctrlPr>
                          <a:rPr lang="en-US" i="1">
                            <a:solidFill>
                              <a:schemeClr val="bg2"/>
                            </a:solidFill>
                            <a:latin typeface="Cambria Math" panose="02040503050406030204" pitchFamily="18" charset="0"/>
                          </a:rPr>
                        </m:ctrlPr>
                      </m:accPr>
                      <m:e>
                        <m:r>
                          <a:rPr lang="en-US" i="1">
                            <a:solidFill>
                              <a:schemeClr val="bg2"/>
                            </a:solidFill>
                            <a:latin typeface="Cambria Math" panose="02040503050406030204" pitchFamily="18" charset="0"/>
                          </a:rPr>
                          <m:t>𝛿</m:t>
                        </m:r>
                      </m:e>
                    </m:acc>
                    <m:r>
                      <a:rPr lang="en-US" i="1">
                        <a:solidFill>
                          <a:schemeClr val="bg2"/>
                        </a:solidFill>
                        <a:latin typeface="Cambria Math" panose="02040503050406030204" pitchFamily="18" charset="0"/>
                      </a:rPr>
                      <m:t>+</m:t>
                    </m:r>
                    <m:f>
                      <m:fPr>
                        <m:ctrlPr>
                          <a:rPr lang="en-US" i="1">
                            <a:solidFill>
                              <a:schemeClr val="bg2"/>
                            </a:solidFill>
                            <a:latin typeface="Cambria Math" panose="02040503050406030204" pitchFamily="18" charset="0"/>
                          </a:rPr>
                        </m:ctrlPr>
                      </m:fPr>
                      <m:num>
                        <m:r>
                          <a:rPr lang="en-US" i="1">
                            <a:solidFill>
                              <a:schemeClr val="bg2"/>
                            </a:solidFill>
                            <a:latin typeface="Cambria Math" panose="02040503050406030204" pitchFamily="18" charset="0"/>
                          </a:rPr>
                          <m:t>𝛿</m:t>
                        </m:r>
                        <m:r>
                          <a:rPr lang="en-US" i="1">
                            <a:solidFill>
                              <a:schemeClr val="bg2"/>
                            </a:solidFill>
                            <a:latin typeface="Cambria Math" panose="02040503050406030204" pitchFamily="18" charset="0"/>
                          </a:rPr>
                          <m:t>−</m:t>
                        </m:r>
                        <m:acc>
                          <m:accPr>
                            <m:chr m:val="‾"/>
                            <m:ctrlPr>
                              <a:rPr lang="en-US" i="1">
                                <a:solidFill>
                                  <a:schemeClr val="bg2"/>
                                </a:solidFill>
                                <a:latin typeface="Cambria Math" panose="02040503050406030204" pitchFamily="18" charset="0"/>
                              </a:rPr>
                            </m:ctrlPr>
                          </m:accPr>
                          <m:e>
                            <m:r>
                              <a:rPr lang="en-US" i="1">
                                <a:solidFill>
                                  <a:schemeClr val="bg2"/>
                                </a:solidFill>
                                <a:latin typeface="Cambria Math" panose="02040503050406030204" pitchFamily="18" charset="0"/>
                              </a:rPr>
                              <m:t>𝛿</m:t>
                            </m:r>
                          </m:e>
                        </m:acc>
                      </m:num>
                      <m:den>
                        <m:r>
                          <a:rPr lang="en-US" i="1">
                            <a:solidFill>
                              <a:schemeClr val="bg2"/>
                            </a:solidFill>
                            <a:latin typeface="Cambria Math" panose="02040503050406030204" pitchFamily="18" charset="0"/>
                          </a:rPr>
                          <m:t>𝑤</m:t>
                        </m:r>
                      </m:den>
                    </m:f>
                  </m:oMath>
                </a14:m>
                <a:r>
                  <a:rPr lang="en-US" dirty="0">
                    <a:solidFill>
                      <a:schemeClr val="bg2"/>
                    </a:solidFill>
                  </a:rPr>
                  <a:t>		(3.13)</a:t>
                </a:r>
              </a:p>
              <a:p>
                <a:pPr>
                  <a:lnSpc>
                    <a:spcPts val="2428"/>
                  </a:lnSpc>
                </a:pPr>
                <a:endParaRPr lang="en-US" dirty="0">
                  <a:solidFill>
                    <a:schemeClr val="bg2"/>
                  </a:solidFill>
                </a:endParaRPr>
              </a:p>
              <a:p>
                <a:pPr>
                  <a:lnSpc>
                    <a:spcPts val="2428"/>
                  </a:lnSpc>
                </a:pPr>
                <a:r>
                  <a:rPr lang="en-US" dirty="0">
                    <a:solidFill>
                      <a:schemeClr val="bg2"/>
                    </a:solidFill>
                  </a:rPr>
                  <a:t>with </a:t>
                </a:r>
                <a14:m>
                  <m:oMath xmlns:m="http://schemas.openxmlformats.org/officeDocument/2006/math">
                    <m:r>
                      <a:rPr lang="en-US" i="1">
                        <a:solidFill>
                          <a:schemeClr val="bg2"/>
                        </a:solidFill>
                        <a:latin typeface="Cambria Math" panose="02040503050406030204" pitchFamily="18" charset="0"/>
                      </a:rPr>
                      <m:t>𝛿</m:t>
                    </m:r>
                    <m:r>
                      <a:rPr lang="en-US" i="1">
                        <a:solidFill>
                          <a:schemeClr val="bg2"/>
                        </a:solidFill>
                        <a:latin typeface="Cambria Math" panose="02040503050406030204" pitchFamily="18" charset="0"/>
                      </a:rPr>
                      <m:t> = </m:t>
                    </m:r>
                    <m:r>
                      <a:rPr lang="en-US" i="1">
                        <a:solidFill>
                          <a:schemeClr val="bg2"/>
                        </a:solidFill>
                        <a:latin typeface="Cambria Math" panose="02040503050406030204" pitchFamily="18" charset="0"/>
                      </a:rPr>
                      <m:t>𝑦</m:t>
                    </m:r>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𝑠</m:t>
                    </m:r>
                    <m:r>
                      <a:rPr lang="en-US" i="1">
                        <a:solidFill>
                          <a:schemeClr val="bg2"/>
                        </a:solidFill>
                        <a:latin typeface="Cambria Math" panose="02040503050406030204" pitchFamily="18" charset="0"/>
                      </a:rPr>
                      <m:t>) − </m:t>
                    </m:r>
                    <m:r>
                      <a:rPr lang="en-US" i="1">
                        <a:solidFill>
                          <a:schemeClr val="bg2"/>
                        </a:solidFill>
                        <a:latin typeface="Cambria Math" panose="02040503050406030204" pitchFamily="18" charset="0"/>
                      </a:rPr>
                      <m:t>𝑦</m:t>
                    </m:r>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𝑠</m:t>
                    </m:r>
                    <m:r>
                      <a:rPr lang="en-US" i="1">
                        <a:solidFill>
                          <a:schemeClr val="bg2"/>
                        </a:solidFill>
                        <a:latin typeface="Cambria Math" panose="02040503050406030204" pitchFamily="18" charset="0"/>
                      </a:rPr>
                      <m:t>−1)</m:t>
                    </m:r>
                  </m:oMath>
                </a14:m>
                <a:endParaRPr lang="en-US" dirty="0">
                  <a:solidFill>
                    <a:schemeClr val="bg2"/>
                  </a:solidFill>
                </a:endParaRPr>
              </a:p>
              <a:p>
                <a:pPr>
                  <a:lnSpc>
                    <a:spcPts val="2428"/>
                  </a:lnSpc>
                </a:pPr>
                <a:endParaRPr lang="en-US" sz="1507" spc="21" dirty="0">
                  <a:solidFill>
                    <a:schemeClr val="bg2"/>
                  </a:solidFill>
                  <a:latin typeface="Amicale Light"/>
                  <a:ea typeface="Amicale Light"/>
                  <a:cs typeface="Amicale Light"/>
                  <a:sym typeface="Amicale Light"/>
                </a:endParaRPr>
              </a:p>
            </p:txBody>
          </p:sp>
        </mc:Choice>
        <mc:Fallback xmlns="">
          <p:sp>
            <p:nvSpPr>
              <p:cNvPr id="8" name="TextBox 8"/>
              <p:cNvSpPr txBox="1">
                <a:spLocks noRot="1" noChangeAspect="1" noMove="1" noResize="1" noEditPoints="1" noAdjustHandles="1" noChangeArrowheads="1" noChangeShapeType="1" noTextEdit="1"/>
              </p:cNvSpPr>
              <p:nvPr/>
            </p:nvSpPr>
            <p:spPr>
              <a:xfrm>
                <a:off x="1028700" y="3809475"/>
                <a:ext cx="7705838" cy="4597734"/>
              </a:xfrm>
              <a:prstGeom prst="rect">
                <a:avLst/>
              </a:prstGeom>
              <a:blipFill>
                <a:blip r:embed="rId3"/>
                <a:stretch>
                  <a:fillRect l="-1899" t="-1326"/>
                </a:stretch>
              </a:blipFill>
            </p:spPr>
            <p:txBody>
              <a:bodyPr/>
              <a:lstStyle/>
              <a:p>
                <a:r>
                  <a:rPr lang="en-US">
                    <a:noFill/>
                  </a:rPr>
                  <a:t> </a:t>
                </a:r>
              </a:p>
            </p:txBody>
          </p:sp>
        </mc:Fallback>
      </mc:AlternateContent>
      <p:sp>
        <p:nvSpPr>
          <p:cNvPr id="12" name="TextBox 12"/>
          <p:cNvSpPr txBox="1"/>
          <p:nvPr/>
        </p:nvSpPr>
        <p:spPr>
          <a:xfrm>
            <a:off x="1021773" y="3175839"/>
            <a:ext cx="6559309" cy="413703"/>
          </a:xfrm>
          <a:prstGeom prst="rect">
            <a:avLst/>
          </a:prstGeom>
        </p:spPr>
        <p:txBody>
          <a:bodyPr lIns="0" tIns="0" rIns="0" bIns="0" rtlCol="0" anchor="t">
            <a:spAutoFit/>
          </a:bodyPr>
          <a:lstStyle/>
          <a:p>
            <a:pPr algn="l">
              <a:lnSpc>
                <a:spcPts val="3435"/>
              </a:lnSpc>
            </a:pPr>
            <a:r>
              <a:rPr lang="en-US" sz="2664" b="1" spc="26" dirty="0">
                <a:solidFill>
                  <a:srgbClr val="B7EE4A"/>
                </a:solidFill>
                <a:latin typeface="IBM Plex Sans Bold"/>
                <a:ea typeface="IBM Plex Sans Bold"/>
                <a:cs typeface="IBM Plex Sans Bold"/>
                <a:sym typeface="IBM Plex Sans Bold"/>
              </a:rPr>
              <a:t>Graph Edges</a:t>
            </a:r>
          </a:p>
        </p:txBody>
      </p:sp>
      <p:sp>
        <p:nvSpPr>
          <p:cNvPr id="13" name="TextBox 13"/>
          <p:cNvSpPr txBox="1"/>
          <p:nvPr/>
        </p:nvSpPr>
        <p:spPr>
          <a:xfrm>
            <a:off x="9128760" y="3255675"/>
            <a:ext cx="4068760" cy="417553"/>
          </a:xfrm>
          <a:prstGeom prst="rect">
            <a:avLst/>
          </a:prstGeom>
        </p:spPr>
        <p:txBody>
          <a:bodyPr lIns="0" tIns="0" rIns="0" bIns="0" rtlCol="0" anchor="t">
            <a:spAutoFit/>
          </a:bodyPr>
          <a:lstStyle/>
          <a:p>
            <a:pPr algn="l">
              <a:lnSpc>
                <a:spcPts val="3435"/>
              </a:lnSpc>
            </a:pPr>
            <a:r>
              <a:rPr lang="en-US" sz="2664" b="1" spc="26" dirty="0">
                <a:solidFill>
                  <a:srgbClr val="B7EE4A"/>
                </a:solidFill>
                <a:latin typeface="IBM Plex Sans Bold"/>
                <a:ea typeface="IBM Plex Sans Bold"/>
                <a:cs typeface="IBM Plex Sans Bold"/>
                <a:sym typeface="IBM Plex Sans Bold"/>
              </a:rPr>
              <a:t>Tero Conductivity</a:t>
            </a:r>
          </a:p>
        </p:txBody>
      </p:sp>
      <p:grpSp>
        <p:nvGrpSpPr>
          <p:cNvPr id="16" name="Group 16"/>
          <p:cNvGrpSpPr/>
          <p:nvPr/>
        </p:nvGrpSpPr>
        <p:grpSpPr>
          <a:xfrm>
            <a:off x="0" y="8244826"/>
            <a:ext cx="2737757" cy="2737757"/>
            <a:chOff x="0" y="0"/>
            <a:chExt cx="3650343" cy="3650343"/>
          </a:xfrm>
        </p:grpSpPr>
        <p:sp>
          <p:nvSpPr>
            <p:cNvPr id="17" name="Freeform 17"/>
            <p:cNvSpPr/>
            <p:nvPr/>
          </p:nvSpPr>
          <p:spPr>
            <a:xfrm>
              <a:off x="0" y="0"/>
              <a:ext cx="3650343" cy="3650343"/>
            </a:xfrm>
            <a:custGeom>
              <a:avLst/>
              <a:gdLst/>
              <a:ahLst/>
              <a:cxnLst/>
              <a:rect l="l" t="t" r="r" b="b"/>
              <a:pathLst>
                <a:path w="3650343" h="3650343">
                  <a:moveTo>
                    <a:pt x="0" y="0"/>
                  </a:moveTo>
                  <a:lnTo>
                    <a:pt x="3650343" y="0"/>
                  </a:lnTo>
                  <a:lnTo>
                    <a:pt x="3650343" y="3650343"/>
                  </a:lnTo>
                  <a:lnTo>
                    <a:pt x="0" y="3650343"/>
                  </a:lnTo>
                  <a:lnTo>
                    <a:pt x="0" y="0"/>
                  </a:lnTo>
                  <a:close/>
                </a:path>
              </a:pathLst>
            </a:custGeom>
            <a:blipFill>
              <a:blip>
                <a:alphaModFix amt="41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8" name="Freeform 18"/>
            <p:cNvSpPr/>
            <p:nvPr/>
          </p:nvSpPr>
          <p:spPr>
            <a:xfrm>
              <a:off x="257215" y="827328"/>
              <a:ext cx="2779958" cy="1629020"/>
            </a:xfrm>
            <a:custGeom>
              <a:avLst/>
              <a:gdLst/>
              <a:ahLst/>
              <a:cxnLst/>
              <a:rect l="l" t="t" r="r" b="b"/>
              <a:pathLst>
                <a:path w="2779958" h="1629020">
                  <a:moveTo>
                    <a:pt x="0" y="0"/>
                  </a:moveTo>
                  <a:lnTo>
                    <a:pt x="2779958" y="0"/>
                  </a:lnTo>
                  <a:lnTo>
                    <a:pt x="2779958" y="1629020"/>
                  </a:lnTo>
                  <a:lnTo>
                    <a:pt x="0" y="1629020"/>
                  </a:lnTo>
                  <a:lnTo>
                    <a:pt x="0" y="0"/>
                  </a:lnTo>
                  <a:close/>
                </a:path>
              </a:pathLst>
            </a:custGeom>
            <a:blipFill>
              <a:blip r:embed="rId5"/>
              <a:stretch>
                <a:fillRect/>
              </a:stretch>
            </a:blipFill>
          </p:spPr>
          <p:txBody>
            <a:bodyPr/>
            <a:lstStyle/>
            <a:p>
              <a:endParaRPr lang="en-US"/>
            </a:p>
          </p:txBody>
        </p:sp>
      </p:grpSp>
      <mc:AlternateContent xmlns:mc="http://schemas.openxmlformats.org/markup-compatibility/2006" xmlns:a14="http://schemas.microsoft.com/office/drawing/2010/main">
        <mc:Choice Requires="a14">
          <p:sp>
            <p:nvSpPr>
              <p:cNvPr id="21" name="TextBox 8">
                <a:extLst>
                  <a:ext uri="{FF2B5EF4-FFF2-40B4-BE49-F238E27FC236}">
                    <a16:creationId xmlns:a16="http://schemas.microsoft.com/office/drawing/2014/main" id="{01D267A2-AB1E-D6AA-472F-37567C4A7941}"/>
                  </a:ext>
                </a:extLst>
              </p:cNvPr>
              <p:cNvSpPr txBox="1"/>
              <p:nvPr/>
            </p:nvSpPr>
            <p:spPr>
              <a:xfrm>
                <a:off x="9206485" y="3855207"/>
                <a:ext cx="10140324" cy="3108543"/>
              </a:xfrm>
              <a:prstGeom prst="rect">
                <a:avLst/>
              </a:prstGeom>
            </p:spPr>
            <p:txBody>
              <a:bodyPr wrap="square" lIns="0" tIns="0" rIns="0" bIns="0" rtlCol="0" anchor="t">
                <a:spAutoFit/>
              </a:bodyPr>
              <a:lstStyle/>
              <a:p>
                <a:pPr>
                  <a:lnSpc>
                    <a:spcPts val="2428"/>
                  </a:lnSpc>
                </a:pPr>
                <a:r>
                  <a:rPr lang="en-US" dirty="0">
                    <a:solidFill>
                      <a:schemeClr val="bg2"/>
                    </a:solidFill>
                  </a:rPr>
                  <a:t>Modified from the </a:t>
                </a:r>
                <a:r>
                  <a:rPr lang="en-US" i="1" dirty="0" err="1">
                    <a:solidFill>
                      <a:schemeClr val="bg2"/>
                    </a:solidFill>
                  </a:rPr>
                  <a:t>Physarum</a:t>
                </a:r>
                <a:r>
                  <a:rPr lang="en-US" dirty="0">
                    <a:solidFill>
                      <a:schemeClr val="bg2"/>
                    </a:solidFill>
                  </a:rPr>
                  <a:t> Equation</a:t>
                </a:r>
              </a:p>
              <a:p>
                <a:pPr>
                  <a:lnSpc>
                    <a:spcPts val="2428"/>
                  </a:lnSpc>
                </a:pPr>
                <a:endParaRPr lang="en-US" i="1" dirty="0">
                  <a:solidFill>
                    <a:schemeClr val="bg2"/>
                  </a:solidFill>
                </a:endParaRPr>
              </a:p>
              <a:p>
                <a:pPr hangingPunct="0"/>
                <a:r>
                  <a:rPr lang="en-US" dirty="0">
                    <a:solidFill>
                      <a:schemeClr val="bg2"/>
                    </a:solidFill>
                  </a:rPr>
                  <a:t>	</a:t>
                </a:r>
                <a14:m>
                  <m:oMath xmlns:m="http://schemas.openxmlformats.org/officeDocument/2006/math">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𝐷</m:t>
                        </m:r>
                      </m:e>
                      <m:sub>
                        <m:r>
                          <a:rPr lang="en-US" i="1">
                            <a:solidFill>
                              <a:schemeClr val="bg2"/>
                            </a:solidFill>
                            <a:latin typeface="Cambria Math" panose="02040503050406030204" pitchFamily="18" charset="0"/>
                          </a:rPr>
                          <m:t>𝑒</m:t>
                        </m:r>
                      </m:sub>
                    </m:sSub>
                    <m:d>
                      <m:dPr>
                        <m:ctrlPr>
                          <a:rPr lang="en-US" i="1">
                            <a:solidFill>
                              <a:schemeClr val="bg2"/>
                            </a:solidFill>
                            <a:latin typeface="Cambria Math" panose="02040503050406030204" pitchFamily="18" charset="0"/>
                          </a:rPr>
                        </m:ctrlPr>
                      </m:dPr>
                      <m:e>
                        <m:r>
                          <a:rPr lang="en-US" i="1">
                            <a:solidFill>
                              <a:schemeClr val="bg2"/>
                            </a:solidFill>
                            <a:latin typeface="Cambria Math" panose="02040503050406030204" pitchFamily="18" charset="0"/>
                          </a:rPr>
                          <m:t>𝑡</m:t>
                        </m:r>
                      </m:e>
                    </m:d>
                    <m:r>
                      <a:rPr lang="en-US" i="1">
                        <a:solidFill>
                          <a:schemeClr val="bg2"/>
                        </a:solidFill>
                        <a:latin typeface="Cambria Math" panose="02040503050406030204" pitchFamily="18" charset="0"/>
                      </a:rPr>
                      <m:t>=</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𝐷</m:t>
                        </m:r>
                      </m:e>
                      <m:sub>
                        <m:r>
                          <a:rPr lang="en-US" i="1">
                            <a:solidFill>
                              <a:schemeClr val="bg2"/>
                            </a:solidFill>
                            <a:latin typeface="Cambria Math" panose="02040503050406030204" pitchFamily="18" charset="0"/>
                          </a:rPr>
                          <m:t>𝑒</m:t>
                        </m:r>
                      </m:sub>
                    </m:sSub>
                    <m:d>
                      <m:dPr>
                        <m:ctrlPr>
                          <a:rPr lang="en-US" i="1">
                            <a:solidFill>
                              <a:schemeClr val="bg2"/>
                            </a:solidFill>
                            <a:latin typeface="Cambria Math" panose="02040503050406030204" pitchFamily="18" charset="0"/>
                          </a:rPr>
                        </m:ctrlPr>
                      </m:dPr>
                      <m:e>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𝑡</m:t>
                            </m:r>
                          </m:e>
                          <m:sub>
                            <m:r>
                              <a:rPr lang="en-US" i="1">
                                <a:solidFill>
                                  <a:schemeClr val="bg2"/>
                                </a:solidFill>
                                <a:latin typeface="Cambria Math" panose="02040503050406030204" pitchFamily="18" charset="0"/>
                              </a:rPr>
                              <m:t>𝑙𝑎𝑠𝑡</m:t>
                            </m:r>
                          </m:sub>
                        </m:sSub>
                      </m:e>
                    </m:d>
                    <m:sSup>
                      <m:sSupPr>
                        <m:ctrlPr>
                          <a:rPr lang="en-US" i="1">
                            <a:solidFill>
                              <a:schemeClr val="bg2"/>
                            </a:solidFill>
                            <a:latin typeface="Cambria Math" panose="02040503050406030204" pitchFamily="18" charset="0"/>
                          </a:rPr>
                        </m:ctrlPr>
                      </m:sSupPr>
                      <m:e>
                        <m:d>
                          <m:dPr>
                            <m:ctrlPr>
                              <a:rPr lang="en-US" i="1">
                                <a:solidFill>
                                  <a:schemeClr val="bg2"/>
                                </a:solidFill>
                                <a:latin typeface="Cambria Math" panose="02040503050406030204" pitchFamily="18" charset="0"/>
                              </a:rPr>
                            </m:ctrlPr>
                          </m:dPr>
                          <m:e>
                            <m:r>
                              <a:rPr lang="en-US" i="1">
                                <a:solidFill>
                                  <a:schemeClr val="bg2"/>
                                </a:solidFill>
                                <a:latin typeface="Cambria Math" panose="02040503050406030204" pitchFamily="18" charset="0"/>
                              </a:rPr>
                              <m:t>1−</m:t>
                            </m:r>
                            <m:r>
                              <a:rPr lang="en-US" i="1">
                                <a:solidFill>
                                  <a:schemeClr val="bg2"/>
                                </a:solidFill>
                                <a:latin typeface="Cambria Math" panose="02040503050406030204" pitchFamily="18" charset="0"/>
                              </a:rPr>
                              <m:t>𝛾</m:t>
                            </m:r>
                          </m:e>
                        </m:d>
                      </m:e>
                      <m:sup>
                        <m:r>
                          <a:rPr lang="en-US" i="1">
                            <a:solidFill>
                              <a:schemeClr val="bg2"/>
                            </a:solidFill>
                            <a:latin typeface="Cambria Math" panose="02040503050406030204" pitchFamily="18" charset="0"/>
                          </a:rPr>
                          <m:t>𝑡</m:t>
                        </m:r>
                        <m:r>
                          <a:rPr lang="en-US" i="1">
                            <a:solidFill>
                              <a:schemeClr val="bg2"/>
                            </a:solidFill>
                            <a:latin typeface="Cambria Math" panose="02040503050406030204" pitchFamily="18" charset="0"/>
                          </a:rPr>
                          <m:t>−</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𝑡</m:t>
                            </m:r>
                          </m:e>
                          <m:sub>
                            <m:r>
                              <a:rPr lang="en-US" i="1">
                                <a:solidFill>
                                  <a:schemeClr val="bg2"/>
                                </a:solidFill>
                                <a:latin typeface="Cambria Math" panose="02040503050406030204" pitchFamily="18" charset="0"/>
                              </a:rPr>
                              <m:t>𝑙𝑎𝑠𝑡</m:t>
                            </m:r>
                          </m:sub>
                        </m:sSub>
                      </m:sup>
                    </m:sSup>
                  </m:oMath>
                </a14:m>
                <a:r>
                  <a:rPr lang="en-US" dirty="0">
                    <a:solidFill>
                      <a:schemeClr val="bg2"/>
                    </a:solidFill>
                  </a:rPr>
                  <a:t>			(3.14)</a:t>
                </a:r>
              </a:p>
              <a:p>
                <a:pPr hangingPunct="0"/>
                <a:endParaRPr lang="en-US" dirty="0">
                  <a:solidFill>
                    <a:schemeClr val="bg2"/>
                  </a:solidFill>
                </a:endParaRPr>
              </a:p>
              <a:p>
                <a:pPr hangingPunct="0"/>
                <a:r>
                  <a:rPr lang="en-US" dirty="0">
                    <a:solidFill>
                      <a:schemeClr val="bg2"/>
                    </a:solidFill>
                  </a:rPr>
                  <a:t>When a completed cycle matches an existing loop with alignment Q, </a:t>
                </a:r>
              </a:p>
              <a:p>
                <a:pPr hangingPunct="0"/>
                <a:r>
                  <a:rPr lang="en-US" dirty="0">
                    <a:solidFill>
                      <a:schemeClr val="bg2"/>
                    </a:solidFill>
                  </a:rPr>
                  <a:t>its edges are reinforced by</a:t>
                </a:r>
              </a:p>
              <a:p>
                <a:pPr hangingPunct="0"/>
                <a:endParaRPr lang="en-US" dirty="0">
                  <a:solidFill>
                    <a:schemeClr val="bg2"/>
                  </a:solidFill>
                </a:endParaRPr>
              </a:p>
              <a:p>
                <a:pPr hangingPunct="0"/>
                <a:r>
                  <a:rPr lang="en-US" dirty="0">
                    <a:solidFill>
                      <a:schemeClr val="bg2"/>
                    </a:solidFill>
                  </a:rPr>
                  <a:t>	</a:t>
                </a:r>
                <a14:m>
                  <m:oMath xmlns:m="http://schemas.openxmlformats.org/officeDocument/2006/math">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𝐷</m:t>
                        </m:r>
                      </m:e>
                      <m:sub>
                        <m:r>
                          <a:rPr lang="en-US" i="1">
                            <a:solidFill>
                              <a:schemeClr val="bg2"/>
                            </a:solidFill>
                            <a:latin typeface="Cambria Math" panose="02040503050406030204" pitchFamily="18" charset="0"/>
                          </a:rPr>
                          <m:t>𝑒</m:t>
                        </m:r>
                      </m:sub>
                    </m:sSub>
                    <m:r>
                      <a:rPr lang="en-US" i="1">
                        <a:solidFill>
                          <a:schemeClr val="bg2"/>
                        </a:solidFill>
                        <a:latin typeface="Cambria Math" panose="02040503050406030204" pitchFamily="18" charset="0"/>
                      </a:rPr>
                      <m:t>←</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𝐷</m:t>
                        </m:r>
                      </m:e>
                      <m:sub>
                        <m:r>
                          <a:rPr lang="en-US" i="1">
                            <a:solidFill>
                              <a:schemeClr val="bg2"/>
                            </a:solidFill>
                            <a:latin typeface="Cambria Math" panose="02040503050406030204" pitchFamily="18" charset="0"/>
                          </a:rPr>
                          <m:t>𝑒</m:t>
                        </m:r>
                      </m:sub>
                    </m:sSub>
                    <m:sSup>
                      <m:sSupPr>
                        <m:ctrlPr>
                          <a:rPr lang="en-US" i="1">
                            <a:solidFill>
                              <a:schemeClr val="bg2"/>
                            </a:solidFill>
                            <a:latin typeface="Cambria Math" panose="02040503050406030204" pitchFamily="18" charset="0"/>
                          </a:rPr>
                        </m:ctrlPr>
                      </m:sSupPr>
                      <m:e>
                        <m:d>
                          <m:dPr>
                            <m:ctrlPr>
                              <a:rPr lang="en-US" i="1">
                                <a:solidFill>
                                  <a:schemeClr val="bg2"/>
                                </a:solidFill>
                                <a:latin typeface="Cambria Math" panose="02040503050406030204" pitchFamily="18" charset="0"/>
                              </a:rPr>
                            </m:ctrlPr>
                          </m:dPr>
                          <m:e>
                            <m:r>
                              <a:rPr lang="en-US" i="1">
                                <a:solidFill>
                                  <a:schemeClr val="bg2"/>
                                </a:solidFill>
                                <a:latin typeface="Cambria Math" panose="02040503050406030204" pitchFamily="18" charset="0"/>
                              </a:rPr>
                              <m:t>1−</m:t>
                            </m:r>
                            <m:r>
                              <a:rPr lang="en-US" i="1">
                                <a:solidFill>
                                  <a:schemeClr val="bg2"/>
                                </a:solidFill>
                                <a:latin typeface="Cambria Math" panose="02040503050406030204" pitchFamily="18" charset="0"/>
                              </a:rPr>
                              <m:t>𝛾</m:t>
                            </m:r>
                          </m:e>
                        </m:d>
                      </m:e>
                      <m:sup>
                        <m:r>
                          <a:rPr lang="en-US" i="1">
                            <a:solidFill>
                              <a:schemeClr val="bg2"/>
                            </a:solidFill>
                            <a:latin typeface="Cambria Math" panose="02040503050406030204" pitchFamily="18" charset="0"/>
                          </a:rPr>
                          <m:t>𝑡</m:t>
                        </m:r>
                        <m:r>
                          <a:rPr lang="en-US" i="1">
                            <a:solidFill>
                              <a:schemeClr val="bg2"/>
                            </a:solidFill>
                            <a:latin typeface="Cambria Math" panose="02040503050406030204" pitchFamily="18" charset="0"/>
                          </a:rPr>
                          <m:t>−</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𝑡</m:t>
                            </m:r>
                          </m:e>
                          <m:sub>
                            <m:r>
                              <a:rPr lang="en-US" i="1">
                                <a:solidFill>
                                  <a:schemeClr val="bg2"/>
                                </a:solidFill>
                                <a:latin typeface="Cambria Math" panose="02040503050406030204" pitchFamily="18" charset="0"/>
                              </a:rPr>
                              <m:t>𝑙𝑎𝑠𝑡</m:t>
                            </m:r>
                          </m:sub>
                        </m:sSub>
                      </m:sup>
                    </m:sSup>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𝛼</m:t>
                    </m:r>
                    <m:r>
                      <a:rPr lang="en-US" i="1">
                        <a:solidFill>
                          <a:schemeClr val="bg2"/>
                        </a:solidFill>
                        <a:latin typeface="Cambria Math" panose="02040503050406030204" pitchFamily="18" charset="0"/>
                      </a:rPr>
                      <m:t>𝑄</m:t>
                    </m:r>
                    <m:r>
                      <a:rPr lang="en-US" i="1">
                        <a:solidFill>
                          <a:schemeClr val="bg2"/>
                        </a:solidFill>
                        <a:latin typeface="Cambria Math" panose="02040503050406030204" pitchFamily="18" charset="0"/>
                      </a:rPr>
                      <m:t>,  </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𝑡</m:t>
                        </m:r>
                      </m:e>
                      <m:sub>
                        <m:r>
                          <a:rPr lang="en-US" i="1">
                            <a:solidFill>
                              <a:schemeClr val="bg2"/>
                            </a:solidFill>
                            <a:latin typeface="Cambria Math" panose="02040503050406030204" pitchFamily="18" charset="0"/>
                          </a:rPr>
                          <m:t>𝑙𝑎𝑠𝑡</m:t>
                        </m:r>
                      </m:sub>
                    </m:sSub>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𝑡</m:t>
                    </m:r>
                  </m:oMath>
                </a14:m>
                <a:r>
                  <a:rPr lang="en-US" dirty="0">
                    <a:solidFill>
                      <a:schemeClr val="bg2"/>
                    </a:solidFill>
                  </a:rPr>
                  <a:t>		(3.15)</a:t>
                </a:r>
              </a:p>
              <a:p>
                <a:pPr hangingPunct="0"/>
                <a:endParaRPr lang="en-US" dirty="0">
                  <a:solidFill>
                    <a:schemeClr val="bg2"/>
                  </a:solidFill>
                </a:endParaRPr>
              </a:p>
              <a:p>
                <a:pPr hangingPunct="0"/>
                <a:r>
                  <a:rPr lang="en-US" dirty="0">
                    <a:solidFill>
                      <a:schemeClr val="bg2"/>
                    </a:solidFill>
                  </a:rPr>
                  <a:t>The gain </a:t>
                </a:r>
                <a14:m>
                  <m:oMath xmlns:m="http://schemas.openxmlformats.org/officeDocument/2006/math">
                    <m:r>
                      <a:rPr lang="en-US" i="1">
                        <a:solidFill>
                          <a:schemeClr val="bg2"/>
                        </a:solidFill>
                        <a:latin typeface="Cambria Math" panose="02040503050406030204" pitchFamily="18" charset="0"/>
                      </a:rPr>
                      <m:t>𝛾</m:t>
                    </m:r>
                  </m:oMath>
                </a14:m>
                <a:r>
                  <a:rPr lang="en-US" dirty="0">
                    <a:solidFill>
                      <a:schemeClr val="bg2"/>
                    </a:solidFill>
                  </a:rPr>
                  <a:t> controls decay and α controls reinforcement</a:t>
                </a:r>
              </a:p>
              <a:p>
                <a:pPr hangingPunct="0"/>
                <a:endParaRPr lang="en-US" dirty="0">
                  <a:solidFill>
                    <a:schemeClr val="bg2"/>
                  </a:solidFill>
                </a:endParaRPr>
              </a:p>
            </p:txBody>
          </p:sp>
        </mc:Choice>
        <mc:Fallback xmlns="">
          <p:sp>
            <p:nvSpPr>
              <p:cNvPr id="21" name="TextBox 8">
                <a:extLst>
                  <a:ext uri="{FF2B5EF4-FFF2-40B4-BE49-F238E27FC236}">
                    <a16:creationId xmlns:a16="http://schemas.microsoft.com/office/drawing/2014/main" id="{01D267A2-AB1E-D6AA-472F-37567C4A7941}"/>
                  </a:ext>
                </a:extLst>
              </p:cNvPr>
              <p:cNvSpPr txBox="1">
                <a:spLocks noRot="1" noChangeAspect="1" noMove="1" noResize="1" noEditPoints="1" noAdjustHandles="1" noChangeArrowheads="1" noChangeShapeType="1" noTextEdit="1"/>
              </p:cNvSpPr>
              <p:nvPr/>
            </p:nvSpPr>
            <p:spPr>
              <a:xfrm>
                <a:off x="9206485" y="3855207"/>
                <a:ext cx="10140324" cy="3108543"/>
              </a:xfrm>
              <a:prstGeom prst="rect">
                <a:avLst/>
              </a:prstGeom>
              <a:blipFill>
                <a:blip r:embed="rId7"/>
                <a:stretch>
                  <a:fillRect l="-1382" t="-19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8">
                <a:extLst>
                  <a:ext uri="{FF2B5EF4-FFF2-40B4-BE49-F238E27FC236}">
                    <a16:creationId xmlns:a16="http://schemas.microsoft.com/office/drawing/2014/main" id="{50B6A5EC-D4C8-4DD9-543A-C1BB37C7A622}"/>
                  </a:ext>
                </a:extLst>
              </p:cNvPr>
              <p:cNvSpPr txBox="1"/>
              <p:nvPr/>
            </p:nvSpPr>
            <p:spPr>
              <a:xfrm>
                <a:off x="9194016" y="7591776"/>
                <a:ext cx="7859029" cy="1317027"/>
              </a:xfrm>
              <a:prstGeom prst="rect">
                <a:avLst/>
              </a:prstGeom>
            </p:spPr>
            <p:txBody>
              <a:bodyPr wrap="square" lIns="0" tIns="0" rIns="0" bIns="0" rtlCol="0" anchor="t">
                <a:spAutoFit/>
              </a:bodyPr>
              <a:lstStyle/>
              <a:p>
                <a:pPr hangingPunct="0"/>
                <a:r>
                  <a:rPr lang="en-US" dirty="0">
                    <a:solidFill>
                      <a:schemeClr val="bg2"/>
                    </a:solidFill>
                  </a:rPr>
                  <a:t>	</a:t>
                </a:r>
                <a14:m>
                  <m:oMath xmlns:m="http://schemas.openxmlformats.org/officeDocument/2006/math">
                    <m:r>
                      <a:rPr lang="en-US" i="1" smtClean="0">
                        <a:solidFill>
                          <a:schemeClr val="bg2"/>
                        </a:solidFill>
                        <a:latin typeface="Cambria Math" panose="02040503050406030204" pitchFamily="18" charset="0"/>
                      </a:rPr>
                      <m:t>𝑖𝑛𝑐</m:t>
                    </m:r>
                    <m:d>
                      <m:dPr>
                        <m:ctrlPr>
                          <a:rPr lang="en-US" i="1">
                            <a:solidFill>
                              <a:schemeClr val="bg2"/>
                            </a:solidFill>
                            <a:latin typeface="Cambria Math" panose="02040503050406030204" pitchFamily="18" charset="0"/>
                          </a:rPr>
                        </m:ctrlPr>
                      </m:dPr>
                      <m:e>
                        <m:r>
                          <a:rPr lang="en-US" i="1">
                            <a:solidFill>
                              <a:schemeClr val="bg2"/>
                            </a:solidFill>
                            <a:latin typeface="Cambria Math" panose="02040503050406030204" pitchFamily="18" charset="0"/>
                          </a:rPr>
                          <m:t>𝑟</m:t>
                        </m:r>
                      </m:e>
                    </m:d>
                    <m:r>
                      <a:rPr lang="en-US" i="1">
                        <a:solidFill>
                          <a:schemeClr val="bg2"/>
                        </a:solidFill>
                        <a:latin typeface="Cambria Math" panose="02040503050406030204" pitchFamily="18" charset="0"/>
                      </a:rPr>
                      <m:t>=</m:t>
                    </m:r>
                    <m:f>
                      <m:fPr>
                        <m:ctrlPr>
                          <a:rPr lang="en-US" i="1">
                            <a:solidFill>
                              <a:schemeClr val="bg2"/>
                            </a:solidFill>
                            <a:latin typeface="Cambria Math" panose="02040503050406030204" pitchFamily="18" charset="0"/>
                          </a:rPr>
                        </m:ctrlPr>
                      </m:fPr>
                      <m:num>
                        <m:nary>
                          <m:naryPr>
                            <m:chr m:val="∑"/>
                            <m:limLoc m:val="undOvr"/>
                            <m:ctrlPr>
                              <a:rPr lang="en-US" i="1">
                                <a:solidFill>
                                  <a:schemeClr val="bg2"/>
                                </a:solidFill>
                                <a:latin typeface="Cambria Math" panose="02040503050406030204" pitchFamily="18" charset="0"/>
                              </a:rPr>
                            </m:ctrlPr>
                          </m:naryPr>
                          <m:sub>
                            <m:r>
                              <a:rPr lang="en-US" i="1">
                                <a:solidFill>
                                  <a:schemeClr val="bg2"/>
                                </a:solidFill>
                                <a:latin typeface="Cambria Math" panose="02040503050406030204" pitchFamily="18" charset="0"/>
                              </a:rPr>
                              <m:t>𝑒</m:t>
                            </m:r>
                          </m:sub>
                          <m:sup>
                            <m:r>
                              <a:rPr lang="en-US" i="1">
                                <a:solidFill>
                                  <a:schemeClr val="bg2"/>
                                </a:solidFill>
                                <a:latin typeface="Cambria Math" panose="02040503050406030204" pitchFamily="18" charset="0"/>
                              </a:rPr>
                              <m:t>​</m:t>
                            </m:r>
                          </m:sup>
                          <m:e>
                            <m:sSub>
                              <m:sSubPr>
                                <m:ctrlPr>
                                  <a:rPr lang="en-US" i="1">
                                    <a:solidFill>
                                      <a:schemeClr val="bg2"/>
                                    </a:solidFill>
                                    <a:latin typeface="Cambria Math" panose="02040503050406030204" pitchFamily="18" charset="0"/>
                                  </a:rPr>
                                </m:ctrlPr>
                              </m:sSubPr>
                              <m:e>
                                <m:acc>
                                  <m:accPr>
                                    <m:chr m:val="̃"/>
                                    <m:ctrlPr>
                                      <a:rPr lang="en-US" i="1">
                                        <a:solidFill>
                                          <a:schemeClr val="bg2"/>
                                        </a:solidFill>
                                        <a:latin typeface="Cambria Math" panose="02040503050406030204" pitchFamily="18" charset="0"/>
                                      </a:rPr>
                                    </m:ctrlPr>
                                  </m:accPr>
                                  <m:e>
                                    <m:r>
                                      <a:rPr lang="en-US" i="1">
                                        <a:solidFill>
                                          <a:schemeClr val="bg2"/>
                                        </a:solidFill>
                                        <a:latin typeface="Cambria Math" panose="02040503050406030204" pitchFamily="18" charset="0"/>
                                      </a:rPr>
                                      <m:t>𝐷</m:t>
                                    </m:r>
                                  </m:e>
                                </m:acc>
                              </m:e>
                              <m:sub>
                                <m:r>
                                  <a:rPr lang="en-US" i="1">
                                    <a:solidFill>
                                      <a:schemeClr val="bg2"/>
                                    </a:solidFill>
                                    <a:latin typeface="Cambria Math" panose="02040503050406030204" pitchFamily="18" charset="0"/>
                                  </a:rPr>
                                  <m:t>𝑒</m:t>
                                </m:r>
                              </m:sub>
                            </m:sSub>
                          </m:e>
                        </m:nary>
                        <m:sSub>
                          <m:sSubPr>
                            <m:ctrlPr>
                              <a:rPr lang="en-US" i="1">
                                <a:solidFill>
                                  <a:schemeClr val="bg2"/>
                                </a:solidFill>
                                <a:latin typeface="Cambria Math" panose="02040503050406030204" pitchFamily="18" charset="0"/>
                              </a:rPr>
                            </m:ctrlPr>
                          </m:sSubPr>
                          <m:e>
                            <m:acc>
                              <m:accPr>
                                <m:chr m:val="‾"/>
                                <m:ctrlPr>
                                  <a:rPr lang="en-US" i="1">
                                    <a:solidFill>
                                      <a:schemeClr val="bg2"/>
                                    </a:solidFill>
                                    <a:latin typeface="Cambria Math" panose="02040503050406030204" pitchFamily="18" charset="0"/>
                                  </a:rPr>
                                </m:ctrlPr>
                              </m:accPr>
                              <m:e>
                                <m:r>
                                  <a:rPr lang="en-US" i="1">
                                    <a:solidFill>
                                      <a:schemeClr val="bg2"/>
                                    </a:solidFill>
                                    <a:latin typeface="Cambria Math" panose="02040503050406030204" pitchFamily="18" charset="0"/>
                                  </a:rPr>
                                  <m:t>𝛿</m:t>
                                </m:r>
                              </m:e>
                            </m:acc>
                          </m:e>
                          <m:sub>
                            <m:r>
                              <a:rPr lang="en-US" i="1">
                                <a:solidFill>
                                  <a:schemeClr val="bg2"/>
                                </a:solidFill>
                                <a:latin typeface="Cambria Math" panose="02040503050406030204" pitchFamily="18" charset="0"/>
                              </a:rPr>
                              <m:t>𝑒</m:t>
                            </m:r>
                          </m:sub>
                        </m:sSub>
                      </m:num>
                      <m:den>
                        <m:nary>
                          <m:naryPr>
                            <m:chr m:val="∑"/>
                            <m:limLoc m:val="undOvr"/>
                            <m:ctrlPr>
                              <a:rPr lang="en-US" i="1">
                                <a:solidFill>
                                  <a:schemeClr val="bg2"/>
                                </a:solidFill>
                                <a:latin typeface="Cambria Math" panose="02040503050406030204" pitchFamily="18" charset="0"/>
                              </a:rPr>
                            </m:ctrlPr>
                          </m:naryPr>
                          <m:sub>
                            <m:r>
                              <a:rPr lang="en-US" i="1">
                                <a:solidFill>
                                  <a:schemeClr val="bg2"/>
                                </a:solidFill>
                                <a:latin typeface="Cambria Math" panose="02040503050406030204" pitchFamily="18" charset="0"/>
                              </a:rPr>
                              <m:t>𝑒</m:t>
                            </m:r>
                          </m:sub>
                          <m:sup>
                            <m:r>
                              <a:rPr lang="en-US" i="1">
                                <a:solidFill>
                                  <a:schemeClr val="bg2"/>
                                </a:solidFill>
                                <a:latin typeface="Cambria Math" panose="02040503050406030204" pitchFamily="18" charset="0"/>
                              </a:rPr>
                              <m:t>​</m:t>
                            </m:r>
                          </m:sup>
                          <m:e>
                            <m:sSub>
                              <m:sSubPr>
                                <m:ctrlPr>
                                  <a:rPr lang="en-US" i="1">
                                    <a:solidFill>
                                      <a:schemeClr val="bg2"/>
                                    </a:solidFill>
                                    <a:latin typeface="Cambria Math" panose="02040503050406030204" pitchFamily="18" charset="0"/>
                                  </a:rPr>
                                </m:ctrlPr>
                              </m:sSubPr>
                              <m:e>
                                <m:acc>
                                  <m:accPr>
                                    <m:chr m:val="̃"/>
                                    <m:ctrlPr>
                                      <a:rPr lang="en-US" i="1">
                                        <a:solidFill>
                                          <a:schemeClr val="bg2"/>
                                        </a:solidFill>
                                        <a:latin typeface="Cambria Math" panose="02040503050406030204" pitchFamily="18" charset="0"/>
                                      </a:rPr>
                                    </m:ctrlPr>
                                  </m:accPr>
                                  <m:e>
                                    <m:r>
                                      <a:rPr lang="en-US" i="1">
                                        <a:solidFill>
                                          <a:schemeClr val="bg2"/>
                                        </a:solidFill>
                                        <a:latin typeface="Cambria Math" panose="02040503050406030204" pitchFamily="18" charset="0"/>
                                      </a:rPr>
                                      <m:t>𝐷</m:t>
                                    </m:r>
                                  </m:e>
                                </m:acc>
                              </m:e>
                              <m:sub>
                                <m:r>
                                  <a:rPr lang="en-US" i="1">
                                    <a:solidFill>
                                      <a:schemeClr val="bg2"/>
                                    </a:solidFill>
                                    <a:latin typeface="Cambria Math" panose="02040503050406030204" pitchFamily="18" charset="0"/>
                                  </a:rPr>
                                  <m:t>𝑒</m:t>
                                </m:r>
                              </m:sub>
                            </m:sSub>
                          </m:e>
                        </m:nary>
                      </m:den>
                    </m:f>
                  </m:oMath>
                </a14:m>
                <a:r>
                  <a:rPr lang="en-US" dirty="0">
                    <a:solidFill>
                      <a:schemeClr val="bg2"/>
                    </a:solidFill>
                  </a:rPr>
                  <a:t>					(3.16)</a:t>
                </a:r>
              </a:p>
              <a:p>
                <a:pPr hangingPunct="0"/>
                <a:endParaRPr lang="en-US" dirty="0">
                  <a:solidFill>
                    <a:schemeClr val="bg2"/>
                  </a:solidFill>
                </a:endParaRPr>
              </a:p>
              <a:p>
                <a:pPr hangingPunct="0"/>
                <a14:m>
                  <m:oMath xmlns:m="http://schemas.openxmlformats.org/officeDocument/2006/math">
                    <m:sSub>
                      <m:sSubPr>
                        <m:ctrlPr>
                          <a:rPr lang="en-US" i="1">
                            <a:solidFill>
                              <a:schemeClr val="bg2"/>
                            </a:solidFill>
                            <a:latin typeface="Cambria Math" panose="02040503050406030204" pitchFamily="18" charset="0"/>
                          </a:rPr>
                        </m:ctrlPr>
                      </m:sSubPr>
                      <m:e>
                        <m:acc>
                          <m:accPr>
                            <m:chr m:val="̃"/>
                            <m:ctrlPr>
                              <a:rPr lang="en-US" i="1">
                                <a:solidFill>
                                  <a:schemeClr val="bg2"/>
                                </a:solidFill>
                                <a:latin typeface="Cambria Math" panose="02040503050406030204" pitchFamily="18" charset="0"/>
                              </a:rPr>
                            </m:ctrlPr>
                          </m:accPr>
                          <m:e>
                            <m:r>
                              <a:rPr lang="en-US" i="1">
                                <a:solidFill>
                                  <a:schemeClr val="bg2"/>
                                </a:solidFill>
                                <a:latin typeface="Cambria Math" panose="02040503050406030204" pitchFamily="18" charset="0"/>
                              </a:rPr>
                              <m:t>𝐷</m:t>
                            </m:r>
                          </m:e>
                        </m:acc>
                      </m:e>
                      <m:sub>
                        <m:r>
                          <a:rPr lang="en-US" i="1">
                            <a:solidFill>
                              <a:schemeClr val="bg2"/>
                            </a:solidFill>
                            <a:latin typeface="Cambria Math" panose="02040503050406030204" pitchFamily="18" charset="0"/>
                          </a:rPr>
                          <m:t>𝑒</m:t>
                        </m:r>
                      </m:sub>
                    </m:sSub>
                  </m:oMath>
                </a14:m>
                <a:r>
                  <a:rPr lang="en-US" dirty="0">
                    <a:solidFill>
                      <a:schemeClr val="bg2"/>
                    </a:solidFill>
                  </a:rPr>
                  <a:t> is conductivity decayed to a common reference time</a:t>
                </a:r>
              </a:p>
              <a:p>
                <a:pPr>
                  <a:lnSpc>
                    <a:spcPts val="2428"/>
                  </a:lnSpc>
                </a:pPr>
                <a:endParaRPr lang="en-US" sz="1507" spc="21" dirty="0">
                  <a:solidFill>
                    <a:schemeClr val="bg2"/>
                  </a:solidFill>
                  <a:latin typeface="Amicale Light"/>
                  <a:ea typeface="Amicale Light"/>
                  <a:cs typeface="Amicale Light"/>
                  <a:sym typeface="Amicale Light"/>
                </a:endParaRPr>
              </a:p>
            </p:txBody>
          </p:sp>
        </mc:Choice>
        <mc:Fallback xmlns="">
          <p:sp>
            <p:nvSpPr>
              <p:cNvPr id="23" name="TextBox 8">
                <a:extLst>
                  <a:ext uri="{FF2B5EF4-FFF2-40B4-BE49-F238E27FC236}">
                    <a16:creationId xmlns:a16="http://schemas.microsoft.com/office/drawing/2014/main" id="{50B6A5EC-D4C8-4DD9-543A-C1BB37C7A622}"/>
                  </a:ext>
                </a:extLst>
              </p:cNvPr>
              <p:cNvSpPr txBox="1">
                <a:spLocks noRot="1" noChangeAspect="1" noMove="1" noResize="1" noEditPoints="1" noAdjustHandles="1" noChangeArrowheads="1" noChangeShapeType="1" noTextEdit="1"/>
              </p:cNvSpPr>
              <p:nvPr/>
            </p:nvSpPr>
            <p:spPr>
              <a:xfrm>
                <a:off x="9194016" y="7591776"/>
                <a:ext cx="7859029" cy="1317027"/>
              </a:xfrm>
              <a:prstGeom prst="rect">
                <a:avLst/>
              </a:prstGeom>
              <a:blipFill>
                <a:blip r:embed="rId8"/>
                <a:stretch>
                  <a:fillRect l="-1009"/>
                </a:stretch>
              </a:blipFill>
            </p:spPr>
            <p:txBody>
              <a:bodyPr/>
              <a:lstStyle/>
              <a:p>
                <a:r>
                  <a:rPr lang="en-US">
                    <a:noFill/>
                  </a:rPr>
                  <a:t> </a:t>
                </a:r>
              </a:p>
            </p:txBody>
          </p:sp>
        </mc:Fallback>
      </mc:AlternateContent>
      <p:sp>
        <p:nvSpPr>
          <p:cNvPr id="25" name="TextBox 12">
            <a:extLst>
              <a:ext uri="{FF2B5EF4-FFF2-40B4-BE49-F238E27FC236}">
                <a16:creationId xmlns:a16="http://schemas.microsoft.com/office/drawing/2014/main" id="{B5A3EAEC-4BAA-66ED-F10E-A49EF54AE0A2}"/>
              </a:ext>
            </a:extLst>
          </p:cNvPr>
          <p:cNvSpPr txBox="1"/>
          <p:nvPr/>
        </p:nvSpPr>
        <p:spPr>
          <a:xfrm>
            <a:off x="9144000" y="6983648"/>
            <a:ext cx="6559309" cy="413703"/>
          </a:xfrm>
          <a:prstGeom prst="rect">
            <a:avLst/>
          </a:prstGeom>
        </p:spPr>
        <p:txBody>
          <a:bodyPr lIns="0" tIns="0" rIns="0" bIns="0" rtlCol="0" anchor="t">
            <a:spAutoFit/>
          </a:bodyPr>
          <a:lstStyle/>
          <a:p>
            <a:pPr algn="l">
              <a:lnSpc>
                <a:spcPts val="3435"/>
              </a:lnSpc>
            </a:pPr>
            <a:r>
              <a:rPr lang="en-US" sz="2664" b="1" spc="26" dirty="0">
                <a:solidFill>
                  <a:srgbClr val="B7EE4A"/>
                </a:solidFill>
                <a:latin typeface="IBM Plex Sans Bold"/>
                <a:ea typeface="IBM Plex Sans Bold"/>
                <a:cs typeface="IBM Plex Sans Bold"/>
                <a:sym typeface="IBM Plex Sans Bold"/>
              </a:rPr>
              <a:t>Conductivity Forward Increment</a:t>
            </a:r>
          </a:p>
        </p:txBody>
      </p:sp>
      <p:sp>
        <p:nvSpPr>
          <p:cNvPr id="2" name="Slide Number Placeholder 1">
            <a:extLst>
              <a:ext uri="{FF2B5EF4-FFF2-40B4-BE49-F238E27FC236}">
                <a16:creationId xmlns:a16="http://schemas.microsoft.com/office/drawing/2014/main" id="{F21D5410-0DFF-3308-3A3D-4E59B0D9871C}"/>
              </a:ext>
            </a:extLst>
          </p:cNvPr>
          <p:cNvSpPr>
            <a:spLocks noGrp="1"/>
          </p:cNvSpPr>
          <p:nvPr>
            <p:ph type="sldNum" sz="quarter" idx="12"/>
          </p:nvPr>
        </p:nvSpPr>
        <p:spPr>
          <a:xfrm>
            <a:off x="15925800" y="9715500"/>
            <a:ext cx="2133600" cy="365125"/>
          </a:xfrm>
        </p:spPr>
        <p:txBody>
          <a:bodyPr/>
          <a:lstStyle/>
          <a:p>
            <a:fld id="{B6F15528-21DE-4FAA-801E-634DDDAF4B2B}"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lin ang="5400000"/>
        </a:gradFill>
        <a:effectLst/>
      </p:bgPr>
    </p:bg>
    <p:spTree>
      <p:nvGrpSpPr>
        <p:cNvPr id="1" name="">
          <a:extLst>
            <a:ext uri="{FF2B5EF4-FFF2-40B4-BE49-F238E27FC236}">
              <a16:creationId xmlns:a16="http://schemas.microsoft.com/office/drawing/2014/main" id="{2BF6EAFF-E9C0-899B-681E-EE1252F9C4AB}"/>
            </a:ext>
          </a:extLst>
        </p:cNvPr>
        <p:cNvGrpSpPr/>
        <p:nvPr/>
      </p:nvGrpSpPr>
      <p:grpSpPr>
        <a:xfrm>
          <a:off x="0" y="0"/>
          <a:ext cx="0" cy="0"/>
          <a:chOff x="0" y="0"/>
          <a:chExt cx="0" cy="0"/>
        </a:xfrm>
      </p:grpSpPr>
      <p:sp>
        <p:nvSpPr>
          <p:cNvPr id="4" name="AutoShape 4">
            <a:extLst>
              <a:ext uri="{FF2B5EF4-FFF2-40B4-BE49-F238E27FC236}">
                <a16:creationId xmlns:a16="http://schemas.microsoft.com/office/drawing/2014/main" id="{9C82A28C-94F5-4D10-3CE1-C909C8032378}"/>
              </a:ext>
            </a:extLst>
          </p:cNvPr>
          <p:cNvSpPr/>
          <p:nvPr/>
        </p:nvSpPr>
        <p:spPr>
          <a:xfrm flipH="1">
            <a:off x="0" y="9676538"/>
            <a:ext cx="16463090" cy="0"/>
          </a:xfrm>
          <a:prstGeom prst="line">
            <a:avLst/>
          </a:prstGeom>
          <a:ln w="19050" cap="flat">
            <a:solidFill>
              <a:srgbClr val="FFFFFF"/>
            </a:solidFill>
            <a:prstDash val="solid"/>
            <a:headEnd type="none" w="sm" len="sm"/>
            <a:tailEnd type="none" w="sm" len="sm"/>
          </a:ln>
        </p:spPr>
        <p:txBody>
          <a:bodyPr/>
          <a:lstStyle/>
          <a:p>
            <a:endParaRPr lang="en-US"/>
          </a:p>
        </p:txBody>
      </p:sp>
      <p:sp>
        <p:nvSpPr>
          <p:cNvPr id="5" name="AutoShape 5">
            <a:extLst>
              <a:ext uri="{FF2B5EF4-FFF2-40B4-BE49-F238E27FC236}">
                <a16:creationId xmlns:a16="http://schemas.microsoft.com/office/drawing/2014/main" id="{B98059EA-41E7-1F18-9955-F18B8BF2C449}"/>
              </a:ext>
            </a:extLst>
          </p:cNvPr>
          <p:cNvSpPr/>
          <p:nvPr/>
        </p:nvSpPr>
        <p:spPr>
          <a:xfrm flipH="1">
            <a:off x="17050227" y="9667013"/>
            <a:ext cx="960120" cy="0"/>
          </a:xfrm>
          <a:prstGeom prst="line">
            <a:avLst/>
          </a:prstGeom>
          <a:ln w="19050" cap="flat">
            <a:solidFill>
              <a:srgbClr val="FFFFFF"/>
            </a:solidFill>
            <a:prstDash val="solid"/>
            <a:headEnd type="none" w="sm" len="sm"/>
            <a:tailEnd type="none" w="sm" len="sm"/>
          </a:ln>
        </p:spPr>
        <p:txBody>
          <a:bodyPr/>
          <a:lstStyle/>
          <a:p>
            <a:endParaRPr lang="en-US"/>
          </a:p>
        </p:txBody>
      </p:sp>
      <p:sp>
        <p:nvSpPr>
          <p:cNvPr id="6" name="TextBox 6">
            <a:extLst>
              <a:ext uri="{FF2B5EF4-FFF2-40B4-BE49-F238E27FC236}">
                <a16:creationId xmlns:a16="http://schemas.microsoft.com/office/drawing/2014/main" id="{8E9AA9DE-C71C-A9A2-6456-22BAB832E2CD}"/>
              </a:ext>
            </a:extLst>
          </p:cNvPr>
          <p:cNvSpPr txBox="1"/>
          <p:nvPr/>
        </p:nvSpPr>
        <p:spPr>
          <a:xfrm>
            <a:off x="1028700" y="1000125"/>
            <a:ext cx="16230600" cy="878835"/>
          </a:xfrm>
          <a:prstGeom prst="rect">
            <a:avLst/>
          </a:prstGeom>
        </p:spPr>
        <p:txBody>
          <a:bodyPr lIns="0" tIns="0" rIns="0" bIns="0" rtlCol="0" anchor="t">
            <a:spAutoFit/>
          </a:bodyPr>
          <a:lstStyle/>
          <a:p>
            <a:pPr algn="l">
              <a:lnSpc>
                <a:spcPts val="7025"/>
              </a:lnSpc>
            </a:pPr>
            <a:r>
              <a:rPr lang="en-US" sz="5616" b="1" spc="-16" dirty="0">
                <a:solidFill>
                  <a:srgbClr val="D7E5D8"/>
                </a:solidFill>
                <a:latin typeface="IBM Plex Sans Bold"/>
                <a:ea typeface="IBM Plex Sans Bold"/>
                <a:cs typeface="IBM Plex Sans Bold"/>
                <a:sym typeface="IBM Plex Sans Bold"/>
              </a:rPr>
              <a:t>BASE GRAPH</a:t>
            </a:r>
          </a:p>
        </p:txBody>
      </p:sp>
      <p:sp>
        <p:nvSpPr>
          <p:cNvPr id="7" name="TextBox 7">
            <a:extLst>
              <a:ext uri="{FF2B5EF4-FFF2-40B4-BE49-F238E27FC236}">
                <a16:creationId xmlns:a16="http://schemas.microsoft.com/office/drawing/2014/main" id="{B963CAAF-E262-2859-814B-A381286AF6CF}"/>
              </a:ext>
            </a:extLst>
          </p:cNvPr>
          <p:cNvSpPr txBox="1"/>
          <p:nvPr/>
        </p:nvSpPr>
        <p:spPr>
          <a:xfrm>
            <a:off x="1028700" y="2004098"/>
            <a:ext cx="15138291" cy="692497"/>
          </a:xfrm>
          <a:prstGeom prst="rect">
            <a:avLst/>
          </a:prstGeom>
        </p:spPr>
        <p:txBody>
          <a:bodyPr lIns="0" tIns="0" rIns="0" bIns="0" rtlCol="0" anchor="t">
            <a:spAutoFit/>
          </a:bodyPr>
          <a:lstStyle/>
          <a:p>
            <a:pPr>
              <a:lnSpc>
                <a:spcPts val="2699"/>
              </a:lnSpc>
            </a:pPr>
            <a:r>
              <a:rPr lang="en-US" sz="2400" dirty="0">
                <a:solidFill>
                  <a:schemeClr val="bg2"/>
                </a:solidFill>
              </a:rPr>
              <a:t>Closure detection identifies recurring cycles, folding and merging consolidate repeated trajectories into shared graph structure, and descriptors summarize each cycle for later comparison and reuse.</a:t>
            </a:r>
            <a:endParaRPr lang="en-US" sz="2400" spc="-5" dirty="0">
              <a:solidFill>
                <a:schemeClr val="bg2"/>
              </a:solidFill>
              <a:latin typeface="IBM Plex Sans"/>
              <a:ea typeface="IBM Plex Sans"/>
              <a:cs typeface="IBM Plex Sans"/>
              <a:sym typeface="IBM Plex Sans"/>
            </a:endParaRPr>
          </a:p>
        </p:txBody>
      </p:sp>
      <mc:AlternateContent xmlns:mc="http://schemas.openxmlformats.org/markup-compatibility/2006" xmlns:a14="http://schemas.microsoft.com/office/drawing/2010/main">
        <mc:Choice Requires="a14">
          <p:sp>
            <p:nvSpPr>
              <p:cNvPr id="8" name="TextBox 8">
                <a:extLst>
                  <a:ext uri="{FF2B5EF4-FFF2-40B4-BE49-F238E27FC236}">
                    <a16:creationId xmlns:a16="http://schemas.microsoft.com/office/drawing/2014/main" id="{1058DF74-D95B-BD9C-06DD-F25C2C207BB3}"/>
                  </a:ext>
                </a:extLst>
              </p:cNvPr>
              <p:cNvSpPr txBox="1"/>
              <p:nvPr/>
            </p:nvSpPr>
            <p:spPr>
              <a:xfrm>
                <a:off x="9756511" y="3937735"/>
                <a:ext cx="7656574" cy="2776466"/>
              </a:xfrm>
              <a:prstGeom prst="rect">
                <a:avLst/>
              </a:prstGeom>
            </p:spPr>
            <p:txBody>
              <a:bodyPr wrap="square" lIns="0" tIns="0" rIns="0" bIns="0" rtlCol="0" anchor="t">
                <a:spAutoFit/>
              </a:bodyPr>
              <a:lstStyle/>
              <a:p>
                <a:pPr hangingPunct="0"/>
                <a:r>
                  <a:rPr lang="en-US" dirty="0">
                    <a:solidFill>
                      <a:schemeClr val="bg2"/>
                    </a:solidFill>
                  </a:rPr>
                  <a:t>Closure detection marks a completed orbit when the settled trajectory returns near its cycle start.</a:t>
                </a:r>
              </a:p>
              <a:p>
                <a:pPr hangingPunct="0"/>
                <a:endParaRPr lang="en-US" dirty="0">
                  <a:solidFill>
                    <a:schemeClr val="bg2"/>
                  </a:solidFill>
                </a:endParaRPr>
              </a:p>
              <a:p>
                <a:pPr hangingPunct="0"/>
                <a:r>
                  <a:rPr lang="en-US" dirty="0">
                    <a:solidFill>
                      <a:schemeClr val="bg2"/>
                    </a:solidFill>
                  </a:rPr>
                  <a:t>	</a:t>
                </a:r>
                <a14:m>
                  <m:oMath xmlns:m="http://schemas.openxmlformats.org/officeDocument/2006/math">
                    <m:r>
                      <a:rPr lang="en-US" i="1">
                        <a:solidFill>
                          <a:schemeClr val="bg2"/>
                        </a:solidFill>
                        <a:latin typeface="Cambria Math" panose="02040503050406030204" pitchFamily="18" charset="0"/>
                      </a:rPr>
                      <m:t>𝑄</m:t>
                    </m:r>
                    <m:r>
                      <a:rPr lang="en-US">
                        <a:solidFill>
                          <a:schemeClr val="bg2"/>
                        </a:solidFill>
                        <a:latin typeface="Cambria Math" panose="02040503050406030204" pitchFamily="18" charset="0"/>
                      </a:rPr>
                      <m:t>=</m:t>
                    </m:r>
                    <m:r>
                      <m:rPr>
                        <m:sty m:val="p"/>
                      </m:rPr>
                      <a:rPr lang="en-US">
                        <a:solidFill>
                          <a:schemeClr val="bg2"/>
                        </a:solidFill>
                        <a:latin typeface="Cambria Math" panose="02040503050406030204" pitchFamily="18" charset="0"/>
                      </a:rPr>
                      <m:t>exp</m:t>
                    </m:r>
                    <m:d>
                      <m:dPr>
                        <m:ctrlPr>
                          <a:rPr lang="en-US">
                            <a:solidFill>
                              <a:schemeClr val="bg2"/>
                            </a:solidFill>
                            <a:latin typeface="Cambria Math" panose="02040503050406030204" pitchFamily="18" charset="0"/>
                          </a:rPr>
                        </m:ctrlPr>
                      </m:dPr>
                      <m:e>
                        <m:r>
                          <a:rPr lang="en-US">
                            <a:solidFill>
                              <a:schemeClr val="bg2"/>
                            </a:solidFill>
                            <a:latin typeface="Cambria Math" panose="02040503050406030204" pitchFamily="18" charset="0"/>
                          </a:rPr>
                          <m:t>−</m:t>
                        </m:r>
                        <m:f>
                          <m:fPr>
                            <m:ctrlPr>
                              <a:rPr lang="en-US">
                                <a:solidFill>
                                  <a:schemeClr val="bg2"/>
                                </a:solidFill>
                                <a:latin typeface="Cambria Math" panose="02040503050406030204" pitchFamily="18" charset="0"/>
                              </a:rPr>
                            </m:ctrlPr>
                          </m:fPr>
                          <m:num>
                            <m:r>
                              <m:rPr>
                                <m:sty m:val="p"/>
                              </m:rPr>
                              <a:rPr lang="en-US">
                                <a:solidFill>
                                  <a:schemeClr val="bg2"/>
                                </a:solidFill>
                                <a:latin typeface="Cambria Math" panose="02040503050406030204" pitchFamily="18" charset="0"/>
                              </a:rPr>
                              <m:t>mean</m:t>
                            </m:r>
                            <m:r>
                              <a:rPr lang="en-US">
                                <a:solidFill>
                                  <a:schemeClr val="bg2"/>
                                </a:solidFill>
                                <a:latin typeface="Cambria Math" panose="02040503050406030204" pitchFamily="18" charset="0"/>
                              </a:rPr>
                              <m:t>_</m:t>
                            </m:r>
                            <m:r>
                              <m:rPr>
                                <m:sty m:val="p"/>
                              </m:rPr>
                              <a:rPr lang="en-US">
                                <a:solidFill>
                                  <a:schemeClr val="bg2"/>
                                </a:solidFill>
                                <a:latin typeface="Cambria Math" panose="02040503050406030204" pitchFamily="18" charset="0"/>
                              </a:rPr>
                              <m:t>sq</m:t>
                            </m:r>
                          </m:num>
                          <m:den>
                            <m:r>
                              <a:rPr lang="en-US" i="1">
                                <a:solidFill>
                                  <a:schemeClr val="bg2"/>
                                </a:solidFill>
                                <a:latin typeface="Cambria Math" panose="02040503050406030204" pitchFamily="18" charset="0"/>
                              </a:rPr>
                              <m:t>2</m:t>
                            </m:r>
                            <m:sSubSup>
                              <m:sSubSupPr>
                                <m:ctrlPr>
                                  <a:rPr lang="en-US" i="1">
                                    <a:solidFill>
                                      <a:schemeClr val="bg2"/>
                                    </a:solidFill>
                                    <a:latin typeface="Cambria Math" panose="02040503050406030204" pitchFamily="18" charset="0"/>
                                  </a:rPr>
                                </m:ctrlPr>
                              </m:sSubSupPr>
                              <m:e>
                                <m:r>
                                  <a:rPr lang="en-US" i="1">
                                    <a:solidFill>
                                      <a:schemeClr val="bg2"/>
                                    </a:solidFill>
                                    <a:latin typeface="Cambria Math" panose="02040503050406030204" pitchFamily="18" charset="0"/>
                                  </a:rPr>
                                  <m:t>𝜎</m:t>
                                </m:r>
                              </m:e>
                              <m:sub>
                                <m:r>
                                  <m:rPr>
                                    <m:sty m:val="p"/>
                                  </m:rPr>
                                  <a:rPr lang="en-US">
                                    <a:solidFill>
                                      <a:schemeClr val="bg2"/>
                                    </a:solidFill>
                                    <a:latin typeface="Cambria Math" panose="02040503050406030204" pitchFamily="18" charset="0"/>
                                  </a:rPr>
                                  <m:t>align</m:t>
                                </m:r>
                              </m:sub>
                              <m:sup>
                                <m:r>
                                  <a:rPr lang="en-US" i="1">
                                    <a:solidFill>
                                      <a:schemeClr val="bg2"/>
                                    </a:solidFill>
                                    <a:latin typeface="Cambria Math" panose="02040503050406030204" pitchFamily="18" charset="0"/>
                                  </a:rPr>
                                  <m:t>2</m:t>
                                </m:r>
                              </m:sup>
                            </m:sSubSup>
                          </m:den>
                        </m:f>
                      </m:e>
                    </m:d>
                  </m:oMath>
                </a14:m>
                <a:r>
                  <a:rPr lang="en-US" dirty="0">
                    <a:solidFill>
                      <a:schemeClr val="bg2"/>
                    </a:solidFill>
                  </a:rPr>
                  <a:t>				(3.20)</a:t>
                </a:r>
              </a:p>
              <a:p>
                <a:pPr hangingPunct="0"/>
                <a:endParaRPr lang="en-US" dirty="0">
                  <a:solidFill>
                    <a:schemeClr val="bg2"/>
                  </a:solidFill>
                </a:endParaRPr>
              </a:p>
              <a:p>
                <a:pPr hangingPunct="0"/>
                <a:r>
                  <a:rPr lang="en-US" dirty="0">
                    <a:solidFill>
                      <a:schemeClr val="bg2"/>
                    </a:solidFill>
                  </a:rPr>
                  <a:t>	</a:t>
                </a:r>
                <a14:m>
                  <m:oMath xmlns:m="http://schemas.openxmlformats.org/officeDocument/2006/math">
                    <m:r>
                      <m:rPr>
                        <m:sty m:val="p"/>
                      </m:rPr>
                      <a:rPr lang="en-US">
                        <a:solidFill>
                          <a:schemeClr val="bg2"/>
                        </a:solidFill>
                        <a:latin typeface="Cambria Math" panose="02040503050406030204" pitchFamily="18" charset="0"/>
                      </a:rPr>
                      <m:t>mean</m:t>
                    </m:r>
                    <m:r>
                      <a:rPr lang="en-US">
                        <a:solidFill>
                          <a:schemeClr val="bg2"/>
                        </a:solidFill>
                        <a:latin typeface="Cambria Math" panose="02040503050406030204" pitchFamily="18" charset="0"/>
                      </a:rPr>
                      <m:t>_</m:t>
                    </m:r>
                    <m:r>
                      <m:rPr>
                        <m:sty m:val="p"/>
                      </m:rPr>
                      <a:rPr lang="en-US">
                        <a:solidFill>
                          <a:schemeClr val="bg2"/>
                        </a:solidFill>
                        <a:latin typeface="Cambria Math" panose="02040503050406030204" pitchFamily="18" charset="0"/>
                      </a:rPr>
                      <m:t>sq</m:t>
                    </m:r>
                    <m:r>
                      <a:rPr lang="en-US">
                        <a:solidFill>
                          <a:schemeClr val="bg2"/>
                        </a:solidFill>
                        <a:latin typeface="Cambria Math" panose="02040503050406030204" pitchFamily="18" charset="0"/>
                      </a:rPr>
                      <m:t>=</m:t>
                    </m:r>
                    <m:f>
                      <m:fPr>
                        <m:ctrlPr>
                          <a:rPr lang="en-US" i="1">
                            <a:solidFill>
                              <a:schemeClr val="bg2"/>
                            </a:solidFill>
                            <a:latin typeface="Cambria Math" panose="02040503050406030204" pitchFamily="18" charset="0"/>
                          </a:rPr>
                        </m:ctrlPr>
                      </m:fPr>
                      <m:num>
                        <m:r>
                          <a:rPr lang="en-US" i="1">
                            <a:solidFill>
                              <a:schemeClr val="bg2"/>
                            </a:solidFill>
                            <a:latin typeface="Cambria Math" panose="02040503050406030204" pitchFamily="18" charset="0"/>
                          </a:rPr>
                          <m:t>1</m:t>
                        </m:r>
                      </m:num>
                      <m:den>
                        <m:r>
                          <a:rPr lang="en-US" i="1">
                            <a:solidFill>
                              <a:schemeClr val="bg2"/>
                            </a:solidFill>
                            <a:latin typeface="Cambria Math" panose="02040503050406030204" pitchFamily="18" charset="0"/>
                          </a:rPr>
                          <m:t>2</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𝐾</m:t>
                            </m:r>
                          </m:e>
                          <m:sub>
                            <m:r>
                              <a:rPr lang="en-US" i="1">
                                <a:solidFill>
                                  <a:schemeClr val="bg2"/>
                                </a:solidFill>
                                <a:latin typeface="Cambria Math" panose="02040503050406030204" pitchFamily="18" charset="0"/>
                              </a:rPr>
                              <m:t>ℎ</m:t>
                            </m:r>
                          </m:sub>
                        </m:sSub>
                        <m:r>
                          <a:rPr lang="en-US">
                            <a:solidFill>
                              <a:schemeClr val="bg2"/>
                            </a:solidFill>
                            <a:latin typeface="Cambria Math" panose="02040503050406030204" pitchFamily="18" charset="0"/>
                          </a:rPr>
                          <m:t>+</m:t>
                        </m:r>
                        <m:r>
                          <a:rPr lang="en-US" i="1">
                            <a:solidFill>
                              <a:schemeClr val="bg2"/>
                            </a:solidFill>
                            <a:latin typeface="Cambria Math" panose="02040503050406030204" pitchFamily="18" charset="0"/>
                          </a:rPr>
                          <m:t>1</m:t>
                        </m:r>
                      </m:den>
                    </m:f>
                    <m:nary>
                      <m:naryPr>
                        <m:chr m:val="∑"/>
                        <m:limLoc m:val="undOvr"/>
                        <m:ctrlPr>
                          <a:rPr lang="en-US" i="1">
                            <a:solidFill>
                              <a:schemeClr val="bg2"/>
                            </a:solidFill>
                            <a:latin typeface="Cambria Math" panose="02040503050406030204" pitchFamily="18" charset="0"/>
                          </a:rPr>
                        </m:ctrlPr>
                      </m:naryPr>
                      <m:sub>
                        <m:r>
                          <a:rPr lang="en-US" i="1">
                            <a:solidFill>
                              <a:schemeClr val="bg2"/>
                            </a:solidFill>
                            <a:latin typeface="Cambria Math" panose="02040503050406030204" pitchFamily="18" charset="0"/>
                          </a:rPr>
                          <m:t>𝑠</m:t>
                        </m:r>
                      </m:sub>
                      <m:sup>
                        <m:r>
                          <a:rPr lang="en-US" i="1">
                            <a:solidFill>
                              <a:schemeClr val="bg2"/>
                            </a:solidFill>
                            <a:latin typeface="Cambria Math" panose="02040503050406030204" pitchFamily="18" charset="0"/>
                          </a:rPr>
                          <m:t>​</m:t>
                        </m:r>
                      </m:sup>
                      <m:e>
                        <m:sSup>
                          <m:sSupPr>
                            <m:ctrlPr>
                              <a:rPr lang="en-US" i="1">
                                <a:solidFill>
                                  <a:schemeClr val="bg2"/>
                                </a:solidFill>
                                <a:latin typeface="Cambria Math" panose="02040503050406030204" pitchFamily="18" charset="0"/>
                              </a:rPr>
                            </m:ctrlPr>
                          </m:sSupPr>
                          <m:e>
                            <m:d>
                              <m:dPr>
                                <m:begChr m:val="∥"/>
                                <m:endChr m:val="∥"/>
                                <m:ctrlPr>
                                  <a:rPr lang="en-US" i="1">
                                    <a:solidFill>
                                      <a:schemeClr val="bg2"/>
                                    </a:solidFill>
                                    <a:latin typeface="Cambria Math" panose="02040503050406030204" pitchFamily="18" charset="0"/>
                                  </a:rPr>
                                </m:ctrlPr>
                              </m:dPr>
                              <m:e>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𝑒</m:t>
                                    </m:r>
                                  </m:e>
                                  <m:sub>
                                    <m:r>
                                      <m:rPr>
                                        <m:sty m:val="p"/>
                                      </m:rPr>
                                      <a:rPr lang="en-US">
                                        <a:solidFill>
                                          <a:schemeClr val="bg2"/>
                                        </a:solidFill>
                                        <a:latin typeface="Cambria Math" panose="02040503050406030204" pitchFamily="18" charset="0"/>
                                      </a:rPr>
                                      <m:t>live</m:t>
                                    </m:r>
                                  </m:sub>
                                </m:sSub>
                                <m:d>
                                  <m:dPr>
                                    <m:ctrlPr>
                                      <a:rPr lang="en-US" i="1">
                                        <a:solidFill>
                                          <a:schemeClr val="bg2"/>
                                        </a:solidFill>
                                        <a:latin typeface="Cambria Math" panose="02040503050406030204" pitchFamily="18" charset="0"/>
                                      </a:rPr>
                                    </m:ctrlPr>
                                  </m:dPr>
                                  <m:e>
                                    <m:r>
                                      <a:rPr lang="en-US" i="1">
                                        <a:solidFill>
                                          <a:schemeClr val="bg2"/>
                                        </a:solidFill>
                                        <a:latin typeface="Cambria Math" panose="02040503050406030204" pitchFamily="18" charset="0"/>
                                      </a:rPr>
                                      <m:t>𝑠</m:t>
                                    </m:r>
                                  </m:e>
                                </m:d>
                                <m:r>
                                  <a:rPr lang="en-US">
                                    <a:solidFill>
                                      <a:schemeClr val="bg2"/>
                                    </a:solidFill>
                                    <a:latin typeface="Cambria Math" panose="02040503050406030204" pitchFamily="18" charset="0"/>
                                  </a:rPr>
                                  <m:t>−</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𝑒</m:t>
                                    </m:r>
                                  </m:e>
                                  <m:sub>
                                    <m:r>
                                      <m:rPr>
                                        <m:sty m:val="p"/>
                                      </m:rPr>
                                      <a:rPr lang="en-US">
                                        <a:solidFill>
                                          <a:schemeClr val="bg2"/>
                                        </a:solidFill>
                                        <a:latin typeface="Cambria Math" panose="02040503050406030204" pitchFamily="18" charset="0"/>
                                      </a:rPr>
                                      <m:t>start</m:t>
                                    </m:r>
                                  </m:sub>
                                </m:sSub>
                                <m:d>
                                  <m:dPr>
                                    <m:ctrlPr>
                                      <a:rPr lang="en-US" i="1">
                                        <a:solidFill>
                                          <a:schemeClr val="bg2"/>
                                        </a:solidFill>
                                        <a:latin typeface="Cambria Math" panose="02040503050406030204" pitchFamily="18" charset="0"/>
                                      </a:rPr>
                                    </m:ctrlPr>
                                  </m:dPr>
                                  <m:e>
                                    <m:r>
                                      <a:rPr lang="en-US" i="1">
                                        <a:solidFill>
                                          <a:schemeClr val="bg2"/>
                                        </a:solidFill>
                                        <a:latin typeface="Cambria Math" panose="02040503050406030204" pitchFamily="18" charset="0"/>
                                      </a:rPr>
                                      <m:t>𝑠</m:t>
                                    </m:r>
                                  </m:e>
                                </m:d>
                              </m:e>
                            </m:d>
                          </m:e>
                          <m:sup>
                            <m:r>
                              <a:rPr lang="en-US" i="1">
                                <a:solidFill>
                                  <a:schemeClr val="bg2"/>
                                </a:solidFill>
                                <a:latin typeface="Cambria Math" panose="02040503050406030204" pitchFamily="18" charset="0"/>
                              </a:rPr>
                              <m:t>2</m:t>
                            </m:r>
                          </m:sup>
                        </m:sSup>
                      </m:e>
                    </m:nary>
                  </m:oMath>
                </a14:m>
                <a:r>
                  <a:rPr lang="en-US" dirty="0">
                    <a:solidFill>
                      <a:schemeClr val="bg2"/>
                    </a:solidFill>
                  </a:rPr>
                  <a:t>		(3.21)</a:t>
                </a:r>
              </a:p>
              <a:p>
                <a:pPr hangingPunct="0"/>
                <a:endParaRPr lang="en-US" dirty="0">
                  <a:solidFill>
                    <a:schemeClr val="bg2"/>
                  </a:solidFill>
                </a:endParaRPr>
              </a:p>
              <a:p>
                <a:pPr hangingPunct="0"/>
                <a:endParaRPr lang="en-US" dirty="0">
                  <a:solidFill>
                    <a:schemeClr val="bg2"/>
                  </a:solidFill>
                </a:endParaRPr>
              </a:p>
              <a:p>
                <a:pPr hangingPunct="0"/>
                <a:endParaRPr lang="en-US" sz="1507" spc="21" dirty="0">
                  <a:solidFill>
                    <a:schemeClr val="bg2"/>
                  </a:solidFill>
                  <a:latin typeface="Amicale Light"/>
                  <a:ea typeface="Amicale Light"/>
                  <a:cs typeface="Amicale Light"/>
                  <a:sym typeface="Amicale Light"/>
                </a:endParaRPr>
              </a:p>
            </p:txBody>
          </p:sp>
        </mc:Choice>
        <mc:Fallback xmlns="">
          <p:sp>
            <p:nvSpPr>
              <p:cNvPr id="8" name="TextBox 8">
                <a:extLst>
                  <a:ext uri="{FF2B5EF4-FFF2-40B4-BE49-F238E27FC236}">
                    <a16:creationId xmlns:a16="http://schemas.microsoft.com/office/drawing/2014/main" id="{1058DF74-D95B-BD9C-06DD-F25C2C207BB3}"/>
                  </a:ext>
                </a:extLst>
              </p:cNvPr>
              <p:cNvSpPr txBox="1">
                <a:spLocks noRot="1" noChangeAspect="1" noMove="1" noResize="1" noEditPoints="1" noAdjustHandles="1" noChangeArrowheads="1" noChangeShapeType="1" noTextEdit="1"/>
              </p:cNvSpPr>
              <p:nvPr/>
            </p:nvSpPr>
            <p:spPr>
              <a:xfrm>
                <a:off x="9756511" y="3937735"/>
                <a:ext cx="7656574" cy="2776466"/>
              </a:xfrm>
              <a:prstGeom prst="rect">
                <a:avLst/>
              </a:prstGeom>
              <a:blipFill>
                <a:blip r:embed="rId3"/>
                <a:stretch>
                  <a:fillRect l="-1831" t="-2857"/>
                </a:stretch>
              </a:blipFill>
            </p:spPr>
            <p:txBody>
              <a:bodyPr/>
              <a:lstStyle/>
              <a:p>
                <a:r>
                  <a:rPr lang="en-US">
                    <a:noFill/>
                  </a:rPr>
                  <a:t> </a:t>
                </a:r>
              </a:p>
            </p:txBody>
          </p:sp>
        </mc:Fallback>
      </mc:AlternateContent>
      <p:sp>
        <p:nvSpPr>
          <p:cNvPr id="12" name="TextBox 12">
            <a:extLst>
              <a:ext uri="{FF2B5EF4-FFF2-40B4-BE49-F238E27FC236}">
                <a16:creationId xmlns:a16="http://schemas.microsoft.com/office/drawing/2014/main" id="{1ACB15DC-7DAC-636F-F6B0-CB443A97CB1D}"/>
              </a:ext>
            </a:extLst>
          </p:cNvPr>
          <p:cNvSpPr txBox="1"/>
          <p:nvPr/>
        </p:nvSpPr>
        <p:spPr>
          <a:xfrm>
            <a:off x="9749584" y="3304099"/>
            <a:ext cx="6559309" cy="413703"/>
          </a:xfrm>
          <a:prstGeom prst="rect">
            <a:avLst/>
          </a:prstGeom>
        </p:spPr>
        <p:txBody>
          <a:bodyPr lIns="0" tIns="0" rIns="0" bIns="0" rtlCol="0" anchor="t">
            <a:spAutoFit/>
          </a:bodyPr>
          <a:lstStyle/>
          <a:p>
            <a:pPr algn="l">
              <a:lnSpc>
                <a:spcPts val="3435"/>
              </a:lnSpc>
            </a:pPr>
            <a:r>
              <a:rPr lang="en-US" sz="2664" b="1" spc="26" dirty="0">
                <a:solidFill>
                  <a:srgbClr val="B7EE4A"/>
                </a:solidFill>
                <a:latin typeface="IBM Plex Sans Bold"/>
                <a:ea typeface="IBM Plex Sans Bold"/>
                <a:cs typeface="IBM Plex Sans Bold"/>
                <a:sym typeface="IBM Plex Sans Bold"/>
              </a:rPr>
              <a:t>Closure Detection</a:t>
            </a:r>
          </a:p>
        </p:txBody>
      </p:sp>
      <p:sp>
        <p:nvSpPr>
          <p:cNvPr id="13" name="TextBox 13">
            <a:extLst>
              <a:ext uri="{FF2B5EF4-FFF2-40B4-BE49-F238E27FC236}">
                <a16:creationId xmlns:a16="http://schemas.microsoft.com/office/drawing/2014/main" id="{31408DB0-C08D-6D0A-315F-E077DA37A1AE}"/>
              </a:ext>
            </a:extLst>
          </p:cNvPr>
          <p:cNvSpPr txBox="1"/>
          <p:nvPr/>
        </p:nvSpPr>
        <p:spPr>
          <a:xfrm>
            <a:off x="9815937" y="6386901"/>
            <a:ext cx="6204158" cy="413703"/>
          </a:xfrm>
          <a:prstGeom prst="rect">
            <a:avLst/>
          </a:prstGeom>
        </p:spPr>
        <p:txBody>
          <a:bodyPr wrap="square" lIns="0" tIns="0" rIns="0" bIns="0" rtlCol="0" anchor="t">
            <a:spAutoFit/>
          </a:bodyPr>
          <a:lstStyle/>
          <a:p>
            <a:pPr algn="l">
              <a:lnSpc>
                <a:spcPts val="3435"/>
              </a:lnSpc>
            </a:pPr>
            <a:r>
              <a:rPr lang="en-US" sz="2664" b="1" spc="26" dirty="0">
                <a:solidFill>
                  <a:srgbClr val="B7EE4A"/>
                </a:solidFill>
                <a:latin typeface="IBM Plex Sans Bold"/>
                <a:ea typeface="IBM Plex Sans Bold"/>
                <a:cs typeface="IBM Plex Sans Bold"/>
                <a:sym typeface="IBM Plex Sans Bold"/>
              </a:rPr>
              <a:t>Cycle Descriptors</a:t>
            </a:r>
          </a:p>
        </p:txBody>
      </p:sp>
      <p:grpSp>
        <p:nvGrpSpPr>
          <p:cNvPr id="16" name="Group 16">
            <a:extLst>
              <a:ext uri="{FF2B5EF4-FFF2-40B4-BE49-F238E27FC236}">
                <a16:creationId xmlns:a16="http://schemas.microsoft.com/office/drawing/2014/main" id="{B569ABB9-5629-5FEC-C238-8D6E3C6F669F}"/>
              </a:ext>
            </a:extLst>
          </p:cNvPr>
          <p:cNvGrpSpPr/>
          <p:nvPr/>
        </p:nvGrpSpPr>
        <p:grpSpPr>
          <a:xfrm>
            <a:off x="0" y="8244826"/>
            <a:ext cx="2737757" cy="2737757"/>
            <a:chOff x="0" y="0"/>
            <a:chExt cx="3650343" cy="3650343"/>
          </a:xfrm>
        </p:grpSpPr>
        <p:sp>
          <p:nvSpPr>
            <p:cNvPr id="17" name="Freeform 17">
              <a:extLst>
                <a:ext uri="{FF2B5EF4-FFF2-40B4-BE49-F238E27FC236}">
                  <a16:creationId xmlns:a16="http://schemas.microsoft.com/office/drawing/2014/main" id="{938B51EC-535C-FB23-1AF9-2457FA95EAE0}"/>
                </a:ext>
              </a:extLst>
            </p:cNvPr>
            <p:cNvSpPr/>
            <p:nvPr/>
          </p:nvSpPr>
          <p:spPr>
            <a:xfrm>
              <a:off x="0" y="0"/>
              <a:ext cx="3650343" cy="3650343"/>
            </a:xfrm>
            <a:custGeom>
              <a:avLst/>
              <a:gdLst/>
              <a:ahLst/>
              <a:cxnLst/>
              <a:rect l="l" t="t" r="r" b="b"/>
              <a:pathLst>
                <a:path w="3650343" h="3650343">
                  <a:moveTo>
                    <a:pt x="0" y="0"/>
                  </a:moveTo>
                  <a:lnTo>
                    <a:pt x="3650343" y="0"/>
                  </a:lnTo>
                  <a:lnTo>
                    <a:pt x="3650343" y="3650343"/>
                  </a:lnTo>
                  <a:lnTo>
                    <a:pt x="0" y="3650343"/>
                  </a:lnTo>
                  <a:lnTo>
                    <a:pt x="0" y="0"/>
                  </a:lnTo>
                  <a:close/>
                </a:path>
              </a:pathLst>
            </a:custGeom>
            <a:blipFill>
              <a:blip>
                <a:alphaModFix amt="41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8" name="Freeform 18">
              <a:extLst>
                <a:ext uri="{FF2B5EF4-FFF2-40B4-BE49-F238E27FC236}">
                  <a16:creationId xmlns:a16="http://schemas.microsoft.com/office/drawing/2014/main" id="{37609811-BAA4-1949-FD3B-9183F6EFB3F4}"/>
                </a:ext>
              </a:extLst>
            </p:cNvPr>
            <p:cNvSpPr/>
            <p:nvPr/>
          </p:nvSpPr>
          <p:spPr>
            <a:xfrm>
              <a:off x="257215" y="827328"/>
              <a:ext cx="2779958" cy="1629020"/>
            </a:xfrm>
            <a:custGeom>
              <a:avLst/>
              <a:gdLst/>
              <a:ahLst/>
              <a:cxnLst/>
              <a:rect l="l" t="t" r="r" b="b"/>
              <a:pathLst>
                <a:path w="2779958" h="1629020">
                  <a:moveTo>
                    <a:pt x="0" y="0"/>
                  </a:moveTo>
                  <a:lnTo>
                    <a:pt x="2779958" y="0"/>
                  </a:lnTo>
                  <a:lnTo>
                    <a:pt x="2779958" y="1629020"/>
                  </a:lnTo>
                  <a:lnTo>
                    <a:pt x="0" y="1629020"/>
                  </a:lnTo>
                  <a:lnTo>
                    <a:pt x="0" y="0"/>
                  </a:lnTo>
                  <a:close/>
                </a:path>
              </a:pathLst>
            </a:custGeom>
            <a:blipFill>
              <a:blip r:embed="rId5"/>
              <a:stretch>
                <a:fillRect/>
              </a:stretch>
            </a:blipFill>
          </p:spPr>
          <p:txBody>
            <a:bodyPr/>
            <a:lstStyle/>
            <a:p>
              <a:endParaRPr lang="en-US"/>
            </a:p>
          </p:txBody>
        </p:sp>
      </p:grpSp>
      <mc:AlternateContent xmlns:mc="http://schemas.openxmlformats.org/markup-compatibility/2006" xmlns:a14="http://schemas.microsoft.com/office/drawing/2010/main">
        <mc:Choice Requires="a14">
          <p:sp>
            <p:nvSpPr>
              <p:cNvPr id="21" name="TextBox 8">
                <a:extLst>
                  <a:ext uri="{FF2B5EF4-FFF2-40B4-BE49-F238E27FC236}">
                    <a16:creationId xmlns:a16="http://schemas.microsoft.com/office/drawing/2014/main" id="{2D9D7376-3FC5-A121-E972-509AE3FDE415}"/>
                  </a:ext>
                </a:extLst>
              </p:cNvPr>
              <p:cNvSpPr txBox="1"/>
              <p:nvPr/>
            </p:nvSpPr>
            <p:spPr>
              <a:xfrm>
                <a:off x="9815937" y="6984385"/>
                <a:ext cx="7656575" cy="1793440"/>
              </a:xfrm>
              <a:prstGeom prst="rect">
                <a:avLst/>
              </a:prstGeom>
            </p:spPr>
            <p:txBody>
              <a:bodyPr wrap="square" lIns="0" tIns="0" rIns="0" bIns="0" rtlCol="0" anchor="t">
                <a:spAutoFit/>
              </a:bodyPr>
              <a:lstStyle/>
              <a:p>
                <a:pPr hangingPunct="0"/>
                <a:r>
                  <a:rPr lang="en-US" dirty="0">
                    <a:solidFill>
                      <a:schemeClr val="bg2"/>
                    </a:solidFill>
                  </a:rPr>
                  <a:t>For embeddings </a:t>
                </a:r>
                <a14:m>
                  <m:oMath xmlns:m="http://schemas.openxmlformats.org/officeDocument/2006/math">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𝑒</m:t>
                        </m:r>
                      </m:e>
                      <m:sub>
                        <m:r>
                          <a:rPr lang="en-US" i="1">
                            <a:solidFill>
                              <a:schemeClr val="bg2"/>
                            </a:solidFill>
                            <a:latin typeface="Cambria Math" panose="02040503050406030204" pitchFamily="18" charset="0"/>
                          </a:rPr>
                          <m:t>𝑛</m:t>
                        </m:r>
                      </m:sub>
                    </m:sSub>
                  </m:oMath>
                </a14:m>
                <a:r>
                  <a:rPr lang="en-US" dirty="0">
                    <a:solidFill>
                      <a:schemeClr val="bg2"/>
                    </a:solidFill>
                  </a:rPr>
                  <a:t> from cycle start to cycle end, centroid and scale are:</a:t>
                </a:r>
              </a:p>
              <a:p>
                <a:pPr hangingPunct="0"/>
                <a:endParaRPr lang="en-US" dirty="0">
                  <a:solidFill>
                    <a:schemeClr val="bg2"/>
                  </a:solidFill>
                </a:endParaRPr>
              </a:p>
              <a:p>
                <a:pPr hangingPunct="0"/>
                <a:r>
                  <a:rPr lang="en-US" dirty="0">
                    <a:solidFill>
                      <a:schemeClr val="bg2"/>
                    </a:solidFill>
                  </a:rPr>
                  <a:t>	</a:t>
                </a:r>
                <a14:m>
                  <m:oMath xmlns:m="http://schemas.openxmlformats.org/officeDocument/2006/math">
                    <m:r>
                      <a:rPr lang="en-US" i="1" smtClean="0">
                        <a:solidFill>
                          <a:schemeClr val="bg2"/>
                        </a:solidFill>
                        <a:latin typeface="Cambria Math" panose="02040503050406030204" pitchFamily="18" charset="0"/>
                      </a:rPr>
                      <m:t>𝑐𝑒𝑛𝑡𝑟𝑜𝑖𝑑</m:t>
                    </m:r>
                    <m:r>
                      <a:rPr lang="en-US" i="1" smtClean="0">
                        <a:solidFill>
                          <a:schemeClr val="bg2"/>
                        </a:solidFill>
                        <a:latin typeface="Cambria Math" panose="02040503050406030204" pitchFamily="18" charset="0"/>
                      </a:rPr>
                      <m:t>=</m:t>
                    </m:r>
                    <m:f>
                      <m:fPr>
                        <m:ctrlPr>
                          <a:rPr lang="en-US" i="1">
                            <a:solidFill>
                              <a:schemeClr val="bg2"/>
                            </a:solidFill>
                            <a:latin typeface="Cambria Math" panose="02040503050406030204" pitchFamily="18" charset="0"/>
                          </a:rPr>
                        </m:ctrlPr>
                      </m:fPr>
                      <m:num>
                        <m:r>
                          <a:rPr lang="en-US" i="1">
                            <a:solidFill>
                              <a:schemeClr val="bg2"/>
                            </a:solidFill>
                            <a:latin typeface="Cambria Math" panose="02040503050406030204" pitchFamily="18" charset="0"/>
                          </a:rPr>
                          <m:t>1</m:t>
                        </m:r>
                      </m:num>
                      <m:den>
                        <m:r>
                          <a:rPr lang="en-US" i="1">
                            <a:solidFill>
                              <a:schemeClr val="bg2"/>
                            </a:solidFill>
                            <a:latin typeface="Cambria Math" panose="02040503050406030204" pitchFamily="18" charset="0"/>
                          </a:rPr>
                          <m:t>𝑁</m:t>
                        </m:r>
                      </m:den>
                    </m:f>
                    <m:nary>
                      <m:naryPr>
                        <m:chr m:val="∑"/>
                        <m:limLoc m:val="undOvr"/>
                        <m:ctrlPr>
                          <a:rPr lang="en-US" i="1">
                            <a:solidFill>
                              <a:schemeClr val="bg2"/>
                            </a:solidFill>
                            <a:latin typeface="Cambria Math" panose="02040503050406030204" pitchFamily="18" charset="0"/>
                          </a:rPr>
                        </m:ctrlPr>
                      </m:naryPr>
                      <m:sub>
                        <m:r>
                          <a:rPr lang="en-US" i="1">
                            <a:solidFill>
                              <a:schemeClr val="bg2"/>
                            </a:solidFill>
                            <a:latin typeface="Cambria Math" panose="02040503050406030204" pitchFamily="18" charset="0"/>
                          </a:rPr>
                          <m:t>𝑛</m:t>
                        </m:r>
                        <m:r>
                          <a:rPr lang="en-US" i="1">
                            <a:solidFill>
                              <a:schemeClr val="bg2"/>
                            </a:solidFill>
                            <a:latin typeface="Cambria Math" panose="02040503050406030204" pitchFamily="18" charset="0"/>
                          </a:rPr>
                          <m:t>=1</m:t>
                        </m:r>
                      </m:sub>
                      <m:sup>
                        <m:r>
                          <a:rPr lang="en-US" i="1">
                            <a:solidFill>
                              <a:schemeClr val="bg2"/>
                            </a:solidFill>
                            <a:latin typeface="Cambria Math" panose="02040503050406030204" pitchFamily="18" charset="0"/>
                          </a:rPr>
                          <m:t>𝑁</m:t>
                        </m:r>
                      </m:sup>
                      <m:e>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𝑒</m:t>
                            </m:r>
                          </m:e>
                          <m:sub>
                            <m:r>
                              <a:rPr lang="en-US" i="1">
                                <a:solidFill>
                                  <a:schemeClr val="bg2"/>
                                </a:solidFill>
                                <a:latin typeface="Cambria Math" panose="02040503050406030204" pitchFamily="18" charset="0"/>
                              </a:rPr>
                              <m:t>𝑛</m:t>
                            </m:r>
                          </m:sub>
                        </m:sSub>
                      </m:e>
                    </m:nary>
                  </m:oMath>
                </a14:m>
                <a:r>
                  <a:rPr lang="en-US" dirty="0">
                    <a:solidFill>
                      <a:schemeClr val="bg2"/>
                    </a:solidFill>
                  </a:rPr>
                  <a:t>				(3.22)</a:t>
                </a:r>
              </a:p>
              <a:p>
                <a:pPr hangingPunct="0"/>
                <a:endParaRPr lang="en-US" dirty="0">
                  <a:solidFill>
                    <a:schemeClr val="bg2"/>
                  </a:solidFill>
                </a:endParaRPr>
              </a:p>
              <a:p>
                <a:pPr hangingPunct="0"/>
                <a:r>
                  <a:rPr lang="en-US" dirty="0">
                    <a:solidFill>
                      <a:schemeClr val="bg2"/>
                    </a:solidFill>
                  </a:rPr>
                  <a:t>	</a:t>
                </a:r>
                <a14:m>
                  <m:oMath xmlns:m="http://schemas.openxmlformats.org/officeDocument/2006/math">
                    <m:r>
                      <m:rPr>
                        <m:sty m:val="p"/>
                      </m:rPr>
                      <a:rPr lang="en-US">
                        <a:solidFill>
                          <a:schemeClr val="bg2"/>
                        </a:solidFill>
                        <a:latin typeface="Cambria Math" panose="02040503050406030204" pitchFamily="18" charset="0"/>
                      </a:rPr>
                      <m:t>scale</m:t>
                    </m:r>
                    <m:r>
                      <a:rPr lang="en-US">
                        <a:solidFill>
                          <a:schemeClr val="bg2"/>
                        </a:solidFill>
                        <a:latin typeface="Cambria Math" panose="02040503050406030204" pitchFamily="18" charset="0"/>
                      </a:rPr>
                      <m:t>=</m:t>
                    </m:r>
                    <m:rad>
                      <m:radPr>
                        <m:degHide m:val="on"/>
                        <m:ctrlPr>
                          <a:rPr lang="en-US" i="1">
                            <a:solidFill>
                              <a:schemeClr val="bg2"/>
                            </a:solidFill>
                            <a:latin typeface="Cambria Math" panose="02040503050406030204" pitchFamily="18" charset="0"/>
                          </a:rPr>
                        </m:ctrlPr>
                      </m:radPr>
                      <m:deg/>
                      <m:e>
                        <m:f>
                          <m:fPr>
                            <m:ctrlPr>
                              <a:rPr lang="en-US" i="1">
                                <a:solidFill>
                                  <a:schemeClr val="bg2"/>
                                </a:solidFill>
                                <a:latin typeface="Cambria Math" panose="02040503050406030204" pitchFamily="18" charset="0"/>
                              </a:rPr>
                            </m:ctrlPr>
                          </m:fPr>
                          <m:num>
                            <m:r>
                              <a:rPr lang="en-US" i="1">
                                <a:solidFill>
                                  <a:schemeClr val="bg2"/>
                                </a:solidFill>
                                <a:latin typeface="Cambria Math" panose="02040503050406030204" pitchFamily="18" charset="0"/>
                              </a:rPr>
                              <m:t>1</m:t>
                            </m:r>
                          </m:num>
                          <m:den>
                            <m:r>
                              <a:rPr lang="en-US" i="1">
                                <a:solidFill>
                                  <a:schemeClr val="bg2"/>
                                </a:solidFill>
                                <a:latin typeface="Cambria Math" panose="02040503050406030204" pitchFamily="18" charset="0"/>
                              </a:rPr>
                              <m:t>𝑁</m:t>
                            </m:r>
                          </m:den>
                        </m:f>
                        <m:nary>
                          <m:naryPr>
                            <m:chr m:val="∑"/>
                            <m:limLoc m:val="undOvr"/>
                            <m:ctrlPr>
                              <a:rPr lang="en-US" i="1">
                                <a:solidFill>
                                  <a:schemeClr val="bg2"/>
                                </a:solidFill>
                                <a:latin typeface="Cambria Math" panose="02040503050406030204" pitchFamily="18" charset="0"/>
                              </a:rPr>
                            </m:ctrlPr>
                          </m:naryPr>
                          <m:sub>
                            <m:r>
                              <a:rPr lang="en-US" i="1">
                                <a:solidFill>
                                  <a:schemeClr val="bg2"/>
                                </a:solidFill>
                                <a:latin typeface="Cambria Math" panose="02040503050406030204" pitchFamily="18" charset="0"/>
                              </a:rPr>
                              <m:t>𝑛</m:t>
                            </m:r>
                            <m:r>
                              <a:rPr lang="en-US">
                                <a:solidFill>
                                  <a:schemeClr val="bg2"/>
                                </a:solidFill>
                                <a:latin typeface="Cambria Math" panose="02040503050406030204" pitchFamily="18" charset="0"/>
                              </a:rPr>
                              <m:t>=</m:t>
                            </m:r>
                            <m:r>
                              <a:rPr lang="en-US" i="1">
                                <a:solidFill>
                                  <a:schemeClr val="bg2"/>
                                </a:solidFill>
                                <a:latin typeface="Cambria Math" panose="02040503050406030204" pitchFamily="18" charset="0"/>
                              </a:rPr>
                              <m:t>1</m:t>
                            </m:r>
                          </m:sub>
                          <m:sup>
                            <m:r>
                              <a:rPr lang="en-US" i="1">
                                <a:solidFill>
                                  <a:schemeClr val="bg2"/>
                                </a:solidFill>
                                <a:latin typeface="Cambria Math" panose="02040503050406030204" pitchFamily="18" charset="0"/>
                              </a:rPr>
                              <m:t>𝑁</m:t>
                            </m:r>
                          </m:sup>
                          <m:e>
                            <m:sSup>
                              <m:sSupPr>
                                <m:ctrlPr>
                                  <a:rPr lang="en-US" i="1">
                                    <a:solidFill>
                                      <a:schemeClr val="bg2"/>
                                    </a:solidFill>
                                    <a:latin typeface="Cambria Math" panose="02040503050406030204" pitchFamily="18" charset="0"/>
                                  </a:rPr>
                                </m:ctrlPr>
                              </m:sSupPr>
                              <m:e>
                                <m:d>
                                  <m:dPr>
                                    <m:begChr m:val="∥"/>
                                    <m:endChr m:val="∥"/>
                                    <m:ctrlPr>
                                      <a:rPr lang="en-US" i="1">
                                        <a:solidFill>
                                          <a:schemeClr val="bg2"/>
                                        </a:solidFill>
                                        <a:latin typeface="Cambria Math" panose="02040503050406030204" pitchFamily="18" charset="0"/>
                                      </a:rPr>
                                    </m:ctrlPr>
                                  </m:dPr>
                                  <m:e>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𝑒</m:t>
                                        </m:r>
                                      </m:e>
                                      <m:sub>
                                        <m:r>
                                          <a:rPr lang="en-US" i="1">
                                            <a:solidFill>
                                              <a:schemeClr val="bg2"/>
                                            </a:solidFill>
                                            <a:latin typeface="Cambria Math" panose="02040503050406030204" pitchFamily="18" charset="0"/>
                                          </a:rPr>
                                          <m:t>𝑛</m:t>
                                        </m:r>
                                      </m:sub>
                                    </m:sSub>
                                    <m:r>
                                      <a:rPr lang="en-US">
                                        <a:solidFill>
                                          <a:schemeClr val="bg2"/>
                                        </a:solidFill>
                                        <a:latin typeface="Cambria Math" panose="02040503050406030204" pitchFamily="18" charset="0"/>
                                      </a:rPr>
                                      <m:t>−</m:t>
                                    </m:r>
                                    <m:r>
                                      <m:rPr>
                                        <m:sty m:val="p"/>
                                      </m:rPr>
                                      <a:rPr lang="en-US">
                                        <a:solidFill>
                                          <a:schemeClr val="bg2"/>
                                        </a:solidFill>
                                        <a:latin typeface="Cambria Math" panose="02040503050406030204" pitchFamily="18" charset="0"/>
                                      </a:rPr>
                                      <m:t>centroid</m:t>
                                    </m:r>
                                  </m:e>
                                </m:d>
                              </m:e>
                              <m:sup>
                                <m:r>
                                  <a:rPr lang="en-US" i="1">
                                    <a:solidFill>
                                      <a:schemeClr val="bg2"/>
                                    </a:solidFill>
                                    <a:latin typeface="Cambria Math" panose="02040503050406030204" pitchFamily="18" charset="0"/>
                                  </a:rPr>
                                  <m:t>2</m:t>
                                </m:r>
                              </m:sup>
                            </m:sSup>
                          </m:e>
                        </m:nary>
                      </m:e>
                    </m:rad>
                  </m:oMath>
                </a14:m>
                <a:r>
                  <a:rPr lang="en-US" dirty="0">
                    <a:solidFill>
                      <a:schemeClr val="bg2"/>
                    </a:solidFill>
                  </a:rPr>
                  <a:t>			(3.23)</a:t>
                </a:r>
              </a:p>
            </p:txBody>
          </p:sp>
        </mc:Choice>
        <mc:Fallback xmlns="">
          <p:sp>
            <p:nvSpPr>
              <p:cNvPr id="21" name="TextBox 8">
                <a:extLst>
                  <a:ext uri="{FF2B5EF4-FFF2-40B4-BE49-F238E27FC236}">
                    <a16:creationId xmlns:a16="http://schemas.microsoft.com/office/drawing/2014/main" id="{2D9D7376-3FC5-A121-E972-509AE3FDE415}"/>
                  </a:ext>
                </a:extLst>
              </p:cNvPr>
              <p:cNvSpPr txBox="1">
                <a:spLocks noRot="1" noChangeAspect="1" noMove="1" noResize="1" noEditPoints="1" noAdjustHandles="1" noChangeArrowheads="1" noChangeShapeType="1" noTextEdit="1"/>
              </p:cNvSpPr>
              <p:nvPr/>
            </p:nvSpPr>
            <p:spPr>
              <a:xfrm>
                <a:off x="9815937" y="6984385"/>
                <a:ext cx="7656575" cy="1793440"/>
              </a:xfrm>
              <a:prstGeom prst="rect">
                <a:avLst/>
              </a:prstGeom>
              <a:blipFill>
                <a:blip r:embed="rId7"/>
                <a:stretch>
                  <a:fillRect l="-1831" t="-4422" b="-680"/>
                </a:stretch>
              </a:blipFill>
            </p:spPr>
            <p:txBody>
              <a:bodyPr/>
              <a:lstStyle/>
              <a:p>
                <a:r>
                  <a:rPr lang="en-US">
                    <a:noFill/>
                  </a:rPr>
                  <a:t> </a:t>
                </a:r>
              </a:p>
            </p:txBody>
          </p:sp>
        </mc:Fallback>
      </mc:AlternateContent>
      <p:sp>
        <p:nvSpPr>
          <p:cNvPr id="9" name="TextBox 13">
            <a:extLst>
              <a:ext uri="{FF2B5EF4-FFF2-40B4-BE49-F238E27FC236}">
                <a16:creationId xmlns:a16="http://schemas.microsoft.com/office/drawing/2014/main" id="{07E1ECCD-0C0E-42B0-27DB-3FD9C14AC18F}"/>
              </a:ext>
            </a:extLst>
          </p:cNvPr>
          <p:cNvSpPr txBox="1"/>
          <p:nvPr/>
        </p:nvSpPr>
        <p:spPr>
          <a:xfrm>
            <a:off x="1057795" y="3321940"/>
            <a:ext cx="6204158" cy="413703"/>
          </a:xfrm>
          <a:prstGeom prst="rect">
            <a:avLst/>
          </a:prstGeom>
        </p:spPr>
        <p:txBody>
          <a:bodyPr wrap="square" lIns="0" tIns="0" rIns="0" bIns="0" rtlCol="0" anchor="t">
            <a:spAutoFit/>
          </a:bodyPr>
          <a:lstStyle/>
          <a:p>
            <a:pPr algn="l">
              <a:lnSpc>
                <a:spcPts val="3435"/>
              </a:lnSpc>
            </a:pPr>
            <a:r>
              <a:rPr lang="en-US" sz="2664" b="1" spc="26" dirty="0">
                <a:solidFill>
                  <a:srgbClr val="B7EE4A"/>
                </a:solidFill>
                <a:latin typeface="IBM Plex Sans Bold"/>
                <a:ea typeface="IBM Plex Sans Bold"/>
                <a:cs typeface="IBM Plex Sans Bold"/>
                <a:sym typeface="IBM Plex Sans Bold"/>
              </a:rPr>
              <a:t>Node Folding and Edge Merging</a:t>
            </a:r>
          </a:p>
        </p:txBody>
      </p:sp>
      <mc:AlternateContent xmlns:mc="http://schemas.openxmlformats.org/markup-compatibility/2006" xmlns:a14="http://schemas.microsoft.com/office/drawing/2010/main">
        <mc:Choice Requires="a14">
          <p:sp>
            <p:nvSpPr>
              <p:cNvPr id="11" name="TextBox 8">
                <a:extLst>
                  <a:ext uri="{FF2B5EF4-FFF2-40B4-BE49-F238E27FC236}">
                    <a16:creationId xmlns:a16="http://schemas.microsoft.com/office/drawing/2014/main" id="{E763FCA5-C571-6D4E-8B0B-388887015C08}"/>
                  </a:ext>
                </a:extLst>
              </p:cNvPr>
              <p:cNvSpPr txBox="1"/>
              <p:nvPr/>
            </p:nvSpPr>
            <p:spPr>
              <a:xfrm>
                <a:off x="1094175" y="3947375"/>
                <a:ext cx="7656575" cy="3770969"/>
              </a:xfrm>
              <a:prstGeom prst="rect">
                <a:avLst/>
              </a:prstGeom>
            </p:spPr>
            <p:txBody>
              <a:bodyPr wrap="square" lIns="0" tIns="0" rIns="0" bIns="0" rtlCol="0" anchor="t">
                <a:spAutoFit/>
              </a:bodyPr>
              <a:lstStyle/>
              <a:p>
                <a:pPr>
                  <a:lnSpc>
                    <a:spcPts val="2428"/>
                  </a:lnSpc>
                </a:pPr>
                <a:r>
                  <a:rPr lang="en-US" dirty="0">
                    <a:solidFill>
                      <a:schemeClr val="bg2"/>
                    </a:solidFill>
                  </a:rPr>
                  <a:t>Folding maps a later root </a:t>
                </a:r>
                <a14:m>
                  <m:oMath xmlns:m="http://schemas.openxmlformats.org/officeDocument/2006/math">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𝑟</m:t>
                        </m:r>
                      </m:e>
                      <m:sub>
                        <m:r>
                          <a:rPr lang="en-US" i="1">
                            <a:solidFill>
                              <a:schemeClr val="bg2"/>
                            </a:solidFill>
                            <a:latin typeface="Cambria Math" panose="02040503050406030204" pitchFamily="18" charset="0"/>
                          </a:rPr>
                          <m:t>𝑏</m:t>
                        </m:r>
                      </m:sub>
                    </m:sSub>
                  </m:oMath>
                </a14:m>
                <a:r>
                  <a:rPr lang="en-US" dirty="0">
                    <a:solidFill>
                      <a:schemeClr val="bg2"/>
                    </a:solidFill>
                  </a:rPr>
                  <a:t> to an earlier root </a:t>
                </a:r>
                <a14:m>
                  <m:oMath xmlns:m="http://schemas.openxmlformats.org/officeDocument/2006/math">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𝑟</m:t>
                        </m:r>
                      </m:e>
                      <m:sub>
                        <m:r>
                          <a:rPr lang="en-US" i="1">
                            <a:solidFill>
                              <a:schemeClr val="bg2"/>
                            </a:solidFill>
                            <a:latin typeface="Cambria Math" panose="02040503050406030204" pitchFamily="18" charset="0"/>
                          </a:rPr>
                          <m:t>𝑎</m:t>
                        </m:r>
                      </m:sub>
                    </m:sSub>
                  </m:oMath>
                </a14:m>
                <a:r>
                  <a:rPr lang="en-US" dirty="0">
                    <a:solidFill>
                      <a:schemeClr val="bg2"/>
                    </a:solidFill>
                  </a:rPr>
                  <a:t>.</a:t>
                </a:r>
              </a:p>
              <a:p>
                <a:pPr>
                  <a:lnSpc>
                    <a:spcPts val="2428"/>
                  </a:lnSpc>
                </a:pPr>
                <a:r>
                  <a:rPr lang="en-US" dirty="0">
                    <a:solidFill>
                      <a:schemeClr val="bg2"/>
                    </a:solidFill>
                  </a:rPr>
                  <a:t> </a:t>
                </a:r>
              </a:p>
              <a:p>
                <a:pPr>
                  <a:lnSpc>
                    <a:spcPts val="2428"/>
                  </a:lnSpc>
                </a:pPr>
                <a:r>
                  <a:rPr lang="en-US" dirty="0">
                    <a:solidFill>
                      <a:schemeClr val="bg2"/>
                    </a:solidFill>
                  </a:rPr>
                  <a:t>	</a:t>
                </a:r>
                <a14:m>
                  <m:oMath xmlns:m="http://schemas.openxmlformats.org/officeDocument/2006/math">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𝜇</m:t>
                        </m:r>
                      </m:e>
                      <m:sub>
                        <m:r>
                          <a:rPr lang="en-US" i="1">
                            <a:solidFill>
                              <a:schemeClr val="bg2"/>
                            </a:solidFill>
                            <a:latin typeface="Cambria Math" panose="02040503050406030204" pitchFamily="18" charset="0"/>
                          </a:rPr>
                          <m:t>𝑎</m:t>
                        </m:r>
                      </m:sub>
                    </m:sSub>
                    <m:r>
                      <a:rPr lang="en-US" i="1">
                        <a:solidFill>
                          <a:schemeClr val="bg2"/>
                        </a:solidFill>
                        <a:latin typeface="Cambria Math" panose="02040503050406030204" pitchFamily="18" charset="0"/>
                      </a:rPr>
                      <m:t>←</m:t>
                    </m:r>
                    <m:f>
                      <m:fPr>
                        <m:ctrlPr>
                          <a:rPr lang="en-US" i="1">
                            <a:solidFill>
                              <a:schemeClr val="bg2"/>
                            </a:solidFill>
                            <a:latin typeface="Cambria Math" panose="02040503050406030204" pitchFamily="18" charset="0"/>
                          </a:rPr>
                        </m:ctrlPr>
                      </m:fPr>
                      <m:num>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𝑛</m:t>
                            </m:r>
                          </m:e>
                          <m:sub>
                            <m:r>
                              <a:rPr lang="en-US" i="1">
                                <a:solidFill>
                                  <a:schemeClr val="bg2"/>
                                </a:solidFill>
                                <a:latin typeface="Cambria Math" panose="02040503050406030204" pitchFamily="18" charset="0"/>
                              </a:rPr>
                              <m:t>𝑎</m:t>
                            </m:r>
                          </m:sub>
                        </m:sSub>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𝜇</m:t>
                            </m:r>
                          </m:e>
                          <m:sub>
                            <m:r>
                              <a:rPr lang="en-US" i="1">
                                <a:solidFill>
                                  <a:schemeClr val="bg2"/>
                                </a:solidFill>
                                <a:latin typeface="Cambria Math" panose="02040503050406030204" pitchFamily="18" charset="0"/>
                              </a:rPr>
                              <m:t>𝑎</m:t>
                            </m:r>
                          </m:sub>
                        </m:sSub>
                        <m:r>
                          <a:rPr lang="en-US" i="1">
                            <a:solidFill>
                              <a:schemeClr val="bg2"/>
                            </a:solidFill>
                            <a:latin typeface="Cambria Math" panose="02040503050406030204" pitchFamily="18" charset="0"/>
                          </a:rPr>
                          <m:t>+</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𝑛</m:t>
                            </m:r>
                          </m:e>
                          <m:sub>
                            <m:r>
                              <a:rPr lang="en-US" i="1">
                                <a:solidFill>
                                  <a:schemeClr val="bg2"/>
                                </a:solidFill>
                                <a:latin typeface="Cambria Math" panose="02040503050406030204" pitchFamily="18" charset="0"/>
                              </a:rPr>
                              <m:t>𝑏</m:t>
                            </m:r>
                          </m:sub>
                        </m:sSub>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𝜇</m:t>
                            </m:r>
                          </m:e>
                          <m:sub>
                            <m:r>
                              <a:rPr lang="en-US" i="1">
                                <a:solidFill>
                                  <a:schemeClr val="bg2"/>
                                </a:solidFill>
                                <a:latin typeface="Cambria Math" panose="02040503050406030204" pitchFamily="18" charset="0"/>
                              </a:rPr>
                              <m:t>𝑏</m:t>
                            </m:r>
                          </m:sub>
                        </m:sSub>
                      </m:num>
                      <m:den>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𝑛</m:t>
                            </m:r>
                          </m:e>
                          <m:sub>
                            <m:r>
                              <a:rPr lang="en-US" i="1">
                                <a:solidFill>
                                  <a:schemeClr val="bg2"/>
                                </a:solidFill>
                                <a:latin typeface="Cambria Math" panose="02040503050406030204" pitchFamily="18" charset="0"/>
                              </a:rPr>
                              <m:t>𝑎</m:t>
                            </m:r>
                          </m:sub>
                        </m:sSub>
                        <m:r>
                          <a:rPr lang="en-US" i="1">
                            <a:solidFill>
                              <a:schemeClr val="bg2"/>
                            </a:solidFill>
                            <a:latin typeface="Cambria Math" panose="02040503050406030204" pitchFamily="18" charset="0"/>
                          </a:rPr>
                          <m:t>+</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𝑛</m:t>
                            </m:r>
                          </m:e>
                          <m:sub>
                            <m:r>
                              <a:rPr lang="en-US" i="1">
                                <a:solidFill>
                                  <a:schemeClr val="bg2"/>
                                </a:solidFill>
                                <a:latin typeface="Cambria Math" panose="02040503050406030204" pitchFamily="18" charset="0"/>
                              </a:rPr>
                              <m:t>𝑏</m:t>
                            </m:r>
                          </m:sub>
                        </m:sSub>
                      </m:den>
                    </m:f>
                    <m:r>
                      <a:rPr lang="en-US" i="1">
                        <a:solidFill>
                          <a:schemeClr val="bg2"/>
                        </a:solidFill>
                        <a:latin typeface="Cambria Math" panose="02040503050406030204" pitchFamily="18" charset="0"/>
                      </a:rPr>
                      <m:t>,  </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𝑛</m:t>
                        </m:r>
                      </m:e>
                      <m:sub>
                        <m:r>
                          <a:rPr lang="en-US" i="1">
                            <a:solidFill>
                              <a:schemeClr val="bg2"/>
                            </a:solidFill>
                            <a:latin typeface="Cambria Math" panose="02040503050406030204" pitchFamily="18" charset="0"/>
                          </a:rPr>
                          <m:t>𝑎</m:t>
                        </m:r>
                      </m:sub>
                    </m:sSub>
                    <m:r>
                      <a:rPr lang="en-US" i="1">
                        <a:solidFill>
                          <a:schemeClr val="bg2"/>
                        </a:solidFill>
                        <a:latin typeface="Cambria Math" panose="02040503050406030204" pitchFamily="18" charset="0"/>
                      </a:rPr>
                      <m:t>←</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𝑛</m:t>
                        </m:r>
                      </m:e>
                      <m:sub>
                        <m:r>
                          <a:rPr lang="en-US" i="1">
                            <a:solidFill>
                              <a:schemeClr val="bg2"/>
                            </a:solidFill>
                            <a:latin typeface="Cambria Math" panose="02040503050406030204" pitchFamily="18" charset="0"/>
                          </a:rPr>
                          <m:t>𝑎</m:t>
                        </m:r>
                      </m:sub>
                    </m:sSub>
                    <m:r>
                      <a:rPr lang="en-US" i="1">
                        <a:solidFill>
                          <a:schemeClr val="bg2"/>
                        </a:solidFill>
                        <a:latin typeface="Cambria Math" panose="02040503050406030204" pitchFamily="18" charset="0"/>
                      </a:rPr>
                      <m:t>+</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𝑛</m:t>
                        </m:r>
                      </m:e>
                      <m:sub>
                        <m:r>
                          <a:rPr lang="en-US" i="1">
                            <a:solidFill>
                              <a:schemeClr val="bg2"/>
                            </a:solidFill>
                            <a:latin typeface="Cambria Math" panose="02040503050406030204" pitchFamily="18" charset="0"/>
                          </a:rPr>
                          <m:t>𝑏</m:t>
                        </m:r>
                      </m:sub>
                    </m:sSub>
                  </m:oMath>
                </a14:m>
                <a:r>
                  <a:rPr lang="en-US" dirty="0">
                    <a:solidFill>
                      <a:schemeClr val="bg2"/>
                    </a:solidFill>
                  </a:rPr>
                  <a:t>			(3.17)</a:t>
                </a:r>
              </a:p>
              <a:p>
                <a:pPr>
                  <a:lnSpc>
                    <a:spcPts val="2428"/>
                  </a:lnSpc>
                </a:pPr>
                <a:endParaRPr lang="en-US" dirty="0">
                  <a:solidFill>
                    <a:schemeClr val="bg2"/>
                  </a:solidFill>
                </a:endParaRPr>
              </a:p>
              <a:p>
                <a:pPr>
                  <a:lnSpc>
                    <a:spcPts val="2428"/>
                  </a:lnSpc>
                </a:pPr>
                <a:r>
                  <a:rPr lang="en-US" dirty="0">
                    <a:solidFill>
                      <a:schemeClr val="bg2"/>
                    </a:solidFill>
                  </a:rPr>
                  <a:t>Edges incident to </a:t>
                </a:r>
                <a14:m>
                  <m:oMath xmlns:m="http://schemas.openxmlformats.org/officeDocument/2006/math">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𝑟</m:t>
                        </m:r>
                      </m:e>
                      <m:sub>
                        <m:r>
                          <a:rPr lang="en-US" i="1">
                            <a:solidFill>
                              <a:schemeClr val="bg2"/>
                            </a:solidFill>
                            <a:latin typeface="Cambria Math" panose="02040503050406030204" pitchFamily="18" charset="0"/>
                          </a:rPr>
                          <m:t>𝑏</m:t>
                        </m:r>
                      </m:sub>
                    </m:sSub>
                  </m:oMath>
                </a14:m>
                <a:r>
                  <a:rPr lang="en-US" dirty="0">
                    <a:solidFill>
                      <a:schemeClr val="bg2"/>
                    </a:solidFill>
                  </a:rPr>
                  <a:t> are redirected to </a:t>
                </a:r>
                <a14:m>
                  <m:oMath xmlns:m="http://schemas.openxmlformats.org/officeDocument/2006/math">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𝑟</m:t>
                        </m:r>
                      </m:e>
                      <m:sub>
                        <m:r>
                          <a:rPr lang="en-US" i="1">
                            <a:solidFill>
                              <a:schemeClr val="bg2"/>
                            </a:solidFill>
                            <a:latin typeface="Cambria Math" panose="02040503050406030204" pitchFamily="18" charset="0"/>
                          </a:rPr>
                          <m:t>𝑎</m:t>
                        </m:r>
                      </m:sub>
                    </m:sSub>
                  </m:oMath>
                </a14:m>
                <a:r>
                  <a:rPr lang="en-US" dirty="0">
                    <a:solidFill>
                      <a:schemeClr val="bg2"/>
                    </a:solidFill>
                  </a:rPr>
                  <a:t>. </a:t>
                </a:r>
              </a:p>
              <a:p>
                <a:pPr>
                  <a:lnSpc>
                    <a:spcPts val="2428"/>
                  </a:lnSpc>
                </a:pPr>
                <a:r>
                  <a:rPr lang="en-US" dirty="0">
                    <a:solidFill>
                      <a:schemeClr val="bg2"/>
                    </a:solidFill>
                  </a:rPr>
                  <a:t>Equivalent-edge conductivities are decayed to </a:t>
                </a:r>
                <a14:m>
                  <m:oMath xmlns:m="http://schemas.openxmlformats.org/officeDocument/2006/math">
                    <m:r>
                      <a:rPr lang="en-US" i="1">
                        <a:solidFill>
                          <a:schemeClr val="bg2"/>
                        </a:solidFill>
                        <a:latin typeface="Cambria Math" panose="02040503050406030204" pitchFamily="18" charset="0"/>
                      </a:rPr>
                      <m:t>𝜏</m:t>
                    </m:r>
                    <m:r>
                      <a:rPr lang="en-US" i="1">
                        <a:solidFill>
                          <a:schemeClr val="bg2"/>
                        </a:solidFill>
                        <a:latin typeface="Cambria Math" panose="02040503050406030204" pitchFamily="18" charset="0"/>
                      </a:rPr>
                      <m:t> = </m:t>
                    </m:r>
                    <m:r>
                      <a:rPr lang="en-US" i="1">
                        <a:solidFill>
                          <a:schemeClr val="bg2"/>
                        </a:solidFill>
                        <a:latin typeface="Cambria Math" panose="02040503050406030204" pitchFamily="18" charset="0"/>
                      </a:rPr>
                      <m:t>𝑚𝑎𝑥</m:t>
                    </m:r>
                    <m:r>
                      <a:rPr lang="en-US" i="1">
                        <a:solidFill>
                          <a:schemeClr val="bg2"/>
                        </a:solidFill>
                        <a:latin typeface="Cambria Math" panose="02040503050406030204" pitchFamily="18" charset="0"/>
                      </a:rPr>
                      <m:t>(</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𝑡</m:t>
                        </m:r>
                      </m:e>
                      <m:sub>
                        <m:r>
                          <a:rPr lang="en-US" i="1">
                            <a:solidFill>
                              <a:schemeClr val="bg2"/>
                            </a:solidFill>
                            <a:latin typeface="Cambria Math" panose="02040503050406030204" pitchFamily="18" charset="0"/>
                          </a:rPr>
                          <m:t>𝑎</m:t>
                        </m:r>
                      </m:sub>
                    </m:sSub>
                    <m:r>
                      <a:rPr lang="en-US" i="1">
                        <a:solidFill>
                          <a:schemeClr val="bg2"/>
                        </a:solidFill>
                        <a:latin typeface="Cambria Math" panose="02040503050406030204" pitchFamily="18" charset="0"/>
                      </a:rPr>
                      <m:t>, </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𝑡</m:t>
                        </m:r>
                      </m:e>
                      <m:sub>
                        <m:r>
                          <a:rPr lang="en-US" i="1">
                            <a:solidFill>
                              <a:schemeClr val="bg2"/>
                            </a:solidFill>
                            <a:latin typeface="Cambria Math" panose="02040503050406030204" pitchFamily="18" charset="0"/>
                          </a:rPr>
                          <m:t>𝑏</m:t>
                        </m:r>
                      </m:sub>
                    </m:sSub>
                    <m:r>
                      <a:rPr lang="en-US" i="1">
                        <a:solidFill>
                          <a:schemeClr val="bg2"/>
                        </a:solidFill>
                        <a:latin typeface="Cambria Math" panose="02040503050406030204" pitchFamily="18" charset="0"/>
                      </a:rPr>
                      <m:t>)</m:t>
                    </m:r>
                  </m:oMath>
                </a14:m>
                <a:r>
                  <a:rPr lang="en-US" dirty="0">
                    <a:solidFill>
                      <a:schemeClr val="bg2"/>
                    </a:solidFill>
                  </a:rPr>
                  <a:t> before addition:</a:t>
                </a:r>
              </a:p>
              <a:p>
                <a:pPr>
                  <a:lnSpc>
                    <a:spcPts val="2428"/>
                  </a:lnSpc>
                </a:pPr>
                <a:endParaRPr lang="en-US" dirty="0">
                  <a:solidFill>
                    <a:schemeClr val="bg2"/>
                  </a:solidFill>
                </a:endParaRPr>
              </a:p>
              <a:p>
                <a:pPr hangingPunct="0"/>
                <a:r>
                  <a:rPr lang="en-US" dirty="0">
                    <a:solidFill>
                      <a:schemeClr val="bg2"/>
                    </a:solidFill>
                  </a:rPr>
                  <a:t>	</a:t>
                </a:r>
                <a14:m>
                  <m:oMath xmlns:m="http://schemas.openxmlformats.org/officeDocument/2006/math">
                    <m:r>
                      <a:rPr lang="en-US" i="1">
                        <a:solidFill>
                          <a:schemeClr val="bg2"/>
                        </a:solidFill>
                        <a:latin typeface="Cambria Math" panose="02040503050406030204" pitchFamily="18" charset="0"/>
                      </a:rPr>
                      <m:t>𝐷</m:t>
                    </m:r>
                    <m:r>
                      <a:rPr lang="en-US">
                        <a:solidFill>
                          <a:schemeClr val="bg2"/>
                        </a:solidFill>
                        <a:latin typeface="Cambria Math" panose="02040503050406030204" pitchFamily="18" charset="0"/>
                      </a:rPr>
                      <m:t>←</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𝐷</m:t>
                        </m:r>
                      </m:e>
                      <m:sub>
                        <m:r>
                          <a:rPr lang="en-US" i="1">
                            <a:solidFill>
                              <a:schemeClr val="bg2"/>
                            </a:solidFill>
                            <a:latin typeface="Cambria Math" panose="02040503050406030204" pitchFamily="18" charset="0"/>
                          </a:rPr>
                          <m:t>𝑎</m:t>
                        </m:r>
                      </m:sub>
                    </m:sSub>
                    <m:sSup>
                      <m:sSupPr>
                        <m:ctrlPr>
                          <a:rPr lang="en-US" i="1">
                            <a:solidFill>
                              <a:schemeClr val="bg2"/>
                            </a:solidFill>
                            <a:latin typeface="Cambria Math" panose="02040503050406030204" pitchFamily="18" charset="0"/>
                          </a:rPr>
                        </m:ctrlPr>
                      </m:sSupPr>
                      <m:e>
                        <m:d>
                          <m:dPr>
                            <m:ctrlPr>
                              <a:rPr lang="en-US" i="1">
                                <a:solidFill>
                                  <a:schemeClr val="bg2"/>
                                </a:solidFill>
                                <a:latin typeface="Cambria Math" panose="02040503050406030204" pitchFamily="18" charset="0"/>
                              </a:rPr>
                            </m:ctrlPr>
                          </m:dPr>
                          <m:e>
                            <m:r>
                              <a:rPr lang="en-US" i="1">
                                <a:solidFill>
                                  <a:schemeClr val="bg2"/>
                                </a:solidFill>
                                <a:latin typeface="Cambria Math" panose="02040503050406030204" pitchFamily="18" charset="0"/>
                              </a:rPr>
                              <m:t>1</m:t>
                            </m:r>
                            <m:r>
                              <a:rPr lang="en-US">
                                <a:solidFill>
                                  <a:schemeClr val="bg2"/>
                                </a:solidFill>
                                <a:latin typeface="Cambria Math" panose="02040503050406030204" pitchFamily="18" charset="0"/>
                              </a:rPr>
                              <m:t>−</m:t>
                            </m:r>
                            <m:r>
                              <a:rPr lang="en-US" i="1">
                                <a:solidFill>
                                  <a:schemeClr val="bg2"/>
                                </a:solidFill>
                                <a:latin typeface="Cambria Math" panose="02040503050406030204" pitchFamily="18" charset="0"/>
                              </a:rPr>
                              <m:t>𝛾</m:t>
                            </m:r>
                          </m:e>
                        </m:d>
                      </m:e>
                      <m:sup>
                        <m:r>
                          <a:rPr lang="en-US" i="1">
                            <a:solidFill>
                              <a:schemeClr val="bg2"/>
                            </a:solidFill>
                            <a:latin typeface="Cambria Math" panose="02040503050406030204" pitchFamily="18" charset="0"/>
                          </a:rPr>
                          <m:t>𝜏</m:t>
                        </m:r>
                        <m:r>
                          <a:rPr lang="en-US">
                            <a:solidFill>
                              <a:schemeClr val="bg2"/>
                            </a:solidFill>
                            <a:latin typeface="Cambria Math" panose="02040503050406030204" pitchFamily="18" charset="0"/>
                          </a:rPr>
                          <m:t>−</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𝑡</m:t>
                            </m:r>
                          </m:e>
                          <m:sub>
                            <m:r>
                              <a:rPr lang="en-US" i="1">
                                <a:solidFill>
                                  <a:schemeClr val="bg2"/>
                                </a:solidFill>
                                <a:latin typeface="Cambria Math" panose="02040503050406030204" pitchFamily="18" charset="0"/>
                              </a:rPr>
                              <m:t>𝑎</m:t>
                            </m:r>
                          </m:sub>
                        </m:sSub>
                      </m:sup>
                    </m:sSup>
                    <m:r>
                      <a:rPr lang="en-US">
                        <a:solidFill>
                          <a:schemeClr val="bg2"/>
                        </a:solidFill>
                        <a:latin typeface="Cambria Math" panose="02040503050406030204" pitchFamily="18" charset="0"/>
                      </a:rPr>
                      <m:t>+</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𝐷</m:t>
                        </m:r>
                      </m:e>
                      <m:sub>
                        <m:r>
                          <a:rPr lang="en-US" i="1">
                            <a:solidFill>
                              <a:schemeClr val="bg2"/>
                            </a:solidFill>
                            <a:latin typeface="Cambria Math" panose="02040503050406030204" pitchFamily="18" charset="0"/>
                          </a:rPr>
                          <m:t>𝑏</m:t>
                        </m:r>
                      </m:sub>
                    </m:sSub>
                    <m:sSup>
                      <m:sSupPr>
                        <m:ctrlPr>
                          <a:rPr lang="en-US" i="1">
                            <a:solidFill>
                              <a:schemeClr val="bg2"/>
                            </a:solidFill>
                            <a:latin typeface="Cambria Math" panose="02040503050406030204" pitchFamily="18" charset="0"/>
                          </a:rPr>
                        </m:ctrlPr>
                      </m:sSupPr>
                      <m:e>
                        <m:d>
                          <m:dPr>
                            <m:ctrlPr>
                              <a:rPr lang="en-US" i="1">
                                <a:solidFill>
                                  <a:schemeClr val="bg2"/>
                                </a:solidFill>
                                <a:latin typeface="Cambria Math" panose="02040503050406030204" pitchFamily="18" charset="0"/>
                              </a:rPr>
                            </m:ctrlPr>
                          </m:dPr>
                          <m:e>
                            <m:r>
                              <a:rPr lang="en-US" i="1">
                                <a:solidFill>
                                  <a:schemeClr val="bg2"/>
                                </a:solidFill>
                                <a:latin typeface="Cambria Math" panose="02040503050406030204" pitchFamily="18" charset="0"/>
                              </a:rPr>
                              <m:t>1</m:t>
                            </m:r>
                            <m:r>
                              <a:rPr lang="en-US">
                                <a:solidFill>
                                  <a:schemeClr val="bg2"/>
                                </a:solidFill>
                                <a:latin typeface="Cambria Math" panose="02040503050406030204" pitchFamily="18" charset="0"/>
                              </a:rPr>
                              <m:t>−</m:t>
                            </m:r>
                            <m:r>
                              <a:rPr lang="en-US" i="1">
                                <a:solidFill>
                                  <a:schemeClr val="bg2"/>
                                </a:solidFill>
                                <a:latin typeface="Cambria Math" panose="02040503050406030204" pitchFamily="18" charset="0"/>
                              </a:rPr>
                              <m:t>𝛾</m:t>
                            </m:r>
                          </m:e>
                        </m:d>
                      </m:e>
                      <m:sup>
                        <m:r>
                          <a:rPr lang="en-US" i="1">
                            <a:solidFill>
                              <a:schemeClr val="bg2"/>
                            </a:solidFill>
                            <a:latin typeface="Cambria Math" panose="02040503050406030204" pitchFamily="18" charset="0"/>
                          </a:rPr>
                          <m:t>𝜏</m:t>
                        </m:r>
                        <m:r>
                          <a:rPr lang="en-US">
                            <a:solidFill>
                              <a:schemeClr val="bg2"/>
                            </a:solidFill>
                            <a:latin typeface="Cambria Math" panose="02040503050406030204" pitchFamily="18" charset="0"/>
                          </a:rPr>
                          <m:t>−</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𝑡</m:t>
                            </m:r>
                          </m:e>
                          <m:sub>
                            <m:r>
                              <a:rPr lang="en-US" i="1">
                                <a:solidFill>
                                  <a:schemeClr val="bg2"/>
                                </a:solidFill>
                                <a:latin typeface="Cambria Math" panose="02040503050406030204" pitchFamily="18" charset="0"/>
                              </a:rPr>
                              <m:t>𝑏</m:t>
                            </m:r>
                          </m:sub>
                        </m:sSub>
                      </m:sup>
                    </m:sSup>
                  </m:oMath>
                </a14:m>
                <a:r>
                  <a:rPr lang="en-US" dirty="0">
                    <a:solidFill>
                      <a:schemeClr val="bg2"/>
                    </a:solidFill>
                  </a:rPr>
                  <a:t>			(3.18)</a:t>
                </a:r>
              </a:p>
              <a:p>
                <a:pPr hangingPunct="0"/>
                <a:endParaRPr lang="en-US" dirty="0">
                  <a:solidFill>
                    <a:schemeClr val="bg2"/>
                  </a:solidFill>
                </a:endParaRPr>
              </a:p>
              <a:p>
                <a:pPr hangingPunct="0"/>
                <a:r>
                  <a:rPr lang="en-US" dirty="0">
                    <a:solidFill>
                      <a:schemeClr val="bg2"/>
                    </a:solidFill>
                  </a:rPr>
                  <a:t>	</a:t>
                </a:r>
                <a14:m>
                  <m:oMath xmlns:m="http://schemas.openxmlformats.org/officeDocument/2006/math">
                    <m:acc>
                      <m:accPr>
                        <m:chr m:val="‾"/>
                        <m:ctrlPr>
                          <a:rPr lang="en-US" i="1">
                            <a:solidFill>
                              <a:schemeClr val="bg2"/>
                            </a:solidFill>
                            <a:latin typeface="Cambria Math" panose="02040503050406030204" pitchFamily="18" charset="0"/>
                          </a:rPr>
                        </m:ctrlPr>
                      </m:accPr>
                      <m:e>
                        <m:r>
                          <a:rPr lang="en-US" i="1">
                            <a:solidFill>
                              <a:schemeClr val="bg2"/>
                            </a:solidFill>
                            <a:latin typeface="Cambria Math" panose="02040503050406030204" pitchFamily="18" charset="0"/>
                          </a:rPr>
                          <m:t>𝛿</m:t>
                        </m:r>
                      </m:e>
                    </m:acc>
                    <m:r>
                      <a:rPr lang="en-US">
                        <a:solidFill>
                          <a:schemeClr val="bg2"/>
                        </a:solidFill>
                        <a:latin typeface="Cambria Math" panose="02040503050406030204" pitchFamily="18" charset="0"/>
                      </a:rPr>
                      <m:t>←</m:t>
                    </m:r>
                    <m:f>
                      <m:fPr>
                        <m:ctrlPr>
                          <a:rPr lang="en-US" i="1">
                            <a:solidFill>
                              <a:schemeClr val="bg2"/>
                            </a:solidFill>
                            <a:latin typeface="Cambria Math" panose="02040503050406030204" pitchFamily="18" charset="0"/>
                          </a:rPr>
                        </m:ctrlPr>
                      </m:fPr>
                      <m:num>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𝑤</m:t>
                            </m:r>
                          </m:e>
                          <m:sub>
                            <m:r>
                              <a:rPr lang="en-US" i="1">
                                <a:solidFill>
                                  <a:schemeClr val="bg2"/>
                                </a:solidFill>
                                <a:latin typeface="Cambria Math" panose="02040503050406030204" pitchFamily="18" charset="0"/>
                              </a:rPr>
                              <m:t>𝑎</m:t>
                            </m:r>
                          </m:sub>
                        </m:sSub>
                        <m:sSub>
                          <m:sSubPr>
                            <m:ctrlPr>
                              <a:rPr lang="en-US" i="1">
                                <a:solidFill>
                                  <a:schemeClr val="bg2"/>
                                </a:solidFill>
                                <a:latin typeface="Cambria Math" panose="02040503050406030204" pitchFamily="18" charset="0"/>
                              </a:rPr>
                            </m:ctrlPr>
                          </m:sSubPr>
                          <m:e>
                            <m:acc>
                              <m:accPr>
                                <m:chr m:val="‾"/>
                                <m:ctrlPr>
                                  <a:rPr lang="en-US" i="1">
                                    <a:solidFill>
                                      <a:schemeClr val="bg2"/>
                                    </a:solidFill>
                                    <a:latin typeface="Cambria Math" panose="02040503050406030204" pitchFamily="18" charset="0"/>
                                  </a:rPr>
                                </m:ctrlPr>
                              </m:accPr>
                              <m:e>
                                <m:r>
                                  <a:rPr lang="en-US" i="1">
                                    <a:solidFill>
                                      <a:schemeClr val="bg2"/>
                                    </a:solidFill>
                                    <a:latin typeface="Cambria Math" panose="02040503050406030204" pitchFamily="18" charset="0"/>
                                  </a:rPr>
                                  <m:t>𝛿</m:t>
                                </m:r>
                              </m:e>
                            </m:acc>
                          </m:e>
                          <m:sub>
                            <m:r>
                              <a:rPr lang="en-US" i="1">
                                <a:solidFill>
                                  <a:schemeClr val="bg2"/>
                                </a:solidFill>
                                <a:latin typeface="Cambria Math" panose="02040503050406030204" pitchFamily="18" charset="0"/>
                              </a:rPr>
                              <m:t>𝑎</m:t>
                            </m:r>
                          </m:sub>
                        </m:sSub>
                        <m:r>
                          <a:rPr lang="en-US">
                            <a:solidFill>
                              <a:schemeClr val="bg2"/>
                            </a:solidFill>
                            <a:latin typeface="Cambria Math" panose="02040503050406030204" pitchFamily="18" charset="0"/>
                          </a:rPr>
                          <m:t>+</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𝑤</m:t>
                            </m:r>
                          </m:e>
                          <m:sub>
                            <m:r>
                              <a:rPr lang="en-US" i="1">
                                <a:solidFill>
                                  <a:schemeClr val="bg2"/>
                                </a:solidFill>
                                <a:latin typeface="Cambria Math" panose="02040503050406030204" pitchFamily="18" charset="0"/>
                              </a:rPr>
                              <m:t>𝑏</m:t>
                            </m:r>
                          </m:sub>
                        </m:sSub>
                        <m:sSub>
                          <m:sSubPr>
                            <m:ctrlPr>
                              <a:rPr lang="en-US" i="1">
                                <a:solidFill>
                                  <a:schemeClr val="bg2"/>
                                </a:solidFill>
                                <a:latin typeface="Cambria Math" panose="02040503050406030204" pitchFamily="18" charset="0"/>
                              </a:rPr>
                            </m:ctrlPr>
                          </m:sSubPr>
                          <m:e>
                            <m:acc>
                              <m:accPr>
                                <m:chr m:val="‾"/>
                                <m:ctrlPr>
                                  <a:rPr lang="en-US" i="1">
                                    <a:solidFill>
                                      <a:schemeClr val="bg2"/>
                                    </a:solidFill>
                                    <a:latin typeface="Cambria Math" panose="02040503050406030204" pitchFamily="18" charset="0"/>
                                  </a:rPr>
                                </m:ctrlPr>
                              </m:accPr>
                              <m:e>
                                <m:r>
                                  <a:rPr lang="en-US" i="1">
                                    <a:solidFill>
                                      <a:schemeClr val="bg2"/>
                                    </a:solidFill>
                                    <a:latin typeface="Cambria Math" panose="02040503050406030204" pitchFamily="18" charset="0"/>
                                  </a:rPr>
                                  <m:t>𝛿</m:t>
                                </m:r>
                              </m:e>
                            </m:acc>
                          </m:e>
                          <m:sub>
                            <m:r>
                              <a:rPr lang="en-US" i="1">
                                <a:solidFill>
                                  <a:schemeClr val="bg2"/>
                                </a:solidFill>
                                <a:latin typeface="Cambria Math" panose="02040503050406030204" pitchFamily="18" charset="0"/>
                              </a:rPr>
                              <m:t>𝑏</m:t>
                            </m:r>
                          </m:sub>
                        </m:sSub>
                      </m:num>
                      <m:den>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𝑤</m:t>
                            </m:r>
                          </m:e>
                          <m:sub>
                            <m:r>
                              <a:rPr lang="en-US" i="1">
                                <a:solidFill>
                                  <a:schemeClr val="bg2"/>
                                </a:solidFill>
                                <a:latin typeface="Cambria Math" panose="02040503050406030204" pitchFamily="18" charset="0"/>
                              </a:rPr>
                              <m:t>𝑎</m:t>
                            </m:r>
                          </m:sub>
                        </m:sSub>
                        <m:r>
                          <a:rPr lang="en-US">
                            <a:solidFill>
                              <a:schemeClr val="bg2"/>
                            </a:solidFill>
                            <a:latin typeface="Cambria Math" panose="02040503050406030204" pitchFamily="18" charset="0"/>
                          </a:rPr>
                          <m:t>+</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𝑤</m:t>
                            </m:r>
                          </m:e>
                          <m:sub>
                            <m:r>
                              <a:rPr lang="en-US" i="1">
                                <a:solidFill>
                                  <a:schemeClr val="bg2"/>
                                </a:solidFill>
                                <a:latin typeface="Cambria Math" panose="02040503050406030204" pitchFamily="18" charset="0"/>
                              </a:rPr>
                              <m:t>𝑏</m:t>
                            </m:r>
                          </m:sub>
                        </m:sSub>
                      </m:den>
                    </m:f>
                    <m:r>
                      <a:rPr lang="en-US">
                        <a:solidFill>
                          <a:schemeClr val="bg2"/>
                        </a:solidFill>
                        <a:latin typeface="Cambria Math" panose="02040503050406030204" pitchFamily="18" charset="0"/>
                      </a:rPr>
                      <m:t>,</m:t>
                    </m:r>
                    <m:r>
                      <a:rPr lang="en-US" i="1">
                        <a:solidFill>
                          <a:schemeClr val="bg2"/>
                        </a:solidFill>
                        <a:latin typeface="Cambria Math" panose="02040503050406030204" pitchFamily="18" charset="0"/>
                      </a:rPr>
                      <m:t>  </m:t>
                    </m:r>
                    <m:r>
                      <a:rPr lang="en-US" i="1">
                        <a:solidFill>
                          <a:schemeClr val="bg2"/>
                        </a:solidFill>
                        <a:latin typeface="Cambria Math" panose="02040503050406030204" pitchFamily="18" charset="0"/>
                      </a:rPr>
                      <m:t>𝑤</m:t>
                    </m:r>
                    <m:r>
                      <a:rPr lang="en-US">
                        <a:solidFill>
                          <a:schemeClr val="bg2"/>
                        </a:solidFill>
                        <a:latin typeface="Cambria Math" panose="02040503050406030204" pitchFamily="18" charset="0"/>
                      </a:rPr>
                      <m:t>←</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𝑤</m:t>
                        </m:r>
                      </m:e>
                      <m:sub>
                        <m:r>
                          <a:rPr lang="en-US" i="1">
                            <a:solidFill>
                              <a:schemeClr val="bg2"/>
                            </a:solidFill>
                            <a:latin typeface="Cambria Math" panose="02040503050406030204" pitchFamily="18" charset="0"/>
                          </a:rPr>
                          <m:t>𝑎</m:t>
                        </m:r>
                      </m:sub>
                    </m:sSub>
                    <m:r>
                      <a:rPr lang="en-US">
                        <a:solidFill>
                          <a:schemeClr val="bg2"/>
                        </a:solidFill>
                        <a:latin typeface="Cambria Math" panose="02040503050406030204" pitchFamily="18" charset="0"/>
                      </a:rPr>
                      <m:t>+</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𝑤</m:t>
                        </m:r>
                      </m:e>
                      <m:sub>
                        <m:r>
                          <a:rPr lang="en-US" i="1">
                            <a:solidFill>
                              <a:schemeClr val="bg2"/>
                            </a:solidFill>
                            <a:latin typeface="Cambria Math" panose="02040503050406030204" pitchFamily="18" charset="0"/>
                          </a:rPr>
                          <m:t>𝑏</m:t>
                        </m:r>
                      </m:sub>
                    </m:sSub>
                  </m:oMath>
                </a14:m>
                <a:r>
                  <a:rPr lang="en-US" dirty="0">
                    <a:solidFill>
                      <a:schemeClr val="bg2"/>
                    </a:solidFill>
                  </a:rPr>
                  <a:t>			(3.19)</a:t>
                </a:r>
              </a:p>
              <a:p>
                <a:pPr>
                  <a:lnSpc>
                    <a:spcPts val="2428"/>
                  </a:lnSpc>
                </a:pPr>
                <a:endParaRPr lang="en-US" dirty="0">
                  <a:solidFill>
                    <a:schemeClr val="bg2"/>
                  </a:solidFill>
                </a:endParaRPr>
              </a:p>
              <a:p>
                <a:pPr>
                  <a:lnSpc>
                    <a:spcPts val="2428"/>
                  </a:lnSpc>
                </a:pPr>
                <a:endParaRPr lang="en-US" sz="1507" spc="21" dirty="0">
                  <a:solidFill>
                    <a:schemeClr val="bg2"/>
                  </a:solidFill>
                  <a:latin typeface="Amicale Light"/>
                  <a:ea typeface="Amicale Light"/>
                  <a:cs typeface="Amicale Light"/>
                  <a:sym typeface="Amicale Light"/>
                </a:endParaRPr>
              </a:p>
            </p:txBody>
          </p:sp>
        </mc:Choice>
        <mc:Fallback xmlns="">
          <p:sp>
            <p:nvSpPr>
              <p:cNvPr id="11" name="TextBox 8">
                <a:extLst>
                  <a:ext uri="{FF2B5EF4-FFF2-40B4-BE49-F238E27FC236}">
                    <a16:creationId xmlns:a16="http://schemas.microsoft.com/office/drawing/2014/main" id="{E763FCA5-C571-6D4E-8B0B-388887015C08}"/>
                  </a:ext>
                </a:extLst>
              </p:cNvPr>
              <p:cNvSpPr txBox="1">
                <a:spLocks noRot="1" noChangeAspect="1" noMove="1" noResize="1" noEditPoints="1" noAdjustHandles="1" noChangeArrowheads="1" noChangeShapeType="1" noTextEdit="1"/>
              </p:cNvSpPr>
              <p:nvPr/>
            </p:nvSpPr>
            <p:spPr>
              <a:xfrm>
                <a:off x="1094175" y="3947375"/>
                <a:ext cx="7656575" cy="3770969"/>
              </a:xfrm>
              <a:prstGeom prst="rect">
                <a:avLst/>
              </a:prstGeom>
              <a:blipFill>
                <a:blip r:embed="rId8"/>
                <a:stretch>
                  <a:fillRect l="-1831" t="-1618" r="-80"/>
                </a:stretch>
              </a:blipFill>
            </p:spPr>
            <p:txBody>
              <a:bodyPr/>
              <a:lstStyle/>
              <a:p>
                <a:r>
                  <a:rPr lang="en-US">
                    <a:noFill/>
                  </a:rPr>
                  <a:t> </a:t>
                </a:r>
              </a:p>
            </p:txBody>
          </p:sp>
        </mc:Fallback>
      </mc:AlternateContent>
      <p:sp>
        <p:nvSpPr>
          <p:cNvPr id="15" name="TextBox 8">
            <a:extLst>
              <a:ext uri="{FF2B5EF4-FFF2-40B4-BE49-F238E27FC236}">
                <a16:creationId xmlns:a16="http://schemas.microsoft.com/office/drawing/2014/main" id="{C5573A0D-0D1B-5767-BBE2-5BF48590BB79}"/>
              </a:ext>
            </a:extLst>
          </p:cNvPr>
          <p:cNvSpPr txBox="1"/>
          <p:nvPr/>
        </p:nvSpPr>
        <p:spPr>
          <a:xfrm>
            <a:off x="3042594" y="8051881"/>
            <a:ext cx="5541396" cy="785921"/>
          </a:xfrm>
          <a:prstGeom prst="rect">
            <a:avLst/>
          </a:prstGeom>
        </p:spPr>
        <p:txBody>
          <a:bodyPr wrap="square" lIns="0" tIns="0" rIns="0" bIns="0" rtlCol="0" anchor="t">
            <a:spAutoFit/>
          </a:bodyPr>
          <a:lstStyle/>
          <a:p>
            <a:pPr hangingPunct="0"/>
            <a:r>
              <a:rPr lang="en-US" dirty="0">
                <a:solidFill>
                  <a:srgbClr val="92D050"/>
                </a:solidFill>
              </a:rPr>
              <a:t>Closure detection and descriptors are base graph operations, that directly feed into the meta-graph layer</a:t>
            </a:r>
          </a:p>
          <a:p>
            <a:pPr hangingPunct="0"/>
            <a:endParaRPr lang="en-US" sz="1507" spc="21" dirty="0">
              <a:solidFill>
                <a:schemeClr val="bg2"/>
              </a:solidFill>
              <a:latin typeface="Amicale Light"/>
              <a:ea typeface="Amicale Light"/>
              <a:cs typeface="Amicale Light"/>
              <a:sym typeface="Amicale Light"/>
            </a:endParaRPr>
          </a:p>
        </p:txBody>
      </p:sp>
      <p:sp>
        <p:nvSpPr>
          <p:cNvPr id="2" name="Slide Number Placeholder 1">
            <a:extLst>
              <a:ext uri="{FF2B5EF4-FFF2-40B4-BE49-F238E27FC236}">
                <a16:creationId xmlns:a16="http://schemas.microsoft.com/office/drawing/2014/main" id="{E3A1B4C8-F868-17B6-157B-BF94774A42A7}"/>
              </a:ext>
            </a:extLst>
          </p:cNvPr>
          <p:cNvSpPr>
            <a:spLocks noGrp="1"/>
          </p:cNvSpPr>
          <p:nvPr>
            <p:ph type="sldNum" sz="quarter" idx="12"/>
          </p:nvPr>
        </p:nvSpPr>
        <p:spPr>
          <a:xfrm>
            <a:off x="15925800" y="9715500"/>
            <a:ext cx="2133600" cy="365125"/>
          </a:xfrm>
        </p:spPr>
        <p:txBody>
          <a:bodyPr/>
          <a:lstStyle/>
          <a:p>
            <a:fld id="{B6F15528-21DE-4FAA-801E-634DDDAF4B2B}" type="slidenum">
              <a:rPr lang="en-US" smtClean="0"/>
              <a:pPr/>
              <a:t>15</a:t>
            </a:fld>
            <a:endParaRPr lang="en-US"/>
          </a:p>
        </p:txBody>
      </p:sp>
    </p:spTree>
    <p:extLst>
      <p:ext uri="{BB962C8B-B14F-4D97-AF65-F5344CB8AC3E}">
        <p14:creationId xmlns:p14="http://schemas.microsoft.com/office/powerpoint/2010/main" val="16480169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lin ang="5400000"/>
        </a:gradFill>
        <a:effectLst/>
      </p:bgPr>
    </p:bg>
    <p:spTree>
      <p:nvGrpSpPr>
        <p:cNvPr id="1" name="">
          <a:extLst>
            <a:ext uri="{FF2B5EF4-FFF2-40B4-BE49-F238E27FC236}">
              <a16:creationId xmlns:a16="http://schemas.microsoft.com/office/drawing/2014/main" id="{64F18075-D9D8-AE5F-64FA-943FF2ED30E9}"/>
            </a:ext>
          </a:extLst>
        </p:cNvPr>
        <p:cNvGrpSpPr/>
        <p:nvPr/>
      </p:nvGrpSpPr>
      <p:grpSpPr>
        <a:xfrm>
          <a:off x="0" y="0"/>
          <a:ext cx="0" cy="0"/>
          <a:chOff x="0" y="0"/>
          <a:chExt cx="0" cy="0"/>
        </a:xfrm>
      </p:grpSpPr>
      <p:sp>
        <p:nvSpPr>
          <p:cNvPr id="4" name="AutoShape 4">
            <a:extLst>
              <a:ext uri="{FF2B5EF4-FFF2-40B4-BE49-F238E27FC236}">
                <a16:creationId xmlns:a16="http://schemas.microsoft.com/office/drawing/2014/main" id="{24AFB048-F46A-750B-CEEA-7F3900C7F3FE}"/>
              </a:ext>
            </a:extLst>
          </p:cNvPr>
          <p:cNvSpPr/>
          <p:nvPr/>
        </p:nvSpPr>
        <p:spPr>
          <a:xfrm flipH="1">
            <a:off x="0" y="9676538"/>
            <a:ext cx="16463090" cy="0"/>
          </a:xfrm>
          <a:prstGeom prst="line">
            <a:avLst/>
          </a:prstGeom>
          <a:ln w="19050" cap="flat">
            <a:solidFill>
              <a:srgbClr val="FFFFFF"/>
            </a:solidFill>
            <a:prstDash val="solid"/>
            <a:headEnd type="none" w="sm" len="sm"/>
            <a:tailEnd type="none" w="sm" len="sm"/>
          </a:ln>
        </p:spPr>
        <p:txBody>
          <a:bodyPr/>
          <a:lstStyle/>
          <a:p>
            <a:endParaRPr lang="en-US"/>
          </a:p>
        </p:txBody>
      </p:sp>
      <p:sp>
        <p:nvSpPr>
          <p:cNvPr id="5" name="AutoShape 5">
            <a:extLst>
              <a:ext uri="{FF2B5EF4-FFF2-40B4-BE49-F238E27FC236}">
                <a16:creationId xmlns:a16="http://schemas.microsoft.com/office/drawing/2014/main" id="{88CBD12A-0615-02AC-C571-789B92299E1C}"/>
              </a:ext>
            </a:extLst>
          </p:cNvPr>
          <p:cNvSpPr/>
          <p:nvPr/>
        </p:nvSpPr>
        <p:spPr>
          <a:xfrm flipH="1">
            <a:off x="17050227" y="9667013"/>
            <a:ext cx="960120" cy="0"/>
          </a:xfrm>
          <a:prstGeom prst="line">
            <a:avLst/>
          </a:prstGeom>
          <a:ln w="19050" cap="flat">
            <a:solidFill>
              <a:srgbClr val="FFFFFF"/>
            </a:solidFill>
            <a:prstDash val="solid"/>
            <a:headEnd type="none" w="sm" len="sm"/>
            <a:tailEnd type="none" w="sm" len="sm"/>
          </a:ln>
        </p:spPr>
        <p:txBody>
          <a:bodyPr/>
          <a:lstStyle/>
          <a:p>
            <a:endParaRPr lang="en-US"/>
          </a:p>
        </p:txBody>
      </p:sp>
      <p:sp>
        <p:nvSpPr>
          <p:cNvPr id="6" name="TextBox 6">
            <a:extLst>
              <a:ext uri="{FF2B5EF4-FFF2-40B4-BE49-F238E27FC236}">
                <a16:creationId xmlns:a16="http://schemas.microsoft.com/office/drawing/2014/main" id="{187B755C-2816-9943-396F-947A029E1761}"/>
              </a:ext>
            </a:extLst>
          </p:cNvPr>
          <p:cNvSpPr txBox="1"/>
          <p:nvPr/>
        </p:nvSpPr>
        <p:spPr>
          <a:xfrm>
            <a:off x="1028700" y="1000125"/>
            <a:ext cx="16230600" cy="878835"/>
          </a:xfrm>
          <a:prstGeom prst="rect">
            <a:avLst/>
          </a:prstGeom>
        </p:spPr>
        <p:txBody>
          <a:bodyPr lIns="0" tIns="0" rIns="0" bIns="0" rtlCol="0" anchor="t">
            <a:spAutoFit/>
          </a:bodyPr>
          <a:lstStyle/>
          <a:p>
            <a:pPr>
              <a:lnSpc>
                <a:spcPts val="7025"/>
              </a:lnSpc>
            </a:pPr>
            <a:r>
              <a:rPr lang="en-US" sz="5616" b="1" spc="-16" dirty="0">
                <a:solidFill>
                  <a:srgbClr val="D7E5D8"/>
                </a:solidFill>
                <a:latin typeface="IBM Plex Sans Bold"/>
                <a:ea typeface="IBM Plex Sans Bold"/>
                <a:cs typeface="IBM Plex Sans Bold"/>
                <a:sym typeface="IBM Plex Sans Bold"/>
              </a:rPr>
              <a:t>CYCLE LAYER &amp; META GRAPH</a:t>
            </a:r>
          </a:p>
        </p:txBody>
      </p:sp>
      <p:sp>
        <p:nvSpPr>
          <p:cNvPr id="7" name="TextBox 7">
            <a:extLst>
              <a:ext uri="{FF2B5EF4-FFF2-40B4-BE49-F238E27FC236}">
                <a16:creationId xmlns:a16="http://schemas.microsoft.com/office/drawing/2014/main" id="{3B16488C-BD5E-9C99-3216-7785D9AB2AA6}"/>
              </a:ext>
            </a:extLst>
          </p:cNvPr>
          <p:cNvSpPr txBox="1"/>
          <p:nvPr/>
        </p:nvSpPr>
        <p:spPr>
          <a:xfrm>
            <a:off x="1028700" y="2004098"/>
            <a:ext cx="15138291" cy="369332"/>
          </a:xfrm>
          <a:prstGeom prst="rect">
            <a:avLst/>
          </a:prstGeom>
        </p:spPr>
        <p:txBody>
          <a:bodyPr lIns="0" tIns="0" rIns="0" bIns="0" rtlCol="0" anchor="t">
            <a:spAutoFit/>
          </a:bodyPr>
          <a:lstStyle/>
          <a:p>
            <a:r>
              <a:rPr lang="en-US" sz="2400" dirty="0">
                <a:solidFill>
                  <a:schemeClr val="bg2"/>
                </a:solidFill>
              </a:rPr>
              <a:t>The </a:t>
            </a:r>
            <a:r>
              <a:rPr lang="en-US" sz="2400" b="1" dirty="0">
                <a:solidFill>
                  <a:schemeClr val="bg2"/>
                </a:solidFill>
              </a:rPr>
              <a:t>cycle layer represents recurring behaviors as whole units</a:t>
            </a:r>
            <a:r>
              <a:rPr lang="en-US" sz="2400" dirty="0">
                <a:solidFill>
                  <a:srgbClr val="92D050"/>
                </a:solidFill>
              </a:rPr>
              <a:t>, </a:t>
            </a:r>
            <a:r>
              <a:rPr lang="en-US" sz="2400" dirty="0">
                <a:solidFill>
                  <a:schemeClr val="bg2"/>
                </a:solidFill>
              </a:rPr>
              <a:t>rather than as individual embedded states and transitions.</a:t>
            </a:r>
          </a:p>
        </p:txBody>
      </p:sp>
      <p:sp>
        <p:nvSpPr>
          <p:cNvPr id="8" name="TextBox 8">
            <a:extLst>
              <a:ext uri="{FF2B5EF4-FFF2-40B4-BE49-F238E27FC236}">
                <a16:creationId xmlns:a16="http://schemas.microsoft.com/office/drawing/2014/main" id="{D1AAE21A-F0BD-D42F-88E9-4EC739010A65}"/>
              </a:ext>
            </a:extLst>
          </p:cNvPr>
          <p:cNvSpPr txBox="1"/>
          <p:nvPr/>
        </p:nvSpPr>
        <p:spPr>
          <a:xfrm>
            <a:off x="7162800" y="4275515"/>
            <a:ext cx="8666130" cy="3508653"/>
          </a:xfrm>
          <a:prstGeom prst="rect">
            <a:avLst/>
          </a:prstGeom>
        </p:spPr>
        <p:txBody>
          <a:bodyPr wrap="square" lIns="0" tIns="0" rIns="0" bIns="0" rtlCol="0" anchor="t">
            <a:spAutoFit/>
          </a:bodyPr>
          <a:lstStyle/>
          <a:p>
            <a:r>
              <a:rPr lang="en-US" sz="2400" b="1" dirty="0">
                <a:solidFill>
                  <a:schemeClr val="bg2"/>
                </a:solidFill>
              </a:rPr>
              <a:t>Cycle Node = one consolidated recurring orbit </a:t>
            </a:r>
          </a:p>
          <a:p>
            <a:pPr marL="342900" indent="-342900">
              <a:buFont typeface="Arial" panose="020B0604020202020204" pitchFamily="34" charset="0"/>
              <a:buChar char="•"/>
            </a:pPr>
            <a:r>
              <a:rPr lang="en-US" sz="2000" dirty="0">
                <a:solidFill>
                  <a:schemeClr val="bg2"/>
                </a:solidFill>
              </a:rPr>
              <a:t>Summarizes period, geometry, and signal behavior </a:t>
            </a:r>
          </a:p>
          <a:p>
            <a:pPr marL="342900" indent="-342900">
              <a:buFont typeface="Arial" panose="020B0604020202020204" pitchFamily="34" charset="0"/>
              <a:buChar char="•"/>
            </a:pPr>
            <a:r>
              <a:rPr lang="en-US" sz="2000" dirty="0">
                <a:solidFill>
                  <a:schemeClr val="bg2"/>
                </a:solidFill>
              </a:rPr>
              <a:t>Higher level representation of base graph nodes</a:t>
            </a:r>
          </a:p>
          <a:p>
            <a:pPr marL="342900" indent="-342900">
              <a:buFont typeface="Arial" panose="020B0604020202020204" pitchFamily="34" charset="0"/>
              <a:buChar char="•"/>
            </a:pPr>
            <a:endParaRPr lang="en-US" sz="2400" dirty="0">
              <a:solidFill>
                <a:schemeClr val="bg2"/>
              </a:solidFill>
            </a:endParaRPr>
          </a:p>
          <a:p>
            <a:r>
              <a:rPr lang="en-US" sz="2400" b="1" dirty="0">
                <a:solidFill>
                  <a:schemeClr val="bg2"/>
                </a:solidFill>
              </a:rPr>
              <a:t>Cycle Edge = Temporal Transition </a:t>
            </a:r>
          </a:p>
          <a:p>
            <a:pPr marL="342900" indent="-342900">
              <a:buFont typeface="Arial" panose="020B0604020202020204" pitchFamily="34" charset="0"/>
              <a:buChar char="•"/>
            </a:pPr>
            <a:r>
              <a:rPr lang="en-US" sz="2000" dirty="0">
                <a:solidFill>
                  <a:schemeClr val="bg2"/>
                </a:solidFill>
              </a:rPr>
              <a:t>Show the signal moves between broader regimes </a:t>
            </a:r>
          </a:p>
          <a:p>
            <a:pPr marL="342900" indent="-342900">
              <a:buFont typeface="Arial" panose="020B0604020202020204" pitchFamily="34" charset="0"/>
              <a:buChar char="•"/>
            </a:pPr>
            <a:r>
              <a:rPr lang="en-US" sz="2000" dirty="0">
                <a:solidFill>
                  <a:schemeClr val="bg2"/>
                </a:solidFill>
              </a:rPr>
              <a:t>Tracks drift on a larger scale</a:t>
            </a:r>
          </a:p>
          <a:p>
            <a:endParaRPr lang="en-US" sz="2400" dirty="0">
              <a:solidFill>
                <a:schemeClr val="bg2"/>
              </a:solidFill>
            </a:endParaRPr>
          </a:p>
          <a:p>
            <a:r>
              <a:rPr lang="en-US" sz="2600" dirty="0">
                <a:solidFill>
                  <a:schemeClr val="bg2"/>
                </a:solidFill>
              </a:rPr>
              <a:t>In simple terms: </a:t>
            </a:r>
            <a:r>
              <a:rPr lang="en-US" sz="2600" b="1" dirty="0">
                <a:solidFill>
                  <a:srgbClr val="92D050"/>
                </a:solidFill>
              </a:rPr>
              <a:t>the base graph remembers the path within a cycle, while the cycle layer remembers the cycle itself.</a:t>
            </a:r>
          </a:p>
        </p:txBody>
      </p:sp>
      <p:sp>
        <p:nvSpPr>
          <p:cNvPr id="12" name="TextBox 12">
            <a:extLst>
              <a:ext uri="{FF2B5EF4-FFF2-40B4-BE49-F238E27FC236}">
                <a16:creationId xmlns:a16="http://schemas.microsoft.com/office/drawing/2014/main" id="{722EE3F1-E67B-451F-22AB-6EB314CF4320}"/>
              </a:ext>
            </a:extLst>
          </p:cNvPr>
          <p:cNvSpPr txBox="1"/>
          <p:nvPr/>
        </p:nvSpPr>
        <p:spPr>
          <a:xfrm>
            <a:off x="7162800" y="3425795"/>
            <a:ext cx="8666130" cy="849720"/>
          </a:xfrm>
          <a:prstGeom prst="rect">
            <a:avLst/>
          </a:prstGeom>
        </p:spPr>
        <p:txBody>
          <a:bodyPr wrap="square" lIns="0" tIns="0" rIns="0" bIns="0" rtlCol="0" anchor="t">
            <a:spAutoFit/>
          </a:bodyPr>
          <a:lstStyle/>
          <a:p>
            <a:pPr algn="l">
              <a:lnSpc>
                <a:spcPts val="3435"/>
              </a:lnSpc>
            </a:pPr>
            <a:r>
              <a:rPr lang="en-US" sz="2800" b="1" spc="26" dirty="0">
                <a:solidFill>
                  <a:srgbClr val="B7EE4A"/>
                </a:solidFill>
                <a:latin typeface="IBM Plex Sans Bold"/>
                <a:ea typeface="IBM Plex Sans Bold"/>
                <a:cs typeface="IBM Plex Sans Bold"/>
                <a:sym typeface="IBM Plex Sans Bold"/>
              </a:rPr>
              <a:t>What the </a:t>
            </a:r>
            <a:r>
              <a:rPr lang="en-US" sz="2800" b="1" spc="26" dirty="0" err="1">
                <a:solidFill>
                  <a:srgbClr val="B7EE4A"/>
                </a:solidFill>
                <a:latin typeface="IBM Plex Sans Bold"/>
                <a:ea typeface="IBM Plex Sans Bold"/>
                <a:cs typeface="IBM Plex Sans Bold"/>
                <a:sym typeface="IBM Plex Sans Bold"/>
              </a:rPr>
              <a:t>MycoMorph</a:t>
            </a:r>
            <a:r>
              <a:rPr lang="en-US" sz="2800" b="1" spc="26" dirty="0">
                <a:solidFill>
                  <a:srgbClr val="B7EE4A"/>
                </a:solidFill>
                <a:latin typeface="IBM Plex Sans Bold"/>
                <a:ea typeface="IBM Plex Sans Bold"/>
                <a:cs typeface="IBM Plex Sans Bold"/>
                <a:sym typeface="IBM Plex Sans Bold"/>
              </a:rPr>
              <a:t> Meta Graph Represents </a:t>
            </a:r>
          </a:p>
          <a:p>
            <a:pPr algn="l">
              <a:lnSpc>
                <a:spcPts val="3435"/>
              </a:lnSpc>
            </a:pPr>
            <a:endParaRPr lang="en-US" sz="2664" b="1" spc="26" dirty="0">
              <a:solidFill>
                <a:srgbClr val="B7EE4A"/>
              </a:solidFill>
              <a:latin typeface="IBM Plex Sans Bold"/>
              <a:ea typeface="IBM Plex Sans Bold"/>
              <a:cs typeface="IBM Plex Sans Bold"/>
              <a:sym typeface="IBM Plex Sans Bold"/>
            </a:endParaRPr>
          </a:p>
        </p:txBody>
      </p:sp>
      <p:grpSp>
        <p:nvGrpSpPr>
          <p:cNvPr id="16" name="Group 16">
            <a:extLst>
              <a:ext uri="{FF2B5EF4-FFF2-40B4-BE49-F238E27FC236}">
                <a16:creationId xmlns:a16="http://schemas.microsoft.com/office/drawing/2014/main" id="{6760724A-2707-B64A-B182-CDE3D97F90AD}"/>
              </a:ext>
            </a:extLst>
          </p:cNvPr>
          <p:cNvGrpSpPr/>
          <p:nvPr/>
        </p:nvGrpSpPr>
        <p:grpSpPr>
          <a:xfrm>
            <a:off x="0" y="8244826"/>
            <a:ext cx="2737757" cy="2737757"/>
            <a:chOff x="0" y="0"/>
            <a:chExt cx="3650343" cy="3650343"/>
          </a:xfrm>
        </p:grpSpPr>
        <p:sp>
          <p:nvSpPr>
            <p:cNvPr id="17" name="Freeform 17">
              <a:extLst>
                <a:ext uri="{FF2B5EF4-FFF2-40B4-BE49-F238E27FC236}">
                  <a16:creationId xmlns:a16="http://schemas.microsoft.com/office/drawing/2014/main" id="{AD913861-7E79-ECCE-297B-A216498B3663}"/>
                </a:ext>
              </a:extLst>
            </p:cNvPr>
            <p:cNvSpPr/>
            <p:nvPr/>
          </p:nvSpPr>
          <p:spPr>
            <a:xfrm>
              <a:off x="0" y="0"/>
              <a:ext cx="3650343" cy="3650343"/>
            </a:xfrm>
            <a:custGeom>
              <a:avLst/>
              <a:gdLst/>
              <a:ahLst/>
              <a:cxnLst/>
              <a:rect l="l" t="t" r="r" b="b"/>
              <a:pathLst>
                <a:path w="3650343" h="3650343">
                  <a:moveTo>
                    <a:pt x="0" y="0"/>
                  </a:moveTo>
                  <a:lnTo>
                    <a:pt x="3650343" y="0"/>
                  </a:lnTo>
                  <a:lnTo>
                    <a:pt x="3650343" y="3650343"/>
                  </a:lnTo>
                  <a:lnTo>
                    <a:pt x="0" y="3650343"/>
                  </a:lnTo>
                  <a:lnTo>
                    <a:pt x="0" y="0"/>
                  </a:lnTo>
                  <a:close/>
                </a:path>
              </a:pathLst>
            </a:custGeom>
            <a:blipFill>
              <a:blip>
                <a:alphaModFix amt="4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8" name="Freeform 18">
              <a:extLst>
                <a:ext uri="{FF2B5EF4-FFF2-40B4-BE49-F238E27FC236}">
                  <a16:creationId xmlns:a16="http://schemas.microsoft.com/office/drawing/2014/main" id="{76041BB9-6A5C-CEAD-2AE2-FA41438AD191}"/>
                </a:ext>
              </a:extLst>
            </p:cNvPr>
            <p:cNvSpPr/>
            <p:nvPr/>
          </p:nvSpPr>
          <p:spPr>
            <a:xfrm>
              <a:off x="257215" y="827328"/>
              <a:ext cx="2779958" cy="1629020"/>
            </a:xfrm>
            <a:custGeom>
              <a:avLst/>
              <a:gdLst/>
              <a:ahLst/>
              <a:cxnLst/>
              <a:rect l="l" t="t" r="r" b="b"/>
              <a:pathLst>
                <a:path w="2779958" h="1629020">
                  <a:moveTo>
                    <a:pt x="0" y="0"/>
                  </a:moveTo>
                  <a:lnTo>
                    <a:pt x="2779958" y="0"/>
                  </a:lnTo>
                  <a:lnTo>
                    <a:pt x="2779958" y="1629020"/>
                  </a:lnTo>
                  <a:lnTo>
                    <a:pt x="0" y="1629020"/>
                  </a:lnTo>
                  <a:lnTo>
                    <a:pt x="0" y="0"/>
                  </a:lnTo>
                  <a:close/>
                </a:path>
              </a:pathLst>
            </a:custGeom>
            <a:blipFill>
              <a:blip r:embed="rId4"/>
              <a:stretch>
                <a:fillRect/>
              </a:stretch>
            </a:blipFill>
          </p:spPr>
          <p:txBody>
            <a:bodyPr/>
            <a:lstStyle/>
            <a:p>
              <a:endParaRPr lang="en-US"/>
            </a:p>
          </p:txBody>
        </p:sp>
      </p:grpSp>
      <p:sp>
        <p:nvSpPr>
          <p:cNvPr id="9" name="Freeform 7">
            <a:extLst>
              <a:ext uri="{FF2B5EF4-FFF2-40B4-BE49-F238E27FC236}">
                <a16:creationId xmlns:a16="http://schemas.microsoft.com/office/drawing/2014/main" id="{AA2127DE-AEC5-68F2-F212-B059013B70B6}"/>
              </a:ext>
            </a:extLst>
          </p:cNvPr>
          <p:cNvSpPr/>
          <p:nvPr/>
        </p:nvSpPr>
        <p:spPr>
          <a:xfrm>
            <a:off x="1028701" y="3692275"/>
            <a:ext cx="5219700" cy="4091894"/>
          </a:xfrm>
          <a:custGeom>
            <a:avLst/>
            <a:gdLst/>
            <a:ahLst/>
            <a:cxnLst/>
            <a:rect l="l" t="t" r="r" b="b"/>
            <a:pathLst>
              <a:path w="6043101" h="3329199">
                <a:moveTo>
                  <a:pt x="0" y="0"/>
                </a:moveTo>
                <a:lnTo>
                  <a:pt x="6043101" y="0"/>
                </a:lnTo>
                <a:lnTo>
                  <a:pt x="6043101" y="3329199"/>
                </a:lnTo>
                <a:lnTo>
                  <a:pt x="0" y="332919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 name="Slide Number Placeholder 1">
            <a:extLst>
              <a:ext uri="{FF2B5EF4-FFF2-40B4-BE49-F238E27FC236}">
                <a16:creationId xmlns:a16="http://schemas.microsoft.com/office/drawing/2014/main" id="{2B3A4DDE-3079-86EE-C0F4-7A35833C287D}"/>
              </a:ext>
            </a:extLst>
          </p:cNvPr>
          <p:cNvSpPr>
            <a:spLocks noGrp="1"/>
          </p:cNvSpPr>
          <p:nvPr>
            <p:ph type="sldNum" sz="quarter" idx="12"/>
          </p:nvPr>
        </p:nvSpPr>
        <p:spPr>
          <a:xfrm>
            <a:off x="15925800" y="9715500"/>
            <a:ext cx="2133600" cy="365125"/>
          </a:xfrm>
        </p:spPr>
        <p:txBody>
          <a:bodyPr/>
          <a:lstStyle/>
          <a:p>
            <a:fld id="{B6F15528-21DE-4FAA-801E-634DDDAF4B2B}" type="slidenum">
              <a:rPr lang="en-US" smtClean="0"/>
              <a:pPr/>
              <a:t>16</a:t>
            </a:fld>
            <a:endParaRPr lang="en-US"/>
          </a:p>
        </p:txBody>
      </p:sp>
    </p:spTree>
    <p:extLst>
      <p:ext uri="{BB962C8B-B14F-4D97-AF65-F5344CB8AC3E}">
        <p14:creationId xmlns:p14="http://schemas.microsoft.com/office/powerpoint/2010/main" val="18001602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lin ang="5400000"/>
        </a:gradFill>
        <a:effectLst/>
      </p:bgPr>
    </p:bg>
    <p:spTree>
      <p:nvGrpSpPr>
        <p:cNvPr id="1" name="">
          <a:extLst>
            <a:ext uri="{FF2B5EF4-FFF2-40B4-BE49-F238E27FC236}">
              <a16:creationId xmlns:a16="http://schemas.microsoft.com/office/drawing/2014/main" id="{A2772DB8-B972-4C8A-B4A6-EA2BD5EBA2AB}"/>
            </a:ext>
          </a:extLst>
        </p:cNvPr>
        <p:cNvGrpSpPr/>
        <p:nvPr/>
      </p:nvGrpSpPr>
      <p:grpSpPr>
        <a:xfrm>
          <a:off x="0" y="0"/>
          <a:ext cx="0" cy="0"/>
          <a:chOff x="0" y="0"/>
          <a:chExt cx="0" cy="0"/>
        </a:xfrm>
      </p:grpSpPr>
      <p:sp>
        <p:nvSpPr>
          <p:cNvPr id="4" name="AutoShape 4">
            <a:extLst>
              <a:ext uri="{FF2B5EF4-FFF2-40B4-BE49-F238E27FC236}">
                <a16:creationId xmlns:a16="http://schemas.microsoft.com/office/drawing/2014/main" id="{BF6487D2-9136-2CBC-5076-D2D30E768B82}"/>
              </a:ext>
            </a:extLst>
          </p:cNvPr>
          <p:cNvSpPr/>
          <p:nvPr/>
        </p:nvSpPr>
        <p:spPr>
          <a:xfrm flipH="1">
            <a:off x="0" y="9676538"/>
            <a:ext cx="16463090" cy="0"/>
          </a:xfrm>
          <a:prstGeom prst="line">
            <a:avLst/>
          </a:prstGeom>
          <a:ln w="19050" cap="flat">
            <a:solidFill>
              <a:srgbClr val="FFFFFF"/>
            </a:solidFill>
            <a:prstDash val="solid"/>
            <a:headEnd type="none" w="sm" len="sm"/>
            <a:tailEnd type="none" w="sm" len="sm"/>
          </a:ln>
        </p:spPr>
        <p:txBody>
          <a:bodyPr/>
          <a:lstStyle/>
          <a:p>
            <a:endParaRPr lang="en-US"/>
          </a:p>
        </p:txBody>
      </p:sp>
      <p:sp>
        <p:nvSpPr>
          <p:cNvPr id="5" name="AutoShape 5">
            <a:extLst>
              <a:ext uri="{FF2B5EF4-FFF2-40B4-BE49-F238E27FC236}">
                <a16:creationId xmlns:a16="http://schemas.microsoft.com/office/drawing/2014/main" id="{A076DDE3-892A-6F45-91FD-36D75FC4FEE6}"/>
              </a:ext>
            </a:extLst>
          </p:cNvPr>
          <p:cNvSpPr/>
          <p:nvPr/>
        </p:nvSpPr>
        <p:spPr>
          <a:xfrm flipH="1">
            <a:off x="17050227" y="9667013"/>
            <a:ext cx="960120" cy="0"/>
          </a:xfrm>
          <a:prstGeom prst="line">
            <a:avLst/>
          </a:prstGeom>
          <a:ln w="19050" cap="flat">
            <a:solidFill>
              <a:srgbClr val="FFFFFF"/>
            </a:solidFill>
            <a:prstDash val="solid"/>
            <a:headEnd type="none" w="sm" len="sm"/>
            <a:tailEnd type="none" w="sm" len="sm"/>
          </a:ln>
        </p:spPr>
        <p:txBody>
          <a:bodyPr/>
          <a:lstStyle/>
          <a:p>
            <a:endParaRPr lang="en-US"/>
          </a:p>
        </p:txBody>
      </p:sp>
      <p:sp>
        <p:nvSpPr>
          <p:cNvPr id="6" name="TextBox 6">
            <a:extLst>
              <a:ext uri="{FF2B5EF4-FFF2-40B4-BE49-F238E27FC236}">
                <a16:creationId xmlns:a16="http://schemas.microsoft.com/office/drawing/2014/main" id="{8927A122-9E9E-DAB9-F354-60F8E7A34F96}"/>
              </a:ext>
            </a:extLst>
          </p:cNvPr>
          <p:cNvSpPr txBox="1"/>
          <p:nvPr/>
        </p:nvSpPr>
        <p:spPr>
          <a:xfrm>
            <a:off x="1028700" y="1000125"/>
            <a:ext cx="16230600" cy="878835"/>
          </a:xfrm>
          <a:prstGeom prst="rect">
            <a:avLst/>
          </a:prstGeom>
        </p:spPr>
        <p:txBody>
          <a:bodyPr lIns="0" tIns="0" rIns="0" bIns="0" rtlCol="0" anchor="t">
            <a:spAutoFit/>
          </a:bodyPr>
          <a:lstStyle/>
          <a:p>
            <a:pPr algn="l">
              <a:lnSpc>
                <a:spcPts val="7025"/>
              </a:lnSpc>
            </a:pPr>
            <a:r>
              <a:rPr lang="en-US" sz="5616" b="1" spc="-16" dirty="0">
                <a:solidFill>
                  <a:srgbClr val="D7E5D8"/>
                </a:solidFill>
                <a:latin typeface="IBM Plex Sans Bold"/>
                <a:ea typeface="IBM Plex Sans Bold"/>
                <a:cs typeface="IBM Plex Sans Bold"/>
                <a:sym typeface="IBM Plex Sans Bold"/>
              </a:rPr>
              <a:t>CYCLE LAYER &amp; META GRAPH</a:t>
            </a:r>
          </a:p>
        </p:txBody>
      </p:sp>
      <p:sp>
        <p:nvSpPr>
          <p:cNvPr id="7" name="TextBox 7">
            <a:extLst>
              <a:ext uri="{FF2B5EF4-FFF2-40B4-BE49-F238E27FC236}">
                <a16:creationId xmlns:a16="http://schemas.microsoft.com/office/drawing/2014/main" id="{0453A608-B5D8-6D50-0D85-87849017917E}"/>
              </a:ext>
            </a:extLst>
          </p:cNvPr>
          <p:cNvSpPr txBox="1"/>
          <p:nvPr/>
        </p:nvSpPr>
        <p:spPr>
          <a:xfrm>
            <a:off x="1028700" y="2004098"/>
            <a:ext cx="15138291" cy="692497"/>
          </a:xfrm>
          <a:prstGeom prst="rect">
            <a:avLst/>
          </a:prstGeom>
        </p:spPr>
        <p:txBody>
          <a:bodyPr lIns="0" tIns="0" rIns="0" bIns="0" rtlCol="0" anchor="t">
            <a:spAutoFit/>
          </a:bodyPr>
          <a:lstStyle/>
          <a:p>
            <a:pPr>
              <a:lnSpc>
                <a:spcPts val="2699"/>
              </a:lnSpc>
            </a:pPr>
            <a:r>
              <a:rPr lang="en-US" sz="2400" dirty="0">
                <a:solidFill>
                  <a:schemeClr val="bg2"/>
                </a:solidFill>
              </a:rPr>
              <a:t>Meta-graph properties summarize each cycle, consolidation by folding groups similar cycles into shared representations, and period projection uses their evolving relationships to estimate the next cycle’s duration.</a:t>
            </a:r>
            <a:endParaRPr lang="en-US" sz="2400" spc="-5" dirty="0">
              <a:solidFill>
                <a:schemeClr val="bg2"/>
              </a:solidFill>
              <a:latin typeface="IBM Plex Sans"/>
              <a:ea typeface="IBM Plex Sans"/>
              <a:cs typeface="IBM Plex Sans"/>
              <a:sym typeface="IBM Plex Sans"/>
            </a:endParaRPr>
          </a:p>
        </p:txBody>
      </p:sp>
      <mc:AlternateContent xmlns:mc="http://schemas.openxmlformats.org/markup-compatibility/2006" xmlns:a14="http://schemas.microsoft.com/office/drawing/2010/main">
        <mc:Choice Requires="a14">
          <p:sp>
            <p:nvSpPr>
              <p:cNvPr id="8" name="TextBox 8">
                <a:extLst>
                  <a:ext uri="{FF2B5EF4-FFF2-40B4-BE49-F238E27FC236}">
                    <a16:creationId xmlns:a16="http://schemas.microsoft.com/office/drawing/2014/main" id="{E3957A0D-0B60-26EF-DAA6-660361AD368B}"/>
                  </a:ext>
                </a:extLst>
              </p:cNvPr>
              <p:cNvSpPr txBox="1"/>
              <p:nvPr/>
            </p:nvSpPr>
            <p:spPr>
              <a:xfrm>
                <a:off x="9368663" y="3410866"/>
                <a:ext cx="7656574" cy="3375604"/>
              </a:xfrm>
              <a:prstGeom prst="rect">
                <a:avLst/>
              </a:prstGeom>
            </p:spPr>
            <p:txBody>
              <a:bodyPr wrap="square" lIns="0" tIns="0" rIns="0" bIns="0" rtlCol="0" anchor="t">
                <a:spAutoFit/>
              </a:bodyPr>
              <a:lstStyle/>
              <a:p>
                <a:pPr hangingPunct="0"/>
                <a:r>
                  <a:rPr lang="en-US" dirty="0">
                    <a:solidFill>
                      <a:schemeClr val="bg2"/>
                    </a:solidFill>
                  </a:rPr>
                  <a:t>For a block </a:t>
                </a:r>
                <a14:m>
                  <m:oMath xmlns:m="http://schemas.openxmlformats.org/officeDocument/2006/math">
                    <m:r>
                      <a:rPr lang="en-US" i="1" dirty="0" smtClean="0">
                        <a:solidFill>
                          <a:schemeClr val="bg2"/>
                        </a:solidFill>
                        <a:latin typeface="Cambria Math" panose="02040503050406030204" pitchFamily="18" charset="0"/>
                      </a:rPr>
                      <m:t>𝐵</m:t>
                    </m:r>
                  </m:oMath>
                </a14:m>
                <a:r>
                  <a:rPr lang="en-US" dirty="0">
                    <a:solidFill>
                      <a:schemeClr val="bg2"/>
                    </a:solidFill>
                  </a:rPr>
                  <a:t> of</a:t>
                </a:r>
                <a14:m>
                  <m:oMath xmlns:m="http://schemas.openxmlformats.org/officeDocument/2006/math">
                    <m:r>
                      <a:rPr lang="en-US" i="1" dirty="0" smtClean="0">
                        <a:solidFill>
                          <a:schemeClr val="bg2"/>
                        </a:solidFill>
                        <a:latin typeface="Cambria Math" panose="02040503050406030204" pitchFamily="18" charset="0"/>
                      </a:rPr>
                      <m:t> </m:t>
                    </m:r>
                    <m:r>
                      <a:rPr lang="en-US" i="1" dirty="0" smtClean="0">
                        <a:solidFill>
                          <a:schemeClr val="bg2"/>
                        </a:solidFill>
                        <a:latin typeface="Cambria Math" panose="02040503050406030204" pitchFamily="18" charset="0"/>
                      </a:rPr>
                      <m:t>𝑛</m:t>
                    </m:r>
                    <m:r>
                      <a:rPr lang="en-US" i="1" dirty="0" smtClean="0">
                        <a:solidFill>
                          <a:schemeClr val="bg2"/>
                        </a:solidFill>
                        <a:latin typeface="Cambria Math" panose="02040503050406030204" pitchFamily="18" charset="0"/>
                      </a:rPr>
                      <m:t> </m:t>
                    </m:r>
                  </m:oMath>
                </a14:m>
                <a:r>
                  <a:rPr lang="en-US" dirty="0">
                    <a:solidFill>
                      <a:schemeClr val="bg2"/>
                    </a:solidFill>
                  </a:rPr>
                  <a:t>points and a cycle of </a:t>
                </a:r>
                <a14:m>
                  <m:oMath xmlns:m="http://schemas.openxmlformats.org/officeDocument/2006/math">
                    <m:r>
                      <a:rPr lang="en-US" i="1" dirty="0" smtClean="0">
                        <a:solidFill>
                          <a:schemeClr val="bg2"/>
                        </a:solidFill>
                        <a:latin typeface="Cambria Math" panose="02040503050406030204" pitchFamily="18" charset="0"/>
                      </a:rPr>
                      <m:t>𝑚</m:t>
                    </m:r>
                  </m:oMath>
                </a14:m>
                <a:r>
                  <a:rPr lang="en-US" dirty="0">
                    <a:solidFill>
                      <a:schemeClr val="bg2"/>
                    </a:solidFill>
                  </a:rPr>
                  <a:t> points,</a:t>
                </a:r>
              </a:p>
              <a:p>
                <a:pPr hangingPunct="0"/>
                <a:endParaRPr lang="en-US" dirty="0">
                  <a:solidFill>
                    <a:schemeClr val="bg2"/>
                  </a:solidFill>
                </a:endParaRPr>
              </a:p>
              <a:p>
                <a:pPr hangingPunct="0"/>
                <a:r>
                  <a:rPr lang="en-US" dirty="0">
                    <a:solidFill>
                      <a:schemeClr val="bg2"/>
                    </a:solidFill>
                  </a:rPr>
                  <a:t>	</a:t>
                </a:r>
                <a14:m>
                  <m:oMath xmlns:m="http://schemas.openxmlformats.org/officeDocument/2006/math">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𝑥</m:t>
                        </m:r>
                      </m:e>
                      <m:sub>
                        <m:r>
                          <a:rPr lang="en-US" i="1">
                            <a:solidFill>
                              <a:schemeClr val="bg2"/>
                            </a:solidFill>
                            <a:latin typeface="Cambria Math" panose="02040503050406030204" pitchFamily="18" charset="0"/>
                          </a:rPr>
                          <m:t>𝑘</m:t>
                        </m:r>
                      </m:sub>
                    </m:sSub>
                    <m:r>
                      <a:rPr lang="en-US">
                        <a:solidFill>
                          <a:schemeClr val="bg2"/>
                        </a:solidFill>
                        <a:latin typeface="Cambria Math" panose="02040503050406030204" pitchFamily="18" charset="0"/>
                      </a:rPr>
                      <m:t>=</m:t>
                    </m:r>
                    <m:f>
                      <m:fPr>
                        <m:ctrlPr>
                          <a:rPr lang="en-US" i="1">
                            <a:solidFill>
                              <a:schemeClr val="bg2"/>
                            </a:solidFill>
                            <a:latin typeface="Cambria Math" panose="02040503050406030204" pitchFamily="18" charset="0"/>
                          </a:rPr>
                        </m:ctrlPr>
                      </m:fPr>
                      <m:num>
                        <m:r>
                          <a:rPr lang="en-US" i="1">
                            <a:solidFill>
                              <a:schemeClr val="bg2"/>
                            </a:solidFill>
                            <a:latin typeface="Cambria Math" panose="02040503050406030204" pitchFamily="18" charset="0"/>
                          </a:rPr>
                          <m:t>𝑘</m:t>
                        </m:r>
                        <m:d>
                          <m:dPr>
                            <m:ctrlPr>
                              <a:rPr lang="en-US" i="1">
                                <a:solidFill>
                                  <a:schemeClr val="bg2"/>
                                </a:solidFill>
                                <a:latin typeface="Cambria Math" panose="02040503050406030204" pitchFamily="18" charset="0"/>
                              </a:rPr>
                            </m:ctrlPr>
                          </m:dPr>
                          <m:e>
                            <m:r>
                              <a:rPr lang="en-US" i="1">
                                <a:solidFill>
                                  <a:schemeClr val="bg2"/>
                                </a:solidFill>
                                <a:latin typeface="Cambria Math" panose="02040503050406030204" pitchFamily="18" charset="0"/>
                              </a:rPr>
                              <m:t>𝑛</m:t>
                            </m:r>
                            <m:r>
                              <a:rPr lang="en-US">
                                <a:solidFill>
                                  <a:schemeClr val="bg2"/>
                                </a:solidFill>
                                <a:latin typeface="Cambria Math" panose="02040503050406030204" pitchFamily="18" charset="0"/>
                              </a:rPr>
                              <m:t>−</m:t>
                            </m:r>
                            <m:r>
                              <a:rPr lang="en-US" i="1">
                                <a:solidFill>
                                  <a:schemeClr val="bg2"/>
                                </a:solidFill>
                                <a:latin typeface="Cambria Math" panose="02040503050406030204" pitchFamily="18" charset="0"/>
                              </a:rPr>
                              <m:t>1</m:t>
                            </m:r>
                          </m:e>
                        </m:d>
                      </m:num>
                      <m:den>
                        <m:r>
                          <a:rPr lang="en-US" i="1">
                            <a:solidFill>
                              <a:schemeClr val="bg2"/>
                            </a:solidFill>
                            <a:latin typeface="Cambria Math" panose="02040503050406030204" pitchFamily="18" charset="0"/>
                          </a:rPr>
                          <m:t>𝑚</m:t>
                        </m:r>
                        <m:r>
                          <a:rPr lang="en-US">
                            <a:solidFill>
                              <a:schemeClr val="bg2"/>
                            </a:solidFill>
                            <a:latin typeface="Cambria Math" panose="02040503050406030204" pitchFamily="18" charset="0"/>
                          </a:rPr>
                          <m:t>−</m:t>
                        </m:r>
                        <m:r>
                          <a:rPr lang="en-US" i="1">
                            <a:solidFill>
                              <a:schemeClr val="bg2"/>
                            </a:solidFill>
                            <a:latin typeface="Cambria Math" panose="02040503050406030204" pitchFamily="18" charset="0"/>
                          </a:rPr>
                          <m:t>1</m:t>
                        </m:r>
                      </m:den>
                    </m:f>
                  </m:oMath>
                </a14:m>
                <a:r>
                  <a:rPr lang="en-US" dirty="0">
                    <a:solidFill>
                      <a:schemeClr val="bg2"/>
                    </a:solidFill>
                  </a:rPr>
                  <a:t>					(3.24)</a:t>
                </a:r>
              </a:p>
              <a:p>
                <a:pPr hangingPunct="0"/>
                <a:r>
                  <a:rPr lang="en-US" dirty="0">
                    <a:solidFill>
                      <a:schemeClr val="bg2"/>
                    </a:solidFill>
                  </a:rPr>
                  <a:t>	</a:t>
                </a:r>
              </a:p>
              <a:p>
                <a:pPr hangingPunct="0"/>
                <a:r>
                  <a:rPr lang="en-US" dirty="0">
                    <a:solidFill>
                      <a:schemeClr val="bg2"/>
                    </a:solidFill>
                  </a:rPr>
                  <a:t>	</a:t>
                </a:r>
                <a14:m>
                  <m:oMath xmlns:m="http://schemas.openxmlformats.org/officeDocument/2006/math">
                    <m:acc>
                      <m:accPr>
                        <m:chr m:val="̃"/>
                        <m:ctrlPr>
                          <a:rPr lang="en-US" i="1">
                            <a:solidFill>
                              <a:schemeClr val="bg2"/>
                            </a:solidFill>
                            <a:latin typeface="Cambria Math" panose="02040503050406030204" pitchFamily="18" charset="0"/>
                          </a:rPr>
                        </m:ctrlPr>
                      </m:accPr>
                      <m:e>
                        <m:r>
                          <a:rPr lang="en-US" i="1">
                            <a:solidFill>
                              <a:schemeClr val="bg2"/>
                            </a:solidFill>
                            <a:latin typeface="Cambria Math" panose="02040503050406030204" pitchFamily="18" charset="0"/>
                          </a:rPr>
                          <m:t>𝐵</m:t>
                        </m:r>
                      </m:e>
                    </m:acc>
                    <m:d>
                      <m:dPr>
                        <m:begChr m:val="["/>
                        <m:endChr m:val="]"/>
                        <m:ctrlPr>
                          <a:rPr lang="en-US" i="1">
                            <a:solidFill>
                              <a:schemeClr val="bg2"/>
                            </a:solidFill>
                            <a:latin typeface="Cambria Math" panose="02040503050406030204" pitchFamily="18" charset="0"/>
                          </a:rPr>
                        </m:ctrlPr>
                      </m:dPr>
                      <m:e>
                        <m:r>
                          <a:rPr lang="en-US" i="1">
                            <a:solidFill>
                              <a:schemeClr val="bg2"/>
                            </a:solidFill>
                            <a:latin typeface="Cambria Math" panose="02040503050406030204" pitchFamily="18" charset="0"/>
                          </a:rPr>
                          <m:t>𝑘</m:t>
                        </m:r>
                      </m:e>
                    </m:d>
                    <m:r>
                      <a:rPr lang="en-US">
                        <a:solidFill>
                          <a:schemeClr val="bg2"/>
                        </a:solidFill>
                        <a:latin typeface="Cambria Math" panose="02040503050406030204" pitchFamily="18" charset="0"/>
                      </a:rPr>
                      <m:t>=</m:t>
                    </m:r>
                    <m:r>
                      <a:rPr lang="en-US" i="1">
                        <a:solidFill>
                          <a:schemeClr val="bg2"/>
                        </a:solidFill>
                        <a:latin typeface="Cambria Math" panose="02040503050406030204" pitchFamily="18" charset="0"/>
                      </a:rPr>
                      <m:t>𝐵</m:t>
                    </m:r>
                    <m:d>
                      <m:dPr>
                        <m:begChr m:val="["/>
                        <m:endChr m:val="]"/>
                        <m:ctrlPr>
                          <a:rPr lang="en-US">
                            <a:solidFill>
                              <a:schemeClr val="bg2"/>
                            </a:solidFill>
                            <a:latin typeface="Cambria Math" panose="02040503050406030204" pitchFamily="18" charset="0"/>
                          </a:rPr>
                        </m:ctrlPr>
                      </m:dPr>
                      <m:e>
                        <m:r>
                          <a:rPr lang="en-US">
                            <a:solidFill>
                              <a:schemeClr val="bg2"/>
                            </a:solidFill>
                            <a:latin typeface="Cambria Math" panose="02040503050406030204" pitchFamily="18" charset="0"/>
                          </a:rPr>
                          <m:t>⌊</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𝑥</m:t>
                            </m:r>
                          </m:e>
                          <m:sub>
                            <m:r>
                              <a:rPr lang="en-US" i="1">
                                <a:solidFill>
                                  <a:schemeClr val="bg2"/>
                                </a:solidFill>
                                <a:latin typeface="Cambria Math" panose="02040503050406030204" pitchFamily="18" charset="0"/>
                              </a:rPr>
                              <m:t>𝑘</m:t>
                            </m:r>
                          </m:sub>
                        </m:sSub>
                        <m:r>
                          <a:rPr lang="en-US">
                            <a:solidFill>
                              <a:schemeClr val="bg2"/>
                            </a:solidFill>
                            <a:latin typeface="Cambria Math" panose="02040503050406030204" pitchFamily="18" charset="0"/>
                          </a:rPr>
                          <m:t>⌋</m:t>
                        </m:r>
                      </m:e>
                    </m:d>
                    <m:d>
                      <m:dPr>
                        <m:ctrlPr>
                          <a:rPr lang="en-US" i="1">
                            <a:solidFill>
                              <a:schemeClr val="bg2"/>
                            </a:solidFill>
                            <a:latin typeface="Cambria Math" panose="02040503050406030204" pitchFamily="18" charset="0"/>
                          </a:rPr>
                        </m:ctrlPr>
                      </m:dPr>
                      <m:e>
                        <m:r>
                          <a:rPr lang="en-US" i="1">
                            <a:solidFill>
                              <a:schemeClr val="bg2"/>
                            </a:solidFill>
                            <a:latin typeface="Cambria Math" panose="02040503050406030204" pitchFamily="18" charset="0"/>
                          </a:rPr>
                          <m:t>1</m:t>
                        </m:r>
                        <m:r>
                          <a:rPr lang="en-US">
                            <a:solidFill>
                              <a:schemeClr val="bg2"/>
                            </a:solidFill>
                            <a:latin typeface="Cambria Math" panose="02040503050406030204" pitchFamily="18" charset="0"/>
                          </a:rPr>
                          <m:t>−</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𝑓</m:t>
                            </m:r>
                          </m:e>
                          <m:sub>
                            <m:r>
                              <a:rPr lang="en-US" i="1">
                                <a:solidFill>
                                  <a:schemeClr val="bg2"/>
                                </a:solidFill>
                                <a:latin typeface="Cambria Math" panose="02040503050406030204" pitchFamily="18" charset="0"/>
                              </a:rPr>
                              <m:t>𝑘</m:t>
                            </m:r>
                          </m:sub>
                        </m:sSub>
                      </m:e>
                    </m:d>
                    <m:r>
                      <a:rPr lang="en-US">
                        <a:solidFill>
                          <a:schemeClr val="bg2"/>
                        </a:solidFill>
                        <a:latin typeface="Cambria Math" panose="02040503050406030204" pitchFamily="18" charset="0"/>
                      </a:rPr>
                      <m:t>+</m:t>
                    </m:r>
                    <m:r>
                      <a:rPr lang="en-US" i="1">
                        <a:solidFill>
                          <a:schemeClr val="bg2"/>
                        </a:solidFill>
                        <a:latin typeface="Cambria Math" panose="02040503050406030204" pitchFamily="18" charset="0"/>
                      </a:rPr>
                      <m:t>𝐵</m:t>
                    </m:r>
                    <m:d>
                      <m:dPr>
                        <m:begChr m:val="["/>
                        <m:endChr m:val="]"/>
                        <m:ctrlPr>
                          <a:rPr lang="en-US">
                            <a:solidFill>
                              <a:schemeClr val="bg2"/>
                            </a:solidFill>
                            <a:latin typeface="Cambria Math" panose="02040503050406030204" pitchFamily="18" charset="0"/>
                          </a:rPr>
                        </m:ctrlPr>
                      </m:dPr>
                      <m:e>
                        <m:r>
                          <a:rPr lang="en-US">
                            <a:solidFill>
                              <a:schemeClr val="bg2"/>
                            </a:solidFill>
                            <a:latin typeface="Cambria Math" panose="02040503050406030204" pitchFamily="18" charset="0"/>
                          </a:rPr>
                          <m:t>⌈</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𝑥</m:t>
                            </m:r>
                          </m:e>
                          <m:sub>
                            <m:r>
                              <a:rPr lang="en-US" i="1">
                                <a:solidFill>
                                  <a:schemeClr val="bg2"/>
                                </a:solidFill>
                                <a:latin typeface="Cambria Math" panose="02040503050406030204" pitchFamily="18" charset="0"/>
                              </a:rPr>
                              <m:t>𝑘</m:t>
                            </m:r>
                          </m:sub>
                        </m:sSub>
                        <m:r>
                          <a:rPr lang="en-US">
                            <a:solidFill>
                              <a:schemeClr val="bg2"/>
                            </a:solidFill>
                            <a:latin typeface="Cambria Math" panose="02040503050406030204" pitchFamily="18" charset="0"/>
                          </a:rPr>
                          <m:t>⌉</m:t>
                        </m:r>
                      </m:e>
                    </m:d>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𝑓</m:t>
                        </m:r>
                      </m:e>
                      <m:sub>
                        <m:r>
                          <a:rPr lang="en-US" i="1">
                            <a:solidFill>
                              <a:schemeClr val="bg2"/>
                            </a:solidFill>
                            <a:latin typeface="Cambria Math" panose="02040503050406030204" pitchFamily="18" charset="0"/>
                          </a:rPr>
                          <m:t>𝑘</m:t>
                        </m:r>
                      </m:sub>
                    </m:sSub>
                  </m:oMath>
                </a14:m>
                <a:r>
                  <a:rPr lang="en-US" dirty="0">
                    <a:solidFill>
                      <a:schemeClr val="bg2"/>
                    </a:solidFill>
                  </a:rPr>
                  <a:t>			(3.25)</a:t>
                </a:r>
              </a:p>
              <a:p>
                <a:endParaRPr lang="en-US" dirty="0">
                  <a:solidFill>
                    <a:schemeClr val="bg2"/>
                  </a:solidFill>
                </a:endParaRPr>
              </a:p>
              <a:p>
                <a:r>
                  <a:rPr lang="en-US" dirty="0">
                    <a:solidFill>
                      <a:schemeClr val="bg2"/>
                    </a:solidFill>
                  </a:rPr>
                  <a:t>The resampled cycle is scored against the loop centroids by</a:t>
                </a:r>
              </a:p>
              <a:p>
                <a:pPr hangingPunct="0"/>
                <a:endParaRPr lang="en-US" dirty="0">
                  <a:solidFill>
                    <a:schemeClr val="bg2"/>
                  </a:solidFill>
                </a:endParaRPr>
              </a:p>
              <a:p>
                <a:pPr hangingPunct="0"/>
                <a:r>
                  <a:rPr lang="en-US" dirty="0">
                    <a:solidFill>
                      <a:schemeClr val="bg2"/>
                    </a:solidFill>
                  </a:rPr>
                  <a:t>	</a:t>
                </a:r>
                <a14:m>
                  <m:oMath xmlns:m="http://schemas.openxmlformats.org/officeDocument/2006/math">
                    <m:r>
                      <m:rPr>
                        <m:sty m:val="p"/>
                      </m:rPr>
                      <a:rPr lang="en-US">
                        <a:solidFill>
                          <a:schemeClr val="bg2"/>
                        </a:solidFill>
                        <a:latin typeface="Cambria Math" panose="02040503050406030204" pitchFamily="18" charset="0"/>
                      </a:rPr>
                      <m:t>score</m:t>
                    </m:r>
                    <m:r>
                      <a:rPr lang="en-US">
                        <a:solidFill>
                          <a:schemeClr val="bg2"/>
                        </a:solidFill>
                        <a:latin typeface="Cambria Math" panose="02040503050406030204" pitchFamily="18" charset="0"/>
                      </a:rPr>
                      <m:t>=</m:t>
                    </m:r>
                    <m:r>
                      <m:rPr>
                        <m:sty m:val="p"/>
                      </m:rPr>
                      <a:rPr lang="en-US">
                        <a:solidFill>
                          <a:schemeClr val="bg2"/>
                        </a:solidFill>
                        <a:latin typeface="Cambria Math" panose="02040503050406030204" pitchFamily="18" charset="0"/>
                      </a:rPr>
                      <m:t>exp</m:t>
                    </m:r>
                    <m:d>
                      <m:dPr>
                        <m:begChr m:val="["/>
                        <m:endChr m:val="]"/>
                        <m:ctrlPr>
                          <a:rPr lang="en-US">
                            <a:solidFill>
                              <a:schemeClr val="bg2"/>
                            </a:solidFill>
                            <a:latin typeface="Cambria Math" panose="02040503050406030204" pitchFamily="18" charset="0"/>
                          </a:rPr>
                        </m:ctrlPr>
                      </m:dPr>
                      <m:e>
                        <m:r>
                          <a:rPr lang="en-US">
                            <a:solidFill>
                              <a:schemeClr val="bg2"/>
                            </a:solidFill>
                            <a:latin typeface="Cambria Math" panose="02040503050406030204" pitchFamily="18" charset="0"/>
                          </a:rPr>
                          <m:t>−</m:t>
                        </m:r>
                        <m:f>
                          <m:fPr>
                            <m:ctrlPr>
                              <a:rPr lang="en-US" i="1">
                                <a:solidFill>
                                  <a:schemeClr val="bg2"/>
                                </a:solidFill>
                                <a:latin typeface="Cambria Math" panose="02040503050406030204" pitchFamily="18" charset="0"/>
                              </a:rPr>
                            </m:ctrlPr>
                          </m:fPr>
                          <m:num>
                            <m:f>
                              <m:fPr>
                                <m:ctrlPr>
                                  <a:rPr lang="en-US" i="1">
                                    <a:solidFill>
                                      <a:schemeClr val="bg2"/>
                                    </a:solidFill>
                                    <a:latin typeface="Cambria Math" panose="02040503050406030204" pitchFamily="18" charset="0"/>
                                  </a:rPr>
                                </m:ctrlPr>
                              </m:fPr>
                              <m:num>
                                <m:r>
                                  <a:rPr lang="en-US" i="1">
                                    <a:solidFill>
                                      <a:schemeClr val="bg2"/>
                                    </a:solidFill>
                                    <a:latin typeface="Cambria Math" panose="02040503050406030204" pitchFamily="18" charset="0"/>
                                  </a:rPr>
                                  <m:t>1</m:t>
                                </m:r>
                              </m:num>
                              <m:den>
                                <m:r>
                                  <a:rPr lang="en-US" i="1">
                                    <a:solidFill>
                                      <a:schemeClr val="bg2"/>
                                    </a:solidFill>
                                    <a:latin typeface="Cambria Math" panose="02040503050406030204" pitchFamily="18" charset="0"/>
                                  </a:rPr>
                                  <m:t>𝑚</m:t>
                                </m:r>
                              </m:den>
                            </m:f>
                            <m:nary>
                              <m:naryPr>
                                <m:chr m:val="∑"/>
                                <m:limLoc m:val="undOvr"/>
                                <m:ctrlPr>
                                  <a:rPr lang="en-US" i="1">
                                    <a:solidFill>
                                      <a:schemeClr val="bg2"/>
                                    </a:solidFill>
                                    <a:latin typeface="Cambria Math" panose="02040503050406030204" pitchFamily="18" charset="0"/>
                                  </a:rPr>
                                </m:ctrlPr>
                              </m:naryPr>
                              <m:sub>
                                <m:r>
                                  <a:rPr lang="en-US" i="1">
                                    <a:solidFill>
                                      <a:schemeClr val="bg2"/>
                                    </a:solidFill>
                                    <a:latin typeface="Cambria Math" panose="02040503050406030204" pitchFamily="18" charset="0"/>
                                  </a:rPr>
                                  <m:t>𝑘</m:t>
                                </m:r>
                              </m:sub>
                              <m:sup>
                                <m:r>
                                  <a:rPr lang="en-US" i="1">
                                    <a:solidFill>
                                      <a:schemeClr val="bg2"/>
                                    </a:solidFill>
                                    <a:latin typeface="Cambria Math" panose="02040503050406030204" pitchFamily="18" charset="0"/>
                                  </a:rPr>
                                  <m:t>​</m:t>
                                </m:r>
                              </m:sup>
                              <m:e>
                                <m:sSup>
                                  <m:sSupPr>
                                    <m:ctrlPr>
                                      <a:rPr lang="en-US" i="1">
                                        <a:solidFill>
                                          <a:schemeClr val="bg2"/>
                                        </a:solidFill>
                                        <a:latin typeface="Cambria Math" panose="02040503050406030204" pitchFamily="18" charset="0"/>
                                      </a:rPr>
                                    </m:ctrlPr>
                                  </m:sSupPr>
                                  <m:e>
                                    <m:d>
                                      <m:dPr>
                                        <m:begChr m:val="∥"/>
                                        <m:endChr m:val="∥"/>
                                        <m:ctrlPr>
                                          <a:rPr lang="en-US" i="1">
                                            <a:solidFill>
                                              <a:schemeClr val="bg2"/>
                                            </a:solidFill>
                                            <a:latin typeface="Cambria Math" panose="02040503050406030204" pitchFamily="18" charset="0"/>
                                          </a:rPr>
                                        </m:ctrlPr>
                                      </m:dPr>
                                      <m:e>
                                        <m:acc>
                                          <m:accPr>
                                            <m:chr m:val="̃"/>
                                            <m:ctrlPr>
                                              <a:rPr lang="en-US" i="1">
                                                <a:solidFill>
                                                  <a:schemeClr val="bg2"/>
                                                </a:solidFill>
                                                <a:latin typeface="Cambria Math" panose="02040503050406030204" pitchFamily="18" charset="0"/>
                                              </a:rPr>
                                            </m:ctrlPr>
                                          </m:accPr>
                                          <m:e>
                                            <m:r>
                                              <a:rPr lang="en-US" i="1">
                                                <a:solidFill>
                                                  <a:schemeClr val="bg2"/>
                                                </a:solidFill>
                                                <a:latin typeface="Cambria Math" panose="02040503050406030204" pitchFamily="18" charset="0"/>
                                              </a:rPr>
                                              <m:t>𝐵</m:t>
                                            </m:r>
                                          </m:e>
                                        </m:acc>
                                        <m:d>
                                          <m:dPr>
                                            <m:begChr m:val="["/>
                                            <m:endChr m:val="]"/>
                                            <m:ctrlPr>
                                              <a:rPr lang="en-US" i="1">
                                                <a:solidFill>
                                                  <a:schemeClr val="bg2"/>
                                                </a:solidFill>
                                                <a:latin typeface="Cambria Math" panose="02040503050406030204" pitchFamily="18" charset="0"/>
                                              </a:rPr>
                                            </m:ctrlPr>
                                          </m:dPr>
                                          <m:e>
                                            <m:r>
                                              <a:rPr lang="en-US" i="1">
                                                <a:solidFill>
                                                  <a:schemeClr val="bg2"/>
                                                </a:solidFill>
                                                <a:latin typeface="Cambria Math" panose="02040503050406030204" pitchFamily="18" charset="0"/>
                                              </a:rPr>
                                              <m:t>𝑘</m:t>
                                            </m:r>
                                          </m:e>
                                        </m:d>
                                        <m:r>
                                          <a:rPr lang="en-US">
                                            <a:solidFill>
                                              <a:schemeClr val="bg2"/>
                                            </a:solidFill>
                                            <a:latin typeface="Cambria Math" panose="02040503050406030204" pitchFamily="18" charset="0"/>
                                          </a:rPr>
                                          <m:t>−</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𝜇</m:t>
                                            </m:r>
                                          </m:e>
                                          <m:sub>
                                            <m:r>
                                              <a:rPr lang="en-US" i="1">
                                                <a:solidFill>
                                                  <a:schemeClr val="bg2"/>
                                                </a:solidFill>
                                                <a:latin typeface="Cambria Math" panose="02040503050406030204" pitchFamily="18" charset="0"/>
                                              </a:rPr>
                                              <m:t>𝑘</m:t>
                                            </m:r>
                                          </m:sub>
                                        </m:sSub>
                                      </m:e>
                                    </m:d>
                                  </m:e>
                                  <m:sup>
                                    <m:r>
                                      <a:rPr lang="en-US" i="1">
                                        <a:solidFill>
                                          <a:schemeClr val="bg2"/>
                                        </a:solidFill>
                                        <a:latin typeface="Cambria Math" panose="02040503050406030204" pitchFamily="18" charset="0"/>
                                      </a:rPr>
                                      <m:t>2</m:t>
                                    </m:r>
                                  </m:sup>
                                </m:sSup>
                              </m:e>
                            </m:nary>
                          </m:num>
                          <m:den>
                            <m:r>
                              <a:rPr lang="en-US" i="1">
                                <a:solidFill>
                                  <a:schemeClr val="bg2"/>
                                </a:solidFill>
                                <a:latin typeface="Cambria Math" panose="02040503050406030204" pitchFamily="18" charset="0"/>
                              </a:rPr>
                              <m:t>2</m:t>
                            </m:r>
                            <m:sSup>
                              <m:sSupPr>
                                <m:ctrlPr>
                                  <a:rPr lang="en-US" i="1">
                                    <a:solidFill>
                                      <a:schemeClr val="bg2"/>
                                    </a:solidFill>
                                    <a:latin typeface="Cambria Math" panose="02040503050406030204" pitchFamily="18" charset="0"/>
                                  </a:rPr>
                                </m:ctrlPr>
                              </m:sSupPr>
                              <m:e>
                                <m:r>
                                  <a:rPr lang="en-US" i="1">
                                    <a:solidFill>
                                      <a:schemeClr val="bg2"/>
                                    </a:solidFill>
                                    <a:latin typeface="Cambria Math" panose="02040503050406030204" pitchFamily="18" charset="0"/>
                                  </a:rPr>
                                  <m:t>𝜎</m:t>
                                </m:r>
                              </m:e>
                              <m:sup>
                                <m:r>
                                  <a:rPr lang="en-US" i="1">
                                    <a:solidFill>
                                      <a:schemeClr val="bg2"/>
                                    </a:solidFill>
                                    <a:latin typeface="Cambria Math" panose="02040503050406030204" pitchFamily="18" charset="0"/>
                                  </a:rPr>
                                  <m:t>2</m:t>
                                </m:r>
                              </m:sup>
                            </m:sSup>
                          </m:den>
                        </m:f>
                      </m:e>
                    </m:d>
                  </m:oMath>
                </a14:m>
                <a:r>
                  <a:rPr lang="en-US" dirty="0">
                    <a:solidFill>
                      <a:schemeClr val="bg2"/>
                    </a:solidFill>
                  </a:rPr>
                  <a:t>			(3.26)</a:t>
                </a:r>
              </a:p>
              <a:p>
                <a:pPr hangingPunct="0"/>
                <a:endParaRPr lang="en-US" dirty="0">
                  <a:solidFill>
                    <a:schemeClr val="bg2"/>
                  </a:solidFill>
                </a:endParaRPr>
              </a:p>
              <a:p>
                <a:pPr hangingPunct="0"/>
                <a:endParaRPr lang="en-US" sz="1507" spc="21" dirty="0">
                  <a:solidFill>
                    <a:schemeClr val="bg2"/>
                  </a:solidFill>
                  <a:latin typeface="Amicale Light"/>
                  <a:ea typeface="Amicale Light"/>
                  <a:cs typeface="Amicale Light"/>
                  <a:sym typeface="Amicale Light"/>
                </a:endParaRPr>
              </a:p>
            </p:txBody>
          </p:sp>
        </mc:Choice>
        <mc:Fallback xmlns="">
          <p:sp>
            <p:nvSpPr>
              <p:cNvPr id="8" name="TextBox 8">
                <a:extLst>
                  <a:ext uri="{FF2B5EF4-FFF2-40B4-BE49-F238E27FC236}">
                    <a16:creationId xmlns:a16="http://schemas.microsoft.com/office/drawing/2014/main" id="{E3957A0D-0B60-26EF-DAA6-660361AD368B}"/>
                  </a:ext>
                </a:extLst>
              </p:cNvPr>
              <p:cNvSpPr txBox="1">
                <a:spLocks noRot="1" noChangeAspect="1" noMove="1" noResize="1" noEditPoints="1" noAdjustHandles="1" noChangeArrowheads="1" noChangeShapeType="1" noTextEdit="1"/>
              </p:cNvSpPr>
              <p:nvPr/>
            </p:nvSpPr>
            <p:spPr>
              <a:xfrm>
                <a:off x="9368663" y="3410866"/>
                <a:ext cx="7656574" cy="3375604"/>
              </a:xfrm>
              <a:prstGeom prst="rect">
                <a:avLst/>
              </a:prstGeom>
              <a:blipFill>
                <a:blip r:embed="rId3"/>
                <a:stretch>
                  <a:fillRect l="-1911" t="-2351"/>
                </a:stretch>
              </a:blipFill>
            </p:spPr>
            <p:txBody>
              <a:bodyPr/>
              <a:lstStyle/>
              <a:p>
                <a:r>
                  <a:rPr lang="en-US">
                    <a:noFill/>
                  </a:rPr>
                  <a:t> </a:t>
                </a:r>
              </a:p>
            </p:txBody>
          </p:sp>
        </mc:Fallback>
      </mc:AlternateContent>
      <p:sp>
        <p:nvSpPr>
          <p:cNvPr id="12" name="TextBox 12">
            <a:extLst>
              <a:ext uri="{FF2B5EF4-FFF2-40B4-BE49-F238E27FC236}">
                <a16:creationId xmlns:a16="http://schemas.microsoft.com/office/drawing/2014/main" id="{9560A3C8-D5A0-9840-87FE-B16519A15B91}"/>
              </a:ext>
            </a:extLst>
          </p:cNvPr>
          <p:cNvSpPr txBox="1"/>
          <p:nvPr/>
        </p:nvSpPr>
        <p:spPr>
          <a:xfrm>
            <a:off x="9368663" y="2880141"/>
            <a:ext cx="6559309" cy="413703"/>
          </a:xfrm>
          <a:prstGeom prst="rect">
            <a:avLst/>
          </a:prstGeom>
        </p:spPr>
        <p:txBody>
          <a:bodyPr lIns="0" tIns="0" rIns="0" bIns="0" rtlCol="0" anchor="t">
            <a:spAutoFit/>
          </a:bodyPr>
          <a:lstStyle/>
          <a:p>
            <a:pPr algn="l">
              <a:lnSpc>
                <a:spcPts val="3435"/>
              </a:lnSpc>
            </a:pPr>
            <a:r>
              <a:rPr lang="en-US" sz="2664" b="1" spc="26" dirty="0">
                <a:solidFill>
                  <a:srgbClr val="B7EE4A"/>
                </a:solidFill>
                <a:latin typeface="IBM Plex Sans Bold"/>
                <a:ea typeface="IBM Plex Sans Bold"/>
                <a:cs typeface="IBM Plex Sans Bold"/>
                <a:sym typeface="IBM Plex Sans Bold"/>
              </a:rPr>
              <a:t>Consolidation by Folding </a:t>
            </a:r>
          </a:p>
        </p:txBody>
      </p:sp>
      <p:sp>
        <p:nvSpPr>
          <p:cNvPr id="13" name="TextBox 13">
            <a:extLst>
              <a:ext uri="{FF2B5EF4-FFF2-40B4-BE49-F238E27FC236}">
                <a16:creationId xmlns:a16="http://schemas.microsoft.com/office/drawing/2014/main" id="{B5F13825-7225-29BD-A626-3AB62504A1C1}"/>
              </a:ext>
            </a:extLst>
          </p:cNvPr>
          <p:cNvSpPr txBox="1"/>
          <p:nvPr/>
        </p:nvSpPr>
        <p:spPr>
          <a:xfrm>
            <a:off x="9393652" y="6550300"/>
            <a:ext cx="6204158" cy="413703"/>
          </a:xfrm>
          <a:prstGeom prst="rect">
            <a:avLst/>
          </a:prstGeom>
        </p:spPr>
        <p:txBody>
          <a:bodyPr wrap="square" lIns="0" tIns="0" rIns="0" bIns="0" rtlCol="0" anchor="t">
            <a:spAutoFit/>
          </a:bodyPr>
          <a:lstStyle/>
          <a:p>
            <a:pPr algn="l">
              <a:lnSpc>
                <a:spcPts val="3435"/>
              </a:lnSpc>
            </a:pPr>
            <a:r>
              <a:rPr lang="en-US" sz="2664" b="1" spc="26" dirty="0">
                <a:solidFill>
                  <a:srgbClr val="B7EE4A"/>
                </a:solidFill>
                <a:latin typeface="IBM Plex Sans Bold"/>
                <a:ea typeface="IBM Plex Sans Bold"/>
                <a:cs typeface="IBM Plex Sans Bold"/>
                <a:sym typeface="IBM Plex Sans Bold"/>
              </a:rPr>
              <a:t>Meta Graph Projection</a:t>
            </a:r>
          </a:p>
        </p:txBody>
      </p:sp>
      <p:grpSp>
        <p:nvGrpSpPr>
          <p:cNvPr id="16" name="Group 16">
            <a:extLst>
              <a:ext uri="{FF2B5EF4-FFF2-40B4-BE49-F238E27FC236}">
                <a16:creationId xmlns:a16="http://schemas.microsoft.com/office/drawing/2014/main" id="{A9D05B69-3840-07EC-85C6-0A5BA77A3D76}"/>
              </a:ext>
            </a:extLst>
          </p:cNvPr>
          <p:cNvGrpSpPr/>
          <p:nvPr/>
        </p:nvGrpSpPr>
        <p:grpSpPr>
          <a:xfrm>
            <a:off x="0" y="8244826"/>
            <a:ext cx="2737757" cy="2737757"/>
            <a:chOff x="0" y="0"/>
            <a:chExt cx="3650343" cy="3650343"/>
          </a:xfrm>
        </p:grpSpPr>
        <p:sp>
          <p:nvSpPr>
            <p:cNvPr id="17" name="Freeform 17">
              <a:extLst>
                <a:ext uri="{FF2B5EF4-FFF2-40B4-BE49-F238E27FC236}">
                  <a16:creationId xmlns:a16="http://schemas.microsoft.com/office/drawing/2014/main" id="{149FFA6B-2903-5C82-2A90-08683D52FDFD}"/>
                </a:ext>
              </a:extLst>
            </p:cNvPr>
            <p:cNvSpPr/>
            <p:nvPr/>
          </p:nvSpPr>
          <p:spPr>
            <a:xfrm>
              <a:off x="0" y="0"/>
              <a:ext cx="3650343" cy="3650343"/>
            </a:xfrm>
            <a:custGeom>
              <a:avLst/>
              <a:gdLst/>
              <a:ahLst/>
              <a:cxnLst/>
              <a:rect l="l" t="t" r="r" b="b"/>
              <a:pathLst>
                <a:path w="3650343" h="3650343">
                  <a:moveTo>
                    <a:pt x="0" y="0"/>
                  </a:moveTo>
                  <a:lnTo>
                    <a:pt x="3650343" y="0"/>
                  </a:lnTo>
                  <a:lnTo>
                    <a:pt x="3650343" y="3650343"/>
                  </a:lnTo>
                  <a:lnTo>
                    <a:pt x="0" y="3650343"/>
                  </a:lnTo>
                  <a:lnTo>
                    <a:pt x="0" y="0"/>
                  </a:lnTo>
                  <a:close/>
                </a:path>
              </a:pathLst>
            </a:custGeom>
            <a:blipFill>
              <a:blip>
                <a:alphaModFix amt="41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8" name="Freeform 18">
              <a:extLst>
                <a:ext uri="{FF2B5EF4-FFF2-40B4-BE49-F238E27FC236}">
                  <a16:creationId xmlns:a16="http://schemas.microsoft.com/office/drawing/2014/main" id="{DD5DF9CB-165B-E52E-AF7C-D091BE4DE009}"/>
                </a:ext>
              </a:extLst>
            </p:cNvPr>
            <p:cNvSpPr/>
            <p:nvPr/>
          </p:nvSpPr>
          <p:spPr>
            <a:xfrm>
              <a:off x="257215" y="827328"/>
              <a:ext cx="2779958" cy="1629020"/>
            </a:xfrm>
            <a:custGeom>
              <a:avLst/>
              <a:gdLst/>
              <a:ahLst/>
              <a:cxnLst/>
              <a:rect l="l" t="t" r="r" b="b"/>
              <a:pathLst>
                <a:path w="2779958" h="1629020">
                  <a:moveTo>
                    <a:pt x="0" y="0"/>
                  </a:moveTo>
                  <a:lnTo>
                    <a:pt x="2779958" y="0"/>
                  </a:lnTo>
                  <a:lnTo>
                    <a:pt x="2779958" y="1629020"/>
                  </a:lnTo>
                  <a:lnTo>
                    <a:pt x="0" y="1629020"/>
                  </a:lnTo>
                  <a:lnTo>
                    <a:pt x="0" y="0"/>
                  </a:lnTo>
                  <a:close/>
                </a:path>
              </a:pathLst>
            </a:custGeom>
            <a:blipFill>
              <a:blip r:embed="rId5"/>
              <a:stretch>
                <a:fillRect/>
              </a:stretch>
            </a:blipFill>
          </p:spPr>
          <p:txBody>
            <a:bodyPr/>
            <a:lstStyle/>
            <a:p>
              <a:endParaRPr lang="en-US"/>
            </a:p>
          </p:txBody>
        </p:sp>
      </p:grpSp>
      <mc:AlternateContent xmlns:mc="http://schemas.openxmlformats.org/markup-compatibility/2006" xmlns:a14="http://schemas.microsoft.com/office/drawing/2010/main">
        <mc:Choice Requires="a14">
          <p:sp>
            <p:nvSpPr>
              <p:cNvPr id="21" name="TextBox 8">
                <a:extLst>
                  <a:ext uri="{FF2B5EF4-FFF2-40B4-BE49-F238E27FC236}">
                    <a16:creationId xmlns:a16="http://schemas.microsoft.com/office/drawing/2014/main" id="{1782B9E6-9C3D-25DA-58B9-A1A1F4FC2068}"/>
                  </a:ext>
                </a:extLst>
              </p:cNvPr>
              <p:cNvSpPr txBox="1"/>
              <p:nvPr/>
            </p:nvSpPr>
            <p:spPr>
              <a:xfrm>
                <a:off x="9393652" y="7074937"/>
                <a:ext cx="7656575" cy="2313134"/>
              </a:xfrm>
              <a:prstGeom prst="rect">
                <a:avLst/>
              </a:prstGeom>
            </p:spPr>
            <p:txBody>
              <a:bodyPr wrap="square" lIns="0" tIns="0" rIns="0" bIns="0" rtlCol="0" anchor="t">
                <a:spAutoFit/>
              </a:bodyPr>
              <a:lstStyle/>
              <a:p>
                <a:pPr hangingPunct="0"/>
                <a:r>
                  <a:rPr lang="en-US" dirty="0">
                    <a:solidFill>
                      <a:schemeClr val="bg2"/>
                    </a:solidFill>
                  </a:rPr>
                  <a:t>After warmup, each closure supplies one observation and the one-cycle-ahead projection is</a:t>
                </a:r>
                <a:endParaRPr lang="en-US" i="1" dirty="0">
                  <a:solidFill>
                    <a:schemeClr val="bg2"/>
                  </a:solidFill>
                </a:endParaRPr>
              </a:p>
              <a:p>
                <a:pPr hangingPunct="0"/>
                <a:endParaRPr lang="en-US" i="1" dirty="0">
                  <a:solidFill>
                    <a:schemeClr val="bg2"/>
                  </a:solidFill>
                </a:endParaRPr>
              </a:p>
              <a:p>
                <a:pPr hangingPunct="0"/>
                <a:r>
                  <a:rPr lang="en-US" dirty="0">
                    <a:solidFill>
                      <a:schemeClr val="bg2"/>
                    </a:solidFill>
                  </a:rPr>
                  <a:t>	</a:t>
                </a:r>
                <a14:m>
                  <m:oMath xmlns:m="http://schemas.openxmlformats.org/officeDocument/2006/math">
                    <m:sSub>
                      <m:sSubPr>
                        <m:ctrlPr>
                          <a:rPr lang="en-US" i="1">
                            <a:solidFill>
                              <a:schemeClr val="bg2"/>
                            </a:solidFill>
                            <a:latin typeface="Cambria Math" panose="02040503050406030204" pitchFamily="18" charset="0"/>
                          </a:rPr>
                        </m:ctrlPr>
                      </m:sSubPr>
                      <m:e>
                        <m:acc>
                          <m:accPr>
                            <m:chr m:val="̂"/>
                            <m:ctrlPr>
                              <a:rPr lang="en-US" i="1">
                                <a:solidFill>
                                  <a:schemeClr val="bg2"/>
                                </a:solidFill>
                                <a:latin typeface="Cambria Math" panose="02040503050406030204" pitchFamily="18" charset="0"/>
                              </a:rPr>
                            </m:ctrlPr>
                          </m:accPr>
                          <m:e>
                            <m:r>
                              <a:rPr lang="en-US" i="1">
                                <a:solidFill>
                                  <a:schemeClr val="bg2"/>
                                </a:solidFill>
                                <a:latin typeface="Cambria Math" panose="02040503050406030204" pitchFamily="18" charset="0"/>
                              </a:rPr>
                              <m:t>𝑃</m:t>
                            </m:r>
                          </m:e>
                        </m:acc>
                      </m:e>
                      <m:sub>
                        <m:r>
                          <m:rPr>
                            <m:sty m:val="p"/>
                          </m:rPr>
                          <a:rPr lang="en-US">
                            <a:solidFill>
                              <a:schemeClr val="bg2"/>
                            </a:solidFill>
                            <a:latin typeface="Cambria Math" panose="02040503050406030204" pitchFamily="18" charset="0"/>
                          </a:rPr>
                          <m:t>next</m:t>
                        </m:r>
                      </m:sub>
                    </m:sSub>
                    <m:r>
                      <a:rPr lang="en-US">
                        <a:solidFill>
                          <a:schemeClr val="bg2"/>
                        </a:solidFill>
                        <a:latin typeface="Cambria Math" panose="02040503050406030204" pitchFamily="18" charset="0"/>
                      </a:rPr>
                      <m:t>=</m:t>
                    </m:r>
                    <m:sSub>
                      <m:sSubPr>
                        <m:ctrlPr>
                          <a:rPr lang="en-US" i="1">
                            <a:solidFill>
                              <a:schemeClr val="bg2"/>
                            </a:solidFill>
                            <a:latin typeface="Cambria Math" panose="02040503050406030204" pitchFamily="18" charset="0"/>
                          </a:rPr>
                        </m:ctrlPr>
                      </m:sSubPr>
                      <m:e>
                        <m:d>
                          <m:dPr>
                            <m:ctrlPr>
                              <a:rPr lang="en-US" i="1">
                                <a:solidFill>
                                  <a:schemeClr val="bg2"/>
                                </a:solidFill>
                                <a:latin typeface="Cambria Math" panose="02040503050406030204" pitchFamily="18" charset="0"/>
                              </a:rPr>
                            </m:ctrlPr>
                          </m:dPr>
                          <m:e>
                            <m:r>
                              <a:rPr lang="en-US" i="1">
                                <a:solidFill>
                                  <a:schemeClr val="bg2"/>
                                </a:solidFill>
                                <a:latin typeface="Cambria Math" panose="02040503050406030204" pitchFamily="18" charset="0"/>
                              </a:rPr>
                              <m:t>𝐴</m:t>
                            </m:r>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𝑥</m:t>
                                </m:r>
                              </m:e>
                              <m:sub>
                                <m:r>
                                  <m:rPr>
                                    <m:sty m:val="p"/>
                                  </m:rPr>
                                  <a:rPr lang="en-US">
                                    <a:solidFill>
                                      <a:schemeClr val="bg2"/>
                                    </a:solidFill>
                                    <a:latin typeface="Cambria Math" panose="02040503050406030204" pitchFamily="18" charset="0"/>
                                  </a:rPr>
                                  <m:t>post</m:t>
                                </m:r>
                              </m:sub>
                            </m:sSub>
                          </m:e>
                        </m:d>
                      </m:e>
                      <m:sub>
                        <m:r>
                          <a:rPr lang="en-US" i="1">
                            <a:solidFill>
                              <a:schemeClr val="bg2"/>
                            </a:solidFill>
                            <a:latin typeface="Cambria Math" panose="02040503050406030204" pitchFamily="18" charset="0"/>
                          </a:rPr>
                          <m:t>0</m:t>
                        </m:r>
                      </m:sub>
                    </m:sSub>
                  </m:oMath>
                </a14:m>
                <a:r>
                  <a:rPr lang="en-US" dirty="0">
                    <a:solidFill>
                      <a:schemeClr val="bg2"/>
                    </a:solidFill>
                  </a:rPr>
                  <a:t>				(3.27)</a:t>
                </a:r>
              </a:p>
              <a:p>
                <a:pPr hangingPunct="0"/>
                <a:endParaRPr lang="en-US" dirty="0">
                  <a:solidFill>
                    <a:schemeClr val="bg2"/>
                  </a:solidFill>
                </a:endParaRPr>
              </a:p>
              <a:p>
                <a:pPr hangingPunct="0"/>
                <a:endParaRPr lang="en-US" dirty="0">
                  <a:solidFill>
                    <a:schemeClr val="bg2"/>
                  </a:solidFill>
                </a:endParaRPr>
              </a:p>
              <a:p>
                <a:pPr hangingPunct="0"/>
                <a:r>
                  <a:rPr lang="en-US" dirty="0">
                    <a:solidFill>
                      <a:schemeClr val="bg2"/>
                    </a:solidFill>
                  </a:rPr>
                  <a:t>The detector receives uncertainty </a:t>
                </a:r>
                <a14:m>
                  <m:oMath xmlns:m="http://schemas.openxmlformats.org/officeDocument/2006/math">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𝜎</m:t>
                        </m:r>
                      </m:e>
                      <m:sub>
                        <m:r>
                          <a:rPr lang="en-US" i="1">
                            <a:solidFill>
                              <a:schemeClr val="bg2"/>
                            </a:solidFill>
                            <a:latin typeface="Cambria Math" panose="02040503050406030204" pitchFamily="18" charset="0"/>
                          </a:rPr>
                          <m:t>𝑃</m:t>
                        </m:r>
                      </m:sub>
                    </m:sSub>
                    <m:r>
                      <a:rPr lang="en-US" i="1">
                        <a:solidFill>
                          <a:schemeClr val="bg2"/>
                        </a:solidFill>
                        <a:latin typeface="Cambria Math" panose="02040503050406030204" pitchFamily="18" charset="0"/>
                      </a:rPr>
                      <m:t> = </m:t>
                    </m:r>
                    <m:r>
                      <a:rPr lang="en-US" i="1">
                        <a:solidFill>
                          <a:schemeClr val="bg2"/>
                        </a:solidFill>
                        <a:latin typeface="Cambria Math" panose="02040503050406030204" pitchFamily="18" charset="0"/>
                      </a:rPr>
                      <m:t>𝑚𝑎𝑥</m:t>
                    </m:r>
                    <m:r>
                      <a:rPr lang="en-US" i="1">
                        <a:solidFill>
                          <a:schemeClr val="bg2"/>
                        </a:solidFill>
                        <a:latin typeface="Cambria Math" panose="02040503050406030204" pitchFamily="18" charset="0"/>
                      </a:rPr>
                      <m:t>(0.5, 0.3</m:t>
                    </m:r>
                    <m:acc>
                      <m:accPr>
                        <m:chr m:val="̂"/>
                        <m:ctrlPr>
                          <a:rPr lang="en-US" i="1">
                            <a:solidFill>
                              <a:schemeClr val="bg2"/>
                            </a:solidFill>
                            <a:latin typeface="Cambria Math" panose="02040503050406030204" pitchFamily="18" charset="0"/>
                          </a:rPr>
                        </m:ctrlPr>
                      </m:accPr>
                      <m:e>
                        <m:r>
                          <a:rPr lang="en-US" i="1">
                            <a:solidFill>
                              <a:schemeClr val="bg2"/>
                            </a:solidFill>
                            <a:latin typeface="Cambria Math" panose="02040503050406030204" pitchFamily="18" charset="0"/>
                          </a:rPr>
                          <m:t>𝑃</m:t>
                        </m:r>
                      </m:e>
                    </m:acc>
                    <m:r>
                      <a:rPr lang="en-US" i="1">
                        <a:solidFill>
                          <a:schemeClr val="bg2"/>
                        </a:solidFill>
                        <a:latin typeface="Cambria Math" panose="02040503050406030204" pitchFamily="18" charset="0"/>
                      </a:rPr>
                      <m:t>)</m:t>
                    </m:r>
                  </m:oMath>
                </a14:m>
                <a:r>
                  <a:rPr lang="en-US" dirty="0">
                    <a:solidFill>
                      <a:schemeClr val="bg2"/>
                    </a:solidFill>
                  </a:rPr>
                  <a:t>, and the forecast track uses </a:t>
                </a:r>
                <a14:m>
                  <m:oMath xmlns:m="http://schemas.openxmlformats.org/officeDocument/2006/math">
                    <m:acc>
                      <m:accPr>
                        <m:chr m:val="̂"/>
                        <m:ctrlPr>
                          <a:rPr lang="en-US" i="1">
                            <a:solidFill>
                              <a:schemeClr val="bg2"/>
                            </a:solidFill>
                            <a:latin typeface="Cambria Math" panose="02040503050406030204" pitchFamily="18" charset="0"/>
                          </a:rPr>
                        </m:ctrlPr>
                      </m:accPr>
                      <m:e>
                        <m:r>
                          <a:rPr lang="en-US" i="1">
                            <a:solidFill>
                              <a:schemeClr val="bg2"/>
                            </a:solidFill>
                            <a:latin typeface="Cambria Math" panose="02040503050406030204" pitchFamily="18" charset="0"/>
                          </a:rPr>
                          <m:t>𝑃</m:t>
                        </m:r>
                      </m:e>
                    </m:acc>
                  </m:oMath>
                </a14:m>
                <a:r>
                  <a:rPr lang="en-US" dirty="0">
                    <a:solidFill>
                      <a:schemeClr val="bg2"/>
                    </a:solidFill>
                  </a:rPr>
                  <a:t> for harmonic phase advance. </a:t>
                </a:r>
              </a:p>
            </p:txBody>
          </p:sp>
        </mc:Choice>
        <mc:Fallback xmlns="">
          <p:sp>
            <p:nvSpPr>
              <p:cNvPr id="21" name="TextBox 8">
                <a:extLst>
                  <a:ext uri="{FF2B5EF4-FFF2-40B4-BE49-F238E27FC236}">
                    <a16:creationId xmlns:a16="http://schemas.microsoft.com/office/drawing/2014/main" id="{1782B9E6-9C3D-25DA-58B9-A1A1F4FC2068}"/>
                  </a:ext>
                </a:extLst>
              </p:cNvPr>
              <p:cNvSpPr txBox="1">
                <a:spLocks noRot="1" noChangeAspect="1" noMove="1" noResize="1" noEditPoints="1" noAdjustHandles="1" noChangeArrowheads="1" noChangeShapeType="1" noTextEdit="1"/>
              </p:cNvSpPr>
              <p:nvPr/>
            </p:nvSpPr>
            <p:spPr>
              <a:xfrm>
                <a:off x="9393652" y="7074937"/>
                <a:ext cx="7656575" cy="2313134"/>
              </a:xfrm>
              <a:prstGeom prst="rect">
                <a:avLst/>
              </a:prstGeom>
              <a:blipFill>
                <a:blip r:embed="rId7"/>
                <a:stretch>
                  <a:fillRect l="-1911" t="-3430" b="-52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789C1431-67F7-3379-AE40-18DCD994640A}"/>
                  </a:ext>
                </a:extLst>
              </p:cNvPr>
              <p:cNvSpPr txBox="1"/>
              <p:nvPr/>
            </p:nvSpPr>
            <p:spPr>
              <a:xfrm>
                <a:off x="1028700" y="2876525"/>
                <a:ext cx="7504174" cy="6620082"/>
              </a:xfrm>
              <a:prstGeom prst="rect">
                <a:avLst/>
              </a:prstGeom>
              <a:noFill/>
            </p:spPr>
            <p:txBody>
              <a:bodyPr wrap="square">
                <a:spAutoFit/>
              </a:bodyPr>
              <a:lstStyle/>
              <a:p>
                <a:r>
                  <a:rPr lang="en-US" sz="2000" dirty="0">
                    <a:solidFill>
                      <a:schemeClr val="bg2"/>
                    </a:solidFill>
                  </a:rPr>
                  <a:t>For each detected cycle </a:t>
                </a:r>
                <a14:m>
                  <m:oMath xmlns:m="http://schemas.openxmlformats.org/officeDocument/2006/math">
                    <m:r>
                      <a:rPr lang="en-US" sz="2000" i="1">
                        <a:solidFill>
                          <a:schemeClr val="bg2"/>
                        </a:solidFill>
                        <a:latin typeface="Cambria Math" panose="02040503050406030204" pitchFamily="18" charset="0"/>
                      </a:rPr>
                      <m:t>𝑖</m:t>
                    </m:r>
                  </m:oMath>
                </a14:m>
                <a:r>
                  <a:rPr lang="en-US" sz="2000" dirty="0">
                    <a:solidFill>
                      <a:schemeClr val="bg2"/>
                    </a:solidFill>
                  </a:rPr>
                  <a:t>, </a:t>
                </a:r>
                <a:r>
                  <a:rPr lang="en-US" sz="2000" dirty="0" err="1">
                    <a:solidFill>
                      <a:schemeClr val="bg2"/>
                    </a:solidFill>
                  </a:rPr>
                  <a:t>MycoMorph</a:t>
                </a:r>
                <a:r>
                  <a:rPr lang="en-US" sz="2000" dirty="0">
                    <a:solidFill>
                      <a:schemeClr val="bg2"/>
                    </a:solidFill>
                  </a:rPr>
                  <a:t> creates a node containing</a:t>
                </a:r>
              </a:p>
              <a:p>
                <a:endParaRPr lang="en-US" sz="2000" i="1" dirty="0">
                  <a:solidFill>
                    <a:schemeClr val="bg2"/>
                  </a:solidFill>
                </a:endParaRPr>
              </a:p>
              <a:p>
                <a:r>
                  <a:rPr lang="en-US" sz="2000" dirty="0">
                    <a:solidFill>
                      <a:schemeClr val="bg2"/>
                    </a:solidFill>
                  </a:rPr>
                  <a:t>	</a:t>
                </a:r>
                <a14:m>
                  <m:oMath xmlns:m="http://schemas.openxmlformats.org/officeDocument/2006/math">
                    <m:sSub>
                      <m:sSubPr>
                        <m:ctrlPr>
                          <a:rPr lang="pl-PL" sz="2000" i="1" dirty="0">
                            <a:solidFill>
                              <a:schemeClr val="bg2"/>
                            </a:solidFill>
                            <a:latin typeface="Cambria Math" panose="02040503050406030204" pitchFamily="18" charset="0"/>
                          </a:rPr>
                        </m:ctrlPr>
                      </m:sSubPr>
                      <m:e>
                        <m:r>
                          <a:rPr lang="pl-PL" sz="2000" i="1" dirty="0">
                            <a:solidFill>
                              <a:schemeClr val="bg2"/>
                            </a:solidFill>
                            <a:latin typeface="Cambria Math" panose="02040503050406030204" pitchFamily="18" charset="0"/>
                          </a:rPr>
                          <m:t>𝑀</m:t>
                        </m:r>
                      </m:e>
                      <m:sub>
                        <m:r>
                          <a:rPr lang="pl-PL" sz="2000" i="1" dirty="0">
                            <a:solidFill>
                              <a:schemeClr val="bg2"/>
                            </a:solidFill>
                            <a:latin typeface="Cambria Math" panose="02040503050406030204" pitchFamily="18" charset="0"/>
                          </a:rPr>
                          <m:t>𝑖</m:t>
                        </m:r>
                      </m:sub>
                    </m:sSub>
                    <m:r>
                      <a:rPr lang="pl-PL" sz="2000" i="1" dirty="0">
                        <a:solidFill>
                          <a:schemeClr val="bg2"/>
                        </a:solidFill>
                        <a:latin typeface="Cambria Math" panose="02040503050406030204" pitchFamily="18" charset="0"/>
                      </a:rPr>
                      <m:t>=</m:t>
                    </m:r>
                    <m:d>
                      <m:dPr>
                        <m:ctrlPr>
                          <a:rPr lang="pl-PL" sz="2000" i="1" dirty="0">
                            <a:solidFill>
                              <a:schemeClr val="bg2"/>
                            </a:solidFill>
                            <a:latin typeface="Cambria Math" panose="02040503050406030204" pitchFamily="18" charset="0"/>
                          </a:rPr>
                        </m:ctrlPr>
                      </m:dPr>
                      <m:e>
                        <m:sSub>
                          <m:sSubPr>
                            <m:ctrlPr>
                              <a:rPr lang="pl-PL" sz="2000" i="1" dirty="0">
                                <a:solidFill>
                                  <a:schemeClr val="bg2"/>
                                </a:solidFill>
                                <a:latin typeface="Cambria Math" panose="02040503050406030204" pitchFamily="18" charset="0"/>
                              </a:rPr>
                            </m:ctrlPr>
                          </m:sSubPr>
                          <m:e>
                            <m:r>
                              <a:rPr lang="pl-PL" sz="2000" i="1" dirty="0">
                                <a:solidFill>
                                  <a:schemeClr val="bg2"/>
                                </a:solidFill>
                                <a:latin typeface="Cambria Math" panose="02040503050406030204" pitchFamily="18" charset="0"/>
                              </a:rPr>
                              <m:t>𝑡</m:t>
                            </m:r>
                          </m:e>
                          <m:sub>
                            <m:r>
                              <a:rPr lang="pl-PL" sz="2000" i="1" dirty="0">
                                <a:solidFill>
                                  <a:schemeClr val="bg2"/>
                                </a:solidFill>
                                <a:latin typeface="Cambria Math" panose="02040503050406030204" pitchFamily="18" charset="0"/>
                              </a:rPr>
                              <m:t>𝑖</m:t>
                            </m:r>
                          </m:sub>
                        </m:sSub>
                        <m:r>
                          <a:rPr lang="pl-PL" sz="2000" i="1" dirty="0">
                            <a:solidFill>
                              <a:schemeClr val="bg2"/>
                            </a:solidFill>
                            <a:latin typeface="Cambria Math" panose="02040503050406030204" pitchFamily="18" charset="0"/>
                          </a:rPr>
                          <m:t>,</m:t>
                        </m:r>
                        <m:sSub>
                          <m:sSubPr>
                            <m:ctrlPr>
                              <a:rPr lang="pl-PL" sz="2000" i="1" dirty="0">
                                <a:solidFill>
                                  <a:schemeClr val="bg2"/>
                                </a:solidFill>
                                <a:latin typeface="Cambria Math" panose="02040503050406030204" pitchFamily="18" charset="0"/>
                              </a:rPr>
                            </m:ctrlPr>
                          </m:sSubPr>
                          <m:e>
                            <m:r>
                              <a:rPr lang="pl-PL" sz="2000" i="1" dirty="0">
                                <a:solidFill>
                                  <a:schemeClr val="bg2"/>
                                </a:solidFill>
                                <a:latin typeface="Cambria Math" panose="02040503050406030204" pitchFamily="18" charset="0"/>
                              </a:rPr>
                              <m:t>𝑃</m:t>
                            </m:r>
                          </m:e>
                          <m:sub>
                            <m:r>
                              <a:rPr lang="pl-PL" sz="2000" i="1" dirty="0">
                                <a:solidFill>
                                  <a:schemeClr val="bg2"/>
                                </a:solidFill>
                                <a:latin typeface="Cambria Math" panose="02040503050406030204" pitchFamily="18" charset="0"/>
                              </a:rPr>
                              <m:t>𝑖</m:t>
                            </m:r>
                          </m:sub>
                        </m:sSub>
                        <m:r>
                          <a:rPr lang="pl-PL" sz="2000" i="1" dirty="0">
                            <a:solidFill>
                              <a:schemeClr val="bg2"/>
                            </a:solidFill>
                            <a:latin typeface="Cambria Math" panose="02040503050406030204" pitchFamily="18" charset="0"/>
                          </a:rPr>
                          <m:t>,</m:t>
                        </m:r>
                        <m:sSub>
                          <m:sSubPr>
                            <m:ctrlPr>
                              <a:rPr lang="pl-PL" sz="2000" i="1" dirty="0">
                                <a:solidFill>
                                  <a:schemeClr val="bg2"/>
                                </a:solidFill>
                                <a:latin typeface="Cambria Math" panose="02040503050406030204" pitchFamily="18" charset="0"/>
                              </a:rPr>
                            </m:ctrlPr>
                          </m:sSubPr>
                          <m:e>
                            <m:r>
                              <a:rPr lang="pl-PL" sz="2000" i="1" dirty="0">
                                <a:solidFill>
                                  <a:schemeClr val="bg2"/>
                                </a:solidFill>
                                <a:latin typeface="Cambria Math" panose="02040503050406030204" pitchFamily="18" charset="0"/>
                              </a:rPr>
                              <m:t>𝑐</m:t>
                            </m:r>
                          </m:e>
                          <m:sub>
                            <m:r>
                              <a:rPr lang="pl-PL" sz="2000" i="1" dirty="0">
                                <a:solidFill>
                                  <a:schemeClr val="bg2"/>
                                </a:solidFill>
                                <a:latin typeface="Cambria Math" panose="02040503050406030204" pitchFamily="18" charset="0"/>
                              </a:rPr>
                              <m:t>𝑖</m:t>
                            </m:r>
                          </m:sub>
                        </m:sSub>
                        <m:r>
                          <a:rPr lang="pl-PL" sz="2000" i="1" dirty="0">
                            <a:solidFill>
                              <a:schemeClr val="bg2"/>
                            </a:solidFill>
                            <a:latin typeface="Cambria Math" panose="02040503050406030204" pitchFamily="18" charset="0"/>
                          </a:rPr>
                          <m:t>,</m:t>
                        </m:r>
                        <m:sSub>
                          <m:sSubPr>
                            <m:ctrlPr>
                              <a:rPr lang="pl-PL" sz="2000" i="1" dirty="0">
                                <a:solidFill>
                                  <a:schemeClr val="bg2"/>
                                </a:solidFill>
                                <a:latin typeface="Cambria Math" panose="02040503050406030204" pitchFamily="18" charset="0"/>
                              </a:rPr>
                            </m:ctrlPr>
                          </m:sSubPr>
                          <m:e>
                            <m:r>
                              <a:rPr lang="pl-PL" sz="2000" i="1" dirty="0">
                                <a:solidFill>
                                  <a:schemeClr val="bg2"/>
                                </a:solidFill>
                                <a:latin typeface="Cambria Math" panose="02040503050406030204" pitchFamily="18" charset="0"/>
                              </a:rPr>
                              <m:t>𝑠</m:t>
                            </m:r>
                          </m:e>
                          <m:sub>
                            <m:r>
                              <a:rPr lang="pl-PL" sz="2000" i="1" dirty="0">
                                <a:solidFill>
                                  <a:schemeClr val="bg2"/>
                                </a:solidFill>
                                <a:latin typeface="Cambria Math" panose="02040503050406030204" pitchFamily="18" charset="0"/>
                              </a:rPr>
                              <m:t>𝑖</m:t>
                            </m:r>
                          </m:sub>
                        </m:sSub>
                        <m:r>
                          <a:rPr lang="pl-PL" sz="2000" i="1" dirty="0">
                            <a:solidFill>
                              <a:schemeClr val="bg2"/>
                            </a:solidFill>
                            <a:latin typeface="Cambria Math" panose="02040503050406030204" pitchFamily="18" charset="0"/>
                          </a:rPr>
                          <m:t>,</m:t>
                        </m:r>
                        <m:d>
                          <m:dPr>
                            <m:begChr m:val="["/>
                            <m:endChr m:val="]"/>
                            <m:ctrlPr>
                              <a:rPr lang="pl-PL" sz="2000" i="1" dirty="0">
                                <a:solidFill>
                                  <a:schemeClr val="bg2"/>
                                </a:solidFill>
                                <a:latin typeface="Cambria Math" panose="02040503050406030204" pitchFamily="18" charset="0"/>
                              </a:rPr>
                            </m:ctrlPr>
                          </m:dPr>
                          <m:e>
                            <m:sSub>
                              <m:sSubPr>
                                <m:ctrlPr>
                                  <a:rPr lang="pl-PL" sz="2000" i="1" dirty="0">
                                    <a:solidFill>
                                      <a:schemeClr val="bg2"/>
                                    </a:solidFill>
                                    <a:latin typeface="Cambria Math" panose="02040503050406030204" pitchFamily="18" charset="0"/>
                                  </a:rPr>
                                </m:ctrlPr>
                              </m:sSubPr>
                              <m:e>
                                <m:r>
                                  <a:rPr lang="pl-PL" sz="2000" i="1" dirty="0">
                                    <a:solidFill>
                                      <a:schemeClr val="bg2"/>
                                    </a:solidFill>
                                    <a:latin typeface="Cambria Math" panose="02040503050406030204" pitchFamily="18" charset="0"/>
                                  </a:rPr>
                                  <m:t>𝑎</m:t>
                                </m:r>
                              </m:e>
                              <m:sub>
                                <m:r>
                                  <a:rPr lang="pl-PL" sz="2000" i="1" dirty="0">
                                    <a:solidFill>
                                      <a:schemeClr val="bg2"/>
                                    </a:solidFill>
                                    <a:latin typeface="Cambria Math" panose="02040503050406030204" pitchFamily="18" charset="0"/>
                                  </a:rPr>
                                  <m:t>𝑖</m:t>
                                </m:r>
                              </m:sub>
                            </m:sSub>
                            <m:r>
                              <a:rPr lang="pl-PL" sz="2000" i="1" dirty="0">
                                <a:solidFill>
                                  <a:schemeClr val="bg2"/>
                                </a:solidFill>
                                <a:latin typeface="Cambria Math" panose="02040503050406030204" pitchFamily="18" charset="0"/>
                              </a:rPr>
                              <m:t>,</m:t>
                            </m:r>
                            <m:sSub>
                              <m:sSubPr>
                                <m:ctrlPr>
                                  <a:rPr lang="pl-PL" sz="2000" i="1" dirty="0">
                                    <a:solidFill>
                                      <a:schemeClr val="bg2"/>
                                    </a:solidFill>
                                    <a:latin typeface="Cambria Math" panose="02040503050406030204" pitchFamily="18" charset="0"/>
                                  </a:rPr>
                                </m:ctrlPr>
                              </m:sSubPr>
                              <m:e>
                                <m:r>
                                  <a:rPr lang="pl-PL" sz="2000" i="1" dirty="0">
                                    <a:solidFill>
                                      <a:schemeClr val="bg2"/>
                                    </a:solidFill>
                                    <a:latin typeface="Cambria Math" panose="02040503050406030204" pitchFamily="18" charset="0"/>
                                  </a:rPr>
                                  <m:t>𝑏</m:t>
                                </m:r>
                              </m:e>
                              <m:sub>
                                <m:r>
                                  <a:rPr lang="pl-PL" sz="2000" i="1" dirty="0">
                                    <a:solidFill>
                                      <a:schemeClr val="bg2"/>
                                    </a:solidFill>
                                    <a:latin typeface="Cambria Math" panose="02040503050406030204" pitchFamily="18" charset="0"/>
                                  </a:rPr>
                                  <m:t>𝑖</m:t>
                                </m:r>
                              </m:sub>
                            </m:sSub>
                          </m:e>
                        </m:d>
                      </m:e>
                    </m:d>
                  </m:oMath>
                </a14:m>
                <a:endParaRPr lang="en-US" sz="2000" i="1" dirty="0">
                  <a:solidFill>
                    <a:schemeClr val="bg2"/>
                  </a:solidFill>
                </a:endParaRPr>
              </a:p>
              <a:p>
                <a:r>
                  <a:rPr lang="en-US" sz="2000" dirty="0">
                    <a:solidFill>
                      <a:schemeClr val="bg2"/>
                    </a:solidFill>
                  </a:rPr>
                  <a:t>Where:</a:t>
                </a:r>
              </a:p>
              <a:p>
                <a:endParaRPr lang="en-US" sz="2000" dirty="0">
                  <a:solidFill>
                    <a:schemeClr val="bg2"/>
                  </a:solidFill>
                </a:endParaRPr>
              </a:p>
              <a:p>
                <a:pPr lvl="1"/>
                <a14:m>
                  <m:oMath xmlns:m="http://schemas.openxmlformats.org/officeDocument/2006/math">
                    <m:sSub>
                      <m:sSubPr>
                        <m:ctrlPr>
                          <a:rPr lang="pl-PL" sz="2000" i="1" dirty="0">
                            <a:solidFill>
                              <a:schemeClr val="bg2"/>
                            </a:solidFill>
                            <a:latin typeface="Cambria Math" panose="02040503050406030204" pitchFamily="18" charset="0"/>
                          </a:rPr>
                        </m:ctrlPr>
                      </m:sSubPr>
                      <m:e>
                        <m:r>
                          <a:rPr lang="pl-PL" sz="2000" i="1" dirty="0">
                            <a:solidFill>
                              <a:schemeClr val="bg2"/>
                            </a:solidFill>
                            <a:latin typeface="Cambria Math" panose="02040503050406030204" pitchFamily="18" charset="0"/>
                          </a:rPr>
                          <m:t>𝑡</m:t>
                        </m:r>
                      </m:e>
                      <m:sub>
                        <m:r>
                          <a:rPr lang="pl-PL" sz="2000" i="1" dirty="0">
                            <a:solidFill>
                              <a:schemeClr val="bg2"/>
                            </a:solidFill>
                            <a:latin typeface="Cambria Math" panose="02040503050406030204" pitchFamily="18" charset="0"/>
                          </a:rPr>
                          <m:t>𝑖</m:t>
                        </m:r>
                      </m:sub>
                    </m:sSub>
                  </m:oMath>
                </a14:m>
                <a:r>
                  <a:rPr lang="en-US" sz="2000" i="1" dirty="0">
                    <a:solidFill>
                      <a:schemeClr val="bg2"/>
                    </a:solidFill>
                  </a:rPr>
                  <a:t>: </a:t>
                </a:r>
                <a:r>
                  <a:rPr lang="en-US" sz="2000" dirty="0">
                    <a:solidFill>
                      <a:schemeClr val="bg2"/>
                    </a:solidFill>
                  </a:rPr>
                  <a:t>cycle closure time</a:t>
                </a:r>
                <a:endParaRPr lang="en-US" sz="2000" i="1" dirty="0">
                  <a:solidFill>
                    <a:schemeClr val="bg2"/>
                  </a:solidFill>
                </a:endParaRPr>
              </a:p>
              <a:p>
                <a:pPr lvl="1"/>
                <a14:m>
                  <m:oMath xmlns:m="http://schemas.openxmlformats.org/officeDocument/2006/math">
                    <m:sSub>
                      <m:sSubPr>
                        <m:ctrlPr>
                          <a:rPr lang="pl-PL" sz="2000" i="1" dirty="0">
                            <a:solidFill>
                              <a:schemeClr val="bg2"/>
                            </a:solidFill>
                            <a:latin typeface="Cambria Math" panose="02040503050406030204" pitchFamily="18" charset="0"/>
                          </a:rPr>
                        </m:ctrlPr>
                      </m:sSubPr>
                      <m:e>
                        <m:r>
                          <a:rPr lang="pl-PL" sz="2000" i="1" dirty="0">
                            <a:solidFill>
                              <a:schemeClr val="bg2"/>
                            </a:solidFill>
                            <a:latin typeface="Cambria Math" panose="02040503050406030204" pitchFamily="18" charset="0"/>
                          </a:rPr>
                          <m:t>𝑃</m:t>
                        </m:r>
                      </m:e>
                      <m:sub>
                        <m:r>
                          <a:rPr lang="pl-PL" sz="2000" i="1" dirty="0">
                            <a:solidFill>
                              <a:schemeClr val="bg2"/>
                            </a:solidFill>
                            <a:latin typeface="Cambria Math" panose="02040503050406030204" pitchFamily="18" charset="0"/>
                          </a:rPr>
                          <m:t>𝑖</m:t>
                        </m:r>
                      </m:sub>
                    </m:sSub>
                  </m:oMath>
                </a14:m>
                <a:r>
                  <a:rPr lang="en-US" sz="2000" dirty="0">
                    <a:solidFill>
                      <a:schemeClr val="bg2"/>
                    </a:solidFill>
                  </a:rPr>
                  <a:t>: measured period</a:t>
                </a:r>
                <a:endParaRPr lang="en-US" sz="2000" i="1" dirty="0">
                  <a:solidFill>
                    <a:schemeClr val="bg2"/>
                  </a:solidFill>
                </a:endParaRPr>
              </a:p>
              <a:p>
                <a:pPr lvl="1"/>
                <a14:m>
                  <m:oMath xmlns:m="http://schemas.openxmlformats.org/officeDocument/2006/math">
                    <m:sSub>
                      <m:sSubPr>
                        <m:ctrlPr>
                          <a:rPr lang="pl-PL" sz="2000" i="1" dirty="0">
                            <a:solidFill>
                              <a:schemeClr val="bg2"/>
                            </a:solidFill>
                            <a:latin typeface="Cambria Math" panose="02040503050406030204" pitchFamily="18" charset="0"/>
                          </a:rPr>
                        </m:ctrlPr>
                      </m:sSubPr>
                      <m:e>
                        <m:r>
                          <a:rPr lang="pl-PL" sz="2000" i="1" dirty="0">
                            <a:solidFill>
                              <a:schemeClr val="bg2"/>
                            </a:solidFill>
                            <a:latin typeface="Cambria Math" panose="02040503050406030204" pitchFamily="18" charset="0"/>
                          </a:rPr>
                          <m:t>𝑐</m:t>
                        </m:r>
                      </m:e>
                      <m:sub>
                        <m:r>
                          <a:rPr lang="pl-PL" sz="2000" i="1" dirty="0">
                            <a:solidFill>
                              <a:schemeClr val="bg2"/>
                            </a:solidFill>
                            <a:latin typeface="Cambria Math" panose="02040503050406030204" pitchFamily="18" charset="0"/>
                          </a:rPr>
                          <m:t>𝑖</m:t>
                        </m:r>
                      </m:sub>
                    </m:sSub>
                  </m:oMath>
                </a14:m>
                <a:r>
                  <a:rPr lang="en-US" sz="2000" dirty="0">
                    <a:solidFill>
                      <a:schemeClr val="bg2"/>
                    </a:solidFill>
                  </a:rPr>
                  <a:t>: cycle centroid</a:t>
                </a:r>
                <a:endParaRPr lang="en-US" sz="2000" i="1" dirty="0">
                  <a:solidFill>
                    <a:schemeClr val="bg2"/>
                  </a:solidFill>
                </a:endParaRPr>
              </a:p>
              <a:p>
                <a:pPr lvl="1"/>
                <a14:m>
                  <m:oMath xmlns:m="http://schemas.openxmlformats.org/officeDocument/2006/math">
                    <m:sSub>
                      <m:sSubPr>
                        <m:ctrlPr>
                          <a:rPr lang="pl-PL" sz="2000" i="1" dirty="0">
                            <a:solidFill>
                              <a:schemeClr val="bg2"/>
                            </a:solidFill>
                            <a:latin typeface="Cambria Math" panose="02040503050406030204" pitchFamily="18" charset="0"/>
                          </a:rPr>
                        </m:ctrlPr>
                      </m:sSubPr>
                      <m:e>
                        <m:r>
                          <a:rPr lang="pl-PL" sz="2000" i="1" dirty="0">
                            <a:solidFill>
                              <a:schemeClr val="bg2"/>
                            </a:solidFill>
                            <a:latin typeface="Cambria Math" panose="02040503050406030204" pitchFamily="18" charset="0"/>
                          </a:rPr>
                          <m:t>𝑠</m:t>
                        </m:r>
                      </m:e>
                      <m:sub>
                        <m:r>
                          <a:rPr lang="pl-PL" sz="2000" i="1" dirty="0">
                            <a:solidFill>
                              <a:schemeClr val="bg2"/>
                            </a:solidFill>
                            <a:latin typeface="Cambria Math" panose="02040503050406030204" pitchFamily="18" charset="0"/>
                          </a:rPr>
                          <m:t>𝑖</m:t>
                        </m:r>
                      </m:sub>
                    </m:sSub>
                  </m:oMath>
                </a14:m>
                <a:r>
                  <a:rPr lang="en-US" sz="2000" b="0" dirty="0">
                    <a:solidFill>
                      <a:schemeClr val="bg2"/>
                    </a:solidFill>
                  </a:rPr>
                  <a:t>: cycle scale</a:t>
                </a:r>
                <a:endParaRPr lang="en-US" sz="2000" b="0" i="1" dirty="0">
                  <a:solidFill>
                    <a:schemeClr val="bg2"/>
                  </a:solidFill>
                </a:endParaRPr>
              </a:p>
              <a:p>
                <a:pPr lvl="1"/>
                <a14:m>
                  <m:oMath xmlns:m="http://schemas.openxmlformats.org/officeDocument/2006/math">
                    <m:d>
                      <m:dPr>
                        <m:begChr m:val="["/>
                        <m:endChr m:val="]"/>
                        <m:ctrlPr>
                          <a:rPr lang="pl-PL" sz="2000" i="1" dirty="0">
                            <a:solidFill>
                              <a:schemeClr val="bg2"/>
                            </a:solidFill>
                            <a:latin typeface="Cambria Math" panose="02040503050406030204" pitchFamily="18" charset="0"/>
                          </a:rPr>
                        </m:ctrlPr>
                      </m:dPr>
                      <m:e>
                        <m:sSub>
                          <m:sSubPr>
                            <m:ctrlPr>
                              <a:rPr lang="pl-PL" sz="2000" i="1" dirty="0">
                                <a:solidFill>
                                  <a:schemeClr val="bg2"/>
                                </a:solidFill>
                                <a:latin typeface="Cambria Math" panose="02040503050406030204" pitchFamily="18" charset="0"/>
                              </a:rPr>
                            </m:ctrlPr>
                          </m:sSubPr>
                          <m:e>
                            <m:r>
                              <a:rPr lang="pl-PL" sz="2000" i="1" dirty="0">
                                <a:solidFill>
                                  <a:schemeClr val="bg2"/>
                                </a:solidFill>
                                <a:latin typeface="Cambria Math" panose="02040503050406030204" pitchFamily="18" charset="0"/>
                              </a:rPr>
                              <m:t>𝑎</m:t>
                            </m:r>
                          </m:e>
                          <m:sub>
                            <m:r>
                              <a:rPr lang="pl-PL" sz="2000" i="1" dirty="0">
                                <a:solidFill>
                                  <a:schemeClr val="bg2"/>
                                </a:solidFill>
                                <a:latin typeface="Cambria Math" panose="02040503050406030204" pitchFamily="18" charset="0"/>
                              </a:rPr>
                              <m:t>𝑖</m:t>
                            </m:r>
                          </m:sub>
                        </m:sSub>
                        <m:r>
                          <a:rPr lang="pl-PL" sz="2000" i="1" dirty="0">
                            <a:solidFill>
                              <a:schemeClr val="bg2"/>
                            </a:solidFill>
                            <a:latin typeface="Cambria Math" panose="02040503050406030204" pitchFamily="18" charset="0"/>
                          </a:rPr>
                          <m:t>,</m:t>
                        </m:r>
                        <m:sSub>
                          <m:sSubPr>
                            <m:ctrlPr>
                              <a:rPr lang="pl-PL" sz="2000" i="1" dirty="0">
                                <a:solidFill>
                                  <a:schemeClr val="bg2"/>
                                </a:solidFill>
                                <a:latin typeface="Cambria Math" panose="02040503050406030204" pitchFamily="18" charset="0"/>
                              </a:rPr>
                            </m:ctrlPr>
                          </m:sSubPr>
                          <m:e>
                            <m:r>
                              <a:rPr lang="pl-PL" sz="2000" i="1" dirty="0">
                                <a:solidFill>
                                  <a:schemeClr val="bg2"/>
                                </a:solidFill>
                                <a:latin typeface="Cambria Math" panose="02040503050406030204" pitchFamily="18" charset="0"/>
                              </a:rPr>
                              <m:t>𝑏</m:t>
                            </m:r>
                          </m:e>
                          <m:sub>
                            <m:r>
                              <a:rPr lang="pl-PL" sz="2000" i="1" dirty="0">
                                <a:solidFill>
                                  <a:schemeClr val="bg2"/>
                                </a:solidFill>
                                <a:latin typeface="Cambria Math" panose="02040503050406030204" pitchFamily="18" charset="0"/>
                              </a:rPr>
                              <m:t>𝑖</m:t>
                            </m:r>
                          </m:sub>
                        </m:sSub>
                      </m:e>
                    </m:d>
                  </m:oMath>
                </a14:m>
                <a:r>
                  <a:rPr lang="en-US" sz="2000" dirty="0">
                    <a:solidFill>
                      <a:schemeClr val="bg2"/>
                    </a:solidFill>
                  </a:rPr>
                  <a:t>: span on base graph</a:t>
                </a:r>
              </a:p>
              <a:p>
                <a:endParaRPr lang="en-US" sz="2000" dirty="0">
                  <a:solidFill>
                    <a:schemeClr val="bg2"/>
                  </a:solidFill>
                </a:endParaRPr>
              </a:p>
              <a:p>
                <a:r>
                  <a:rPr lang="en-US" sz="2000" dirty="0">
                    <a:solidFill>
                      <a:schemeClr val="bg2"/>
                    </a:solidFill>
                  </a:rPr>
                  <a:t>Consecutive cycles are connected with a directed edge:</a:t>
                </a:r>
              </a:p>
              <a:p>
                <a:endParaRPr lang="en-US" sz="2000" dirty="0">
                  <a:solidFill>
                    <a:schemeClr val="bg2"/>
                  </a:solidFill>
                </a:endParaRPr>
              </a:p>
              <a:p>
                <a:r>
                  <a:rPr lang="en-US" sz="2000" dirty="0">
                    <a:solidFill>
                      <a:schemeClr val="bg2"/>
                    </a:solidFill>
                  </a:rPr>
                  <a:t>	</a:t>
                </a:r>
                <a14:m>
                  <m:oMath xmlns:m="http://schemas.openxmlformats.org/officeDocument/2006/math">
                    <m:sSub>
                      <m:sSubPr>
                        <m:ctrlPr>
                          <a:rPr lang="en-US" sz="2000" i="1">
                            <a:solidFill>
                              <a:schemeClr val="bg2"/>
                            </a:solidFill>
                            <a:latin typeface="Cambria Math" panose="02040503050406030204" pitchFamily="18" charset="0"/>
                          </a:rPr>
                        </m:ctrlPr>
                      </m:sSubPr>
                      <m:e>
                        <m:r>
                          <a:rPr lang="en-US" sz="2000" i="1">
                            <a:solidFill>
                              <a:schemeClr val="bg2"/>
                            </a:solidFill>
                            <a:latin typeface="Cambria Math" panose="02040503050406030204" pitchFamily="18" charset="0"/>
                          </a:rPr>
                          <m:t>𝑀</m:t>
                        </m:r>
                      </m:e>
                      <m:sub>
                        <m:d>
                          <m:dPr>
                            <m:ctrlPr>
                              <a:rPr lang="en-US" sz="2000" i="1">
                                <a:solidFill>
                                  <a:schemeClr val="bg2"/>
                                </a:solidFill>
                                <a:latin typeface="Cambria Math" panose="02040503050406030204" pitchFamily="18" charset="0"/>
                              </a:rPr>
                            </m:ctrlPr>
                          </m:dPr>
                          <m:e>
                            <m:r>
                              <a:rPr lang="en-US" sz="2000" i="1">
                                <a:solidFill>
                                  <a:schemeClr val="bg2"/>
                                </a:solidFill>
                                <a:latin typeface="Cambria Math" panose="02040503050406030204" pitchFamily="18" charset="0"/>
                              </a:rPr>
                              <m:t>𝑖</m:t>
                            </m:r>
                            <m:r>
                              <a:rPr lang="en-US" sz="2000" i="1">
                                <a:solidFill>
                                  <a:schemeClr val="bg2"/>
                                </a:solidFill>
                                <a:latin typeface="Cambria Math" panose="02040503050406030204" pitchFamily="18" charset="0"/>
                              </a:rPr>
                              <m:t>−1</m:t>
                            </m:r>
                          </m:e>
                        </m:d>
                      </m:sub>
                    </m:sSub>
                    <m:r>
                      <a:rPr lang="en-US" sz="2000" i="1">
                        <a:solidFill>
                          <a:schemeClr val="bg2"/>
                        </a:solidFill>
                        <a:latin typeface="Cambria Math" panose="02040503050406030204" pitchFamily="18" charset="0"/>
                      </a:rPr>
                      <m:t>→</m:t>
                    </m:r>
                    <m:sSub>
                      <m:sSubPr>
                        <m:ctrlPr>
                          <a:rPr lang="en-US" sz="2000" i="1">
                            <a:solidFill>
                              <a:schemeClr val="bg2"/>
                            </a:solidFill>
                            <a:latin typeface="Cambria Math" panose="02040503050406030204" pitchFamily="18" charset="0"/>
                          </a:rPr>
                        </m:ctrlPr>
                      </m:sSubPr>
                      <m:e>
                        <m:r>
                          <a:rPr lang="en-US" sz="2000" i="1">
                            <a:solidFill>
                              <a:schemeClr val="bg2"/>
                            </a:solidFill>
                            <a:latin typeface="Cambria Math" panose="02040503050406030204" pitchFamily="18" charset="0"/>
                          </a:rPr>
                          <m:t>𝑀</m:t>
                        </m:r>
                      </m:e>
                      <m:sub>
                        <m:r>
                          <a:rPr lang="en-US" sz="2000" i="1">
                            <a:solidFill>
                              <a:schemeClr val="bg2"/>
                            </a:solidFill>
                            <a:latin typeface="Cambria Math" panose="02040503050406030204" pitchFamily="18" charset="0"/>
                          </a:rPr>
                          <m:t>𝑖</m:t>
                        </m:r>
                      </m:sub>
                    </m:sSub>
                  </m:oMath>
                </a14:m>
                <a:endParaRPr lang="en-US" sz="2000" dirty="0">
                  <a:solidFill>
                    <a:schemeClr val="bg2"/>
                  </a:solidFill>
                </a:endParaRPr>
              </a:p>
              <a:p>
                <a:endParaRPr lang="en-US" sz="2000" dirty="0">
                  <a:solidFill>
                    <a:schemeClr val="bg2"/>
                  </a:solidFill>
                </a:endParaRPr>
              </a:p>
              <a:p>
                <a:r>
                  <a:rPr lang="en-US" sz="2000" dirty="0">
                    <a:solidFill>
                      <a:schemeClr val="bg2"/>
                    </a:solidFill>
                  </a:rPr>
                  <a:t>Which stores the temporal change between them:</a:t>
                </a:r>
              </a:p>
              <a:p>
                <a:endParaRPr lang="en-US" sz="2000" dirty="0">
                  <a:solidFill>
                    <a:schemeClr val="bg2"/>
                  </a:solidFill>
                </a:endParaRPr>
              </a:p>
              <a:p>
                <a:pPr lvl="1"/>
                <a14:m>
                  <m:oMathPara xmlns:m="http://schemas.openxmlformats.org/officeDocument/2006/math">
                    <m:oMathParaPr>
                      <m:jc m:val="left"/>
                    </m:oMathParaPr>
                    <m:oMath>
                      <m:sSub>
                        <m:sSubPr>
                          <m:ctrlPr>
                            <a:rPr lang="en-US" sz="2000" i="1">
                              <a:solidFill>
                                <a:schemeClr val="bg2"/>
                              </a:solidFill>
                              <a:latin typeface="Cambria Math" panose="02040503050406030204" pitchFamily="18" charset="0"/>
                            </a:rPr>
                          </m:ctrlPr>
                        </m:sSubPr>
                        <m:e>
                          <m:r>
                            <a:rPr lang="en-US" sz="2000" i="1">
                              <a:solidFill>
                                <a:schemeClr val="bg2"/>
                              </a:solidFill>
                              <a:latin typeface="Cambria Math" panose="02040503050406030204" pitchFamily="18" charset="0"/>
                            </a:rPr>
                            <m:t>𝐸</m:t>
                          </m:r>
                        </m:e>
                        <m:sub>
                          <m:r>
                            <a:rPr lang="en-US" sz="2000" i="1">
                              <a:solidFill>
                                <a:schemeClr val="bg2"/>
                              </a:solidFill>
                              <a:latin typeface="Cambria Math" panose="02040503050406030204" pitchFamily="18" charset="0"/>
                            </a:rPr>
                            <m:t>𝑖</m:t>
                          </m:r>
                        </m:sub>
                      </m:sSub>
                      <m:r>
                        <a:rPr lang="en-US" sz="2000" i="1">
                          <a:solidFill>
                            <a:schemeClr val="bg2"/>
                          </a:solidFill>
                          <a:latin typeface="Cambria Math" panose="02040503050406030204" pitchFamily="18" charset="0"/>
                        </a:rPr>
                        <m:t>=</m:t>
                      </m:r>
                      <m:d>
                        <m:dPr>
                          <m:ctrlPr>
                            <a:rPr lang="en-US" sz="2000" i="0">
                              <a:solidFill>
                                <a:schemeClr val="bg2"/>
                              </a:solidFill>
                              <a:latin typeface="Cambria Math" panose="02040503050406030204" pitchFamily="18" charset="0"/>
                            </a:rPr>
                          </m:ctrlPr>
                        </m:dPr>
                        <m:e>
                          <m:r>
                            <m:rPr>
                              <m:sty m:val="p"/>
                            </m:rPr>
                            <a:rPr lang="en-US" sz="2000" i="0">
                              <a:solidFill>
                                <a:schemeClr val="bg2"/>
                              </a:solidFill>
                              <a:latin typeface="Cambria Math" panose="02040503050406030204" pitchFamily="18" charset="0"/>
                            </a:rPr>
                            <m:t>Δ</m:t>
                          </m:r>
                          <m:sSub>
                            <m:sSubPr>
                              <m:ctrlPr>
                                <a:rPr lang="en-US" sz="2000" i="1">
                                  <a:solidFill>
                                    <a:schemeClr val="bg2"/>
                                  </a:solidFill>
                                  <a:latin typeface="Cambria Math" panose="02040503050406030204" pitchFamily="18" charset="0"/>
                                </a:rPr>
                              </m:ctrlPr>
                            </m:sSubPr>
                            <m:e>
                              <m:r>
                                <a:rPr lang="en-US" sz="2000" i="1">
                                  <a:solidFill>
                                    <a:schemeClr val="bg2"/>
                                  </a:solidFill>
                                  <a:latin typeface="Cambria Math" panose="02040503050406030204" pitchFamily="18" charset="0"/>
                                </a:rPr>
                                <m:t>𝑡</m:t>
                              </m:r>
                            </m:e>
                            <m:sub>
                              <m:r>
                                <a:rPr lang="en-US" sz="2000" i="1">
                                  <a:solidFill>
                                    <a:schemeClr val="bg2"/>
                                  </a:solidFill>
                                  <a:latin typeface="Cambria Math" panose="02040503050406030204" pitchFamily="18" charset="0"/>
                                </a:rPr>
                                <m:t>𝑖</m:t>
                              </m:r>
                            </m:sub>
                          </m:sSub>
                          <m:r>
                            <a:rPr lang="en-US" sz="2000" i="1">
                              <a:solidFill>
                                <a:schemeClr val="bg2"/>
                              </a:solidFill>
                              <a:latin typeface="Cambria Math" panose="02040503050406030204" pitchFamily="18" charset="0"/>
                            </a:rPr>
                            <m:t>,</m:t>
                          </m:r>
                          <m:r>
                            <m:rPr>
                              <m:sty m:val="p"/>
                            </m:rPr>
                            <a:rPr lang="en-US" sz="2000" i="0">
                              <a:solidFill>
                                <a:schemeClr val="bg2"/>
                              </a:solidFill>
                              <a:latin typeface="Cambria Math" panose="02040503050406030204" pitchFamily="18" charset="0"/>
                            </a:rPr>
                            <m:t>Δ</m:t>
                          </m:r>
                          <m:sSub>
                            <m:sSubPr>
                              <m:ctrlPr>
                                <a:rPr lang="en-US" sz="2000" i="1">
                                  <a:solidFill>
                                    <a:schemeClr val="bg2"/>
                                  </a:solidFill>
                                  <a:latin typeface="Cambria Math" panose="02040503050406030204" pitchFamily="18" charset="0"/>
                                </a:rPr>
                              </m:ctrlPr>
                            </m:sSubPr>
                            <m:e>
                              <m:r>
                                <a:rPr lang="en-US" sz="2000" i="1">
                                  <a:solidFill>
                                    <a:schemeClr val="bg2"/>
                                  </a:solidFill>
                                  <a:latin typeface="Cambria Math" panose="02040503050406030204" pitchFamily="18" charset="0"/>
                                </a:rPr>
                                <m:t>𝑃</m:t>
                              </m:r>
                            </m:e>
                            <m:sub>
                              <m:r>
                                <a:rPr lang="en-US" sz="2000" i="1">
                                  <a:solidFill>
                                    <a:schemeClr val="bg2"/>
                                  </a:solidFill>
                                  <a:latin typeface="Cambria Math" panose="02040503050406030204" pitchFamily="18" charset="0"/>
                                </a:rPr>
                                <m:t>𝑖</m:t>
                              </m:r>
                            </m:sub>
                          </m:sSub>
                        </m:e>
                      </m:d>
                    </m:oMath>
                  </m:oMathPara>
                </a14:m>
                <a:endParaRPr lang="en-US" sz="2000" dirty="0">
                  <a:solidFill>
                    <a:schemeClr val="bg2"/>
                  </a:solidFill>
                </a:endParaRPr>
              </a:p>
              <a:p>
                <a:pPr lvl="1"/>
                <a14:m>
                  <m:oMathPara xmlns:m="http://schemas.openxmlformats.org/officeDocument/2006/math">
                    <m:oMathParaPr>
                      <m:jc m:val="left"/>
                    </m:oMathParaPr>
                    <m:oMath>
                      <m:r>
                        <m:rPr>
                          <m:sty m:val="p"/>
                        </m:rPr>
                        <a:rPr lang="en-US" sz="2000" i="0" smtClean="0">
                          <a:solidFill>
                            <a:schemeClr val="bg2"/>
                          </a:solidFill>
                          <a:latin typeface="Cambria Math" panose="02040503050406030204" pitchFamily="18" charset="0"/>
                        </a:rPr>
                        <m:t>Δ</m:t>
                      </m:r>
                      <m:sSub>
                        <m:sSubPr>
                          <m:ctrlPr>
                            <a:rPr lang="en-US" sz="2000" i="1">
                              <a:solidFill>
                                <a:schemeClr val="bg2"/>
                              </a:solidFill>
                              <a:latin typeface="Cambria Math" panose="02040503050406030204" pitchFamily="18" charset="0"/>
                            </a:rPr>
                          </m:ctrlPr>
                        </m:sSubPr>
                        <m:e>
                          <m:r>
                            <a:rPr lang="en-US" sz="2000" i="1">
                              <a:solidFill>
                                <a:schemeClr val="bg2"/>
                              </a:solidFill>
                              <a:latin typeface="Cambria Math" panose="02040503050406030204" pitchFamily="18" charset="0"/>
                            </a:rPr>
                            <m:t>𝑡</m:t>
                          </m:r>
                        </m:e>
                        <m:sub>
                          <m:r>
                            <a:rPr lang="en-US" sz="2000" i="1">
                              <a:solidFill>
                                <a:schemeClr val="bg2"/>
                              </a:solidFill>
                              <a:latin typeface="Cambria Math" panose="02040503050406030204" pitchFamily="18" charset="0"/>
                            </a:rPr>
                            <m:t>𝑖</m:t>
                          </m:r>
                        </m:sub>
                      </m:sSub>
                      <m:r>
                        <a:rPr lang="en-US" sz="2000" i="1">
                          <a:solidFill>
                            <a:schemeClr val="bg2"/>
                          </a:solidFill>
                          <a:latin typeface="Cambria Math" panose="02040503050406030204" pitchFamily="18" charset="0"/>
                        </a:rPr>
                        <m:t>=</m:t>
                      </m:r>
                      <m:sSub>
                        <m:sSubPr>
                          <m:ctrlPr>
                            <a:rPr lang="en-US" sz="2000" i="1">
                              <a:solidFill>
                                <a:schemeClr val="bg2"/>
                              </a:solidFill>
                              <a:latin typeface="Cambria Math" panose="02040503050406030204" pitchFamily="18" charset="0"/>
                            </a:rPr>
                          </m:ctrlPr>
                        </m:sSubPr>
                        <m:e>
                          <m:r>
                            <a:rPr lang="en-US" sz="2000" i="1">
                              <a:solidFill>
                                <a:schemeClr val="bg2"/>
                              </a:solidFill>
                              <a:latin typeface="Cambria Math" panose="02040503050406030204" pitchFamily="18" charset="0"/>
                            </a:rPr>
                            <m:t>𝑡</m:t>
                          </m:r>
                        </m:e>
                        <m:sub>
                          <m:r>
                            <a:rPr lang="en-US" sz="2000" i="1">
                              <a:solidFill>
                                <a:schemeClr val="bg2"/>
                              </a:solidFill>
                              <a:latin typeface="Cambria Math" panose="02040503050406030204" pitchFamily="18" charset="0"/>
                            </a:rPr>
                            <m:t>𝑖</m:t>
                          </m:r>
                        </m:sub>
                      </m:sSub>
                      <m:r>
                        <a:rPr lang="en-US" sz="2000" i="1">
                          <a:solidFill>
                            <a:schemeClr val="bg2"/>
                          </a:solidFill>
                          <a:latin typeface="Cambria Math" panose="02040503050406030204" pitchFamily="18" charset="0"/>
                        </a:rPr>
                        <m:t>−</m:t>
                      </m:r>
                      <m:sSub>
                        <m:sSubPr>
                          <m:ctrlPr>
                            <a:rPr lang="en-US" sz="2000" i="1">
                              <a:solidFill>
                                <a:schemeClr val="bg2"/>
                              </a:solidFill>
                              <a:latin typeface="Cambria Math" panose="02040503050406030204" pitchFamily="18" charset="0"/>
                            </a:rPr>
                          </m:ctrlPr>
                        </m:sSubPr>
                        <m:e>
                          <m:r>
                            <a:rPr lang="en-US" sz="2000" i="1">
                              <a:solidFill>
                                <a:schemeClr val="bg2"/>
                              </a:solidFill>
                              <a:latin typeface="Cambria Math" panose="02040503050406030204" pitchFamily="18" charset="0"/>
                            </a:rPr>
                            <m:t>𝑡</m:t>
                          </m:r>
                        </m:e>
                        <m:sub>
                          <m:d>
                            <m:dPr>
                              <m:ctrlPr>
                                <a:rPr lang="en-US" sz="2000" i="1">
                                  <a:solidFill>
                                    <a:schemeClr val="bg2"/>
                                  </a:solidFill>
                                  <a:latin typeface="Cambria Math" panose="02040503050406030204" pitchFamily="18" charset="0"/>
                                </a:rPr>
                              </m:ctrlPr>
                            </m:dPr>
                            <m:e>
                              <m:r>
                                <a:rPr lang="en-US" sz="2000" i="1">
                                  <a:solidFill>
                                    <a:schemeClr val="bg2"/>
                                  </a:solidFill>
                                  <a:latin typeface="Cambria Math" panose="02040503050406030204" pitchFamily="18" charset="0"/>
                                </a:rPr>
                                <m:t>𝑖</m:t>
                              </m:r>
                              <m:r>
                                <a:rPr lang="en-US" sz="2000" i="1">
                                  <a:solidFill>
                                    <a:schemeClr val="bg2"/>
                                  </a:solidFill>
                                  <a:latin typeface="Cambria Math" panose="02040503050406030204" pitchFamily="18" charset="0"/>
                                </a:rPr>
                                <m:t>−1</m:t>
                              </m:r>
                            </m:e>
                          </m:d>
                        </m:sub>
                      </m:sSub>
                    </m:oMath>
                  </m:oMathPara>
                </a14:m>
                <a:endParaRPr lang="en-US" sz="2000" dirty="0">
                  <a:solidFill>
                    <a:schemeClr val="bg2"/>
                  </a:solidFill>
                </a:endParaRPr>
              </a:p>
              <a:p>
                <a:pPr lvl="1"/>
                <a14:m>
                  <m:oMathPara xmlns:m="http://schemas.openxmlformats.org/officeDocument/2006/math">
                    <m:oMathParaPr>
                      <m:jc m:val="left"/>
                    </m:oMathParaPr>
                    <m:oMath>
                      <m:r>
                        <m:rPr>
                          <m:sty m:val="p"/>
                        </m:rPr>
                        <a:rPr lang="en-US" sz="2000" i="0" smtClean="0">
                          <a:solidFill>
                            <a:schemeClr val="bg2"/>
                          </a:solidFill>
                          <a:latin typeface="Cambria Math" panose="02040503050406030204" pitchFamily="18" charset="0"/>
                        </a:rPr>
                        <m:t>Δ</m:t>
                      </m:r>
                      <m:sSub>
                        <m:sSubPr>
                          <m:ctrlPr>
                            <a:rPr lang="en-US" sz="2000" i="1">
                              <a:solidFill>
                                <a:schemeClr val="bg2"/>
                              </a:solidFill>
                              <a:latin typeface="Cambria Math" panose="02040503050406030204" pitchFamily="18" charset="0"/>
                            </a:rPr>
                          </m:ctrlPr>
                        </m:sSubPr>
                        <m:e>
                          <m:r>
                            <a:rPr lang="en-US" sz="2000" i="1">
                              <a:solidFill>
                                <a:schemeClr val="bg2"/>
                              </a:solidFill>
                              <a:latin typeface="Cambria Math" panose="02040503050406030204" pitchFamily="18" charset="0"/>
                            </a:rPr>
                            <m:t>𝑃</m:t>
                          </m:r>
                        </m:e>
                        <m:sub>
                          <m:r>
                            <a:rPr lang="en-US" sz="2000" i="1">
                              <a:solidFill>
                                <a:schemeClr val="bg2"/>
                              </a:solidFill>
                              <a:latin typeface="Cambria Math" panose="02040503050406030204" pitchFamily="18" charset="0"/>
                            </a:rPr>
                            <m:t>𝑖</m:t>
                          </m:r>
                        </m:sub>
                      </m:sSub>
                      <m:r>
                        <a:rPr lang="en-US" sz="2000" i="1">
                          <a:solidFill>
                            <a:schemeClr val="bg2"/>
                          </a:solidFill>
                          <a:latin typeface="Cambria Math" panose="02040503050406030204" pitchFamily="18" charset="0"/>
                        </a:rPr>
                        <m:t>=</m:t>
                      </m:r>
                      <m:sSub>
                        <m:sSubPr>
                          <m:ctrlPr>
                            <a:rPr lang="en-US" sz="2000" i="1">
                              <a:solidFill>
                                <a:schemeClr val="bg2"/>
                              </a:solidFill>
                              <a:latin typeface="Cambria Math" panose="02040503050406030204" pitchFamily="18" charset="0"/>
                            </a:rPr>
                          </m:ctrlPr>
                        </m:sSubPr>
                        <m:e>
                          <m:r>
                            <a:rPr lang="en-US" sz="2000" i="1">
                              <a:solidFill>
                                <a:schemeClr val="bg2"/>
                              </a:solidFill>
                              <a:latin typeface="Cambria Math" panose="02040503050406030204" pitchFamily="18" charset="0"/>
                            </a:rPr>
                            <m:t>𝑃</m:t>
                          </m:r>
                        </m:e>
                        <m:sub>
                          <m:r>
                            <a:rPr lang="en-US" sz="2000" i="1">
                              <a:solidFill>
                                <a:schemeClr val="bg2"/>
                              </a:solidFill>
                              <a:latin typeface="Cambria Math" panose="02040503050406030204" pitchFamily="18" charset="0"/>
                            </a:rPr>
                            <m:t>𝑖</m:t>
                          </m:r>
                        </m:sub>
                      </m:sSub>
                      <m:r>
                        <a:rPr lang="en-US" sz="2000" i="1">
                          <a:solidFill>
                            <a:schemeClr val="bg2"/>
                          </a:solidFill>
                          <a:latin typeface="Cambria Math" panose="02040503050406030204" pitchFamily="18" charset="0"/>
                        </a:rPr>
                        <m:t>−</m:t>
                      </m:r>
                      <m:sSub>
                        <m:sSubPr>
                          <m:ctrlPr>
                            <a:rPr lang="en-US" sz="2000" i="1">
                              <a:solidFill>
                                <a:schemeClr val="bg2"/>
                              </a:solidFill>
                              <a:latin typeface="Cambria Math" panose="02040503050406030204" pitchFamily="18" charset="0"/>
                            </a:rPr>
                          </m:ctrlPr>
                        </m:sSubPr>
                        <m:e>
                          <m:r>
                            <a:rPr lang="en-US" sz="2000" i="1">
                              <a:solidFill>
                                <a:schemeClr val="bg2"/>
                              </a:solidFill>
                              <a:latin typeface="Cambria Math" panose="02040503050406030204" pitchFamily="18" charset="0"/>
                            </a:rPr>
                            <m:t>𝑃</m:t>
                          </m:r>
                        </m:e>
                        <m:sub>
                          <m:d>
                            <m:dPr>
                              <m:ctrlPr>
                                <a:rPr lang="en-US" sz="2000" i="1">
                                  <a:solidFill>
                                    <a:schemeClr val="bg2"/>
                                  </a:solidFill>
                                  <a:latin typeface="Cambria Math" panose="02040503050406030204" pitchFamily="18" charset="0"/>
                                </a:rPr>
                              </m:ctrlPr>
                            </m:dPr>
                            <m:e>
                              <m:r>
                                <a:rPr lang="en-US" sz="2000" i="1">
                                  <a:solidFill>
                                    <a:schemeClr val="bg2"/>
                                  </a:solidFill>
                                  <a:latin typeface="Cambria Math" panose="02040503050406030204" pitchFamily="18" charset="0"/>
                                </a:rPr>
                                <m:t>𝑖</m:t>
                              </m:r>
                              <m:r>
                                <a:rPr lang="en-US" sz="2000" i="1">
                                  <a:solidFill>
                                    <a:schemeClr val="bg2"/>
                                  </a:solidFill>
                                  <a:latin typeface="Cambria Math" panose="02040503050406030204" pitchFamily="18" charset="0"/>
                                </a:rPr>
                                <m:t>−1</m:t>
                              </m:r>
                            </m:e>
                          </m:d>
                        </m:sub>
                      </m:sSub>
                    </m:oMath>
                  </m:oMathPara>
                </a14:m>
                <a:endParaRPr lang="en-US" sz="2000" dirty="0">
                  <a:solidFill>
                    <a:schemeClr val="bg2"/>
                  </a:solidFill>
                </a:endParaRPr>
              </a:p>
              <a:p>
                <a:endParaRPr lang="en-US" sz="2000" dirty="0">
                  <a:solidFill>
                    <a:schemeClr val="bg2"/>
                  </a:solidFill>
                  <a:latin typeface="Cambria Math" panose="02040503050406030204" pitchFamily="18" charset="0"/>
                </a:endParaRPr>
              </a:p>
            </p:txBody>
          </p:sp>
        </mc:Choice>
        <mc:Fallback xmlns="">
          <p:sp>
            <p:nvSpPr>
              <p:cNvPr id="24" name="TextBox 23">
                <a:extLst>
                  <a:ext uri="{FF2B5EF4-FFF2-40B4-BE49-F238E27FC236}">
                    <a16:creationId xmlns:a16="http://schemas.microsoft.com/office/drawing/2014/main" id="{789C1431-67F7-3379-AE40-18DCD994640A}"/>
                  </a:ext>
                </a:extLst>
              </p:cNvPr>
              <p:cNvSpPr txBox="1">
                <a:spLocks noRot="1" noChangeAspect="1" noMove="1" noResize="1" noEditPoints="1" noAdjustHandles="1" noChangeArrowheads="1" noChangeShapeType="1" noTextEdit="1"/>
              </p:cNvSpPr>
              <p:nvPr/>
            </p:nvSpPr>
            <p:spPr>
              <a:xfrm>
                <a:off x="1028700" y="2876525"/>
                <a:ext cx="7504174" cy="6620082"/>
              </a:xfrm>
              <a:prstGeom prst="rect">
                <a:avLst/>
              </a:prstGeom>
              <a:blipFill>
                <a:blip r:embed="rId8"/>
                <a:stretch>
                  <a:fillRect l="-894" t="-552"/>
                </a:stretch>
              </a:blipFill>
            </p:spPr>
            <p:txBody>
              <a:bodyPr/>
              <a:lstStyle/>
              <a:p>
                <a:r>
                  <a:rPr lang="en-US">
                    <a:noFill/>
                  </a:rPr>
                  <a:t> </a:t>
                </a:r>
              </a:p>
            </p:txBody>
          </p:sp>
        </mc:Fallback>
      </mc:AlternateContent>
      <p:sp>
        <p:nvSpPr>
          <p:cNvPr id="28" name="Slide Number Placeholder 27">
            <a:extLst>
              <a:ext uri="{FF2B5EF4-FFF2-40B4-BE49-F238E27FC236}">
                <a16:creationId xmlns:a16="http://schemas.microsoft.com/office/drawing/2014/main" id="{3E3AC963-B5DE-6606-90AC-B16F9B16D8AE}"/>
              </a:ext>
            </a:extLst>
          </p:cNvPr>
          <p:cNvSpPr>
            <a:spLocks noGrp="1"/>
          </p:cNvSpPr>
          <p:nvPr>
            <p:ph type="sldNum" sz="quarter" idx="12"/>
          </p:nvPr>
        </p:nvSpPr>
        <p:spPr>
          <a:xfrm>
            <a:off x="15925800" y="9715500"/>
            <a:ext cx="2133600" cy="365125"/>
          </a:xfrm>
        </p:spPr>
        <p:txBody>
          <a:bodyPr/>
          <a:lstStyle/>
          <a:p>
            <a:fld id="{B6F15528-21DE-4FAA-801E-634DDDAF4B2B}" type="slidenum">
              <a:rPr lang="en-US" smtClean="0"/>
              <a:pPr/>
              <a:t>17</a:t>
            </a:fld>
            <a:endParaRPr lang="en-US"/>
          </a:p>
        </p:txBody>
      </p:sp>
    </p:spTree>
    <p:extLst>
      <p:ext uri="{BB962C8B-B14F-4D97-AF65-F5344CB8AC3E}">
        <p14:creationId xmlns:p14="http://schemas.microsoft.com/office/powerpoint/2010/main" val="15349989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lin ang="5400000"/>
        </a:gradFill>
        <a:effectLst/>
      </p:bgPr>
    </p:bg>
    <p:spTree>
      <p:nvGrpSpPr>
        <p:cNvPr id="1" name="">
          <a:extLst>
            <a:ext uri="{FF2B5EF4-FFF2-40B4-BE49-F238E27FC236}">
              <a16:creationId xmlns:a16="http://schemas.microsoft.com/office/drawing/2014/main" id="{E84FB901-8BC8-78F6-C4DC-ADB0ADDC514E}"/>
            </a:ext>
          </a:extLst>
        </p:cNvPr>
        <p:cNvGrpSpPr/>
        <p:nvPr/>
      </p:nvGrpSpPr>
      <p:grpSpPr>
        <a:xfrm>
          <a:off x="0" y="0"/>
          <a:ext cx="0" cy="0"/>
          <a:chOff x="0" y="0"/>
          <a:chExt cx="0" cy="0"/>
        </a:xfrm>
      </p:grpSpPr>
      <p:sp>
        <p:nvSpPr>
          <p:cNvPr id="4" name="AutoShape 4">
            <a:extLst>
              <a:ext uri="{FF2B5EF4-FFF2-40B4-BE49-F238E27FC236}">
                <a16:creationId xmlns:a16="http://schemas.microsoft.com/office/drawing/2014/main" id="{E15E5C80-ADAB-0656-B2CA-C36F1FF994F9}"/>
              </a:ext>
            </a:extLst>
          </p:cNvPr>
          <p:cNvSpPr/>
          <p:nvPr/>
        </p:nvSpPr>
        <p:spPr>
          <a:xfrm flipH="1">
            <a:off x="0" y="9676538"/>
            <a:ext cx="16463090" cy="0"/>
          </a:xfrm>
          <a:prstGeom prst="line">
            <a:avLst/>
          </a:prstGeom>
          <a:ln w="19050" cap="flat">
            <a:solidFill>
              <a:srgbClr val="FFFFFF"/>
            </a:solidFill>
            <a:prstDash val="solid"/>
            <a:headEnd type="none" w="sm" len="sm"/>
            <a:tailEnd type="none" w="sm" len="sm"/>
          </a:ln>
        </p:spPr>
        <p:txBody>
          <a:bodyPr/>
          <a:lstStyle/>
          <a:p>
            <a:endParaRPr lang="en-US"/>
          </a:p>
        </p:txBody>
      </p:sp>
      <p:sp>
        <p:nvSpPr>
          <p:cNvPr id="5" name="AutoShape 5">
            <a:extLst>
              <a:ext uri="{FF2B5EF4-FFF2-40B4-BE49-F238E27FC236}">
                <a16:creationId xmlns:a16="http://schemas.microsoft.com/office/drawing/2014/main" id="{CCC54195-1B98-D415-9C8B-23B0B1DC5F62}"/>
              </a:ext>
            </a:extLst>
          </p:cNvPr>
          <p:cNvSpPr/>
          <p:nvPr/>
        </p:nvSpPr>
        <p:spPr>
          <a:xfrm flipH="1">
            <a:off x="17050227" y="9667013"/>
            <a:ext cx="960120" cy="0"/>
          </a:xfrm>
          <a:prstGeom prst="line">
            <a:avLst/>
          </a:prstGeom>
          <a:ln w="19050" cap="flat">
            <a:solidFill>
              <a:srgbClr val="FFFFFF"/>
            </a:solidFill>
            <a:prstDash val="solid"/>
            <a:headEnd type="none" w="sm" len="sm"/>
            <a:tailEnd type="none" w="sm" len="sm"/>
          </a:ln>
        </p:spPr>
        <p:txBody>
          <a:bodyPr/>
          <a:lstStyle/>
          <a:p>
            <a:endParaRPr lang="en-US"/>
          </a:p>
        </p:txBody>
      </p:sp>
      <p:sp>
        <p:nvSpPr>
          <p:cNvPr id="6" name="TextBox 6">
            <a:extLst>
              <a:ext uri="{FF2B5EF4-FFF2-40B4-BE49-F238E27FC236}">
                <a16:creationId xmlns:a16="http://schemas.microsoft.com/office/drawing/2014/main" id="{F703FEFF-02CC-6D60-65C6-256845F0BDC9}"/>
              </a:ext>
            </a:extLst>
          </p:cNvPr>
          <p:cNvSpPr txBox="1"/>
          <p:nvPr/>
        </p:nvSpPr>
        <p:spPr>
          <a:xfrm>
            <a:off x="1028700" y="1000125"/>
            <a:ext cx="16230600" cy="878835"/>
          </a:xfrm>
          <a:prstGeom prst="rect">
            <a:avLst/>
          </a:prstGeom>
        </p:spPr>
        <p:txBody>
          <a:bodyPr lIns="0" tIns="0" rIns="0" bIns="0" rtlCol="0" anchor="t">
            <a:spAutoFit/>
          </a:bodyPr>
          <a:lstStyle/>
          <a:p>
            <a:pPr algn="l">
              <a:lnSpc>
                <a:spcPts val="7025"/>
              </a:lnSpc>
            </a:pPr>
            <a:r>
              <a:rPr lang="en-US" sz="5616" b="1" spc="-16" dirty="0">
                <a:solidFill>
                  <a:srgbClr val="D7E5D8"/>
                </a:solidFill>
                <a:latin typeface="IBM Plex Sans Bold"/>
                <a:ea typeface="IBM Plex Sans Bold"/>
                <a:cs typeface="IBM Plex Sans Bold"/>
                <a:sym typeface="IBM Plex Sans Bold"/>
              </a:rPr>
              <a:t>PREDICTION</a:t>
            </a:r>
          </a:p>
        </p:txBody>
      </p:sp>
      <p:sp>
        <p:nvSpPr>
          <p:cNvPr id="7" name="TextBox 7">
            <a:extLst>
              <a:ext uri="{FF2B5EF4-FFF2-40B4-BE49-F238E27FC236}">
                <a16:creationId xmlns:a16="http://schemas.microsoft.com/office/drawing/2014/main" id="{0C2FDD84-5039-D5BB-CFD4-818C1528E0F4}"/>
              </a:ext>
            </a:extLst>
          </p:cNvPr>
          <p:cNvSpPr txBox="1"/>
          <p:nvPr/>
        </p:nvSpPr>
        <p:spPr>
          <a:xfrm>
            <a:off x="1028700" y="2004098"/>
            <a:ext cx="15138291" cy="692497"/>
          </a:xfrm>
          <a:prstGeom prst="rect">
            <a:avLst/>
          </a:prstGeom>
        </p:spPr>
        <p:txBody>
          <a:bodyPr lIns="0" tIns="0" rIns="0" bIns="0" rtlCol="0" anchor="t">
            <a:spAutoFit/>
          </a:bodyPr>
          <a:lstStyle/>
          <a:p>
            <a:pPr>
              <a:lnSpc>
                <a:spcPts val="2699"/>
              </a:lnSpc>
            </a:pPr>
            <a:r>
              <a:rPr lang="en-US" sz="2400" dirty="0">
                <a:solidFill>
                  <a:schemeClr val="bg2"/>
                </a:solidFill>
              </a:rPr>
              <a:t>The follow track predicts by continuing along the strongest learned graph pathway, while the forecast track projects the next cycle’s period and reconstructs the expected signal value.</a:t>
            </a:r>
            <a:endParaRPr lang="en-US" sz="2400" spc="-5" dirty="0">
              <a:solidFill>
                <a:schemeClr val="bg2"/>
              </a:solidFill>
              <a:latin typeface="IBM Plex Sans"/>
              <a:ea typeface="IBM Plex Sans"/>
              <a:cs typeface="IBM Plex Sans"/>
              <a:sym typeface="IBM Plex Sans"/>
            </a:endParaRPr>
          </a:p>
        </p:txBody>
      </p:sp>
      <mc:AlternateContent xmlns:mc="http://schemas.openxmlformats.org/markup-compatibility/2006" xmlns:a14="http://schemas.microsoft.com/office/drawing/2010/main">
        <mc:Choice Requires="a14">
          <p:sp>
            <p:nvSpPr>
              <p:cNvPr id="8" name="TextBox 8">
                <a:extLst>
                  <a:ext uri="{FF2B5EF4-FFF2-40B4-BE49-F238E27FC236}">
                    <a16:creationId xmlns:a16="http://schemas.microsoft.com/office/drawing/2014/main" id="{448804EB-5477-D767-B165-F7BF8992C0FB}"/>
                  </a:ext>
                </a:extLst>
              </p:cNvPr>
              <p:cNvSpPr txBox="1"/>
              <p:nvPr/>
            </p:nvSpPr>
            <p:spPr>
              <a:xfrm>
                <a:off x="1074705" y="4097342"/>
                <a:ext cx="7656574" cy="3636958"/>
              </a:xfrm>
              <a:prstGeom prst="rect">
                <a:avLst/>
              </a:prstGeom>
            </p:spPr>
            <p:txBody>
              <a:bodyPr wrap="square" lIns="0" tIns="0" rIns="0" bIns="0" rtlCol="0" anchor="t">
                <a:spAutoFit/>
              </a:bodyPr>
              <a:lstStyle/>
              <a:p>
                <a:pPr hangingPunct="0"/>
                <a:r>
                  <a:rPr lang="en-US" dirty="0">
                    <a:solidFill>
                      <a:schemeClr val="bg2"/>
                    </a:solidFill>
                  </a:rPr>
                  <a:t>Compares the recent trajectory with candidate's backward trail. Mean squared mismatch is converted to alignment confidence:</a:t>
                </a:r>
              </a:p>
              <a:p>
                <a:pPr hangingPunct="0"/>
                <a:endParaRPr lang="en-US" dirty="0">
                  <a:solidFill>
                    <a:schemeClr val="bg2"/>
                  </a:solidFill>
                </a:endParaRPr>
              </a:p>
              <a:p>
                <a:pPr hangingPunct="0"/>
                <a:r>
                  <a:rPr lang="en-US" dirty="0">
                    <a:solidFill>
                      <a:schemeClr val="bg2"/>
                    </a:solidFill>
                  </a:rPr>
                  <a:t>	</a:t>
                </a:r>
                <a14:m>
                  <m:oMath xmlns:m="http://schemas.openxmlformats.org/officeDocument/2006/math">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𝑞</m:t>
                        </m:r>
                      </m:e>
                      <m:sub>
                        <m:r>
                          <a:rPr lang="en-US" i="1">
                            <a:solidFill>
                              <a:schemeClr val="bg2"/>
                            </a:solidFill>
                            <a:latin typeface="Cambria Math" panose="02040503050406030204" pitchFamily="18" charset="0"/>
                          </a:rPr>
                          <m:t>𝑐</m:t>
                        </m:r>
                      </m:sub>
                    </m:sSub>
                    <m:r>
                      <a:rPr lang="en-US">
                        <a:solidFill>
                          <a:schemeClr val="bg2"/>
                        </a:solidFill>
                        <a:latin typeface="Cambria Math" panose="02040503050406030204" pitchFamily="18" charset="0"/>
                      </a:rPr>
                      <m:t>=</m:t>
                    </m:r>
                    <m:r>
                      <m:rPr>
                        <m:sty m:val="p"/>
                      </m:rPr>
                      <a:rPr lang="en-US">
                        <a:solidFill>
                          <a:schemeClr val="bg2"/>
                        </a:solidFill>
                        <a:latin typeface="Cambria Math" panose="02040503050406030204" pitchFamily="18" charset="0"/>
                      </a:rPr>
                      <m:t>exp</m:t>
                    </m:r>
                    <m:d>
                      <m:dPr>
                        <m:ctrlPr>
                          <a:rPr lang="en-US">
                            <a:solidFill>
                              <a:schemeClr val="bg2"/>
                            </a:solidFill>
                            <a:latin typeface="Cambria Math" panose="02040503050406030204" pitchFamily="18" charset="0"/>
                          </a:rPr>
                        </m:ctrlPr>
                      </m:dPr>
                      <m:e>
                        <m:r>
                          <a:rPr lang="en-US">
                            <a:solidFill>
                              <a:schemeClr val="bg2"/>
                            </a:solidFill>
                            <a:latin typeface="Cambria Math" panose="02040503050406030204" pitchFamily="18" charset="0"/>
                          </a:rPr>
                          <m:t>−</m:t>
                        </m:r>
                        <m:f>
                          <m:fPr>
                            <m:ctrlPr>
                              <a:rPr lang="en-US" i="1">
                                <a:solidFill>
                                  <a:schemeClr val="bg2"/>
                                </a:solidFill>
                                <a:latin typeface="Cambria Math" panose="02040503050406030204" pitchFamily="18" charset="0"/>
                              </a:rPr>
                            </m:ctrlPr>
                          </m:fPr>
                          <m:num>
                            <m:sSub>
                              <m:sSubPr>
                                <m:ctrlPr>
                                  <a:rPr lang="en-US">
                                    <a:solidFill>
                                      <a:schemeClr val="bg2"/>
                                    </a:solidFill>
                                    <a:latin typeface="Cambria Math" panose="02040503050406030204" pitchFamily="18" charset="0"/>
                                  </a:rPr>
                                </m:ctrlPr>
                              </m:sSubPr>
                              <m:e>
                                <m:r>
                                  <m:rPr>
                                    <m:sty m:val="p"/>
                                  </m:rPr>
                                  <a:rPr lang="en-US">
                                    <a:solidFill>
                                      <a:schemeClr val="bg2"/>
                                    </a:solidFill>
                                    <a:latin typeface="Cambria Math" panose="02040503050406030204" pitchFamily="18" charset="0"/>
                                  </a:rPr>
                                  <m:t>msd</m:t>
                                </m:r>
                              </m:e>
                              <m:sub>
                                <m:r>
                                  <a:rPr lang="en-US" i="1">
                                    <a:solidFill>
                                      <a:schemeClr val="bg2"/>
                                    </a:solidFill>
                                    <a:latin typeface="Cambria Math" panose="02040503050406030204" pitchFamily="18" charset="0"/>
                                  </a:rPr>
                                  <m:t>𝑐</m:t>
                                </m:r>
                              </m:sub>
                            </m:sSub>
                          </m:num>
                          <m:den>
                            <m:r>
                              <a:rPr lang="en-US" i="1">
                                <a:solidFill>
                                  <a:schemeClr val="bg2"/>
                                </a:solidFill>
                                <a:latin typeface="Cambria Math" panose="02040503050406030204" pitchFamily="18" charset="0"/>
                              </a:rPr>
                              <m:t>2</m:t>
                            </m:r>
                            <m:sSup>
                              <m:sSupPr>
                                <m:ctrlPr>
                                  <a:rPr lang="en-US" i="1">
                                    <a:solidFill>
                                      <a:schemeClr val="bg2"/>
                                    </a:solidFill>
                                    <a:latin typeface="Cambria Math" panose="02040503050406030204" pitchFamily="18" charset="0"/>
                                  </a:rPr>
                                </m:ctrlPr>
                              </m:sSupPr>
                              <m:e>
                                <m:r>
                                  <a:rPr lang="en-US" i="1">
                                    <a:solidFill>
                                      <a:schemeClr val="bg2"/>
                                    </a:solidFill>
                                    <a:latin typeface="Cambria Math" panose="02040503050406030204" pitchFamily="18" charset="0"/>
                                  </a:rPr>
                                  <m:t>𝜎</m:t>
                                </m:r>
                              </m:e>
                              <m:sup>
                                <m:r>
                                  <a:rPr lang="en-US" i="1">
                                    <a:solidFill>
                                      <a:schemeClr val="bg2"/>
                                    </a:solidFill>
                                    <a:latin typeface="Cambria Math" panose="02040503050406030204" pitchFamily="18" charset="0"/>
                                  </a:rPr>
                                  <m:t>2</m:t>
                                </m:r>
                              </m:sup>
                            </m:sSup>
                          </m:den>
                        </m:f>
                      </m:e>
                    </m:d>
                  </m:oMath>
                </a14:m>
                <a:r>
                  <a:rPr lang="en-US" dirty="0">
                    <a:solidFill>
                      <a:schemeClr val="bg2"/>
                    </a:solidFill>
                  </a:rPr>
                  <a:t>				(3.28)</a:t>
                </a:r>
              </a:p>
              <a:p>
                <a:pPr hangingPunct="0"/>
                <a:endParaRPr lang="en-US" dirty="0">
                  <a:solidFill>
                    <a:schemeClr val="bg2"/>
                  </a:solidFill>
                </a:endParaRPr>
              </a:p>
              <a:p>
                <a:pPr hangingPunct="0"/>
                <a:r>
                  <a:rPr lang="en-US" dirty="0">
                    <a:solidFill>
                      <a:schemeClr val="bg2"/>
                    </a:solidFill>
                  </a:rPr>
                  <a:t>Each candidate contributes the conductivity-weighted increment </a:t>
                </a:r>
                <a14:m>
                  <m:oMath xmlns:m="http://schemas.openxmlformats.org/officeDocument/2006/math">
                    <m:r>
                      <a:rPr lang="en-US" i="1">
                        <a:solidFill>
                          <a:schemeClr val="bg2"/>
                        </a:solidFill>
                        <a:latin typeface="Cambria Math" panose="02040503050406030204" pitchFamily="18" charset="0"/>
                      </a:rPr>
                      <m:t>𝑖𝑛𝑐</m:t>
                    </m:r>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𝑐</m:t>
                    </m:r>
                    <m:r>
                      <a:rPr lang="en-US" i="1">
                        <a:solidFill>
                          <a:schemeClr val="bg2"/>
                        </a:solidFill>
                        <a:latin typeface="Cambria Math" panose="02040503050406030204" pitchFamily="18" charset="0"/>
                      </a:rPr>
                      <m:t>)</m:t>
                    </m:r>
                  </m:oMath>
                </a14:m>
                <a:r>
                  <a:rPr lang="en-US" dirty="0">
                    <a:solidFill>
                      <a:schemeClr val="bg2"/>
                    </a:solidFill>
                  </a:rPr>
                  <a:t> </a:t>
                </a:r>
              </a:p>
              <a:p>
                <a:pPr hangingPunct="0"/>
                <a:r>
                  <a:rPr lang="en-US" dirty="0">
                    <a:solidFill>
                      <a:schemeClr val="bg2"/>
                    </a:solidFill>
                  </a:rPr>
                  <a:t>The prediction is</a:t>
                </a:r>
              </a:p>
              <a:p>
                <a:pPr hangingPunct="0"/>
                <a:endParaRPr lang="en-US" dirty="0">
                  <a:solidFill>
                    <a:schemeClr val="bg2"/>
                  </a:solidFill>
                </a:endParaRPr>
              </a:p>
              <a:p>
                <a:pPr hangingPunct="0"/>
                <a:r>
                  <a:rPr lang="en-US" dirty="0">
                    <a:solidFill>
                      <a:schemeClr val="bg2"/>
                    </a:solidFill>
                  </a:rPr>
                  <a:t>	</a:t>
                </a:r>
                <a14:m>
                  <m:oMath xmlns:m="http://schemas.openxmlformats.org/officeDocument/2006/math">
                    <m:sSub>
                      <m:sSubPr>
                        <m:ctrlPr>
                          <a:rPr lang="en-US" i="1">
                            <a:solidFill>
                              <a:schemeClr val="bg2"/>
                            </a:solidFill>
                            <a:latin typeface="Cambria Math" panose="02040503050406030204" pitchFamily="18" charset="0"/>
                          </a:rPr>
                        </m:ctrlPr>
                      </m:sSubPr>
                      <m:e>
                        <m:acc>
                          <m:accPr>
                            <m:chr m:val="̂"/>
                            <m:ctrlPr>
                              <a:rPr lang="en-US" i="1">
                                <a:solidFill>
                                  <a:schemeClr val="bg2"/>
                                </a:solidFill>
                                <a:latin typeface="Cambria Math" panose="02040503050406030204" pitchFamily="18" charset="0"/>
                              </a:rPr>
                            </m:ctrlPr>
                          </m:accPr>
                          <m:e>
                            <m:r>
                              <a:rPr lang="en-US" i="1">
                                <a:solidFill>
                                  <a:schemeClr val="bg2"/>
                                </a:solidFill>
                                <a:latin typeface="Cambria Math" panose="02040503050406030204" pitchFamily="18" charset="0"/>
                              </a:rPr>
                              <m:t>𝑦</m:t>
                            </m:r>
                          </m:e>
                        </m:acc>
                      </m:e>
                      <m:sub>
                        <m:r>
                          <m:rPr>
                            <m:sty m:val="p"/>
                          </m:rPr>
                          <a:rPr lang="en-US">
                            <a:solidFill>
                              <a:schemeClr val="bg2"/>
                            </a:solidFill>
                            <a:latin typeface="Cambria Math" panose="02040503050406030204" pitchFamily="18" charset="0"/>
                          </a:rPr>
                          <m:t>follow</m:t>
                        </m:r>
                      </m:sub>
                    </m:sSub>
                    <m:d>
                      <m:dPr>
                        <m:ctrlPr>
                          <a:rPr lang="en-US" i="1">
                            <a:solidFill>
                              <a:schemeClr val="bg2"/>
                            </a:solidFill>
                            <a:latin typeface="Cambria Math" panose="02040503050406030204" pitchFamily="18" charset="0"/>
                          </a:rPr>
                        </m:ctrlPr>
                      </m:dPr>
                      <m:e>
                        <m:r>
                          <a:rPr lang="en-US" i="1">
                            <a:solidFill>
                              <a:schemeClr val="bg2"/>
                            </a:solidFill>
                            <a:latin typeface="Cambria Math" panose="02040503050406030204" pitchFamily="18" charset="0"/>
                          </a:rPr>
                          <m:t>𝑡</m:t>
                        </m:r>
                        <m:r>
                          <a:rPr lang="en-US">
                            <a:solidFill>
                              <a:schemeClr val="bg2"/>
                            </a:solidFill>
                            <a:latin typeface="Cambria Math" panose="02040503050406030204" pitchFamily="18" charset="0"/>
                          </a:rPr>
                          <m:t>+</m:t>
                        </m:r>
                        <m:r>
                          <a:rPr lang="en-US" i="1">
                            <a:solidFill>
                              <a:schemeClr val="bg2"/>
                            </a:solidFill>
                            <a:latin typeface="Cambria Math" panose="02040503050406030204" pitchFamily="18" charset="0"/>
                          </a:rPr>
                          <m:t>1</m:t>
                        </m:r>
                      </m:e>
                    </m:d>
                    <m:r>
                      <a:rPr lang="en-US">
                        <a:solidFill>
                          <a:schemeClr val="bg2"/>
                        </a:solidFill>
                        <a:latin typeface="Cambria Math" panose="02040503050406030204" pitchFamily="18" charset="0"/>
                      </a:rPr>
                      <m:t>=</m:t>
                    </m:r>
                    <m:acc>
                      <m:accPr>
                        <m:chr m:val="̂"/>
                        <m:ctrlPr>
                          <a:rPr lang="en-US" i="1">
                            <a:solidFill>
                              <a:schemeClr val="bg2"/>
                            </a:solidFill>
                            <a:latin typeface="Cambria Math" panose="02040503050406030204" pitchFamily="18" charset="0"/>
                          </a:rPr>
                        </m:ctrlPr>
                      </m:accPr>
                      <m:e>
                        <m:r>
                          <a:rPr lang="en-US" i="1">
                            <a:solidFill>
                              <a:schemeClr val="bg2"/>
                            </a:solidFill>
                            <a:latin typeface="Cambria Math" panose="02040503050406030204" pitchFamily="18" charset="0"/>
                          </a:rPr>
                          <m:t>𝑝</m:t>
                        </m:r>
                      </m:e>
                    </m:acc>
                    <m:d>
                      <m:dPr>
                        <m:ctrlPr>
                          <a:rPr lang="en-US" i="1">
                            <a:solidFill>
                              <a:schemeClr val="bg2"/>
                            </a:solidFill>
                            <a:latin typeface="Cambria Math" panose="02040503050406030204" pitchFamily="18" charset="0"/>
                          </a:rPr>
                        </m:ctrlPr>
                      </m:dPr>
                      <m:e>
                        <m:r>
                          <a:rPr lang="en-US" i="1">
                            <a:solidFill>
                              <a:schemeClr val="bg2"/>
                            </a:solidFill>
                            <a:latin typeface="Cambria Math" panose="02040503050406030204" pitchFamily="18" charset="0"/>
                          </a:rPr>
                          <m:t>𝑡</m:t>
                        </m:r>
                      </m:e>
                    </m:d>
                    <m:r>
                      <a:rPr lang="en-US">
                        <a:solidFill>
                          <a:schemeClr val="bg2"/>
                        </a:solidFill>
                        <a:latin typeface="Cambria Math" panose="02040503050406030204" pitchFamily="18" charset="0"/>
                      </a:rPr>
                      <m:t>+</m:t>
                    </m:r>
                    <m:f>
                      <m:fPr>
                        <m:ctrlPr>
                          <a:rPr lang="en-US" i="1">
                            <a:solidFill>
                              <a:schemeClr val="bg2"/>
                            </a:solidFill>
                            <a:latin typeface="Cambria Math" panose="02040503050406030204" pitchFamily="18" charset="0"/>
                          </a:rPr>
                        </m:ctrlPr>
                      </m:fPr>
                      <m:num>
                        <m:nary>
                          <m:naryPr>
                            <m:chr m:val="∑"/>
                            <m:limLoc m:val="undOvr"/>
                            <m:ctrlPr>
                              <a:rPr lang="en-US" i="1">
                                <a:solidFill>
                                  <a:schemeClr val="bg2"/>
                                </a:solidFill>
                                <a:latin typeface="Cambria Math" panose="02040503050406030204" pitchFamily="18" charset="0"/>
                              </a:rPr>
                            </m:ctrlPr>
                          </m:naryPr>
                          <m:sub>
                            <m:r>
                              <a:rPr lang="en-US" i="1">
                                <a:solidFill>
                                  <a:schemeClr val="bg2"/>
                                </a:solidFill>
                                <a:latin typeface="Cambria Math" panose="02040503050406030204" pitchFamily="18" charset="0"/>
                              </a:rPr>
                              <m:t>𝑐</m:t>
                            </m:r>
                          </m:sub>
                          <m:sup>
                            <m:r>
                              <a:rPr lang="en-US" i="1">
                                <a:solidFill>
                                  <a:schemeClr val="bg2"/>
                                </a:solidFill>
                                <a:latin typeface="Cambria Math" panose="02040503050406030204" pitchFamily="18" charset="0"/>
                              </a:rPr>
                              <m:t>​</m:t>
                            </m:r>
                          </m:sup>
                          <m:e>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𝑞</m:t>
                                </m:r>
                              </m:e>
                              <m:sub>
                                <m:r>
                                  <a:rPr lang="en-US" i="1">
                                    <a:solidFill>
                                      <a:schemeClr val="bg2"/>
                                    </a:solidFill>
                                    <a:latin typeface="Cambria Math" panose="02040503050406030204" pitchFamily="18" charset="0"/>
                                  </a:rPr>
                                  <m:t>𝑐</m:t>
                                </m:r>
                              </m:sub>
                            </m:sSub>
                          </m:e>
                        </m:nary>
                        <m:r>
                          <m:rPr>
                            <m:sty m:val="p"/>
                          </m:rPr>
                          <a:rPr lang="en-US">
                            <a:solidFill>
                              <a:schemeClr val="bg2"/>
                            </a:solidFill>
                            <a:latin typeface="Cambria Math" panose="02040503050406030204" pitchFamily="18" charset="0"/>
                          </a:rPr>
                          <m:t>inc</m:t>
                        </m:r>
                        <m:d>
                          <m:dPr>
                            <m:ctrlPr>
                              <a:rPr lang="en-US" i="1">
                                <a:solidFill>
                                  <a:schemeClr val="bg2"/>
                                </a:solidFill>
                                <a:latin typeface="Cambria Math" panose="02040503050406030204" pitchFamily="18" charset="0"/>
                              </a:rPr>
                            </m:ctrlPr>
                          </m:dPr>
                          <m:e>
                            <m:r>
                              <a:rPr lang="en-US" i="1">
                                <a:solidFill>
                                  <a:schemeClr val="bg2"/>
                                </a:solidFill>
                                <a:latin typeface="Cambria Math" panose="02040503050406030204" pitchFamily="18" charset="0"/>
                              </a:rPr>
                              <m:t>𝑐</m:t>
                            </m:r>
                          </m:e>
                        </m:d>
                      </m:num>
                      <m:den>
                        <m:nary>
                          <m:naryPr>
                            <m:chr m:val="∑"/>
                            <m:limLoc m:val="undOvr"/>
                            <m:ctrlPr>
                              <a:rPr lang="en-US" i="1">
                                <a:solidFill>
                                  <a:schemeClr val="bg2"/>
                                </a:solidFill>
                                <a:latin typeface="Cambria Math" panose="02040503050406030204" pitchFamily="18" charset="0"/>
                              </a:rPr>
                            </m:ctrlPr>
                          </m:naryPr>
                          <m:sub>
                            <m:r>
                              <a:rPr lang="en-US" i="1">
                                <a:solidFill>
                                  <a:schemeClr val="bg2"/>
                                </a:solidFill>
                                <a:latin typeface="Cambria Math" panose="02040503050406030204" pitchFamily="18" charset="0"/>
                              </a:rPr>
                              <m:t>𝑐</m:t>
                            </m:r>
                          </m:sub>
                          <m:sup>
                            <m:r>
                              <a:rPr lang="en-US" i="1">
                                <a:solidFill>
                                  <a:schemeClr val="bg2"/>
                                </a:solidFill>
                                <a:latin typeface="Cambria Math" panose="02040503050406030204" pitchFamily="18" charset="0"/>
                              </a:rPr>
                              <m:t>​</m:t>
                            </m:r>
                          </m:sup>
                          <m:e>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𝑞</m:t>
                                </m:r>
                              </m:e>
                              <m:sub>
                                <m:r>
                                  <a:rPr lang="en-US" i="1">
                                    <a:solidFill>
                                      <a:schemeClr val="bg2"/>
                                    </a:solidFill>
                                    <a:latin typeface="Cambria Math" panose="02040503050406030204" pitchFamily="18" charset="0"/>
                                  </a:rPr>
                                  <m:t>𝑐</m:t>
                                </m:r>
                              </m:sub>
                            </m:sSub>
                          </m:e>
                        </m:nary>
                      </m:den>
                    </m:f>
                  </m:oMath>
                </a14:m>
                <a:r>
                  <a:rPr lang="en-US" dirty="0">
                    <a:solidFill>
                      <a:schemeClr val="bg2"/>
                    </a:solidFill>
                  </a:rPr>
                  <a:t>		(3.29)</a:t>
                </a:r>
              </a:p>
              <a:p>
                <a:endParaRPr lang="en-US" dirty="0">
                  <a:solidFill>
                    <a:schemeClr val="bg2"/>
                  </a:solidFill>
                </a:endParaRPr>
              </a:p>
              <a:p>
                <a:r>
                  <a:rPr lang="en-US" dirty="0">
                    <a:solidFill>
                      <a:schemeClr val="bg2"/>
                    </a:solidFill>
                  </a:rPr>
                  <a:t>Alignment selects the stored state that best matches the recent trajectory; conductivity weights its outgoing transitions. </a:t>
                </a:r>
                <a:endParaRPr lang="en-US" sz="1507" spc="21" dirty="0">
                  <a:solidFill>
                    <a:schemeClr val="bg2"/>
                  </a:solidFill>
                  <a:latin typeface="Amicale Light"/>
                  <a:ea typeface="Amicale Light"/>
                  <a:cs typeface="Amicale Light"/>
                  <a:sym typeface="Amicale Light"/>
                </a:endParaRPr>
              </a:p>
            </p:txBody>
          </p:sp>
        </mc:Choice>
        <mc:Fallback xmlns="">
          <p:sp>
            <p:nvSpPr>
              <p:cNvPr id="8" name="TextBox 8">
                <a:extLst>
                  <a:ext uri="{FF2B5EF4-FFF2-40B4-BE49-F238E27FC236}">
                    <a16:creationId xmlns:a16="http://schemas.microsoft.com/office/drawing/2014/main" id="{448804EB-5477-D767-B165-F7BF8992C0FB}"/>
                  </a:ext>
                </a:extLst>
              </p:cNvPr>
              <p:cNvSpPr txBox="1">
                <a:spLocks noRot="1" noChangeAspect="1" noMove="1" noResize="1" noEditPoints="1" noAdjustHandles="1" noChangeArrowheads="1" noChangeShapeType="1" noTextEdit="1"/>
              </p:cNvSpPr>
              <p:nvPr/>
            </p:nvSpPr>
            <p:spPr>
              <a:xfrm>
                <a:off x="1074705" y="4097342"/>
                <a:ext cx="7656574" cy="3636958"/>
              </a:xfrm>
              <a:prstGeom prst="rect">
                <a:avLst/>
              </a:prstGeom>
              <a:blipFill>
                <a:blip r:embed="rId3"/>
                <a:stretch>
                  <a:fillRect l="-1831" t="-2178" b="-2848"/>
                </a:stretch>
              </a:blipFill>
            </p:spPr>
            <p:txBody>
              <a:bodyPr/>
              <a:lstStyle/>
              <a:p>
                <a:r>
                  <a:rPr lang="en-US">
                    <a:noFill/>
                  </a:rPr>
                  <a:t> </a:t>
                </a:r>
              </a:p>
            </p:txBody>
          </p:sp>
        </mc:Fallback>
      </mc:AlternateContent>
      <p:sp>
        <p:nvSpPr>
          <p:cNvPr id="12" name="TextBox 12">
            <a:extLst>
              <a:ext uri="{FF2B5EF4-FFF2-40B4-BE49-F238E27FC236}">
                <a16:creationId xmlns:a16="http://schemas.microsoft.com/office/drawing/2014/main" id="{D88A988B-012A-10A4-F900-0562FD35890D}"/>
              </a:ext>
            </a:extLst>
          </p:cNvPr>
          <p:cNvSpPr txBox="1"/>
          <p:nvPr/>
        </p:nvSpPr>
        <p:spPr>
          <a:xfrm>
            <a:off x="1067778" y="3463706"/>
            <a:ext cx="6559309" cy="413703"/>
          </a:xfrm>
          <a:prstGeom prst="rect">
            <a:avLst/>
          </a:prstGeom>
        </p:spPr>
        <p:txBody>
          <a:bodyPr lIns="0" tIns="0" rIns="0" bIns="0" rtlCol="0" anchor="t">
            <a:spAutoFit/>
          </a:bodyPr>
          <a:lstStyle/>
          <a:p>
            <a:pPr algn="l">
              <a:lnSpc>
                <a:spcPts val="3435"/>
              </a:lnSpc>
            </a:pPr>
            <a:r>
              <a:rPr lang="en-US" sz="2664" b="1" spc="26" dirty="0">
                <a:solidFill>
                  <a:srgbClr val="B7EE4A"/>
                </a:solidFill>
                <a:latin typeface="IBM Plex Sans Bold"/>
                <a:ea typeface="IBM Plex Sans Bold"/>
                <a:cs typeface="IBM Plex Sans Bold"/>
                <a:sym typeface="IBM Plex Sans Bold"/>
              </a:rPr>
              <a:t>Follow Track (Base Graph)</a:t>
            </a:r>
          </a:p>
        </p:txBody>
      </p:sp>
      <p:sp>
        <p:nvSpPr>
          <p:cNvPr id="13" name="TextBox 13">
            <a:extLst>
              <a:ext uri="{FF2B5EF4-FFF2-40B4-BE49-F238E27FC236}">
                <a16:creationId xmlns:a16="http://schemas.microsoft.com/office/drawing/2014/main" id="{5D4C19B3-7733-DEA1-94EF-2641E1768CD8}"/>
              </a:ext>
            </a:extLst>
          </p:cNvPr>
          <p:cNvSpPr txBox="1"/>
          <p:nvPr/>
        </p:nvSpPr>
        <p:spPr>
          <a:xfrm>
            <a:off x="9677400" y="3422466"/>
            <a:ext cx="6204158" cy="413703"/>
          </a:xfrm>
          <a:prstGeom prst="rect">
            <a:avLst/>
          </a:prstGeom>
        </p:spPr>
        <p:txBody>
          <a:bodyPr wrap="square" lIns="0" tIns="0" rIns="0" bIns="0" rtlCol="0" anchor="t">
            <a:spAutoFit/>
          </a:bodyPr>
          <a:lstStyle/>
          <a:p>
            <a:pPr algn="l">
              <a:lnSpc>
                <a:spcPts val="3435"/>
              </a:lnSpc>
            </a:pPr>
            <a:r>
              <a:rPr lang="en-US" sz="2664" b="1" spc="26" dirty="0">
                <a:solidFill>
                  <a:srgbClr val="B7EE4A"/>
                </a:solidFill>
                <a:latin typeface="IBM Plex Sans Bold"/>
                <a:ea typeface="IBM Plex Sans Bold"/>
                <a:cs typeface="IBM Plex Sans Bold"/>
                <a:sym typeface="IBM Plex Sans Bold"/>
              </a:rPr>
              <a:t>Forecast Track (Meta Graph)</a:t>
            </a:r>
          </a:p>
        </p:txBody>
      </p:sp>
      <p:grpSp>
        <p:nvGrpSpPr>
          <p:cNvPr id="16" name="Group 16">
            <a:extLst>
              <a:ext uri="{FF2B5EF4-FFF2-40B4-BE49-F238E27FC236}">
                <a16:creationId xmlns:a16="http://schemas.microsoft.com/office/drawing/2014/main" id="{8BD255FE-6A00-408C-B9E5-45EB3E992E40}"/>
              </a:ext>
            </a:extLst>
          </p:cNvPr>
          <p:cNvGrpSpPr/>
          <p:nvPr/>
        </p:nvGrpSpPr>
        <p:grpSpPr>
          <a:xfrm>
            <a:off x="0" y="8244826"/>
            <a:ext cx="2737757" cy="2737757"/>
            <a:chOff x="0" y="0"/>
            <a:chExt cx="3650343" cy="3650343"/>
          </a:xfrm>
        </p:grpSpPr>
        <p:sp>
          <p:nvSpPr>
            <p:cNvPr id="17" name="Freeform 17">
              <a:extLst>
                <a:ext uri="{FF2B5EF4-FFF2-40B4-BE49-F238E27FC236}">
                  <a16:creationId xmlns:a16="http://schemas.microsoft.com/office/drawing/2014/main" id="{4BC53A07-D9DE-8E3D-47A8-82E775116EE6}"/>
                </a:ext>
              </a:extLst>
            </p:cNvPr>
            <p:cNvSpPr/>
            <p:nvPr/>
          </p:nvSpPr>
          <p:spPr>
            <a:xfrm>
              <a:off x="0" y="0"/>
              <a:ext cx="3650343" cy="3650343"/>
            </a:xfrm>
            <a:custGeom>
              <a:avLst/>
              <a:gdLst/>
              <a:ahLst/>
              <a:cxnLst/>
              <a:rect l="l" t="t" r="r" b="b"/>
              <a:pathLst>
                <a:path w="3650343" h="3650343">
                  <a:moveTo>
                    <a:pt x="0" y="0"/>
                  </a:moveTo>
                  <a:lnTo>
                    <a:pt x="3650343" y="0"/>
                  </a:lnTo>
                  <a:lnTo>
                    <a:pt x="3650343" y="3650343"/>
                  </a:lnTo>
                  <a:lnTo>
                    <a:pt x="0" y="3650343"/>
                  </a:lnTo>
                  <a:lnTo>
                    <a:pt x="0" y="0"/>
                  </a:lnTo>
                  <a:close/>
                </a:path>
              </a:pathLst>
            </a:custGeom>
            <a:blipFill>
              <a:blip>
                <a:alphaModFix amt="41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8" name="Freeform 18">
              <a:extLst>
                <a:ext uri="{FF2B5EF4-FFF2-40B4-BE49-F238E27FC236}">
                  <a16:creationId xmlns:a16="http://schemas.microsoft.com/office/drawing/2014/main" id="{1C5C3F6C-1E60-02BD-F534-D848ABD8FB4E}"/>
                </a:ext>
              </a:extLst>
            </p:cNvPr>
            <p:cNvSpPr/>
            <p:nvPr/>
          </p:nvSpPr>
          <p:spPr>
            <a:xfrm>
              <a:off x="257215" y="827328"/>
              <a:ext cx="2779958" cy="1629020"/>
            </a:xfrm>
            <a:custGeom>
              <a:avLst/>
              <a:gdLst/>
              <a:ahLst/>
              <a:cxnLst/>
              <a:rect l="l" t="t" r="r" b="b"/>
              <a:pathLst>
                <a:path w="2779958" h="1629020">
                  <a:moveTo>
                    <a:pt x="0" y="0"/>
                  </a:moveTo>
                  <a:lnTo>
                    <a:pt x="2779958" y="0"/>
                  </a:lnTo>
                  <a:lnTo>
                    <a:pt x="2779958" y="1629020"/>
                  </a:lnTo>
                  <a:lnTo>
                    <a:pt x="0" y="1629020"/>
                  </a:lnTo>
                  <a:lnTo>
                    <a:pt x="0" y="0"/>
                  </a:lnTo>
                  <a:close/>
                </a:path>
              </a:pathLst>
            </a:custGeom>
            <a:blipFill>
              <a:blip r:embed="rId5"/>
              <a:stretch>
                <a:fillRect/>
              </a:stretch>
            </a:blipFill>
          </p:spPr>
          <p:txBody>
            <a:bodyPr/>
            <a:lstStyle/>
            <a:p>
              <a:endParaRPr lang="en-US"/>
            </a:p>
          </p:txBody>
        </p:sp>
      </p:grpSp>
      <mc:AlternateContent xmlns:mc="http://schemas.openxmlformats.org/markup-compatibility/2006" xmlns:a14="http://schemas.microsoft.com/office/drawing/2010/main">
        <mc:Choice Requires="a14">
          <p:sp>
            <p:nvSpPr>
              <p:cNvPr id="21" name="TextBox 8">
                <a:extLst>
                  <a:ext uri="{FF2B5EF4-FFF2-40B4-BE49-F238E27FC236}">
                    <a16:creationId xmlns:a16="http://schemas.microsoft.com/office/drawing/2014/main" id="{996A4A01-5446-FB85-9FC4-792A113DA6FA}"/>
                  </a:ext>
                </a:extLst>
              </p:cNvPr>
              <p:cNvSpPr txBox="1"/>
              <p:nvPr/>
            </p:nvSpPr>
            <p:spPr>
              <a:xfrm>
                <a:off x="9755124" y="4021998"/>
                <a:ext cx="7656575" cy="3674724"/>
              </a:xfrm>
              <a:prstGeom prst="rect">
                <a:avLst/>
              </a:prstGeom>
            </p:spPr>
            <p:txBody>
              <a:bodyPr wrap="square" lIns="0" tIns="0" rIns="0" bIns="0" rtlCol="0" anchor="t">
                <a:spAutoFit/>
              </a:bodyPr>
              <a:lstStyle/>
              <a:p>
                <a:pPr hangingPunct="0"/>
                <a:r>
                  <a:rPr lang="en-US" dirty="0">
                    <a:solidFill>
                      <a:schemeClr val="bg2"/>
                    </a:solidFill>
                  </a:rPr>
                  <a:t>Forecast track applies a real FFT to the latest </a:t>
                </a:r>
                <a14:m>
                  <m:oMath xmlns:m="http://schemas.openxmlformats.org/officeDocument/2006/math">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𝑝</m:t>
                        </m:r>
                      </m:e>
                      <m:sub>
                        <m:r>
                          <a:rPr lang="en-US" i="1">
                            <a:solidFill>
                              <a:schemeClr val="bg2"/>
                            </a:solidFill>
                            <a:latin typeface="Cambria Math" panose="02040503050406030204" pitchFamily="18" charset="0"/>
                          </a:rPr>
                          <m:t>𝑚𝑒𝑎𝑠</m:t>
                        </m:r>
                      </m:sub>
                    </m:sSub>
                  </m:oMath>
                </a14:m>
                <a:r>
                  <a:rPr lang="en-US" dirty="0">
                    <a:solidFill>
                      <a:schemeClr val="bg2"/>
                    </a:solidFill>
                  </a:rPr>
                  <a:t> raw samples and retains selected low-frequency bins. The coefficients describe waveform shape, while </a:t>
                </a:r>
                <a14:m>
                  <m:oMath xmlns:m="http://schemas.openxmlformats.org/officeDocument/2006/math">
                    <m:acc>
                      <m:accPr>
                        <m:chr m:val="̂"/>
                        <m:ctrlPr>
                          <a:rPr lang="en-US" i="1">
                            <a:solidFill>
                              <a:schemeClr val="bg2"/>
                            </a:solidFill>
                            <a:latin typeface="Cambria Math" panose="02040503050406030204" pitchFamily="18" charset="0"/>
                          </a:rPr>
                        </m:ctrlPr>
                      </m:accPr>
                      <m:e>
                        <m:r>
                          <a:rPr lang="en-US" i="1">
                            <a:solidFill>
                              <a:schemeClr val="bg2"/>
                            </a:solidFill>
                            <a:latin typeface="Cambria Math" panose="02040503050406030204" pitchFamily="18" charset="0"/>
                          </a:rPr>
                          <m:t>𝑃</m:t>
                        </m:r>
                      </m:e>
                    </m:acc>
                  </m:oMath>
                </a14:m>
                <a:r>
                  <a:rPr lang="en-US" dirty="0">
                    <a:solidFill>
                      <a:schemeClr val="bg2"/>
                    </a:solidFill>
                  </a:rPr>
                  <a:t> controls harmonic phase advance. For harmonic </a:t>
                </a:r>
                <a14:m>
                  <m:oMath xmlns:m="http://schemas.openxmlformats.org/officeDocument/2006/math">
                    <m:r>
                      <a:rPr lang="en-US" i="1">
                        <a:solidFill>
                          <a:schemeClr val="bg2"/>
                        </a:solidFill>
                        <a:latin typeface="Cambria Math" panose="02040503050406030204" pitchFamily="18" charset="0"/>
                      </a:rPr>
                      <m:t>𝑘</m:t>
                    </m:r>
                  </m:oMath>
                </a14:m>
                <a:r>
                  <a:rPr lang="en-US" dirty="0">
                    <a:solidFill>
                      <a:schemeClr val="bg2"/>
                    </a:solidFill>
                  </a:rPr>
                  <a:t>,</a:t>
                </a:r>
              </a:p>
              <a:p>
                <a:pPr hangingPunct="0"/>
                <a:endParaRPr lang="en-US" dirty="0">
                  <a:solidFill>
                    <a:schemeClr val="bg2"/>
                  </a:solidFill>
                </a:endParaRPr>
              </a:p>
              <a:p>
                <a:pPr hangingPunct="0"/>
                <a:r>
                  <a:rPr lang="en-US" dirty="0">
                    <a:solidFill>
                      <a:schemeClr val="bg2"/>
                    </a:solidFill>
                  </a:rPr>
                  <a:t>	</a:t>
                </a:r>
                <a14:m>
                  <m:oMath xmlns:m="http://schemas.openxmlformats.org/officeDocument/2006/math">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𝑎𝑛𝑔𝑙𝑒</m:t>
                        </m:r>
                      </m:e>
                      <m:sub>
                        <m:r>
                          <a:rPr lang="en-US" i="1">
                            <a:solidFill>
                              <a:schemeClr val="bg2"/>
                            </a:solidFill>
                            <a:latin typeface="Cambria Math" panose="02040503050406030204" pitchFamily="18" charset="0"/>
                          </a:rPr>
                          <m:t>𝑘</m:t>
                        </m:r>
                      </m:sub>
                    </m:sSub>
                    <m:r>
                      <a:rPr lang="en-US" i="1">
                        <a:solidFill>
                          <a:schemeClr val="bg2"/>
                        </a:solidFill>
                        <a:latin typeface="Cambria Math" panose="02040503050406030204" pitchFamily="18" charset="0"/>
                      </a:rPr>
                      <m:t>=2</m:t>
                    </m:r>
                    <m:r>
                      <a:rPr lang="en-US" i="1">
                        <a:solidFill>
                          <a:schemeClr val="bg2"/>
                        </a:solidFill>
                        <a:latin typeface="Cambria Math" panose="02040503050406030204" pitchFamily="18" charset="0"/>
                      </a:rPr>
                      <m:t>𝜋</m:t>
                    </m:r>
                    <m:r>
                      <a:rPr lang="en-US" i="1">
                        <a:solidFill>
                          <a:schemeClr val="bg2"/>
                        </a:solidFill>
                        <a:latin typeface="Cambria Math" panose="02040503050406030204" pitchFamily="18" charset="0"/>
                      </a:rPr>
                      <m:t>𝑘</m:t>
                    </m:r>
                    <m:d>
                      <m:dPr>
                        <m:ctrlPr>
                          <a:rPr lang="en-US" i="1">
                            <a:solidFill>
                              <a:schemeClr val="bg2"/>
                            </a:solidFill>
                            <a:latin typeface="Cambria Math" panose="02040503050406030204" pitchFamily="18" charset="0"/>
                          </a:rPr>
                        </m:ctrlPr>
                      </m:dPr>
                      <m:e>
                        <m:f>
                          <m:fPr>
                            <m:ctrlPr>
                              <a:rPr lang="en-US" i="1">
                                <a:solidFill>
                                  <a:schemeClr val="bg2"/>
                                </a:solidFill>
                                <a:latin typeface="Cambria Math" panose="02040503050406030204" pitchFamily="18" charset="0"/>
                              </a:rPr>
                            </m:ctrlPr>
                          </m:fPr>
                          <m:num>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𝑝</m:t>
                                </m:r>
                              </m:e>
                              <m:sub>
                                <m:r>
                                  <a:rPr lang="en-US" i="1">
                                    <a:solidFill>
                                      <a:schemeClr val="bg2"/>
                                    </a:solidFill>
                                    <a:latin typeface="Cambria Math" panose="02040503050406030204" pitchFamily="18" charset="0"/>
                                  </a:rPr>
                                  <m:t>𝑚𝑒𝑎𝑠</m:t>
                                </m:r>
                              </m:sub>
                            </m:sSub>
                            <m:r>
                              <a:rPr lang="en-US" i="1">
                                <a:solidFill>
                                  <a:schemeClr val="bg2"/>
                                </a:solidFill>
                                <a:latin typeface="Cambria Math" panose="02040503050406030204" pitchFamily="18" charset="0"/>
                              </a:rPr>
                              <m:t>−1</m:t>
                            </m:r>
                          </m:num>
                          <m:den>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𝑝</m:t>
                                </m:r>
                              </m:e>
                              <m:sub>
                                <m:r>
                                  <a:rPr lang="en-US" i="1">
                                    <a:solidFill>
                                      <a:schemeClr val="bg2"/>
                                    </a:solidFill>
                                    <a:latin typeface="Cambria Math" panose="02040503050406030204" pitchFamily="18" charset="0"/>
                                  </a:rPr>
                                  <m:t>𝑚𝑒𝑎𝑠</m:t>
                                </m:r>
                              </m:sub>
                            </m:sSub>
                          </m:den>
                        </m:f>
                        <m:r>
                          <a:rPr lang="en-US" i="1">
                            <a:solidFill>
                              <a:schemeClr val="bg2"/>
                            </a:solidFill>
                            <a:latin typeface="Cambria Math" panose="02040503050406030204" pitchFamily="18" charset="0"/>
                          </a:rPr>
                          <m:t>+</m:t>
                        </m:r>
                        <m:f>
                          <m:fPr>
                            <m:ctrlPr>
                              <a:rPr lang="en-US" i="1">
                                <a:solidFill>
                                  <a:schemeClr val="bg2"/>
                                </a:solidFill>
                                <a:latin typeface="Cambria Math" panose="02040503050406030204" pitchFamily="18" charset="0"/>
                              </a:rPr>
                            </m:ctrlPr>
                          </m:fPr>
                          <m:num>
                            <m:r>
                              <a:rPr lang="en-US" i="1">
                                <a:solidFill>
                                  <a:schemeClr val="bg2"/>
                                </a:solidFill>
                                <a:latin typeface="Cambria Math" panose="02040503050406030204" pitchFamily="18" charset="0"/>
                              </a:rPr>
                              <m:t>1</m:t>
                            </m:r>
                          </m:num>
                          <m:den>
                            <m:acc>
                              <m:accPr>
                                <m:chr m:val="̂"/>
                                <m:ctrlPr>
                                  <a:rPr lang="en-US" i="1">
                                    <a:solidFill>
                                      <a:schemeClr val="bg2"/>
                                    </a:solidFill>
                                    <a:latin typeface="Cambria Math" panose="02040503050406030204" pitchFamily="18" charset="0"/>
                                  </a:rPr>
                                </m:ctrlPr>
                              </m:accPr>
                              <m:e>
                                <m:r>
                                  <a:rPr lang="en-US" i="1">
                                    <a:solidFill>
                                      <a:schemeClr val="bg2"/>
                                    </a:solidFill>
                                    <a:latin typeface="Cambria Math" panose="02040503050406030204" pitchFamily="18" charset="0"/>
                                  </a:rPr>
                                  <m:t>𝑃</m:t>
                                </m:r>
                              </m:e>
                            </m:acc>
                          </m:den>
                        </m:f>
                      </m:e>
                    </m:d>
                  </m:oMath>
                </a14:m>
                <a:r>
                  <a:rPr lang="en-US" dirty="0">
                    <a:solidFill>
                      <a:schemeClr val="bg2"/>
                    </a:solidFill>
                  </a:rPr>
                  <a:t>			(3.30)</a:t>
                </a:r>
              </a:p>
              <a:p>
                <a:pPr hangingPunct="0"/>
                <a:endParaRPr lang="en-US" dirty="0">
                  <a:solidFill>
                    <a:schemeClr val="bg2"/>
                  </a:solidFill>
                </a:endParaRPr>
              </a:p>
              <a:p>
                <a:pPr hangingPunct="0"/>
                <a:r>
                  <a:rPr lang="en-US" dirty="0">
                    <a:solidFill>
                      <a:schemeClr val="bg2"/>
                    </a:solidFill>
                  </a:rPr>
                  <a:t>The next value is reconstructed by</a:t>
                </a:r>
              </a:p>
              <a:p>
                <a:pPr hangingPunct="0"/>
                <a:endParaRPr lang="en-US" dirty="0">
                  <a:solidFill>
                    <a:schemeClr val="bg2"/>
                  </a:solidFill>
                </a:endParaRPr>
              </a:p>
              <a:p>
                <a:pPr hangingPunct="0"/>
                <a:r>
                  <a:rPr lang="en-US" dirty="0">
                    <a:solidFill>
                      <a:schemeClr val="bg2"/>
                    </a:solidFill>
                  </a:rPr>
                  <a:t>	</a:t>
                </a:r>
                <a14:m>
                  <m:oMath xmlns:m="http://schemas.openxmlformats.org/officeDocument/2006/math">
                    <m:sSub>
                      <m:sSubPr>
                        <m:ctrlPr>
                          <a:rPr lang="en-US" i="1">
                            <a:solidFill>
                              <a:schemeClr val="bg2"/>
                            </a:solidFill>
                            <a:latin typeface="Cambria Math" panose="02040503050406030204" pitchFamily="18" charset="0"/>
                          </a:rPr>
                        </m:ctrlPr>
                      </m:sSubPr>
                      <m:e>
                        <m:acc>
                          <m:accPr>
                            <m:chr m:val="̂"/>
                            <m:ctrlPr>
                              <a:rPr lang="en-US" i="1">
                                <a:solidFill>
                                  <a:schemeClr val="bg2"/>
                                </a:solidFill>
                                <a:latin typeface="Cambria Math" panose="02040503050406030204" pitchFamily="18" charset="0"/>
                              </a:rPr>
                            </m:ctrlPr>
                          </m:accPr>
                          <m:e>
                            <m:r>
                              <a:rPr lang="en-US" i="1">
                                <a:solidFill>
                                  <a:schemeClr val="bg2"/>
                                </a:solidFill>
                                <a:latin typeface="Cambria Math" panose="02040503050406030204" pitchFamily="18" charset="0"/>
                              </a:rPr>
                              <m:t>𝑦</m:t>
                            </m:r>
                          </m:e>
                        </m:acc>
                      </m:e>
                      <m:sub>
                        <m:r>
                          <m:rPr>
                            <m:sty m:val="p"/>
                          </m:rPr>
                          <a:rPr lang="en-US">
                            <a:solidFill>
                              <a:schemeClr val="bg2"/>
                            </a:solidFill>
                            <a:latin typeface="Cambria Math" panose="02040503050406030204" pitchFamily="18" charset="0"/>
                          </a:rPr>
                          <m:t>forecast</m:t>
                        </m:r>
                      </m:sub>
                    </m:sSub>
                    <m:d>
                      <m:dPr>
                        <m:ctrlPr>
                          <a:rPr lang="en-US" i="1">
                            <a:solidFill>
                              <a:schemeClr val="bg2"/>
                            </a:solidFill>
                            <a:latin typeface="Cambria Math" panose="02040503050406030204" pitchFamily="18" charset="0"/>
                          </a:rPr>
                        </m:ctrlPr>
                      </m:dPr>
                      <m:e>
                        <m:r>
                          <a:rPr lang="en-US" i="1">
                            <a:solidFill>
                              <a:schemeClr val="bg2"/>
                            </a:solidFill>
                            <a:latin typeface="Cambria Math" panose="02040503050406030204" pitchFamily="18" charset="0"/>
                          </a:rPr>
                          <m:t>𝑡</m:t>
                        </m:r>
                        <m:r>
                          <a:rPr lang="en-US">
                            <a:solidFill>
                              <a:schemeClr val="bg2"/>
                            </a:solidFill>
                            <a:latin typeface="Cambria Math" panose="02040503050406030204" pitchFamily="18" charset="0"/>
                          </a:rPr>
                          <m:t>+</m:t>
                        </m:r>
                        <m:r>
                          <a:rPr lang="en-US" i="1">
                            <a:solidFill>
                              <a:schemeClr val="bg2"/>
                            </a:solidFill>
                            <a:latin typeface="Cambria Math" panose="02040503050406030204" pitchFamily="18" charset="0"/>
                          </a:rPr>
                          <m:t>1</m:t>
                        </m:r>
                      </m:e>
                    </m:d>
                    <m:r>
                      <a:rPr lang="en-US">
                        <a:solidFill>
                          <a:schemeClr val="bg2"/>
                        </a:solidFill>
                        <a:latin typeface="Cambria Math" panose="02040503050406030204" pitchFamily="18" charset="0"/>
                      </a:rPr>
                      <m:t>=</m:t>
                    </m:r>
                    <m:f>
                      <m:fPr>
                        <m:ctrlPr>
                          <a:rPr lang="en-US" i="1">
                            <a:solidFill>
                              <a:schemeClr val="bg2"/>
                            </a:solidFill>
                            <a:latin typeface="Cambria Math" panose="02040503050406030204" pitchFamily="18" charset="0"/>
                          </a:rPr>
                        </m:ctrlPr>
                      </m:fPr>
                      <m:num>
                        <m:sSub>
                          <m:sSubPr>
                            <m:ctrlPr>
                              <a:rPr lang="en-US">
                                <a:solidFill>
                                  <a:schemeClr val="bg2"/>
                                </a:solidFill>
                                <a:latin typeface="Cambria Math" panose="02040503050406030204" pitchFamily="18" charset="0"/>
                              </a:rPr>
                            </m:ctrlPr>
                          </m:sSubPr>
                          <m:e>
                            <m:r>
                              <m:rPr>
                                <m:sty m:val="p"/>
                              </m:rPr>
                              <a:rPr lang="en-US">
                                <a:solidFill>
                                  <a:schemeClr val="bg2"/>
                                </a:solidFill>
                                <a:latin typeface="Cambria Math" panose="02040503050406030204" pitchFamily="18" charset="0"/>
                              </a:rPr>
                              <m:t>full</m:t>
                            </m:r>
                          </m:e>
                          <m:sub>
                            <m:r>
                              <a:rPr lang="en-US" i="1">
                                <a:solidFill>
                                  <a:schemeClr val="bg2"/>
                                </a:solidFill>
                                <a:latin typeface="Cambria Math" panose="02040503050406030204" pitchFamily="18" charset="0"/>
                              </a:rPr>
                              <m:t>0</m:t>
                            </m:r>
                          </m:sub>
                        </m:sSub>
                        <m:r>
                          <a:rPr lang="en-US">
                            <a:solidFill>
                              <a:schemeClr val="bg2"/>
                            </a:solidFill>
                            <a:latin typeface="Cambria Math" panose="02040503050406030204" pitchFamily="18" charset="0"/>
                          </a:rPr>
                          <m:t>+</m:t>
                        </m:r>
                        <m:r>
                          <a:rPr lang="en-US" i="1">
                            <a:solidFill>
                              <a:schemeClr val="bg2"/>
                            </a:solidFill>
                            <a:latin typeface="Cambria Math" panose="02040503050406030204" pitchFamily="18" charset="0"/>
                          </a:rPr>
                          <m:t>2</m:t>
                        </m:r>
                        <m:nary>
                          <m:naryPr>
                            <m:chr m:val="∑"/>
                            <m:limLoc m:val="undOvr"/>
                            <m:ctrlPr>
                              <a:rPr lang="en-US" i="1">
                                <a:solidFill>
                                  <a:schemeClr val="bg2"/>
                                </a:solidFill>
                                <a:latin typeface="Cambria Math" panose="02040503050406030204" pitchFamily="18" charset="0"/>
                              </a:rPr>
                            </m:ctrlPr>
                          </m:naryPr>
                          <m:sub>
                            <m:r>
                              <a:rPr lang="en-US" i="1">
                                <a:solidFill>
                                  <a:schemeClr val="bg2"/>
                                </a:solidFill>
                                <a:latin typeface="Cambria Math" panose="02040503050406030204" pitchFamily="18" charset="0"/>
                              </a:rPr>
                              <m:t>𝑘</m:t>
                            </m:r>
                            <m:r>
                              <a:rPr lang="en-US">
                                <a:solidFill>
                                  <a:schemeClr val="bg2"/>
                                </a:solidFill>
                                <a:latin typeface="Cambria Math" panose="02040503050406030204" pitchFamily="18" charset="0"/>
                              </a:rPr>
                              <m:t>≥</m:t>
                            </m:r>
                            <m:r>
                              <a:rPr lang="en-US" i="1">
                                <a:solidFill>
                                  <a:schemeClr val="bg2"/>
                                </a:solidFill>
                                <a:latin typeface="Cambria Math" panose="02040503050406030204" pitchFamily="18" charset="0"/>
                              </a:rPr>
                              <m:t>1</m:t>
                            </m:r>
                          </m:sub>
                          <m:sup>
                            <m:r>
                              <a:rPr lang="en-US" i="1">
                                <a:solidFill>
                                  <a:schemeClr val="bg2"/>
                                </a:solidFill>
                                <a:latin typeface="Cambria Math" panose="02040503050406030204" pitchFamily="18" charset="0"/>
                              </a:rPr>
                              <m:t>​</m:t>
                            </m:r>
                          </m:sup>
                          <m:e>
                            <m:sSub>
                              <m:sSubPr>
                                <m:ctrlPr>
                                  <a:rPr lang="en-US">
                                    <a:solidFill>
                                      <a:schemeClr val="bg2"/>
                                    </a:solidFill>
                                    <a:latin typeface="Cambria Math" panose="02040503050406030204" pitchFamily="18" charset="0"/>
                                  </a:rPr>
                                </m:ctrlPr>
                              </m:sSubPr>
                              <m:e>
                                <m:r>
                                  <m:rPr>
                                    <m:sty m:val="p"/>
                                  </m:rPr>
                                  <a:rPr lang="en-US">
                                    <a:solidFill>
                                      <a:schemeClr val="bg2"/>
                                    </a:solidFill>
                                    <a:latin typeface="Cambria Math" panose="02040503050406030204" pitchFamily="18" charset="0"/>
                                  </a:rPr>
                                  <m:t>full</m:t>
                                </m:r>
                              </m:e>
                              <m:sub>
                                <m:r>
                                  <a:rPr lang="en-US" i="1">
                                    <a:solidFill>
                                      <a:schemeClr val="bg2"/>
                                    </a:solidFill>
                                    <a:latin typeface="Cambria Math" panose="02040503050406030204" pitchFamily="18" charset="0"/>
                                  </a:rPr>
                                  <m:t>𝑘</m:t>
                                </m:r>
                              </m:sub>
                            </m:sSub>
                          </m:e>
                        </m:nary>
                      </m:num>
                      <m:den>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𝑝</m:t>
                            </m:r>
                          </m:e>
                          <m:sub>
                            <m:r>
                              <m:rPr>
                                <m:sty m:val="p"/>
                              </m:rPr>
                              <a:rPr lang="en-US">
                                <a:solidFill>
                                  <a:schemeClr val="bg2"/>
                                </a:solidFill>
                                <a:latin typeface="Cambria Math" panose="02040503050406030204" pitchFamily="18" charset="0"/>
                              </a:rPr>
                              <m:t>meas</m:t>
                            </m:r>
                          </m:sub>
                        </m:sSub>
                      </m:den>
                    </m:f>
                  </m:oMath>
                </a14:m>
                <a:r>
                  <a:rPr lang="en-US" dirty="0">
                    <a:solidFill>
                      <a:schemeClr val="bg2"/>
                    </a:solidFill>
                  </a:rPr>
                  <a:t>		(3.31)</a:t>
                </a:r>
              </a:p>
              <a:p>
                <a:pPr hangingPunct="0"/>
                <a:endParaRPr lang="en-US" dirty="0">
                  <a:solidFill>
                    <a:schemeClr val="bg2"/>
                  </a:solidFill>
                </a:endParaRPr>
              </a:p>
              <a:p>
                <a:pPr hangingPunct="0"/>
                <a:r>
                  <a:rPr lang="en-US" dirty="0">
                    <a:solidFill>
                      <a:schemeClr val="bg2"/>
                    </a:solidFill>
                  </a:rPr>
                  <a:t>Using </a:t>
                </a:r>
                <a14:m>
                  <m:oMath xmlns:m="http://schemas.openxmlformats.org/officeDocument/2006/math">
                    <m:r>
                      <a:rPr lang="en-US" i="1">
                        <a:solidFill>
                          <a:schemeClr val="bg2"/>
                        </a:solidFill>
                        <a:latin typeface="Cambria Math" panose="02040503050406030204" pitchFamily="18" charset="0"/>
                      </a:rPr>
                      <m:t>1/</m:t>
                    </m:r>
                    <m:acc>
                      <m:accPr>
                        <m:chr m:val="̂"/>
                        <m:ctrlPr>
                          <a:rPr lang="en-US" i="1">
                            <a:solidFill>
                              <a:schemeClr val="bg2"/>
                            </a:solidFill>
                            <a:latin typeface="Cambria Math" panose="02040503050406030204" pitchFamily="18" charset="0"/>
                          </a:rPr>
                        </m:ctrlPr>
                      </m:accPr>
                      <m:e>
                        <m:r>
                          <a:rPr lang="en-US" i="1">
                            <a:solidFill>
                              <a:schemeClr val="bg2"/>
                            </a:solidFill>
                            <a:latin typeface="Cambria Math" panose="02040503050406030204" pitchFamily="18" charset="0"/>
                          </a:rPr>
                          <m:t>𝑃</m:t>
                        </m:r>
                      </m:e>
                    </m:acc>
                  </m:oMath>
                </a14:m>
                <a:r>
                  <a:rPr lang="en-US" dirty="0">
                    <a:solidFill>
                      <a:schemeClr val="bg2"/>
                    </a:solidFill>
                  </a:rPr>
                  <a:t> advances phase with the projected rather than the last measured period. The track requires one complete measured-period window.</a:t>
                </a:r>
              </a:p>
            </p:txBody>
          </p:sp>
        </mc:Choice>
        <mc:Fallback xmlns="">
          <p:sp>
            <p:nvSpPr>
              <p:cNvPr id="21" name="TextBox 8">
                <a:extLst>
                  <a:ext uri="{FF2B5EF4-FFF2-40B4-BE49-F238E27FC236}">
                    <a16:creationId xmlns:a16="http://schemas.microsoft.com/office/drawing/2014/main" id="{996A4A01-5446-FB85-9FC4-792A113DA6FA}"/>
                  </a:ext>
                </a:extLst>
              </p:cNvPr>
              <p:cNvSpPr txBox="1">
                <a:spLocks noRot="1" noChangeAspect="1" noMove="1" noResize="1" noEditPoints="1" noAdjustHandles="1" noChangeArrowheads="1" noChangeShapeType="1" noTextEdit="1"/>
              </p:cNvSpPr>
              <p:nvPr/>
            </p:nvSpPr>
            <p:spPr>
              <a:xfrm>
                <a:off x="9755124" y="4021998"/>
                <a:ext cx="7656575" cy="3674724"/>
              </a:xfrm>
              <a:prstGeom prst="rect">
                <a:avLst/>
              </a:prstGeom>
              <a:blipFill>
                <a:blip r:embed="rId7"/>
                <a:stretch>
                  <a:fillRect l="-1831" t="-2156" r="-1513" b="-2819"/>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A4FCD27E-BF0E-8CA4-5546-5D3854402965}"/>
              </a:ext>
            </a:extLst>
          </p:cNvPr>
          <p:cNvSpPr>
            <a:spLocks noGrp="1"/>
          </p:cNvSpPr>
          <p:nvPr>
            <p:ph type="sldNum" sz="quarter" idx="12"/>
          </p:nvPr>
        </p:nvSpPr>
        <p:spPr>
          <a:xfrm>
            <a:off x="15925800" y="9715500"/>
            <a:ext cx="2133600" cy="365125"/>
          </a:xfrm>
        </p:spPr>
        <p:txBody>
          <a:bodyPr/>
          <a:lstStyle/>
          <a:p>
            <a:fld id="{B6F15528-21DE-4FAA-801E-634DDDAF4B2B}" type="slidenum">
              <a:rPr lang="en-US" smtClean="0"/>
              <a:pPr/>
              <a:t>18</a:t>
            </a:fld>
            <a:endParaRPr lang="en-US"/>
          </a:p>
        </p:txBody>
      </p:sp>
    </p:spTree>
    <p:extLst>
      <p:ext uri="{BB962C8B-B14F-4D97-AF65-F5344CB8AC3E}">
        <p14:creationId xmlns:p14="http://schemas.microsoft.com/office/powerpoint/2010/main" val="30360847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lin ang="5400000"/>
        </a:gradFill>
        <a:effectLst/>
      </p:bgPr>
    </p:bg>
    <p:spTree>
      <p:nvGrpSpPr>
        <p:cNvPr id="1" name="">
          <a:extLst>
            <a:ext uri="{FF2B5EF4-FFF2-40B4-BE49-F238E27FC236}">
              <a16:creationId xmlns:a16="http://schemas.microsoft.com/office/drawing/2014/main" id="{8CA163CD-426A-44DF-E1FF-3FD972CACA1A}"/>
            </a:ext>
          </a:extLst>
        </p:cNvPr>
        <p:cNvGrpSpPr/>
        <p:nvPr/>
      </p:nvGrpSpPr>
      <p:grpSpPr>
        <a:xfrm>
          <a:off x="0" y="0"/>
          <a:ext cx="0" cy="0"/>
          <a:chOff x="0" y="0"/>
          <a:chExt cx="0" cy="0"/>
        </a:xfrm>
      </p:grpSpPr>
      <p:sp>
        <p:nvSpPr>
          <p:cNvPr id="4" name="AutoShape 4">
            <a:extLst>
              <a:ext uri="{FF2B5EF4-FFF2-40B4-BE49-F238E27FC236}">
                <a16:creationId xmlns:a16="http://schemas.microsoft.com/office/drawing/2014/main" id="{C19A9DC3-1060-AD03-44E1-3AB1F0B3FDD6}"/>
              </a:ext>
            </a:extLst>
          </p:cNvPr>
          <p:cNvSpPr/>
          <p:nvPr/>
        </p:nvSpPr>
        <p:spPr>
          <a:xfrm flipH="1">
            <a:off x="0" y="9676538"/>
            <a:ext cx="16463090" cy="0"/>
          </a:xfrm>
          <a:prstGeom prst="line">
            <a:avLst/>
          </a:prstGeom>
          <a:ln w="19050" cap="flat">
            <a:solidFill>
              <a:srgbClr val="FFFFFF"/>
            </a:solidFill>
            <a:prstDash val="solid"/>
            <a:headEnd type="none" w="sm" len="sm"/>
            <a:tailEnd type="none" w="sm" len="sm"/>
          </a:ln>
        </p:spPr>
        <p:txBody>
          <a:bodyPr/>
          <a:lstStyle/>
          <a:p>
            <a:endParaRPr lang="en-US"/>
          </a:p>
        </p:txBody>
      </p:sp>
      <p:sp>
        <p:nvSpPr>
          <p:cNvPr id="5" name="AutoShape 5">
            <a:extLst>
              <a:ext uri="{FF2B5EF4-FFF2-40B4-BE49-F238E27FC236}">
                <a16:creationId xmlns:a16="http://schemas.microsoft.com/office/drawing/2014/main" id="{92508D5C-AFBA-3F7F-DF75-AE2D784BDC99}"/>
              </a:ext>
            </a:extLst>
          </p:cNvPr>
          <p:cNvSpPr/>
          <p:nvPr/>
        </p:nvSpPr>
        <p:spPr>
          <a:xfrm flipH="1">
            <a:off x="17050227" y="9667013"/>
            <a:ext cx="960120" cy="0"/>
          </a:xfrm>
          <a:prstGeom prst="line">
            <a:avLst/>
          </a:prstGeom>
          <a:ln w="19050" cap="flat">
            <a:solidFill>
              <a:srgbClr val="FFFFFF"/>
            </a:solidFill>
            <a:prstDash val="solid"/>
            <a:headEnd type="none" w="sm" len="sm"/>
            <a:tailEnd type="none" w="sm" len="sm"/>
          </a:ln>
        </p:spPr>
        <p:txBody>
          <a:bodyPr/>
          <a:lstStyle/>
          <a:p>
            <a:endParaRPr lang="en-US"/>
          </a:p>
        </p:txBody>
      </p:sp>
      <p:sp>
        <p:nvSpPr>
          <p:cNvPr id="6" name="TextBox 6">
            <a:extLst>
              <a:ext uri="{FF2B5EF4-FFF2-40B4-BE49-F238E27FC236}">
                <a16:creationId xmlns:a16="http://schemas.microsoft.com/office/drawing/2014/main" id="{3A47590C-3752-3618-B135-6E0AEA3B29BE}"/>
              </a:ext>
            </a:extLst>
          </p:cNvPr>
          <p:cNvSpPr txBox="1"/>
          <p:nvPr/>
        </p:nvSpPr>
        <p:spPr>
          <a:xfrm>
            <a:off x="1028700" y="1000125"/>
            <a:ext cx="16230600" cy="878835"/>
          </a:xfrm>
          <a:prstGeom prst="rect">
            <a:avLst/>
          </a:prstGeom>
        </p:spPr>
        <p:txBody>
          <a:bodyPr lIns="0" tIns="0" rIns="0" bIns="0" rtlCol="0" anchor="t">
            <a:spAutoFit/>
          </a:bodyPr>
          <a:lstStyle/>
          <a:p>
            <a:pPr algn="l">
              <a:lnSpc>
                <a:spcPts val="7025"/>
              </a:lnSpc>
            </a:pPr>
            <a:r>
              <a:rPr lang="en-US" sz="5616" b="1" spc="-16" dirty="0">
                <a:solidFill>
                  <a:srgbClr val="D7E5D8"/>
                </a:solidFill>
                <a:latin typeface="IBM Plex Sans Bold"/>
                <a:ea typeface="IBM Plex Sans Bold"/>
                <a:cs typeface="IBM Plex Sans Bold"/>
                <a:sym typeface="IBM Plex Sans Bold"/>
              </a:rPr>
              <a:t>PREDICTION</a:t>
            </a:r>
          </a:p>
        </p:txBody>
      </p:sp>
      <p:sp>
        <p:nvSpPr>
          <p:cNvPr id="7" name="TextBox 7">
            <a:extLst>
              <a:ext uri="{FF2B5EF4-FFF2-40B4-BE49-F238E27FC236}">
                <a16:creationId xmlns:a16="http://schemas.microsoft.com/office/drawing/2014/main" id="{40C3E6D7-6208-F80B-C87C-72A32DDF5075}"/>
              </a:ext>
            </a:extLst>
          </p:cNvPr>
          <p:cNvSpPr txBox="1"/>
          <p:nvPr/>
        </p:nvSpPr>
        <p:spPr>
          <a:xfrm>
            <a:off x="1028700" y="2004098"/>
            <a:ext cx="15138291" cy="692497"/>
          </a:xfrm>
          <a:prstGeom prst="rect">
            <a:avLst/>
          </a:prstGeom>
        </p:spPr>
        <p:txBody>
          <a:bodyPr lIns="0" tIns="0" rIns="0" bIns="0" rtlCol="0" anchor="t">
            <a:spAutoFit/>
          </a:bodyPr>
          <a:lstStyle/>
          <a:p>
            <a:pPr>
              <a:lnSpc>
                <a:spcPts val="2699"/>
              </a:lnSpc>
            </a:pPr>
            <a:r>
              <a:rPr lang="en-US" sz="2400" dirty="0">
                <a:solidFill>
                  <a:schemeClr val="bg2"/>
                </a:solidFill>
              </a:rPr>
              <a:t>The final prediction combines both tracks using inverse-variance weighting, so the more confident track contributes more while the blend remains robust when either pathway-based or cycle-based prediction is uncertain.</a:t>
            </a:r>
            <a:endParaRPr lang="en-US" sz="2400" spc="-5" dirty="0">
              <a:solidFill>
                <a:schemeClr val="bg2"/>
              </a:solidFill>
              <a:latin typeface="IBM Plex Sans"/>
              <a:ea typeface="IBM Plex Sans"/>
              <a:cs typeface="IBM Plex Sans"/>
              <a:sym typeface="IBM Plex Sans"/>
            </a:endParaRPr>
          </a:p>
        </p:txBody>
      </p:sp>
      <mc:AlternateContent xmlns:mc="http://schemas.openxmlformats.org/markup-compatibility/2006" xmlns:a14="http://schemas.microsoft.com/office/drawing/2010/main">
        <mc:Choice Requires="a14">
          <p:sp>
            <p:nvSpPr>
              <p:cNvPr id="8" name="TextBox 8">
                <a:extLst>
                  <a:ext uri="{FF2B5EF4-FFF2-40B4-BE49-F238E27FC236}">
                    <a16:creationId xmlns:a16="http://schemas.microsoft.com/office/drawing/2014/main" id="{5F67A2A0-46A9-7D85-9EC2-BB31F7941BC8}"/>
                  </a:ext>
                </a:extLst>
              </p:cNvPr>
              <p:cNvSpPr txBox="1"/>
              <p:nvPr/>
            </p:nvSpPr>
            <p:spPr>
              <a:xfrm>
                <a:off x="1152422" y="4003483"/>
                <a:ext cx="8982177" cy="4052456"/>
              </a:xfrm>
              <a:prstGeom prst="rect">
                <a:avLst/>
              </a:prstGeom>
            </p:spPr>
            <p:txBody>
              <a:bodyPr wrap="square" lIns="0" tIns="0" rIns="0" bIns="0" rtlCol="0" anchor="t">
                <a:spAutoFit/>
              </a:bodyPr>
              <a:lstStyle/>
              <a:p>
                <a:pPr hangingPunct="0"/>
                <a:r>
                  <a:rPr lang="en-US" sz="2000" dirty="0">
                    <a:solidFill>
                      <a:schemeClr val="bg2"/>
                    </a:solidFill>
                  </a:rPr>
                  <a:t>When </a:t>
                </a:r>
                <a14:m>
                  <m:oMath xmlns:m="http://schemas.openxmlformats.org/officeDocument/2006/math">
                    <m:r>
                      <a:rPr lang="en-US" sz="2000" i="1">
                        <a:solidFill>
                          <a:schemeClr val="bg2"/>
                        </a:solidFill>
                        <a:latin typeface="Cambria Math" panose="02040503050406030204" pitchFamily="18" charset="0"/>
                      </a:rPr>
                      <m:t>𝑦</m:t>
                    </m:r>
                    <m:r>
                      <a:rPr lang="en-US" sz="2000" i="1">
                        <a:solidFill>
                          <a:schemeClr val="bg2"/>
                        </a:solidFill>
                        <a:latin typeface="Cambria Math" panose="02040503050406030204" pitchFamily="18" charset="0"/>
                      </a:rPr>
                      <m:t>(</m:t>
                    </m:r>
                    <m:r>
                      <a:rPr lang="en-US" sz="2000" i="1">
                        <a:solidFill>
                          <a:schemeClr val="bg2"/>
                        </a:solidFill>
                        <a:latin typeface="Cambria Math" panose="02040503050406030204" pitchFamily="18" charset="0"/>
                      </a:rPr>
                      <m:t>𝑡</m:t>
                    </m:r>
                    <m:r>
                      <a:rPr lang="en-US" sz="2000" i="1">
                        <a:solidFill>
                          <a:schemeClr val="bg2"/>
                        </a:solidFill>
                        <a:latin typeface="Cambria Math" panose="02040503050406030204" pitchFamily="18" charset="0"/>
                      </a:rPr>
                      <m:t>)</m:t>
                    </m:r>
                  </m:oMath>
                </a14:m>
                <a:r>
                  <a:rPr lang="en-US" sz="2000" dirty="0">
                    <a:solidFill>
                      <a:schemeClr val="bg2"/>
                    </a:solidFill>
                  </a:rPr>
                  <a:t> arrives, the previous follow and forecast predictions are scored. Each track maintains an exponential moving squared-residual variance:</a:t>
                </a:r>
              </a:p>
              <a:p>
                <a:pPr hangingPunct="0"/>
                <a:endParaRPr lang="en-US" sz="2000" dirty="0">
                  <a:solidFill>
                    <a:schemeClr val="bg2"/>
                  </a:solidFill>
                </a:endParaRPr>
              </a:p>
              <a:p>
                <a:pPr hangingPunct="0"/>
                <a:r>
                  <a:rPr lang="en-US" sz="2000" dirty="0">
                    <a:solidFill>
                      <a:schemeClr val="bg2"/>
                    </a:solidFill>
                  </a:rPr>
                  <a:t>	</a:t>
                </a:r>
                <a14:m>
                  <m:oMath xmlns:m="http://schemas.openxmlformats.org/officeDocument/2006/math">
                    <m:sSub>
                      <m:sSubPr>
                        <m:ctrlPr>
                          <a:rPr lang="en-US" sz="2000">
                            <a:solidFill>
                              <a:schemeClr val="bg2"/>
                            </a:solidFill>
                            <a:latin typeface="Cambria Math" panose="02040503050406030204" pitchFamily="18" charset="0"/>
                          </a:rPr>
                        </m:ctrlPr>
                      </m:sSubPr>
                      <m:e>
                        <m:r>
                          <m:rPr>
                            <m:sty m:val="p"/>
                          </m:rPr>
                          <a:rPr lang="en-US" sz="2000">
                            <a:solidFill>
                              <a:schemeClr val="bg2"/>
                            </a:solidFill>
                            <a:latin typeface="Cambria Math" panose="02040503050406030204" pitchFamily="18" charset="0"/>
                          </a:rPr>
                          <m:t>var</m:t>
                        </m:r>
                      </m:e>
                      <m:sub>
                        <m:r>
                          <a:rPr lang="en-US" sz="2000" i="1">
                            <a:solidFill>
                              <a:schemeClr val="bg2"/>
                            </a:solidFill>
                            <a:latin typeface="Cambria Math" panose="02040503050406030204" pitchFamily="18" charset="0"/>
                          </a:rPr>
                          <m:t>𝑖</m:t>
                        </m:r>
                      </m:sub>
                    </m:sSub>
                    <m:r>
                      <a:rPr lang="en-US" sz="2000">
                        <a:solidFill>
                          <a:schemeClr val="bg2"/>
                        </a:solidFill>
                        <a:latin typeface="Cambria Math" panose="02040503050406030204" pitchFamily="18" charset="0"/>
                      </a:rPr>
                      <m:t>←</m:t>
                    </m:r>
                    <m:d>
                      <m:dPr>
                        <m:ctrlPr>
                          <a:rPr lang="en-US" sz="2000" i="1">
                            <a:solidFill>
                              <a:schemeClr val="bg2"/>
                            </a:solidFill>
                            <a:latin typeface="Cambria Math" panose="02040503050406030204" pitchFamily="18" charset="0"/>
                          </a:rPr>
                        </m:ctrlPr>
                      </m:dPr>
                      <m:e>
                        <m:r>
                          <a:rPr lang="en-US" sz="2000" i="1">
                            <a:solidFill>
                              <a:schemeClr val="bg2"/>
                            </a:solidFill>
                            <a:latin typeface="Cambria Math" panose="02040503050406030204" pitchFamily="18" charset="0"/>
                          </a:rPr>
                          <m:t>1</m:t>
                        </m:r>
                        <m:r>
                          <a:rPr lang="en-US" sz="2000">
                            <a:solidFill>
                              <a:schemeClr val="bg2"/>
                            </a:solidFill>
                            <a:latin typeface="Cambria Math" panose="02040503050406030204" pitchFamily="18" charset="0"/>
                          </a:rPr>
                          <m:t>−</m:t>
                        </m:r>
                        <m:r>
                          <a:rPr lang="en-US" sz="2000" i="1">
                            <a:solidFill>
                              <a:schemeClr val="bg2"/>
                            </a:solidFill>
                            <a:latin typeface="Cambria Math" panose="02040503050406030204" pitchFamily="18" charset="0"/>
                          </a:rPr>
                          <m:t>𝛽</m:t>
                        </m:r>
                      </m:e>
                    </m:d>
                    <m:sSub>
                      <m:sSubPr>
                        <m:ctrlPr>
                          <a:rPr lang="en-US" sz="2000">
                            <a:solidFill>
                              <a:schemeClr val="bg2"/>
                            </a:solidFill>
                            <a:latin typeface="Cambria Math" panose="02040503050406030204" pitchFamily="18" charset="0"/>
                          </a:rPr>
                        </m:ctrlPr>
                      </m:sSubPr>
                      <m:e>
                        <m:r>
                          <m:rPr>
                            <m:sty m:val="p"/>
                          </m:rPr>
                          <a:rPr lang="en-US" sz="2000">
                            <a:solidFill>
                              <a:schemeClr val="bg2"/>
                            </a:solidFill>
                            <a:latin typeface="Cambria Math" panose="02040503050406030204" pitchFamily="18" charset="0"/>
                          </a:rPr>
                          <m:t>var</m:t>
                        </m:r>
                      </m:e>
                      <m:sub>
                        <m:r>
                          <a:rPr lang="en-US" sz="2000" i="1">
                            <a:solidFill>
                              <a:schemeClr val="bg2"/>
                            </a:solidFill>
                            <a:latin typeface="Cambria Math" panose="02040503050406030204" pitchFamily="18" charset="0"/>
                          </a:rPr>
                          <m:t>𝑖</m:t>
                        </m:r>
                      </m:sub>
                    </m:sSub>
                    <m:r>
                      <a:rPr lang="en-US" sz="2000">
                        <a:solidFill>
                          <a:schemeClr val="bg2"/>
                        </a:solidFill>
                        <a:latin typeface="Cambria Math" panose="02040503050406030204" pitchFamily="18" charset="0"/>
                      </a:rPr>
                      <m:t>+</m:t>
                    </m:r>
                    <m:r>
                      <a:rPr lang="en-US" sz="2000" i="1">
                        <a:solidFill>
                          <a:schemeClr val="bg2"/>
                        </a:solidFill>
                        <a:latin typeface="Cambria Math" panose="02040503050406030204" pitchFamily="18" charset="0"/>
                      </a:rPr>
                      <m:t>𝛽</m:t>
                    </m:r>
                    <m:sSup>
                      <m:sSupPr>
                        <m:ctrlPr>
                          <a:rPr lang="en-US" sz="2000" i="1">
                            <a:solidFill>
                              <a:schemeClr val="bg2"/>
                            </a:solidFill>
                            <a:latin typeface="Cambria Math" panose="02040503050406030204" pitchFamily="18" charset="0"/>
                          </a:rPr>
                        </m:ctrlPr>
                      </m:sSupPr>
                      <m:e>
                        <m:d>
                          <m:dPr>
                            <m:begChr m:val="["/>
                            <m:endChr m:val="]"/>
                            <m:ctrlPr>
                              <a:rPr lang="en-US" sz="2000" i="1">
                                <a:solidFill>
                                  <a:schemeClr val="bg2"/>
                                </a:solidFill>
                                <a:latin typeface="Cambria Math" panose="02040503050406030204" pitchFamily="18" charset="0"/>
                              </a:rPr>
                            </m:ctrlPr>
                          </m:dPr>
                          <m:e>
                            <m:sSub>
                              <m:sSubPr>
                                <m:ctrlPr>
                                  <a:rPr lang="en-US" sz="2000" i="1">
                                    <a:solidFill>
                                      <a:schemeClr val="bg2"/>
                                    </a:solidFill>
                                    <a:latin typeface="Cambria Math" panose="02040503050406030204" pitchFamily="18" charset="0"/>
                                  </a:rPr>
                                </m:ctrlPr>
                              </m:sSubPr>
                              <m:e>
                                <m:acc>
                                  <m:accPr>
                                    <m:chr m:val="̂"/>
                                    <m:ctrlPr>
                                      <a:rPr lang="en-US" sz="2000" i="1">
                                        <a:solidFill>
                                          <a:schemeClr val="bg2"/>
                                        </a:solidFill>
                                        <a:latin typeface="Cambria Math" panose="02040503050406030204" pitchFamily="18" charset="0"/>
                                      </a:rPr>
                                    </m:ctrlPr>
                                  </m:accPr>
                                  <m:e>
                                    <m:r>
                                      <a:rPr lang="en-US" sz="2000" i="1">
                                        <a:solidFill>
                                          <a:schemeClr val="bg2"/>
                                        </a:solidFill>
                                        <a:latin typeface="Cambria Math" panose="02040503050406030204" pitchFamily="18" charset="0"/>
                                      </a:rPr>
                                      <m:t>𝑦</m:t>
                                    </m:r>
                                  </m:e>
                                </m:acc>
                              </m:e>
                              <m:sub>
                                <m:r>
                                  <a:rPr lang="en-US" sz="2000" i="1">
                                    <a:solidFill>
                                      <a:schemeClr val="bg2"/>
                                    </a:solidFill>
                                    <a:latin typeface="Cambria Math" panose="02040503050406030204" pitchFamily="18" charset="0"/>
                                  </a:rPr>
                                  <m:t>𝑖</m:t>
                                </m:r>
                              </m:sub>
                            </m:sSub>
                            <m:d>
                              <m:dPr>
                                <m:ctrlPr>
                                  <a:rPr lang="en-US" sz="2000" i="1">
                                    <a:solidFill>
                                      <a:schemeClr val="bg2"/>
                                    </a:solidFill>
                                    <a:latin typeface="Cambria Math" panose="02040503050406030204" pitchFamily="18" charset="0"/>
                                  </a:rPr>
                                </m:ctrlPr>
                              </m:dPr>
                              <m:e>
                                <m:r>
                                  <a:rPr lang="en-US" sz="2000" i="1">
                                    <a:solidFill>
                                      <a:schemeClr val="bg2"/>
                                    </a:solidFill>
                                    <a:latin typeface="Cambria Math" panose="02040503050406030204" pitchFamily="18" charset="0"/>
                                  </a:rPr>
                                  <m:t>𝑡</m:t>
                                </m:r>
                              </m:e>
                            </m:d>
                            <m:r>
                              <a:rPr lang="en-US" sz="2000">
                                <a:solidFill>
                                  <a:schemeClr val="bg2"/>
                                </a:solidFill>
                                <a:latin typeface="Cambria Math" panose="02040503050406030204" pitchFamily="18" charset="0"/>
                              </a:rPr>
                              <m:t>−</m:t>
                            </m:r>
                            <m:r>
                              <a:rPr lang="en-US" sz="2000" i="1">
                                <a:solidFill>
                                  <a:schemeClr val="bg2"/>
                                </a:solidFill>
                                <a:latin typeface="Cambria Math" panose="02040503050406030204" pitchFamily="18" charset="0"/>
                              </a:rPr>
                              <m:t>𝑦</m:t>
                            </m:r>
                            <m:d>
                              <m:dPr>
                                <m:ctrlPr>
                                  <a:rPr lang="en-US" sz="2000" i="1">
                                    <a:solidFill>
                                      <a:schemeClr val="bg2"/>
                                    </a:solidFill>
                                    <a:latin typeface="Cambria Math" panose="02040503050406030204" pitchFamily="18" charset="0"/>
                                  </a:rPr>
                                </m:ctrlPr>
                              </m:dPr>
                              <m:e>
                                <m:r>
                                  <a:rPr lang="en-US" sz="2000" i="1">
                                    <a:solidFill>
                                      <a:schemeClr val="bg2"/>
                                    </a:solidFill>
                                    <a:latin typeface="Cambria Math" panose="02040503050406030204" pitchFamily="18" charset="0"/>
                                  </a:rPr>
                                  <m:t>𝑡</m:t>
                                </m:r>
                              </m:e>
                            </m:d>
                          </m:e>
                        </m:d>
                      </m:e>
                      <m:sup>
                        <m:r>
                          <a:rPr lang="en-US" sz="2000" i="1">
                            <a:solidFill>
                              <a:schemeClr val="bg2"/>
                            </a:solidFill>
                            <a:latin typeface="Cambria Math" panose="02040503050406030204" pitchFamily="18" charset="0"/>
                          </a:rPr>
                          <m:t>2</m:t>
                        </m:r>
                      </m:sup>
                    </m:sSup>
                  </m:oMath>
                </a14:m>
                <a:r>
                  <a:rPr lang="en-US" sz="2000" dirty="0">
                    <a:solidFill>
                      <a:schemeClr val="bg2"/>
                    </a:solidFill>
                  </a:rPr>
                  <a:t>		(3.32)</a:t>
                </a:r>
              </a:p>
              <a:p>
                <a:pPr hangingPunct="0"/>
                <a:endParaRPr lang="en-US" sz="2000" dirty="0">
                  <a:solidFill>
                    <a:schemeClr val="bg2"/>
                  </a:solidFill>
                </a:endParaRPr>
              </a:p>
              <a:p>
                <a:pPr hangingPunct="0"/>
                <a:r>
                  <a:rPr lang="en-US" sz="2000" dirty="0">
                    <a:solidFill>
                      <a:schemeClr val="bg2"/>
                    </a:solidFill>
                  </a:rPr>
                  <a:t>	</a:t>
                </a:r>
                <a14:m>
                  <m:oMath xmlns:m="http://schemas.openxmlformats.org/officeDocument/2006/math">
                    <m:r>
                      <a:rPr lang="en-US" sz="2000" i="1">
                        <a:solidFill>
                          <a:schemeClr val="bg2"/>
                        </a:solidFill>
                        <a:latin typeface="Cambria Math" panose="02040503050406030204" pitchFamily="18" charset="0"/>
                      </a:rPr>
                      <m:t>𝛽</m:t>
                    </m:r>
                    <m:r>
                      <a:rPr lang="en-US" sz="2000">
                        <a:solidFill>
                          <a:schemeClr val="bg2"/>
                        </a:solidFill>
                        <a:latin typeface="Cambria Math" panose="02040503050406030204" pitchFamily="18" charset="0"/>
                      </a:rPr>
                      <m:t>=</m:t>
                    </m:r>
                    <m:r>
                      <a:rPr lang="en-US" sz="2000" i="1">
                        <a:solidFill>
                          <a:schemeClr val="bg2"/>
                        </a:solidFill>
                        <a:latin typeface="Cambria Math" panose="02040503050406030204" pitchFamily="18" charset="0"/>
                      </a:rPr>
                      <m:t>1</m:t>
                    </m:r>
                    <m:r>
                      <a:rPr lang="en-US" sz="2000">
                        <a:solidFill>
                          <a:schemeClr val="bg2"/>
                        </a:solidFill>
                        <a:latin typeface="Cambria Math" panose="02040503050406030204" pitchFamily="18" charset="0"/>
                      </a:rPr>
                      <m:t>−</m:t>
                    </m:r>
                    <m:r>
                      <m:rPr>
                        <m:sty m:val="p"/>
                      </m:rPr>
                      <a:rPr lang="en-US" sz="2000">
                        <a:solidFill>
                          <a:schemeClr val="bg2"/>
                        </a:solidFill>
                        <a:latin typeface="Cambria Math" panose="02040503050406030204" pitchFamily="18" charset="0"/>
                      </a:rPr>
                      <m:t>exp</m:t>
                    </m:r>
                    <m:d>
                      <m:dPr>
                        <m:ctrlPr>
                          <a:rPr lang="en-US" sz="2000">
                            <a:solidFill>
                              <a:schemeClr val="bg2"/>
                            </a:solidFill>
                            <a:latin typeface="Cambria Math" panose="02040503050406030204" pitchFamily="18" charset="0"/>
                          </a:rPr>
                        </m:ctrlPr>
                      </m:dPr>
                      <m:e>
                        <m:r>
                          <a:rPr lang="en-US" sz="2000">
                            <a:solidFill>
                              <a:schemeClr val="bg2"/>
                            </a:solidFill>
                            <a:latin typeface="Cambria Math" panose="02040503050406030204" pitchFamily="18" charset="0"/>
                          </a:rPr>
                          <m:t>−</m:t>
                        </m:r>
                        <m:r>
                          <a:rPr lang="en-US" sz="2000" i="1">
                            <a:solidFill>
                              <a:schemeClr val="bg2"/>
                            </a:solidFill>
                            <a:latin typeface="Cambria Math" panose="02040503050406030204" pitchFamily="18" charset="0"/>
                          </a:rPr>
                          <m:t>1</m:t>
                        </m:r>
                        <m:r>
                          <a:rPr lang="en-US" sz="2000">
                            <a:solidFill>
                              <a:schemeClr val="bg2"/>
                            </a:solidFill>
                            <a:latin typeface="Cambria Math" panose="02040503050406030204" pitchFamily="18" charset="0"/>
                          </a:rPr>
                          <m:t>/</m:t>
                        </m:r>
                        <m:r>
                          <a:rPr lang="en-US" sz="2000" i="1">
                            <a:solidFill>
                              <a:schemeClr val="bg2"/>
                            </a:solidFill>
                            <a:latin typeface="Cambria Math" panose="02040503050406030204" pitchFamily="18" charset="0"/>
                          </a:rPr>
                          <m:t>𝜏</m:t>
                        </m:r>
                      </m:e>
                    </m:d>
                  </m:oMath>
                </a14:m>
                <a:r>
                  <a:rPr lang="en-US" sz="2000" dirty="0">
                    <a:solidFill>
                      <a:schemeClr val="bg2"/>
                    </a:solidFill>
                  </a:rPr>
                  <a:t>				(3.33)</a:t>
                </a:r>
              </a:p>
              <a:p>
                <a:pPr hangingPunct="0"/>
                <a:endParaRPr lang="en-US" sz="2000" dirty="0">
                  <a:solidFill>
                    <a:schemeClr val="bg2"/>
                  </a:solidFill>
                </a:endParaRPr>
              </a:p>
              <a:p>
                <a:pPr hangingPunct="0"/>
                <a:r>
                  <a:rPr lang="en-US" sz="2000" dirty="0">
                    <a:solidFill>
                      <a:schemeClr val="bg2"/>
                    </a:solidFill>
                  </a:rPr>
                  <a:t>Inverse-variance weights are</a:t>
                </a:r>
              </a:p>
              <a:p>
                <a:pPr hangingPunct="0"/>
                <a:endParaRPr lang="en-US" sz="2000" dirty="0">
                  <a:solidFill>
                    <a:schemeClr val="bg2"/>
                  </a:solidFill>
                </a:endParaRPr>
              </a:p>
              <a:p>
                <a:pPr hangingPunct="0"/>
                <a:r>
                  <a:rPr lang="en-US" sz="2000" dirty="0">
                    <a:solidFill>
                      <a:schemeClr val="bg2"/>
                    </a:solidFill>
                  </a:rPr>
                  <a:t>	</a:t>
                </a:r>
                <a14:m>
                  <m:oMath xmlns:m="http://schemas.openxmlformats.org/officeDocument/2006/math">
                    <m:sSub>
                      <m:sSubPr>
                        <m:ctrlPr>
                          <a:rPr lang="en-US" sz="2000" i="1">
                            <a:solidFill>
                              <a:schemeClr val="bg2"/>
                            </a:solidFill>
                            <a:latin typeface="Cambria Math" panose="02040503050406030204" pitchFamily="18" charset="0"/>
                          </a:rPr>
                        </m:ctrlPr>
                      </m:sSubPr>
                      <m:e>
                        <m:r>
                          <a:rPr lang="en-US" sz="2000" i="1">
                            <a:solidFill>
                              <a:schemeClr val="bg2"/>
                            </a:solidFill>
                            <a:latin typeface="Cambria Math" panose="02040503050406030204" pitchFamily="18" charset="0"/>
                          </a:rPr>
                          <m:t>𝑤</m:t>
                        </m:r>
                      </m:e>
                      <m:sub>
                        <m:r>
                          <a:rPr lang="en-US" sz="2000" i="1">
                            <a:solidFill>
                              <a:schemeClr val="bg2"/>
                            </a:solidFill>
                            <a:latin typeface="Cambria Math" panose="02040503050406030204" pitchFamily="18" charset="0"/>
                          </a:rPr>
                          <m:t>𝑖</m:t>
                        </m:r>
                      </m:sub>
                    </m:sSub>
                    <m:r>
                      <a:rPr lang="en-US" sz="2000">
                        <a:solidFill>
                          <a:schemeClr val="bg2"/>
                        </a:solidFill>
                        <a:latin typeface="Cambria Math" panose="02040503050406030204" pitchFamily="18" charset="0"/>
                      </a:rPr>
                      <m:t>=</m:t>
                    </m:r>
                    <m:f>
                      <m:fPr>
                        <m:ctrlPr>
                          <a:rPr lang="en-US" sz="2000" i="1">
                            <a:solidFill>
                              <a:schemeClr val="bg2"/>
                            </a:solidFill>
                            <a:latin typeface="Cambria Math" panose="02040503050406030204" pitchFamily="18" charset="0"/>
                          </a:rPr>
                        </m:ctrlPr>
                      </m:fPr>
                      <m:num>
                        <m:r>
                          <a:rPr lang="en-US" sz="2000" i="1">
                            <a:solidFill>
                              <a:schemeClr val="bg2"/>
                            </a:solidFill>
                            <a:latin typeface="Cambria Math" panose="02040503050406030204" pitchFamily="18" charset="0"/>
                          </a:rPr>
                          <m:t>1</m:t>
                        </m:r>
                      </m:num>
                      <m:den>
                        <m:r>
                          <m:rPr>
                            <m:sty m:val="p"/>
                          </m:rPr>
                          <a:rPr lang="en-US" sz="2000">
                            <a:solidFill>
                              <a:schemeClr val="bg2"/>
                            </a:solidFill>
                            <a:latin typeface="Cambria Math" panose="02040503050406030204" pitchFamily="18" charset="0"/>
                          </a:rPr>
                          <m:t>max</m:t>
                        </m:r>
                        <m:d>
                          <m:dPr>
                            <m:ctrlPr>
                              <a:rPr lang="en-US" sz="2000" i="1">
                                <a:solidFill>
                                  <a:schemeClr val="bg2"/>
                                </a:solidFill>
                                <a:latin typeface="Cambria Math" panose="02040503050406030204" pitchFamily="18" charset="0"/>
                              </a:rPr>
                            </m:ctrlPr>
                          </m:dPr>
                          <m:e>
                            <m:sSub>
                              <m:sSubPr>
                                <m:ctrlPr>
                                  <a:rPr lang="en-US" sz="2000">
                                    <a:solidFill>
                                      <a:schemeClr val="bg2"/>
                                    </a:solidFill>
                                    <a:latin typeface="Cambria Math" panose="02040503050406030204" pitchFamily="18" charset="0"/>
                                  </a:rPr>
                                </m:ctrlPr>
                              </m:sSubPr>
                              <m:e>
                                <m:r>
                                  <m:rPr>
                                    <m:sty m:val="p"/>
                                  </m:rPr>
                                  <a:rPr lang="en-US" sz="2000">
                                    <a:solidFill>
                                      <a:schemeClr val="bg2"/>
                                    </a:solidFill>
                                    <a:latin typeface="Cambria Math" panose="02040503050406030204" pitchFamily="18" charset="0"/>
                                  </a:rPr>
                                  <m:t>var</m:t>
                                </m:r>
                              </m:e>
                              <m:sub>
                                <m:r>
                                  <a:rPr lang="en-US" sz="2000" i="1">
                                    <a:solidFill>
                                      <a:schemeClr val="bg2"/>
                                    </a:solidFill>
                                    <a:latin typeface="Cambria Math" panose="02040503050406030204" pitchFamily="18" charset="0"/>
                                  </a:rPr>
                                  <m:t>𝑖</m:t>
                                </m:r>
                              </m:sub>
                            </m:sSub>
                            <m:r>
                              <a:rPr lang="en-US" sz="2000">
                                <a:solidFill>
                                  <a:schemeClr val="bg2"/>
                                </a:solidFill>
                                <a:latin typeface="Cambria Math" panose="02040503050406030204" pitchFamily="18" charset="0"/>
                              </a:rPr>
                              <m:t>,</m:t>
                            </m:r>
                            <m:sSub>
                              <m:sSubPr>
                                <m:ctrlPr>
                                  <a:rPr lang="en-US" sz="2000">
                                    <a:solidFill>
                                      <a:schemeClr val="bg2"/>
                                    </a:solidFill>
                                    <a:latin typeface="Cambria Math" panose="02040503050406030204" pitchFamily="18" charset="0"/>
                                  </a:rPr>
                                </m:ctrlPr>
                              </m:sSubPr>
                              <m:e>
                                <m:r>
                                  <m:rPr>
                                    <m:sty m:val="p"/>
                                  </m:rPr>
                                  <a:rPr lang="en-US" sz="2000">
                                    <a:solidFill>
                                      <a:schemeClr val="bg2"/>
                                    </a:solidFill>
                                    <a:latin typeface="Cambria Math" panose="02040503050406030204" pitchFamily="18" charset="0"/>
                                  </a:rPr>
                                  <m:t>var</m:t>
                                </m:r>
                              </m:e>
                              <m:sub>
                                <m:r>
                                  <m:rPr>
                                    <m:sty m:val="p"/>
                                  </m:rPr>
                                  <a:rPr lang="en-US" sz="2000">
                                    <a:solidFill>
                                      <a:schemeClr val="bg2"/>
                                    </a:solidFill>
                                    <a:latin typeface="Cambria Math" panose="02040503050406030204" pitchFamily="18" charset="0"/>
                                  </a:rPr>
                                  <m:t>floor</m:t>
                                </m:r>
                              </m:sub>
                            </m:sSub>
                          </m:e>
                        </m:d>
                      </m:den>
                    </m:f>
                  </m:oMath>
                </a14:m>
                <a:r>
                  <a:rPr lang="en-US" sz="2000" dirty="0">
                    <a:solidFill>
                      <a:schemeClr val="bg2"/>
                    </a:solidFill>
                  </a:rPr>
                  <a:t>				(3.34)</a:t>
                </a:r>
              </a:p>
              <a:p>
                <a:pPr hangingPunct="0"/>
                <a:endParaRPr lang="en-US" sz="2000" dirty="0">
                  <a:solidFill>
                    <a:schemeClr val="bg2"/>
                  </a:solidFill>
                </a:endParaRPr>
              </a:p>
              <a:p>
                <a:pPr hangingPunct="0"/>
                <a:r>
                  <a:rPr lang="en-US" sz="2000" dirty="0">
                    <a:solidFill>
                      <a:schemeClr val="bg2"/>
                    </a:solidFill>
                  </a:rPr>
                  <a:t>	</a:t>
                </a:r>
                <a14:m>
                  <m:oMath xmlns:m="http://schemas.openxmlformats.org/officeDocument/2006/math">
                    <m:acc>
                      <m:accPr>
                        <m:chr m:val="̂"/>
                        <m:ctrlPr>
                          <a:rPr lang="en-US" sz="2000" i="1">
                            <a:solidFill>
                              <a:schemeClr val="bg2"/>
                            </a:solidFill>
                            <a:latin typeface="Cambria Math" panose="02040503050406030204" pitchFamily="18" charset="0"/>
                          </a:rPr>
                        </m:ctrlPr>
                      </m:accPr>
                      <m:e>
                        <m:r>
                          <a:rPr lang="en-US" sz="2000" i="1">
                            <a:solidFill>
                              <a:schemeClr val="bg2"/>
                            </a:solidFill>
                            <a:latin typeface="Cambria Math" panose="02040503050406030204" pitchFamily="18" charset="0"/>
                          </a:rPr>
                          <m:t>𝑦</m:t>
                        </m:r>
                      </m:e>
                    </m:acc>
                    <m:d>
                      <m:dPr>
                        <m:ctrlPr>
                          <a:rPr lang="en-US" sz="2000" i="1">
                            <a:solidFill>
                              <a:schemeClr val="bg2"/>
                            </a:solidFill>
                            <a:latin typeface="Cambria Math" panose="02040503050406030204" pitchFamily="18" charset="0"/>
                          </a:rPr>
                        </m:ctrlPr>
                      </m:dPr>
                      <m:e>
                        <m:r>
                          <a:rPr lang="en-US" sz="2000" i="1">
                            <a:solidFill>
                              <a:schemeClr val="bg2"/>
                            </a:solidFill>
                            <a:latin typeface="Cambria Math" panose="02040503050406030204" pitchFamily="18" charset="0"/>
                          </a:rPr>
                          <m:t>𝑡</m:t>
                        </m:r>
                        <m:r>
                          <a:rPr lang="en-US" sz="2000">
                            <a:solidFill>
                              <a:schemeClr val="bg2"/>
                            </a:solidFill>
                            <a:latin typeface="Cambria Math" panose="02040503050406030204" pitchFamily="18" charset="0"/>
                          </a:rPr>
                          <m:t>+</m:t>
                        </m:r>
                        <m:r>
                          <a:rPr lang="en-US" sz="2000" i="1">
                            <a:solidFill>
                              <a:schemeClr val="bg2"/>
                            </a:solidFill>
                            <a:latin typeface="Cambria Math" panose="02040503050406030204" pitchFamily="18" charset="0"/>
                          </a:rPr>
                          <m:t>1</m:t>
                        </m:r>
                      </m:e>
                    </m:d>
                    <m:r>
                      <a:rPr lang="en-US" sz="2000">
                        <a:solidFill>
                          <a:schemeClr val="bg2"/>
                        </a:solidFill>
                        <a:latin typeface="Cambria Math" panose="02040503050406030204" pitchFamily="18" charset="0"/>
                      </a:rPr>
                      <m:t>=</m:t>
                    </m:r>
                    <m:f>
                      <m:fPr>
                        <m:ctrlPr>
                          <a:rPr lang="en-US" sz="2000" i="1">
                            <a:solidFill>
                              <a:schemeClr val="bg2"/>
                            </a:solidFill>
                            <a:latin typeface="Cambria Math" panose="02040503050406030204" pitchFamily="18" charset="0"/>
                          </a:rPr>
                        </m:ctrlPr>
                      </m:fPr>
                      <m:num>
                        <m:sSub>
                          <m:sSubPr>
                            <m:ctrlPr>
                              <a:rPr lang="en-US" sz="2000" i="1">
                                <a:solidFill>
                                  <a:schemeClr val="bg2"/>
                                </a:solidFill>
                                <a:latin typeface="Cambria Math" panose="02040503050406030204" pitchFamily="18" charset="0"/>
                              </a:rPr>
                            </m:ctrlPr>
                          </m:sSubPr>
                          <m:e>
                            <m:r>
                              <a:rPr lang="en-US" sz="2000" i="1">
                                <a:solidFill>
                                  <a:schemeClr val="bg2"/>
                                </a:solidFill>
                                <a:latin typeface="Cambria Math" panose="02040503050406030204" pitchFamily="18" charset="0"/>
                              </a:rPr>
                              <m:t>𝑤</m:t>
                            </m:r>
                          </m:e>
                          <m:sub>
                            <m:r>
                              <m:rPr>
                                <m:sty m:val="p"/>
                              </m:rPr>
                              <a:rPr lang="en-US" sz="2000">
                                <a:solidFill>
                                  <a:schemeClr val="bg2"/>
                                </a:solidFill>
                                <a:latin typeface="Cambria Math" panose="02040503050406030204" pitchFamily="18" charset="0"/>
                              </a:rPr>
                              <m:t>follow</m:t>
                            </m:r>
                          </m:sub>
                        </m:sSub>
                        <m:sSub>
                          <m:sSubPr>
                            <m:ctrlPr>
                              <a:rPr lang="en-US" sz="2000" i="1">
                                <a:solidFill>
                                  <a:schemeClr val="bg2"/>
                                </a:solidFill>
                                <a:latin typeface="Cambria Math" panose="02040503050406030204" pitchFamily="18" charset="0"/>
                              </a:rPr>
                            </m:ctrlPr>
                          </m:sSubPr>
                          <m:e>
                            <m:acc>
                              <m:accPr>
                                <m:chr m:val="̂"/>
                                <m:ctrlPr>
                                  <a:rPr lang="en-US" sz="2000" i="1">
                                    <a:solidFill>
                                      <a:schemeClr val="bg2"/>
                                    </a:solidFill>
                                    <a:latin typeface="Cambria Math" panose="02040503050406030204" pitchFamily="18" charset="0"/>
                                  </a:rPr>
                                </m:ctrlPr>
                              </m:accPr>
                              <m:e>
                                <m:r>
                                  <a:rPr lang="en-US" sz="2000" i="1">
                                    <a:solidFill>
                                      <a:schemeClr val="bg2"/>
                                    </a:solidFill>
                                    <a:latin typeface="Cambria Math" panose="02040503050406030204" pitchFamily="18" charset="0"/>
                                  </a:rPr>
                                  <m:t>𝑦</m:t>
                                </m:r>
                              </m:e>
                            </m:acc>
                          </m:e>
                          <m:sub>
                            <m:r>
                              <m:rPr>
                                <m:sty m:val="p"/>
                              </m:rPr>
                              <a:rPr lang="en-US" sz="2000">
                                <a:solidFill>
                                  <a:schemeClr val="bg2"/>
                                </a:solidFill>
                                <a:latin typeface="Cambria Math" panose="02040503050406030204" pitchFamily="18" charset="0"/>
                              </a:rPr>
                              <m:t>follow</m:t>
                            </m:r>
                          </m:sub>
                        </m:sSub>
                        <m:r>
                          <a:rPr lang="en-US" sz="2000">
                            <a:solidFill>
                              <a:schemeClr val="bg2"/>
                            </a:solidFill>
                            <a:latin typeface="Cambria Math" panose="02040503050406030204" pitchFamily="18" charset="0"/>
                          </a:rPr>
                          <m:t>+</m:t>
                        </m:r>
                        <m:sSub>
                          <m:sSubPr>
                            <m:ctrlPr>
                              <a:rPr lang="en-US" sz="2000" i="1">
                                <a:solidFill>
                                  <a:schemeClr val="bg2"/>
                                </a:solidFill>
                                <a:latin typeface="Cambria Math" panose="02040503050406030204" pitchFamily="18" charset="0"/>
                              </a:rPr>
                            </m:ctrlPr>
                          </m:sSubPr>
                          <m:e>
                            <m:r>
                              <a:rPr lang="en-US" sz="2000" i="1">
                                <a:solidFill>
                                  <a:schemeClr val="bg2"/>
                                </a:solidFill>
                                <a:latin typeface="Cambria Math" panose="02040503050406030204" pitchFamily="18" charset="0"/>
                              </a:rPr>
                              <m:t>𝑤</m:t>
                            </m:r>
                          </m:e>
                          <m:sub>
                            <m:r>
                              <m:rPr>
                                <m:sty m:val="p"/>
                              </m:rPr>
                              <a:rPr lang="en-US" sz="2000">
                                <a:solidFill>
                                  <a:schemeClr val="bg2"/>
                                </a:solidFill>
                                <a:latin typeface="Cambria Math" panose="02040503050406030204" pitchFamily="18" charset="0"/>
                              </a:rPr>
                              <m:t>forecast</m:t>
                            </m:r>
                          </m:sub>
                        </m:sSub>
                        <m:sSub>
                          <m:sSubPr>
                            <m:ctrlPr>
                              <a:rPr lang="en-US" sz="2000" i="1">
                                <a:solidFill>
                                  <a:schemeClr val="bg2"/>
                                </a:solidFill>
                                <a:latin typeface="Cambria Math" panose="02040503050406030204" pitchFamily="18" charset="0"/>
                              </a:rPr>
                            </m:ctrlPr>
                          </m:sSubPr>
                          <m:e>
                            <m:acc>
                              <m:accPr>
                                <m:chr m:val="̂"/>
                                <m:ctrlPr>
                                  <a:rPr lang="en-US" sz="2000" i="1">
                                    <a:solidFill>
                                      <a:schemeClr val="bg2"/>
                                    </a:solidFill>
                                    <a:latin typeface="Cambria Math" panose="02040503050406030204" pitchFamily="18" charset="0"/>
                                  </a:rPr>
                                </m:ctrlPr>
                              </m:accPr>
                              <m:e>
                                <m:r>
                                  <a:rPr lang="en-US" sz="2000" i="1">
                                    <a:solidFill>
                                      <a:schemeClr val="bg2"/>
                                    </a:solidFill>
                                    <a:latin typeface="Cambria Math" panose="02040503050406030204" pitchFamily="18" charset="0"/>
                                  </a:rPr>
                                  <m:t>𝑦</m:t>
                                </m:r>
                              </m:e>
                            </m:acc>
                          </m:e>
                          <m:sub>
                            <m:r>
                              <m:rPr>
                                <m:sty m:val="p"/>
                              </m:rPr>
                              <a:rPr lang="en-US" sz="2000">
                                <a:solidFill>
                                  <a:schemeClr val="bg2"/>
                                </a:solidFill>
                                <a:latin typeface="Cambria Math" panose="02040503050406030204" pitchFamily="18" charset="0"/>
                              </a:rPr>
                              <m:t>forecast</m:t>
                            </m:r>
                          </m:sub>
                        </m:sSub>
                      </m:num>
                      <m:den>
                        <m:sSub>
                          <m:sSubPr>
                            <m:ctrlPr>
                              <a:rPr lang="en-US" sz="2000" i="1">
                                <a:solidFill>
                                  <a:schemeClr val="bg2"/>
                                </a:solidFill>
                                <a:latin typeface="Cambria Math" panose="02040503050406030204" pitchFamily="18" charset="0"/>
                              </a:rPr>
                            </m:ctrlPr>
                          </m:sSubPr>
                          <m:e>
                            <m:r>
                              <a:rPr lang="en-US" sz="2000" i="1">
                                <a:solidFill>
                                  <a:schemeClr val="bg2"/>
                                </a:solidFill>
                                <a:latin typeface="Cambria Math" panose="02040503050406030204" pitchFamily="18" charset="0"/>
                              </a:rPr>
                              <m:t>𝑤</m:t>
                            </m:r>
                          </m:e>
                          <m:sub>
                            <m:r>
                              <m:rPr>
                                <m:sty m:val="p"/>
                              </m:rPr>
                              <a:rPr lang="en-US" sz="2000">
                                <a:solidFill>
                                  <a:schemeClr val="bg2"/>
                                </a:solidFill>
                                <a:latin typeface="Cambria Math" panose="02040503050406030204" pitchFamily="18" charset="0"/>
                              </a:rPr>
                              <m:t>follow</m:t>
                            </m:r>
                          </m:sub>
                        </m:sSub>
                        <m:r>
                          <a:rPr lang="en-US" sz="2000">
                            <a:solidFill>
                              <a:schemeClr val="bg2"/>
                            </a:solidFill>
                            <a:latin typeface="Cambria Math" panose="02040503050406030204" pitchFamily="18" charset="0"/>
                          </a:rPr>
                          <m:t>+</m:t>
                        </m:r>
                        <m:sSub>
                          <m:sSubPr>
                            <m:ctrlPr>
                              <a:rPr lang="en-US" sz="2000" i="1">
                                <a:solidFill>
                                  <a:schemeClr val="bg2"/>
                                </a:solidFill>
                                <a:latin typeface="Cambria Math" panose="02040503050406030204" pitchFamily="18" charset="0"/>
                              </a:rPr>
                            </m:ctrlPr>
                          </m:sSubPr>
                          <m:e>
                            <m:r>
                              <a:rPr lang="en-US" sz="2000" i="1">
                                <a:solidFill>
                                  <a:schemeClr val="bg2"/>
                                </a:solidFill>
                                <a:latin typeface="Cambria Math" panose="02040503050406030204" pitchFamily="18" charset="0"/>
                              </a:rPr>
                              <m:t>𝑤</m:t>
                            </m:r>
                          </m:e>
                          <m:sub>
                            <m:r>
                              <m:rPr>
                                <m:sty m:val="p"/>
                              </m:rPr>
                              <a:rPr lang="en-US" sz="2000">
                                <a:solidFill>
                                  <a:schemeClr val="bg2"/>
                                </a:solidFill>
                                <a:latin typeface="Cambria Math" panose="02040503050406030204" pitchFamily="18" charset="0"/>
                              </a:rPr>
                              <m:t>forecast</m:t>
                            </m:r>
                          </m:sub>
                        </m:sSub>
                      </m:den>
                    </m:f>
                  </m:oMath>
                </a14:m>
                <a:r>
                  <a:rPr lang="en-US" sz="2000" dirty="0">
                    <a:solidFill>
                      <a:schemeClr val="bg2"/>
                    </a:solidFill>
                  </a:rPr>
                  <a:t>		(3.35)</a:t>
                </a:r>
              </a:p>
            </p:txBody>
          </p:sp>
        </mc:Choice>
        <mc:Fallback xmlns="">
          <p:sp>
            <p:nvSpPr>
              <p:cNvPr id="8" name="TextBox 8">
                <a:extLst>
                  <a:ext uri="{FF2B5EF4-FFF2-40B4-BE49-F238E27FC236}">
                    <a16:creationId xmlns:a16="http://schemas.microsoft.com/office/drawing/2014/main" id="{5F67A2A0-46A9-7D85-9EC2-BB31F7941BC8}"/>
                  </a:ext>
                </a:extLst>
              </p:cNvPr>
              <p:cNvSpPr txBox="1">
                <a:spLocks noRot="1" noChangeAspect="1" noMove="1" noResize="1" noEditPoints="1" noAdjustHandles="1" noChangeArrowheads="1" noChangeShapeType="1" noTextEdit="1"/>
              </p:cNvSpPr>
              <p:nvPr/>
            </p:nvSpPr>
            <p:spPr>
              <a:xfrm>
                <a:off x="1152422" y="4003483"/>
                <a:ext cx="8982177" cy="4052456"/>
              </a:xfrm>
              <a:prstGeom prst="rect">
                <a:avLst/>
              </a:prstGeom>
              <a:blipFill>
                <a:blip r:embed="rId3"/>
                <a:stretch>
                  <a:fillRect l="-1697" t="-1955" r="-1018" b="-150"/>
                </a:stretch>
              </a:blipFill>
            </p:spPr>
            <p:txBody>
              <a:bodyPr/>
              <a:lstStyle/>
              <a:p>
                <a:r>
                  <a:rPr lang="en-US">
                    <a:noFill/>
                  </a:rPr>
                  <a:t> </a:t>
                </a:r>
              </a:p>
            </p:txBody>
          </p:sp>
        </mc:Fallback>
      </mc:AlternateContent>
      <p:sp>
        <p:nvSpPr>
          <p:cNvPr id="12" name="TextBox 12">
            <a:extLst>
              <a:ext uri="{FF2B5EF4-FFF2-40B4-BE49-F238E27FC236}">
                <a16:creationId xmlns:a16="http://schemas.microsoft.com/office/drawing/2014/main" id="{33F50645-06EB-28AC-1627-F1AF17E788FC}"/>
              </a:ext>
            </a:extLst>
          </p:cNvPr>
          <p:cNvSpPr txBox="1"/>
          <p:nvPr/>
        </p:nvSpPr>
        <p:spPr>
          <a:xfrm>
            <a:off x="1145496" y="3369847"/>
            <a:ext cx="6559309" cy="413703"/>
          </a:xfrm>
          <a:prstGeom prst="rect">
            <a:avLst/>
          </a:prstGeom>
        </p:spPr>
        <p:txBody>
          <a:bodyPr lIns="0" tIns="0" rIns="0" bIns="0" rtlCol="0" anchor="t">
            <a:spAutoFit/>
          </a:bodyPr>
          <a:lstStyle/>
          <a:p>
            <a:pPr algn="l">
              <a:lnSpc>
                <a:spcPts val="3435"/>
              </a:lnSpc>
            </a:pPr>
            <a:r>
              <a:rPr lang="en-US" sz="2664" b="1" spc="26" dirty="0">
                <a:solidFill>
                  <a:srgbClr val="B7EE4A"/>
                </a:solidFill>
                <a:latin typeface="IBM Plex Sans Bold"/>
                <a:ea typeface="IBM Plex Sans Bold"/>
                <a:cs typeface="IBM Plex Sans Bold"/>
                <a:sym typeface="IBM Plex Sans Bold"/>
              </a:rPr>
              <a:t>Hybrid Inverse-Variance Blend </a:t>
            </a:r>
          </a:p>
        </p:txBody>
      </p:sp>
      <p:grpSp>
        <p:nvGrpSpPr>
          <p:cNvPr id="16" name="Group 16">
            <a:extLst>
              <a:ext uri="{FF2B5EF4-FFF2-40B4-BE49-F238E27FC236}">
                <a16:creationId xmlns:a16="http://schemas.microsoft.com/office/drawing/2014/main" id="{9BD733EE-CF5B-F8DC-562D-0D98C175B721}"/>
              </a:ext>
            </a:extLst>
          </p:cNvPr>
          <p:cNvGrpSpPr/>
          <p:nvPr/>
        </p:nvGrpSpPr>
        <p:grpSpPr>
          <a:xfrm>
            <a:off x="0" y="8244826"/>
            <a:ext cx="2737757" cy="2737757"/>
            <a:chOff x="0" y="0"/>
            <a:chExt cx="3650343" cy="3650343"/>
          </a:xfrm>
        </p:grpSpPr>
        <p:sp>
          <p:nvSpPr>
            <p:cNvPr id="17" name="Freeform 17">
              <a:extLst>
                <a:ext uri="{FF2B5EF4-FFF2-40B4-BE49-F238E27FC236}">
                  <a16:creationId xmlns:a16="http://schemas.microsoft.com/office/drawing/2014/main" id="{C8888B5C-D05E-CBAC-B2D0-685C65CF1D8C}"/>
                </a:ext>
              </a:extLst>
            </p:cNvPr>
            <p:cNvSpPr/>
            <p:nvPr/>
          </p:nvSpPr>
          <p:spPr>
            <a:xfrm>
              <a:off x="0" y="0"/>
              <a:ext cx="3650343" cy="3650343"/>
            </a:xfrm>
            <a:custGeom>
              <a:avLst/>
              <a:gdLst/>
              <a:ahLst/>
              <a:cxnLst/>
              <a:rect l="l" t="t" r="r" b="b"/>
              <a:pathLst>
                <a:path w="3650343" h="3650343">
                  <a:moveTo>
                    <a:pt x="0" y="0"/>
                  </a:moveTo>
                  <a:lnTo>
                    <a:pt x="3650343" y="0"/>
                  </a:lnTo>
                  <a:lnTo>
                    <a:pt x="3650343" y="3650343"/>
                  </a:lnTo>
                  <a:lnTo>
                    <a:pt x="0" y="3650343"/>
                  </a:lnTo>
                  <a:lnTo>
                    <a:pt x="0" y="0"/>
                  </a:lnTo>
                  <a:close/>
                </a:path>
              </a:pathLst>
            </a:custGeom>
            <a:blipFill>
              <a:blip>
                <a:alphaModFix amt="41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8" name="Freeform 18">
              <a:extLst>
                <a:ext uri="{FF2B5EF4-FFF2-40B4-BE49-F238E27FC236}">
                  <a16:creationId xmlns:a16="http://schemas.microsoft.com/office/drawing/2014/main" id="{7B915FDB-44DF-8FDB-A3ED-0943566003AF}"/>
                </a:ext>
              </a:extLst>
            </p:cNvPr>
            <p:cNvSpPr/>
            <p:nvPr/>
          </p:nvSpPr>
          <p:spPr>
            <a:xfrm>
              <a:off x="257215" y="827328"/>
              <a:ext cx="2779958" cy="1629020"/>
            </a:xfrm>
            <a:custGeom>
              <a:avLst/>
              <a:gdLst/>
              <a:ahLst/>
              <a:cxnLst/>
              <a:rect l="l" t="t" r="r" b="b"/>
              <a:pathLst>
                <a:path w="2779958" h="1629020">
                  <a:moveTo>
                    <a:pt x="0" y="0"/>
                  </a:moveTo>
                  <a:lnTo>
                    <a:pt x="2779958" y="0"/>
                  </a:lnTo>
                  <a:lnTo>
                    <a:pt x="2779958" y="1629020"/>
                  </a:lnTo>
                  <a:lnTo>
                    <a:pt x="0" y="1629020"/>
                  </a:lnTo>
                  <a:lnTo>
                    <a:pt x="0" y="0"/>
                  </a:lnTo>
                  <a:close/>
                </a:path>
              </a:pathLst>
            </a:custGeom>
            <a:blipFill>
              <a:blip r:embed="rId5"/>
              <a:stretch>
                <a:fillRect/>
              </a:stretch>
            </a:blipFill>
          </p:spPr>
          <p:txBody>
            <a:bodyPr/>
            <a:lstStyle/>
            <a:p>
              <a:endParaRPr lang="en-US"/>
            </a:p>
          </p:txBody>
        </p:sp>
      </p:grpSp>
      <p:sp>
        <p:nvSpPr>
          <p:cNvPr id="9" name="Freeform 2">
            <a:extLst>
              <a:ext uri="{FF2B5EF4-FFF2-40B4-BE49-F238E27FC236}">
                <a16:creationId xmlns:a16="http://schemas.microsoft.com/office/drawing/2014/main" id="{BD0CA33C-93E2-ED3A-6774-ACA1EB389D8C}"/>
              </a:ext>
            </a:extLst>
          </p:cNvPr>
          <p:cNvSpPr/>
          <p:nvPr/>
        </p:nvSpPr>
        <p:spPr>
          <a:xfrm rot="18845670">
            <a:off x="11547197" y="3581909"/>
            <a:ext cx="4614927" cy="4638944"/>
          </a:xfrm>
          <a:custGeom>
            <a:avLst/>
            <a:gdLst/>
            <a:ahLst/>
            <a:cxnLst/>
            <a:rect l="l" t="t" r="r" b="b"/>
            <a:pathLst>
              <a:path w="5626757" h="4304469">
                <a:moveTo>
                  <a:pt x="0" y="0"/>
                </a:moveTo>
                <a:lnTo>
                  <a:pt x="5626757" y="0"/>
                </a:lnTo>
                <a:lnTo>
                  <a:pt x="5626757" y="4304469"/>
                </a:lnTo>
                <a:lnTo>
                  <a:pt x="0" y="4304469"/>
                </a:lnTo>
                <a:lnTo>
                  <a:pt x="0" y="0"/>
                </a:lnTo>
                <a:close/>
              </a:path>
            </a:pathLst>
          </a:custGeom>
          <a:blipFill>
            <a:blip r:embed="rId6"/>
            <a:stretch>
              <a:fillRect/>
            </a:stretch>
          </a:blipFill>
        </p:spPr>
        <p:txBody>
          <a:bodyPr/>
          <a:lstStyle/>
          <a:p>
            <a:endParaRPr lang="en-US"/>
          </a:p>
        </p:txBody>
      </p:sp>
      <p:sp>
        <p:nvSpPr>
          <p:cNvPr id="11" name="Slide Number Placeholder 10">
            <a:extLst>
              <a:ext uri="{FF2B5EF4-FFF2-40B4-BE49-F238E27FC236}">
                <a16:creationId xmlns:a16="http://schemas.microsoft.com/office/drawing/2014/main" id="{5C4FE7D8-E59E-3936-32CB-6F2FCDC6F629}"/>
              </a:ext>
            </a:extLst>
          </p:cNvPr>
          <p:cNvSpPr>
            <a:spLocks noGrp="1"/>
          </p:cNvSpPr>
          <p:nvPr>
            <p:ph type="sldNum" sz="quarter" idx="12"/>
          </p:nvPr>
        </p:nvSpPr>
        <p:spPr>
          <a:xfrm>
            <a:off x="15925800" y="9715500"/>
            <a:ext cx="2133600" cy="365125"/>
          </a:xfrm>
        </p:spPr>
        <p:txBody>
          <a:bodyPr/>
          <a:lstStyle/>
          <a:p>
            <a:fld id="{B6F15528-21DE-4FAA-801E-634DDDAF4B2B}" type="slidenum">
              <a:rPr lang="en-US" smtClean="0"/>
              <a:pPr/>
              <a:t>19</a:t>
            </a:fld>
            <a:endParaRPr lang="en-US"/>
          </a:p>
        </p:txBody>
      </p:sp>
    </p:spTree>
    <p:extLst>
      <p:ext uri="{BB962C8B-B14F-4D97-AF65-F5344CB8AC3E}">
        <p14:creationId xmlns:p14="http://schemas.microsoft.com/office/powerpoint/2010/main" val="29446197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lin ang="5400000"/>
        </a:gradFill>
        <a:effectLst/>
      </p:bgPr>
    </p:bg>
    <p:spTree>
      <p:nvGrpSpPr>
        <p:cNvPr id="1" name="">
          <a:extLst>
            <a:ext uri="{FF2B5EF4-FFF2-40B4-BE49-F238E27FC236}">
              <a16:creationId xmlns:a16="http://schemas.microsoft.com/office/drawing/2014/main" id="{EB56165B-455C-83C9-96EE-C5B405B3F219}"/>
            </a:ext>
          </a:extLst>
        </p:cNvPr>
        <p:cNvGrpSpPr/>
        <p:nvPr/>
      </p:nvGrpSpPr>
      <p:grpSpPr>
        <a:xfrm>
          <a:off x="0" y="0"/>
          <a:ext cx="0" cy="0"/>
          <a:chOff x="0" y="0"/>
          <a:chExt cx="0" cy="0"/>
        </a:xfrm>
      </p:grpSpPr>
      <p:sp>
        <p:nvSpPr>
          <p:cNvPr id="4" name="AutoShape 4">
            <a:extLst>
              <a:ext uri="{FF2B5EF4-FFF2-40B4-BE49-F238E27FC236}">
                <a16:creationId xmlns:a16="http://schemas.microsoft.com/office/drawing/2014/main" id="{BAA66D96-150F-727F-8B22-6E658DBFCAAE}"/>
              </a:ext>
            </a:extLst>
          </p:cNvPr>
          <p:cNvSpPr/>
          <p:nvPr/>
        </p:nvSpPr>
        <p:spPr>
          <a:xfrm flipH="1">
            <a:off x="0" y="9676538"/>
            <a:ext cx="16463090" cy="0"/>
          </a:xfrm>
          <a:prstGeom prst="line">
            <a:avLst/>
          </a:prstGeom>
          <a:ln w="19050" cap="flat">
            <a:solidFill>
              <a:srgbClr val="FFFFFF"/>
            </a:solidFill>
            <a:prstDash val="solid"/>
            <a:headEnd type="none" w="sm" len="sm"/>
            <a:tailEnd type="none" w="sm" len="sm"/>
          </a:ln>
        </p:spPr>
        <p:txBody>
          <a:bodyPr/>
          <a:lstStyle/>
          <a:p>
            <a:endParaRPr lang="en-US"/>
          </a:p>
        </p:txBody>
      </p:sp>
      <p:sp>
        <p:nvSpPr>
          <p:cNvPr id="5" name="AutoShape 5">
            <a:extLst>
              <a:ext uri="{FF2B5EF4-FFF2-40B4-BE49-F238E27FC236}">
                <a16:creationId xmlns:a16="http://schemas.microsoft.com/office/drawing/2014/main" id="{E75FC6B1-88D1-6C60-2C0F-90DD85F8BF5E}"/>
              </a:ext>
            </a:extLst>
          </p:cNvPr>
          <p:cNvSpPr/>
          <p:nvPr/>
        </p:nvSpPr>
        <p:spPr>
          <a:xfrm flipH="1">
            <a:off x="17050227" y="9667013"/>
            <a:ext cx="960120" cy="0"/>
          </a:xfrm>
          <a:prstGeom prst="line">
            <a:avLst/>
          </a:prstGeom>
          <a:ln w="19050" cap="flat">
            <a:solidFill>
              <a:srgbClr val="FFFFFF"/>
            </a:solidFill>
            <a:prstDash val="solid"/>
            <a:headEnd type="none" w="sm" len="sm"/>
            <a:tailEnd type="none" w="sm" len="sm"/>
          </a:ln>
        </p:spPr>
        <p:txBody>
          <a:bodyPr/>
          <a:lstStyle/>
          <a:p>
            <a:endParaRPr lang="en-US"/>
          </a:p>
        </p:txBody>
      </p:sp>
      <p:sp>
        <p:nvSpPr>
          <p:cNvPr id="6" name="TextBox 6">
            <a:extLst>
              <a:ext uri="{FF2B5EF4-FFF2-40B4-BE49-F238E27FC236}">
                <a16:creationId xmlns:a16="http://schemas.microsoft.com/office/drawing/2014/main" id="{6F205D99-37B1-ADDF-58E7-E26942C3C215}"/>
              </a:ext>
            </a:extLst>
          </p:cNvPr>
          <p:cNvSpPr txBox="1"/>
          <p:nvPr/>
        </p:nvSpPr>
        <p:spPr>
          <a:xfrm>
            <a:off x="1028700" y="1000125"/>
            <a:ext cx="16230600" cy="878835"/>
          </a:xfrm>
          <a:prstGeom prst="rect">
            <a:avLst/>
          </a:prstGeom>
        </p:spPr>
        <p:txBody>
          <a:bodyPr lIns="0" tIns="0" rIns="0" bIns="0" rtlCol="0" anchor="t">
            <a:spAutoFit/>
          </a:bodyPr>
          <a:lstStyle/>
          <a:p>
            <a:pPr algn="l">
              <a:lnSpc>
                <a:spcPts val="7025"/>
              </a:lnSpc>
            </a:pPr>
            <a:r>
              <a:rPr lang="en-US" sz="5616" b="1" spc="-16" dirty="0">
                <a:solidFill>
                  <a:srgbClr val="D7E5D8"/>
                </a:solidFill>
                <a:latin typeface="IBM Plex Sans Bold"/>
                <a:ea typeface="IBM Plex Sans Bold"/>
                <a:cs typeface="IBM Plex Sans Bold"/>
                <a:sym typeface="IBM Plex Sans Bold"/>
              </a:rPr>
              <a:t>PER TIMESTEP ORDER OF EVENTS</a:t>
            </a:r>
          </a:p>
        </p:txBody>
      </p:sp>
      <mc:AlternateContent xmlns:mc="http://schemas.openxmlformats.org/markup-compatibility/2006" xmlns:a14="http://schemas.microsoft.com/office/drawing/2010/main">
        <mc:Choice Requires="a14">
          <p:sp>
            <p:nvSpPr>
              <p:cNvPr id="7" name="TextBox 7">
                <a:extLst>
                  <a:ext uri="{FF2B5EF4-FFF2-40B4-BE49-F238E27FC236}">
                    <a16:creationId xmlns:a16="http://schemas.microsoft.com/office/drawing/2014/main" id="{A042E83D-026F-7A83-F6EE-EFCE7413D59A}"/>
                  </a:ext>
                </a:extLst>
              </p:cNvPr>
              <p:cNvSpPr txBox="1"/>
              <p:nvPr/>
            </p:nvSpPr>
            <p:spPr>
              <a:xfrm>
                <a:off x="1028700" y="2004098"/>
                <a:ext cx="15138291" cy="738664"/>
              </a:xfrm>
              <a:prstGeom prst="rect">
                <a:avLst/>
              </a:prstGeom>
            </p:spPr>
            <p:txBody>
              <a:bodyPr lIns="0" tIns="0" rIns="0" bIns="0" rtlCol="0" anchor="t">
                <a:spAutoFit/>
              </a:bodyPr>
              <a:lstStyle/>
              <a:p>
                <a:pPr hangingPunct="0"/>
                <a:r>
                  <a:rPr lang="en-US" sz="2400" b="1" dirty="0">
                    <a:solidFill>
                      <a:schemeClr val="bg2"/>
                    </a:solidFill>
                  </a:rPr>
                  <a:t>Causal guarantee:</a:t>
                </a:r>
                <a:r>
                  <a:rPr lang="en-US" sz="2400" dirty="0">
                    <a:solidFill>
                      <a:schemeClr val="bg2"/>
                    </a:solidFill>
                  </a:rPr>
                  <a:t> the prediction </a:t>
                </a:r>
                <a14:m>
                  <m:oMath xmlns:m="http://schemas.openxmlformats.org/officeDocument/2006/math">
                    <m:acc>
                      <m:accPr>
                        <m:chr m:val="̂"/>
                        <m:ctrlPr>
                          <a:rPr lang="en-US" sz="2400" i="1">
                            <a:solidFill>
                              <a:schemeClr val="bg2"/>
                            </a:solidFill>
                            <a:latin typeface="Cambria Math" panose="02040503050406030204" pitchFamily="18" charset="0"/>
                          </a:rPr>
                        </m:ctrlPr>
                      </m:accPr>
                      <m:e>
                        <m:r>
                          <a:rPr lang="en-US" sz="2400" i="1">
                            <a:solidFill>
                              <a:schemeClr val="bg2"/>
                            </a:solidFill>
                            <a:latin typeface="Cambria Math" panose="02040503050406030204" pitchFamily="18" charset="0"/>
                          </a:rPr>
                          <m:t>𝑦</m:t>
                        </m:r>
                      </m:e>
                    </m:acc>
                    <m:d>
                      <m:dPr>
                        <m:ctrlPr>
                          <a:rPr lang="en-US" sz="2400" i="1">
                            <a:solidFill>
                              <a:schemeClr val="bg2"/>
                            </a:solidFill>
                            <a:latin typeface="Cambria Math" panose="02040503050406030204" pitchFamily="18" charset="0"/>
                          </a:rPr>
                        </m:ctrlPr>
                      </m:dPr>
                      <m:e>
                        <m:r>
                          <a:rPr lang="en-US" sz="2400" i="1">
                            <a:solidFill>
                              <a:schemeClr val="bg2"/>
                            </a:solidFill>
                            <a:latin typeface="Cambria Math" panose="02040503050406030204" pitchFamily="18" charset="0"/>
                          </a:rPr>
                          <m:t>𝑡</m:t>
                        </m:r>
                        <m:r>
                          <a:rPr lang="en-US" sz="2400">
                            <a:solidFill>
                              <a:schemeClr val="bg2"/>
                            </a:solidFill>
                            <a:latin typeface="Cambria Math" panose="02040503050406030204" pitchFamily="18" charset="0"/>
                          </a:rPr>
                          <m:t>+1</m:t>
                        </m:r>
                      </m:e>
                    </m:d>
                  </m:oMath>
                </a14:m>
                <a:r>
                  <a:rPr lang="en-US" sz="2400" dirty="0">
                    <a:solidFill>
                      <a:schemeClr val="bg2"/>
                    </a:solidFill>
                  </a:rPr>
                  <a:t> uses only observations available through </a:t>
                </a:r>
                <a14:m>
                  <m:oMath xmlns:m="http://schemas.openxmlformats.org/officeDocument/2006/math">
                    <m:r>
                      <a:rPr lang="en-US" sz="2400" i="1">
                        <a:solidFill>
                          <a:schemeClr val="bg2"/>
                        </a:solidFill>
                        <a:latin typeface="Cambria Math" panose="02040503050406030204" pitchFamily="18" charset="0"/>
                      </a:rPr>
                      <m:t>𝑦</m:t>
                    </m:r>
                    <m:d>
                      <m:dPr>
                        <m:ctrlPr>
                          <a:rPr lang="en-US" sz="2400" i="1">
                            <a:solidFill>
                              <a:schemeClr val="bg2"/>
                            </a:solidFill>
                            <a:latin typeface="Cambria Math" panose="02040503050406030204" pitchFamily="18" charset="0"/>
                          </a:rPr>
                        </m:ctrlPr>
                      </m:dPr>
                      <m:e>
                        <m:r>
                          <a:rPr lang="en-US" sz="2400" i="1">
                            <a:solidFill>
                              <a:schemeClr val="bg2"/>
                            </a:solidFill>
                            <a:latin typeface="Cambria Math" panose="02040503050406030204" pitchFamily="18" charset="0"/>
                          </a:rPr>
                          <m:t>𝑡</m:t>
                        </m:r>
                      </m:e>
                    </m:d>
                  </m:oMath>
                </a14:m>
                <a:r>
                  <a:rPr lang="en-US" sz="2400" dirty="0">
                    <a:solidFill>
                      <a:schemeClr val="bg2"/>
                    </a:solidFill>
                  </a:rPr>
                  <a:t>;  Future information never enters the current forecast.</a:t>
                </a:r>
              </a:p>
            </p:txBody>
          </p:sp>
        </mc:Choice>
        <mc:Fallback xmlns="">
          <p:sp>
            <p:nvSpPr>
              <p:cNvPr id="7" name="TextBox 7">
                <a:extLst>
                  <a:ext uri="{FF2B5EF4-FFF2-40B4-BE49-F238E27FC236}">
                    <a16:creationId xmlns:a16="http://schemas.microsoft.com/office/drawing/2014/main" id="{A042E83D-026F-7A83-F6EE-EFCE7413D59A}"/>
                  </a:ext>
                </a:extLst>
              </p:cNvPr>
              <p:cNvSpPr txBox="1">
                <a:spLocks noRot="1" noChangeAspect="1" noMove="1" noResize="1" noEditPoints="1" noAdjustHandles="1" noChangeArrowheads="1" noChangeShapeType="1" noTextEdit="1"/>
              </p:cNvSpPr>
              <p:nvPr/>
            </p:nvSpPr>
            <p:spPr>
              <a:xfrm>
                <a:off x="1028700" y="2004098"/>
                <a:ext cx="15138291" cy="738664"/>
              </a:xfrm>
              <a:prstGeom prst="rect">
                <a:avLst/>
              </a:prstGeom>
              <a:blipFill>
                <a:blip r:embed="rId3"/>
                <a:stretch>
                  <a:fillRect l="-1248" t="-13223" b="-239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8">
                <a:extLst>
                  <a:ext uri="{FF2B5EF4-FFF2-40B4-BE49-F238E27FC236}">
                    <a16:creationId xmlns:a16="http://schemas.microsoft.com/office/drawing/2014/main" id="{298DB68A-D435-BEA8-B54F-3699618D78AC}"/>
                  </a:ext>
                </a:extLst>
              </p:cNvPr>
              <p:cNvSpPr txBox="1"/>
              <p:nvPr/>
            </p:nvSpPr>
            <p:spPr>
              <a:xfrm>
                <a:off x="1145496" y="4089048"/>
                <a:ext cx="9979704" cy="3693319"/>
              </a:xfrm>
              <a:prstGeom prst="rect">
                <a:avLst/>
              </a:prstGeom>
            </p:spPr>
            <p:txBody>
              <a:bodyPr wrap="square" lIns="0" tIns="0" rIns="0" bIns="0" rtlCol="0" anchor="t">
                <a:spAutoFit/>
              </a:bodyPr>
              <a:lstStyle/>
              <a:p>
                <a:pPr hangingPunct="0"/>
                <a:r>
                  <a:rPr lang="en-US" sz="2000" dirty="0">
                    <a:solidFill>
                      <a:schemeClr val="bg2"/>
                    </a:solidFill>
                  </a:rPr>
                  <a:t>At timestep t, updates occur in the following order:</a:t>
                </a:r>
              </a:p>
              <a:p>
                <a:pPr hangingPunct="0"/>
                <a:endParaRPr lang="en-US" sz="2000" dirty="0">
                  <a:solidFill>
                    <a:schemeClr val="bg2"/>
                  </a:solidFill>
                </a:endParaRPr>
              </a:p>
              <a:p>
                <a:pPr marL="800100" lvl="1" indent="-342900" hangingPunct="0">
                  <a:buFont typeface="+mj-lt"/>
                  <a:buAutoNum type="arabicPeriod"/>
                </a:pPr>
                <a:r>
                  <a:rPr lang="en-US" sz="2000" dirty="0">
                    <a:solidFill>
                      <a:schemeClr val="bg2"/>
                    </a:solidFill>
                  </a:rPr>
                  <a:t>Resolve settled embeddings</a:t>
                </a:r>
              </a:p>
              <a:p>
                <a:pPr marL="800100" lvl="1" indent="-342900" hangingPunct="0">
                  <a:buFont typeface="+mj-lt"/>
                  <a:buAutoNum type="arabicPeriod"/>
                </a:pPr>
                <a:r>
                  <a:rPr lang="en-US" sz="2000" dirty="0">
                    <a:solidFill>
                      <a:schemeClr val="bg2"/>
                    </a:solidFill>
                  </a:rPr>
                  <a:t>Score previous predictions</a:t>
                </a:r>
              </a:p>
              <a:p>
                <a:pPr marL="800100" lvl="1" indent="-342900" hangingPunct="0">
                  <a:buFont typeface="+mj-lt"/>
                  <a:buAutoNum type="arabicPeriod"/>
                </a:pPr>
                <a:r>
                  <a:rPr lang="en-US" sz="2000" dirty="0">
                    <a:solidFill>
                      <a:schemeClr val="bg2"/>
                    </a:solidFill>
                  </a:rPr>
                  <a:t>Consolidate memory</a:t>
                </a:r>
              </a:p>
              <a:p>
                <a:pPr marL="800100" lvl="1" indent="-342900" hangingPunct="0">
                  <a:buFont typeface="+mj-lt"/>
                  <a:buAutoNum type="arabicPeriod"/>
                </a:pPr>
                <a:r>
                  <a:rPr lang="en-US" sz="2000" dirty="0">
                    <a:solidFill>
                      <a:schemeClr val="bg2"/>
                    </a:solidFill>
                  </a:rPr>
                  <a:t>Compute Kalman forecast</a:t>
                </a:r>
              </a:p>
              <a:p>
                <a:pPr marL="800100" lvl="1" indent="-342900" hangingPunct="0">
                  <a:buFont typeface="+mj-lt"/>
                  <a:buAutoNum type="arabicPeriod"/>
                </a:pPr>
                <a:r>
                  <a:rPr lang="en-US" sz="2000" dirty="0">
                    <a:solidFill>
                      <a:schemeClr val="bg2"/>
                    </a:solidFill>
                  </a:rPr>
                  <a:t>Compute follow track </a:t>
                </a:r>
              </a:p>
              <a:p>
                <a:pPr marL="800100" lvl="1" indent="-342900" hangingPunct="0">
                  <a:buFont typeface="+mj-lt"/>
                  <a:buAutoNum type="arabicPeriod"/>
                </a:pPr>
                <a:r>
                  <a:rPr lang="en-US" sz="2000" dirty="0">
                    <a:solidFill>
                      <a:schemeClr val="bg2"/>
                    </a:solidFill>
                  </a:rPr>
                  <a:t>Compute forecast track </a:t>
                </a:r>
              </a:p>
              <a:p>
                <a:pPr marL="800100" lvl="1" indent="-342900" hangingPunct="0">
                  <a:buFont typeface="+mj-lt"/>
                  <a:buAutoNum type="arabicPeriod"/>
                </a:pPr>
                <a:r>
                  <a:rPr lang="en-US" sz="2000" dirty="0">
                    <a:solidFill>
                      <a:schemeClr val="bg2"/>
                    </a:solidFill>
                  </a:rPr>
                  <a:t>Blend predictions </a:t>
                </a:r>
              </a:p>
              <a:p>
                <a:pPr hangingPunct="0"/>
                <a:endParaRPr lang="en-US" sz="2000" dirty="0">
                  <a:solidFill>
                    <a:schemeClr val="bg2"/>
                  </a:solidFill>
                </a:endParaRPr>
              </a:p>
              <a:p>
                <a:pPr hangingPunct="0"/>
                <a:r>
                  <a:rPr lang="en-US" sz="2000" dirty="0">
                    <a:solidFill>
                      <a:schemeClr val="bg2"/>
                    </a:solidFill>
                  </a:rPr>
                  <a:t>Flow:</a:t>
                </a:r>
              </a:p>
              <a:p>
                <a:pPr hangingPunct="0"/>
                <a:r>
                  <a:rPr lang="en-US" sz="2000" dirty="0">
                    <a:solidFill>
                      <a:schemeClr val="bg2"/>
                    </a:solidFill>
                  </a:rPr>
                  <a:t>	</a:t>
                </a:r>
                <a14:m>
                  <m:oMath xmlns:m="http://schemas.openxmlformats.org/officeDocument/2006/math">
                    <m:r>
                      <m:rPr>
                        <m:nor/>
                      </m:rPr>
                      <a:rPr lang="en-US" sz="2000" i="0" smtClean="0">
                        <a:solidFill>
                          <a:schemeClr val="bg2"/>
                        </a:solidFill>
                        <a:latin typeface="Cambria Math" panose="02040503050406030204" pitchFamily="18" charset="0"/>
                      </a:rPr>
                      <m:t>Observe</m:t>
                    </m:r>
                    <m:r>
                      <a:rPr lang="en-US" sz="2000" i="1">
                        <a:solidFill>
                          <a:schemeClr val="bg2"/>
                        </a:solidFill>
                        <a:latin typeface="Cambria Math" panose="02040503050406030204" pitchFamily="18" charset="0"/>
                      </a:rPr>
                      <m:t>→</m:t>
                    </m:r>
                    <m:r>
                      <m:rPr>
                        <m:nor/>
                      </m:rPr>
                      <a:rPr lang="en-US" sz="2000" i="0">
                        <a:solidFill>
                          <a:schemeClr val="bg2"/>
                        </a:solidFill>
                        <a:latin typeface="Cambria Math" panose="02040503050406030204" pitchFamily="18" charset="0"/>
                      </a:rPr>
                      <m:t>Resolve</m:t>
                    </m:r>
                    <m:r>
                      <a:rPr lang="en-US" sz="2000" i="1">
                        <a:solidFill>
                          <a:schemeClr val="bg2"/>
                        </a:solidFill>
                        <a:latin typeface="Cambria Math" panose="02040503050406030204" pitchFamily="18" charset="0"/>
                      </a:rPr>
                      <m:t>→</m:t>
                    </m:r>
                    <m:r>
                      <m:rPr>
                        <m:nor/>
                      </m:rPr>
                      <a:rPr lang="en-US" sz="2000" i="0">
                        <a:solidFill>
                          <a:schemeClr val="bg2"/>
                        </a:solidFill>
                        <a:latin typeface="Cambria Math" panose="02040503050406030204" pitchFamily="18" charset="0"/>
                      </a:rPr>
                      <m:t>Score</m:t>
                    </m:r>
                    <m:r>
                      <a:rPr lang="en-US" sz="2000" i="1">
                        <a:solidFill>
                          <a:schemeClr val="bg2"/>
                        </a:solidFill>
                        <a:latin typeface="Cambria Math" panose="02040503050406030204" pitchFamily="18" charset="0"/>
                      </a:rPr>
                      <m:t>→</m:t>
                    </m:r>
                    <m:r>
                      <m:rPr>
                        <m:nor/>
                      </m:rPr>
                      <a:rPr lang="en-US" sz="2000" i="0">
                        <a:solidFill>
                          <a:schemeClr val="bg2"/>
                        </a:solidFill>
                        <a:latin typeface="Cambria Math" panose="02040503050406030204" pitchFamily="18" charset="0"/>
                      </a:rPr>
                      <m:t>Consolidate</m:t>
                    </m:r>
                    <m:r>
                      <a:rPr lang="en-US" sz="2000" i="1">
                        <a:solidFill>
                          <a:schemeClr val="bg2"/>
                        </a:solidFill>
                        <a:latin typeface="Cambria Math" panose="02040503050406030204" pitchFamily="18" charset="0"/>
                      </a:rPr>
                      <m:t>→</m:t>
                    </m:r>
                    <m:r>
                      <m:rPr>
                        <m:nor/>
                      </m:rPr>
                      <a:rPr lang="en-US" sz="2000" i="0">
                        <a:solidFill>
                          <a:schemeClr val="bg2"/>
                        </a:solidFill>
                        <a:latin typeface="Cambria Math" panose="02040503050406030204" pitchFamily="18" charset="0"/>
                      </a:rPr>
                      <m:t>Predict</m:t>
                    </m:r>
                    <m:r>
                      <a:rPr lang="en-US" sz="2000" i="1">
                        <a:solidFill>
                          <a:schemeClr val="bg2"/>
                        </a:solidFill>
                        <a:latin typeface="Cambria Math" panose="02040503050406030204" pitchFamily="18" charset="0"/>
                      </a:rPr>
                      <m:t>→</m:t>
                    </m:r>
                    <m:r>
                      <m:rPr>
                        <m:nor/>
                      </m:rPr>
                      <a:rPr lang="en-US" sz="2000" i="0">
                        <a:solidFill>
                          <a:schemeClr val="bg2"/>
                        </a:solidFill>
                        <a:latin typeface="Cambria Math" panose="02040503050406030204" pitchFamily="18" charset="0"/>
                      </a:rPr>
                      <m:t>Blend</m:t>
                    </m:r>
                  </m:oMath>
                </a14:m>
                <a:endParaRPr lang="en-US" sz="2000" dirty="0">
                  <a:solidFill>
                    <a:schemeClr val="bg2"/>
                  </a:solidFill>
                </a:endParaRPr>
              </a:p>
            </p:txBody>
          </p:sp>
        </mc:Choice>
        <mc:Fallback xmlns="">
          <p:sp>
            <p:nvSpPr>
              <p:cNvPr id="8" name="TextBox 8">
                <a:extLst>
                  <a:ext uri="{FF2B5EF4-FFF2-40B4-BE49-F238E27FC236}">
                    <a16:creationId xmlns:a16="http://schemas.microsoft.com/office/drawing/2014/main" id="{298DB68A-D435-BEA8-B54F-3699618D78AC}"/>
                  </a:ext>
                </a:extLst>
              </p:cNvPr>
              <p:cNvSpPr txBox="1">
                <a:spLocks noRot="1" noChangeAspect="1" noMove="1" noResize="1" noEditPoints="1" noAdjustHandles="1" noChangeArrowheads="1" noChangeShapeType="1" noTextEdit="1"/>
              </p:cNvSpPr>
              <p:nvPr/>
            </p:nvSpPr>
            <p:spPr>
              <a:xfrm>
                <a:off x="1145496" y="4089048"/>
                <a:ext cx="9979704" cy="3693319"/>
              </a:xfrm>
              <a:prstGeom prst="rect">
                <a:avLst/>
              </a:prstGeom>
              <a:blipFill>
                <a:blip r:embed="rId4"/>
                <a:stretch>
                  <a:fillRect l="-1588" t="-2145"/>
                </a:stretch>
              </a:blipFill>
            </p:spPr>
            <p:txBody>
              <a:bodyPr/>
              <a:lstStyle/>
              <a:p>
                <a:r>
                  <a:rPr lang="en-US">
                    <a:noFill/>
                  </a:rPr>
                  <a:t> </a:t>
                </a:r>
              </a:p>
            </p:txBody>
          </p:sp>
        </mc:Fallback>
      </mc:AlternateContent>
      <p:sp>
        <p:nvSpPr>
          <p:cNvPr id="12" name="TextBox 12">
            <a:extLst>
              <a:ext uri="{FF2B5EF4-FFF2-40B4-BE49-F238E27FC236}">
                <a16:creationId xmlns:a16="http://schemas.microsoft.com/office/drawing/2014/main" id="{05ABE211-83D0-6EA8-5164-F4690B2DBD4C}"/>
              </a:ext>
            </a:extLst>
          </p:cNvPr>
          <p:cNvSpPr txBox="1"/>
          <p:nvPr/>
        </p:nvSpPr>
        <p:spPr>
          <a:xfrm>
            <a:off x="1145496" y="3369847"/>
            <a:ext cx="6559309" cy="413703"/>
          </a:xfrm>
          <a:prstGeom prst="rect">
            <a:avLst/>
          </a:prstGeom>
        </p:spPr>
        <p:txBody>
          <a:bodyPr lIns="0" tIns="0" rIns="0" bIns="0" rtlCol="0" anchor="t">
            <a:spAutoFit/>
          </a:bodyPr>
          <a:lstStyle/>
          <a:p>
            <a:pPr algn="l">
              <a:lnSpc>
                <a:spcPts val="3435"/>
              </a:lnSpc>
            </a:pPr>
            <a:r>
              <a:rPr lang="en-US" sz="2664" b="1" spc="26" dirty="0">
                <a:solidFill>
                  <a:srgbClr val="B7EE4A"/>
                </a:solidFill>
                <a:latin typeface="IBM Plex Sans Bold"/>
                <a:ea typeface="IBM Plex Sans Bold"/>
                <a:cs typeface="IBM Plex Sans Bold"/>
                <a:sym typeface="IBM Plex Sans Bold"/>
              </a:rPr>
              <a:t>Order of Operations </a:t>
            </a:r>
          </a:p>
        </p:txBody>
      </p:sp>
      <p:grpSp>
        <p:nvGrpSpPr>
          <p:cNvPr id="16" name="Group 16">
            <a:extLst>
              <a:ext uri="{FF2B5EF4-FFF2-40B4-BE49-F238E27FC236}">
                <a16:creationId xmlns:a16="http://schemas.microsoft.com/office/drawing/2014/main" id="{18FF990B-DDEF-3BF0-E55C-2752B5C0DEC9}"/>
              </a:ext>
            </a:extLst>
          </p:cNvPr>
          <p:cNvGrpSpPr/>
          <p:nvPr/>
        </p:nvGrpSpPr>
        <p:grpSpPr>
          <a:xfrm>
            <a:off x="0" y="8244826"/>
            <a:ext cx="2737757" cy="2737757"/>
            <a:chOff x="0" y="0"/>
            <a:chExt cx="3650343" cy="3650343"/>
          </a:xfrm>
        </p:grpSpPr>
        <p:sp>
          <p:nvSpPr>
            <p:cNvPr id="17" name="Freeform 17">
              <a:extLst>
                <a:ext uri="{FF2B5EF4-FFF2-40B4-BE49-F238E27FC236}">
                  <a16:creationId xmlns:a16="http://schemas.microsoft.com/office/drawing/2014/main" id="{7073DA20-BB00-3B71-A35E-1C0A1095FB29}"/>
                </a:ext>
              </a:extLst>
            </p:cNvPr>
            <p:cNvSpPr/>
            <p:nvPr/>
          </p:nvSpPr>
          <p:spPr>
            <a:xfrm>
              <a:off x="0" y="0"/>
              <a:ext cx="3650343" cy="3650343"/>
            </a:xfrm>
            <a:custGeom>
              <a:avLst/>
              <a:gdLst/>
              <a:ahLst/>
              <a:cxnLst/>
              <a:rect l="l" t="t" r="r" b="b"/>
              <a:pathLst>
                <a:path w="3650343" h="3650343">
                  <a:moveTo>
                    <a:pt x="0" y="0"/>
                  </a:moveTo>
                  <a:lnTo>
                    <a:pt x="3650343" y="0"/>
                  </a:lnTo>
                  <a:lnTo>
                    <a:pt x="3650343" y="3650343"/>
                  </a:lnTo>
                  <a:lnTo>
                    <a:pt x="0" y="3650343"/>
                  </a:lnTo>
                  <a:lnTo>
                    <a:pt x="0" y="0"/>
                  </a:lnTo>
                  <a:close/>
                </a:path>
              </a:pathLst>
            </a:custGeom>
            <a:blipFill>
              <a:blip>
                <a:alphaModFix amt="41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8" name="Freeform 18">
              <a:extLst>
                <a:ext uri="{FF2B5EF4-FFF2-40B4-BE49-F238E27FC236}">
                  <a16:creationId xmlns:a16="http://schemas.microsoft.com/office/drawing/2014/main" id="{F209F517-869D-6A5D-9AF2-88256D8D0BD2}"/>
                </a:ext>
              </a:extLst>
            </p:cNvPr>
            <p:cNvSpPr/>
            <p:nvPr/>
          </p:nvSpPr>
          <p:spPr>
            <a:xfrm>
              <a:off x="257215" y="827328"/>
              <a:ext cx="2779958" cy="1629020"/>
            </a:xfrm>
            <a:custGeom>
              <a:avLst/>
              <a:gdLst/>
              <a:ahLst/>
              <a:cxnLst/>
              <a:rect l="l" t="t" r="r" b="b"/>
              <a:pathLst>
                <a:path w="2779958" h="1629020">
                  <a:moveTo>
                    <a:pt x="0" y="0"/>
                  </a:moveTo>
                  <a:lnTo>
                    <a:pt x="2779958" y="0"/>
                  </a:lnTo>
                  <a:lnTo>
                    <a:pt x="2779958" y="1629020"/>
                  </a:lnTo>
                  <a:lnTo>
                    <a:pt x="0" y="1629020"/>
                  </a:lnTo>
                  <a:lnTo>
                    <a:pt x="0" y="0"/>
                  </a:lnTo>
                  <a:close/>
                </a:path>
              </a:pathLst>
            </a:custGeom>
            <a:blipFill>
              <a:blip r:embed="rId6"/>
              <a:stretch>
                <a:fillRect/>
              </a:stretch>
            </a:blipFill>
          </p:spPr>
          <p:txBody>
            <a:bodyPr/>
            <a:lstStyle/>
            <a:p>
              <a:endParaRPr lang="en-US"/>
            </a:p>
          </p:txBody>
        </p:sp>
      </p:grpSp>
      <p:sp>
        <p:nvSpPr>
          <p:cNvPr id="2" name="Slide Number Placeholder 1">
            <a:extLst>
              <a:ext uri="{FF2B5EF4-FFF2-40B4-BE49-F238E27FC236}">
                <a16:creationId xmlns:a16="http://schemas.microsoft.com/office/drawing/2014/main" id="{A79D1DB2-726E-D183-9FC4-063DD1CEE44C}"/>
              </a:ext>
            </a:extLst>
          </p:cNvPr>
          <p:cNvSpPr>
            <a:spLocks noGrp="1"/>
          </p:cNvSpPr>
          <p:nvPr>
            <p:ph type="sldNum" sz="quarter" idx="12"/>
          </p:nvPr>
        </p:nvSpPr>
        <p:spPr>
          <a:xfrm>
            <a:off x="15925800" y="9715500"/>
            <a:ext cx="2133600" cy="365125"/>
          </a:xfrm>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21728078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lin ang="5400000"/>
        </a:gradFill>
        <a:effectLst/>
      </p:bgPr>
    </p:bg>
    <p:spTree>
      <p:nvGrpSpPr>
        <p:cNvPr id="1" name=""/>
        <p:cNvGrpSpPr/>
        <p:nvPr/>
      </p:nvGrpSpPr>
      <p:grpSpPr>
        <a:xfrm>
          <a:off x="0" y="0"/>
          <a:ext cx="0" cy="0"/>
          <a:chOff x="0" y="0"/>
          <a:chExt cx="0" cy="0"/>
        </a:xfrm>
      </p:grpSpPr>
      <p:sp>
        <p:nvSpPr>
          <p:cNvPr id="3" name="Freeform 3"/>
          <p:cNvSpPr/>
          <p:nvPr/>
        </p:nvSpPr>
        <p:spPr>
          <a:xfrm rot="328611">
            <a:off x="15125395" y="3691329"/>
            <a:ext cx="1407070" cy="1407070"/>
          </a:xfrm>
          <a:custGeom>
            <a:avLst/>
            <a:gdLst/>
            <a:ahLst/>
            <a:cxnLst/>
            <a:rect l="l" t="t" r="r" b="b"/>
            <a:pathLst>
              <a:path w="1407070" h="1407070">
                <a:moveTo>
                  <a:pt x="0" y="0"/>
                </a:moveTo>
                <a:lnTo>
                  <a:pt x="1407070" y="0"/>
                </a:lnTo>
                <a:lnTo>
                  <a:pt x="1407070" y="1407070"/>
                </a:lnTo>
                <a:lnTo>
                  <a:pt x="0" y="1407070"/>
                </a:lnTo>
                <a:lnTo>
                  <a:pt x="0" y="0"/>
                </a:lnTo>
                <a:close/>
              </a:path>
            </a:pathLst>
          </a:custGeom>
          <a:blipFill>
            <a:blip>
              <a:alphaModFix amt="44999"/>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028700" y="923925"/>
            <a:ext cx="15445245" cy="908655"/>
          </a:xfrm>
          <a:prstGeom prst="rect">
            <a:avLst/>
          </a:prstGeom>
        </p:spPr>
        <p:txBody>
          <a:bodyPr lIns="0" tIns="0" rIns="0" bIns="0" rtlCol="0" anchor="t">
            <a:spAutoFit/>
          </a:bodyPr>
          <a:lstStyle/>
          <a:p>
            <a:pPr algn="l">
              <a:lnSpc>
                <a:spcPts val="7351"/>
              </a:lnSpc>
            </a:pPr>
            <a:r>
              <a:rPr lang="en-US" sz="5876" b="1" spc="-17" dirty="0">
                <a:solidFill>
                  <a:srgbClr val="D7E5D8"/>
                </a:solidFill>
                <a:latin typeface="IBM Plex Sans Bold"/>
                <a:ea typeface="IBM Plex Sans Bold"/>
                <a:cs typeface="IBM Plex Sans Bold"/>
                <a:sym typeface="IBM Plex Sans Bold"/>
              </a:rPr>
              <a:t>EVALUATION</a:t>
            </a:r>
          </a:p>
        </p:txBody>
      </p:sp>
      <p:sp>
        <p:nvSpPr>
          <p:cNvPr id="5" name="TextBox 5"/>
          <p:cNvSpPr txBox="1"/>
          <p:nvPr/>
        </p:nvSpPr>
        <p:spPr>
          <a:xfrm>
            <a:off x="1086041" y="2051017"/>
            <a:ext cx="15138291" cy="692497"/>
          </a:xfrm>
          <a:prstGeom prst="rect">
            <a:avLst/>
          </a:prstGeom>
        </p:spPr>
        <p:txBody>
          <a:bodyPr lIns="0" tIns="0" rIns="0" bIns="0" rtlCol="0" anchor="t">
            <a:spAutoFit/>
          </a:bodyPr>
          <a:lstStyle/>
          <a:p>
            <a:pPr>
              <a:lnSpc>
                <a:spcPts val="2699"/>
              </a:lnSpc>
            </a:pPr>
            <a:r>
              <a:rPr lang="en-US" sz="2400" dirty="0">
                <a:solidFill>
                  <a:schemeClr val="bg2"/>
                </a:solidFill>
              </a:rPr>
              <a:t>The evaluation aims to determine whether </a:t>
            </a:r>
            <a:r>
              <a:rPr lang="en-US" sz="2400" dirty="0" err="1">
                <a:solidFill>
                  <a:schemeClr val="bg2"/>
                </a:solidFill>
              </a:rPr>
              <a:t>MycoMorph</a:t>
            </a:r>
            <a:r>
              <a:rPr lang="en-US" sz="2400" dirty="0">
                <a:solidFill>
                  <a:schemeClr val="bg2"/>
                </a:solidFill>
              </a:rPr>
              <a:t> can remain accurate under categorical drift while adapting online, preserving prior regimes, and avoiding costly retraining.</a:t>
            </a:r>
            <a:endParaRPr lang="en-US" sz="2400" spc="-5" dirty="0">
              <a:solidFill>
                <a:schemeClr val="bg2"/>
              </a:solidFill>
              <a:latin typeface="IBM Plex Sans"/>
              <a:ea typeface="IBM Plex Sans"/>
              <a:cs typeface="IBM Plex Sans"/>
              <a:sym typeface="IBM Plex Sans"/>
            </a:endParaRPr>
          </a:p>
        </p:txBody>
      </p:sp>
      <p:sp>
        <p:nvSpPr>
          <p:cNvPr id="6" name="AutoShape 6"/>
          <p:cNvSpPr/>
          <p:nvPr/>
        </p:nvSpPr>
        <p:spPr>
          <a:xfrm flipH="1">
            <a:off x="1086041" y="4746685"/>
            <a:ext cx="13442745" cy="0"/>
          </a:xfrm>
          <a:prstGeom prst="line">
            <a:avLst/>
          </a:prstGeom>
          <a:ln w="9525" cap="flat">
            <a:solidFill>
              <a:srgbClr val="FFFFFF"/>
            </a:solidFill>
            <a:prstDash val="solid"/>
            <a:headEnd type="none" w="sm" len="sm"/>
            <a:tailEnd type="none" w="sm" len="sm"/>
          </a:ln>
        </p:spPr>
        <p:txBody>
          <a:bodyPr/>
          <a:lstStyle/>
          <a:p>
            <a:endParaRPr lang="en-US"/>
          </a:p>
        </p:txBody>
      </p:sp>
      <p:sp>
        <p:nvSpPr>
          <p:cNvPr id="7" name="TextBox 7"/>
          <p:cNvSpPr txBox="1"/>
          <p:nvPr/>
        </p:nvSpPr>
        <p:spPr>
          <a:xfrm>
            <a:off x="6772743" y="3637751"/>
            <a:ext cx="7460909" cy="669542"/>
          </a:xfrm>
          <a:prstGeom prst="rect">
            <a:avLst/>
          </a:prstGeom>
        </p:spPr>
        <p:txBody>
          <a:bodyPr lIns="0" tIns="0" rIns="0" bIns="0" rtlCol="0" anchor="t">
            <a:spAutoFit/>
          </a:bodyPr>
          <a:lstStyle/>
          <a:p>
            <a:pPr marL="285750" indent="-285750" algn="l">
              <a:lnSpc>
                <a:spcPts val="2664"/>
              </a:lnSpc>
              <a:buFont typeface="Arial" panose="020B0604020202020204" pitchFamily="34" charset="0"/>
              <a:buChar char="•"/>
            </a:pPr>
            <a:r>
              <a:rPr lang="en-US" sz="1653" spc="23" dirty="0">
                <a:solidFill>
                  <a:srgbClr val="D7E5D8"/>
                </a:solidFill>
                <a:latin typeface="Amicale Light"/>
                <a:ea typeface="Amicale Light"/>
                <a:cs typeface="Amicale Light"/>
                <a:sym typeface="Amicale Light"/>
              </a:rPr>
              <a:t>10 Synthetic signals, spanning 4 categories of drift type</a:t>
            </a:r>
          </a:p>
          <a:p>
            <a:pPr marL="285750" indent="-285750" algn="l">
              <a:lnSpc>
                <a:spcPts val="2664"/>
              </a:lnSpc>
              <a:buFont typeface="Arial" panose="020B0604020202020204" pitchFamily="34" charset="0"/>
              <a:buChar char="•"/>
            </a:pPr>
            <a:r>
              <a:rPr lang="en-US" sz="1653" spc="23" dirty="0">
                <a:solidFill>
                  <a:srgbClr val="D7E5D8"/>
                </a:solidFill>
                <a:latin typeface="Amicale Light"/>
                <a:ea typeface="Amicale Light"/>
                <a:cs typeface="Amicale Light"/>
                <a:sym typeface="Amicale Light"/>
              </a:rPr>
              <a:t>3 seeds x 3 noise levels for each signal </a:t>
            </a:r>
          </a:p>
        </p:txBody>
      </p:sp>
      <p:sp>
        <p:nvSpPr>
          <p:cNvPr id="8" name="TextBox 8"/>
          <p:cNvSpPr txBox="1"/>
          <p:nvPr/>
        </p:nvSpPr>
        <p:spPr>
          <a:xfrm>
            <a:off x="1086041" y="3627393"/>
            <a:ext cx="5347546" cy="387991"/>
          </a:xfrm>
          <a:prstGeom prst="rect">
            <a:avLst/>
          </a:prstGeom>
        </p:spPr>
        <p:txBody>
          <a:bodyPr lIns="0" tIns="0" rIns="0" bIns="0" rtlCol="0" anchor="t">
            <a:spAutoFit/>
          </a:bodyPr>
          <a:lstStyle/>
          <a:p>
            <a:pPr algn="l">
              <a:lnSpc>
                <a:spcPts val="3177"/>
              </a:lnSpc>
            </a:pPr>
            <a:r>
              <a:rPr lang="en-US" sz="2464" b="1" spc="24" dirty="0">
                <a:solidFill>
                  <a:srgbClr val="B7EE4A"/>
                </a:solidFill>
                <a:latin typeface="IBM Plex Sans Bold"/>
                <a:ea typeface="IBM Plex Sans Bold"/>
                <a:cs typeface="IBM Plex Sans Bold"/>
                <a:sym typeface="IBM Plex Sans Bold"/>
              </a:rPr>
              <a:t>Synthetic Signal Panel </a:t>
            </a:r>
          </a:p>
        </p:txBody>
      </p:sp>
      <p:sp>
        <p:nvSpPr>
          <p:cNvPr id="9" name="AutoShape 9"/>
          <p:cNvSpPr/>
          <p:nvPr/>
        </p:nvSpPr>
        <p:spPr>
          <a:xfrm flipH="1">
            <a:off x="1086041" y="7581627"/>
            <a:ext cx="13442745" cy="0"/>
          </a:xfrm>
          <a:prstGeom prst="line">
            <a:avLst/>
          </a:prstGeom>
          <a:ln w="9525" cap="flat">
            <a:solidFill>
              <a:srgbClr val="FFFFFF"/>
            </a:solidFill>
            <a:prstDash val="solid"/>
            <a:headEnd type="none" w="sm" len="sm"/>
            <a:tailEnd type="none" w="sm" len="sm"/>
          </a:ln>
        </p:spPr>
        <p:txBody>
          <a:bodyPr/>
          <a:lstStyle/>
          <a:p>
            <a:endParaRPr lang="en-US"/>
          </a:p>
        </p:txBody>
      </p:sp>
      <p:sp>
        <p:nvSpPr>
          <p:cNvPr id="10" name="TextBox 10"/>
          <p:cNvSpPr txBox="1"/>
          <p:nvPr/>
        </p:nvSpPr>
        <p:spPr>
          <a:xfrm>
            <a:off x="6772743" y="6472692"/>
            <a:ext cx="7460909" cy="669542"/>
          </a:xfrm>
          <a:prstGeom prst="rect">
            <a:avLst/>
          </a:prstGeom>
        </p:spPr>
        <p:txBody>
          <a:bodyPr lIns="0" tIns="0" rIns="0" bIns="0" rtlCol="0" anchor="t">
            <a:spAutoFit/>
          </a:bodyPr>
          <a:lstStyle/>
          <a:p>
            <a:pPr marL="285750" indent="-285750" algn="l">
              <a:lnSpc>
                <a:spcPts val="2664"/>
              </a:lnSpc>
              <a:buFont typeface="Arial" panose="020B0604020202020204" pitchFamily="34" charset="0"/>
              <a:buChar char="•"/>
            </a:pPr>
            <a:r>
              <a:rPr lang="en-US" sz="1653" spc="23" dirty="0">
                <a:solidFill>
                  <a:srgbClr val="D7E5D8"/>
                </a:solidFill>
                <a:latin typeface="Amicale Light"/>
                <a:ea typeface="Amicale Light"/>
                <a:cs typeface="Amicale Light"/>
                <a:sym typeface="Amicale Light"/>
              </a:rPr>
              <a:t>Analysis of internal graph structure and statistics for temperature signal</a:t>
            </a:r>
          </a:p>
          <a:p>
            <a:pPr marL="285750" indent="-285750" algn="l">
              <a:lnSpc>
                <a:spcPts val="2664"/>
              </a:lnSpc>
              <a:buFont typeface="Arial" panose="020B0604020202020204" pitchFamily="34" charset="0"/>
              <a:buChar char="•"/>
            </a:pPr>
            <a:r>
              <a:rPr lang="en-US" sz="1653" spc="23" dirty="0">
                <a:solidFill>
                  <a:srgbClr val="D7E5D8"/>
                </a:solidFill>
                <a:latin typeface="Amicale Light"/>
                <a:ea typeface="Amicale Light"/>
                <a:cs typeface="Amicale Light"/>
                <a:sym typeface="Amicale Light"/>
              </a:rPr>
              <a:t>Reactivation of pathways, node counts, and alignment scores</a:t>
            </a:r>
          </a:p>
        </p:txBody>
      </p:sp>
      <p:sp>
        <p:nvSpPr>
          <p:cNvPr id="11" name="TextBox 11"/>
          <p:cNvSpPr txBox="1"/>
          <p:nvPr/>
        </p:nvSpPr>
        <p:spPr>
          <a:xfrm>
            <a:off x="1086041" y="6462334"/>
            <a:ext cx="5347546" cy="391239"/>
          </a:xfrm>
          <a:prstGeom prst="rect">
            <a:avLst/>
          </a:prstGeom>
        </p:spPr>
        <p:txBody>
          <a:bodyPr lIns="0" tIns="0" rIns="0" bIns="0" rtlCol="0" anchor="t">
            <a:spAutoFit/>
          </a:bodyPr>
          <a:lstStyle/>
          <a:p>
            <a:pPr algn="l">
              <a:lnSpc>
                <a:spcPts val="3177"/>
              </a:lnSpc>
            </a:pPr>
            <a:r>
              <a:rPr lang="en-US" sz="2464" b="1" spc="24" dirty="0">
                <a:solidFill>
                  <a:srgbClr val="B7EE4A"/>
                </a:solidFill>
                <a:latin typeface="IBM Plex Sans Bold"/>
                <a:ea typeface="IBM Plex Sans Bold"/>
                <a:cs typeface="IBM Plex Sans Bold"/>
                <a:sym typeface="IBM Plex Sans Bold"/>
              </a:rPr>
              <a:t>Structural Analysis </a:t>
            </a:r>
          </a:p>
        </p:txBody>
      </p:sp>
      <p:sp>
        <p:nvSpPr>
          <p:cNvPr id="12" name="AutoShape 12"/>
          <p:cNvSpPr/>
          <p:nvPr/>
        </p:nvSpPr>
        <p:spPr>
          <a:xfrm flipH="1">
            <a:off x="1086041" y="6164156"/>
            <a:ext cx="13442745" cy="0"/>
          </a:xfrm>
          <a:prstGeom prst="line">
            <a:avLst/>
          </a:prstGeom>
          <a:ln w="9525" cap="flat">
            <a:solidFill>
              <a:srgbClr val="FFFFFF"/>
            </a:solidFill>
            <a:prstDash val="solid"/>
            <a:headEnd type="none" w="sm" len="sm"/>
            <a:tailEnd type="none" w="sm" len="sm"/>
          </a:ln>
        </p:spPr>
        <p:txBody>
          <a:bodyPr/>
          <a:lstStyle/>
          <a:p>
            <a:endParaRPr lang="en-US"/>
          </a:p>
        </p:txBody>
      </p:sp>
      <p:sp>
        <p:nvSpPr>
          <p:cNvPr id="13" name="TextBox 13"/>
          <p:cNvSpPr txBox="1"/>
          <p:nvPr/>
        </p:nvSpPr>
        <p:spPr>
          <a:xfrm>
            <a:off x="6772743" y="5055222"/>
            <a:ext cx="8467256" cy="669542"/>
          </a:xfrm>
          <a:prstGeom prst="rect">
            <a:avLst/>
          </a:prstGeom>
        </p:spPr>
        <p:txBody>
          <a:bodyPr wrap="square" lIns="0" tIns="0" rIns="0" bIns="0" rtlCol="0" anchor="t">
            <a:spAutoFit/>
          </a:bodyPr>
          <a:lstStyle/>
          <a:p>
            <a:pPr marL="285750" indent="-285750" algn="l">
              <a:lnSpc>
                <a:spcPts val="2664"/>
              </a:lnSpc>
              <a:buFont typeface="Arial" panose="020B0604020202020204" pitchFamily="34" charset="0"/>
              <a:buChar char="•"/>
            </a:pPr>
            <a:r>
              <a:rPr lang="en-US" sz="1653" spc="23" dirty="0">
                <a:solidFill>
                  <a:srgbClr val="D7E5D8"/>
                </a:solidFill>
                <a:latin typeface="Amicale Light"/>
                <a:ea typeface="Amicale Light"/>
                <a:cs typeface="Amicale Light"/>
                <a:sym typeface="Amicale Light"/>
              </a:rPr>
              <a:t>15 real-world datasets spanning 5 different environments</a:t>
            </a:r>
          </a:p>
          <a:p>
            <a:pPr marL="285750" indent="-285750" algn="l">
              <a:lnSpc>
                <a:spcPts val="2664"/>
              </a:lnSpc>
              <a:buFont typeface="Arial" panose="020B0604020202020204" pitchFamily="34" charset="0"/>
              <a:buChar char="•"/>
            </a:pPr>
            <a:r>
              <a:rPr lang="en-US" sz="1653" spc="23" dirty="0">
                <a:solidFill>
                  <a:srgbClr val="D7E5D8"/>
                </a:solidFill>
                <a:latin typeface="Amicale Light"/>
                <a:ea typeface="Amicale Light"/>
                <a:cs typeface="Amicale Light"/>
                <a:sym typeface="Amicale Light"/>
              </a:rPr>
              <a:t>Medical signals, electricity, weather data, bearing vibration, and motor speed</a:t>
            </a:r>
          </a:p>
        </p:txBody>
      </p:sp>
      <p:sp>
        <p:nvSpPr>
          <p:cNvPr id="14" name="TextBox 14"/>
          <p:cNvSpPr txBox="1"/>
          <p:nvPr/>
        </p:nvSpPr>
        <p:spPr>
          <a:xfrm>
            <a:off x="1086041" y="5044863"/>
            <a:ext cx="5347546" cy="391239"/>
          </a:xfrm>
          <a:prstGeom prst="rect">
            <a:avLst/>
          </a:prstGeom>
        </p:spPr>
        <p:txBody>
          <a:bodyPr lIns="0" tIns="0" rIns="0" bIns="0" rtlCol="0" anchor="t">
            <a:spAutoFit/>
          </a:bodyPr>
          <a:lstStyle/>
          <a:p>
            <a:pPr algn="l">
              <a:lnSpc>
                <a:spcPts val="3177"/>
              </a:lnSpc>
            </a:pPr>
            <a:r>
              <a:rPr lang="en-US" sz="2464" b="1" spc="24" dirty="0">
                <a:solidFill>
                  <a:srgbClr val="B7EE4A"/>
                </a:solidFill>
                <a:latin typeface="IBM Plex Sans Bold"/>
                <a:ea typeface="IBM Plex Sans Bold"/>
                <a:cs typeface="IBM Plex Sans Bold"/>
                <a:sym typeface="IBM Plex Sans Bold"/>
              </a:rPr>
              <a:t>Real World Signal Panel </a:t>
            </a:r>
          </a:p>
        </p:txBody>
      </p:sp>
      <p:sp>
        <p:nvSpPr>
          <p:cNvPr id="15" name="AutoShape 15"/>
          <p:cNvSpPr/>
          <p:nvPr/>
        </p:nvSpPr>
        <p:spPr>
          <a:xfrm flipH="1">
            <a:off x="1086041" y="8999097"/>
            <a:ext cx="13442745" cy="0"/>
          </a:xfrm>
          <a:prstGeom prst="line">
            <a:avLst/>
          </a:prstGeom>
          <a:ln w="9525" cap="flat">
            <a:solidFill>
              <a:srgbClr val="FFFFFF"/>
            </a:solidFill>
            <a:prstDash val="solid"/>
            <a:headEnd type="none" w="sm" len="sm"/>
            <a:tailEnd type="none" w="sm" len="sm"/>
          </a:ln>
        </p:spPr>
        <p:txBody>
          <a:bodyPr/>
          <a:lstStyle/>
          <a:p>
            <a:endParaRPr lang="en-US"/>
          </a:p>
        </p:txBody>
      </p:sp>
      <p:sp>
        <p:nvSpPr>
          <p:cNvPr id="16" name="TextBox 16"/>
          <p:cNvSpPr txBox="1"/>
          <p:nvPr/>
        </p:nvSpPr>
        <p:spPr>
          <a:xfrm>
            <a:off x="6772743" y="7890163"/>
            <a:ext cx="8467256" cy="669542"/>
          </a:xfrm>
          <a:prstGeom prst="rect">
            <a:avLst/>
          </a:prstGeom>
        </p:spPr>
        <p:txBody>
          <a:bodyPr wrap="square" lIns="0" tIns="0" rIns="0" bIns="0" rtlCol="0" anchor="t">
            <a:spAutoFit/>
          </a:bodyPr>
          <a:lstStyle/>
          <a:p>
            <a:pPr marL="285750" indent="-285750">
              <a:lnSpc>
                <a:spcPts val="2664"/>
              </a:lnSpc>
              <a:buFont typeface="Arial" panose="020B0604020202020204" pitchFamily="34" charset="0"/>
              <a:buChar char="•"/>
            </a:pPr>
            <a:r>
              <a:rPr lang="en-US" sz="1653" spc="23" dirty="0">
                <a:solidFill>
                  <a:srgbClr val="D7E5D8"/>
                </a:solidFill>
                <a:latin typeface="Amicale Light"/>
                <a:ea typeface="Amicale Light"/>
                <a:cs typeface="Amicale Light"/>
                <a:sym typeface="Amicale Light"/>
              </a:rPr>
              <a:t>Examination of individual graph components</a:t>
            </a:r>
          </a:p>
          <a:p>
            <a:pPr marL="285750" indent="-285750">
              <a:lnSpc>
                <a:spcPts val="2664"/>
              </a:lnSpc>
              <a:buFont typeface="Arial" panose="020B0604020202020204" pitchFamily="34" charset="0"/>
              <a:buChar char="•"/>
            </a:pPr>
            <a:r>
              <a:rPr lang="en-US" sz="1653" spc="23" dirty="0">
                <a:solidFill>
                  <a:srgbClr val="D7E5D8"/>
                </a:solidFill>
                <a:latin typeface="Amicale Light"/>
                <a:ea typeface="Amicale Light"/>
                <a:cs typeface="Amicale Light"/>
                <a:sym typeface="Amicale Light"/>
              </a:rPr>
              <a:t>Contributions of each component during hybrid prediction</a:t>
            </a:r>
          </a:p>
        </p:txBody>
      </p:sp>
      <p:sp>
        <p:nvSpPr>
          <p:cNvPr id="17" name="TextBox 17"/>
          <p:cNvSpPr txBox="1"/>
          <p:nvPr/>
        </p:nvSpPr>
        <p:spPr>
          <a:xfrm>
            <a:off x="1086041" y="7879805"/>
            <a:ext cx="5347546" cy="391239"/>
          </a:xfrm>
          <a:prstGeom prst="rect">
            <a:avLst/>
          </a:prstGeom>
        </p:spPr>
        <p:txBody>
          <a:bodyPr lIns="0" tIns="0" rIns="0" bIns="0" rtlCol="0" anchor="t">
            <a:spAutoFit/>
          </a:bodyPr>
          <a:lstStyle/>
          <a:p>
            <a:pPr algn="l">
              <a:lnSpc>
                <a:spcPts val="3177"/>
              </a:lnSpc>
            </a:pPr>
            <a:r>
              <a:rPr lang="en-US" sz="2464" b="1" spc="24" dirty="0">
                <a:solidFill>
                  <a:srgbClr val="B7EE4A"/>
                </a:solidFill>
                <a:latin typeface="IBM Plex Sans Bold"/>
                <a:ea typeface="IBM Plex Sans Bold"/>
                <a:cs typeface="IBM Plex Sans Bold"/>
                <a:sym typeface="IBM Plex Sans Bold"/>
              </a:rPr>
              <a:t>Ablation Testing</a:t>
            </a:r>
          </a:p>
        </p:txBody>
      </p:sp>
      <p:sp>
        <p:nvSpPr>
          <p:cNvPr id="18" name="AutoShape 18"/>
          <p:cNvSpPr/>
          <p:nvPr/>
        </p:nvSpPr>
        <p:spPr>
          <a:xfrm flipV="1">
            <a:off x="17674808" y="0"/>
            <a:ext cx="0" cy="5159670"/>
          </a:xfrm>
          <a:prstGeom prst="line">
            <a:avLst/>
          </a:prstGeom>
          <a:ln w="19050" cap="flat">
            <a:solidFill>
              <a:srgbClr val="FFFFFF"/>
            </a:solidFill>
            <a:prstDash val="solid"/>
            <a:headEnd type="none" w="sm" len="sm"/>
            <a:tailEnd type="none" w="sm" len="sm"/>
          </a:ln>
        </p:spPr>
        <p:txBody>
          <a:bodyPr/>
          <a:lstStyle/>
          <a:p>
            <a:endParaRPr lang="en-US"/>
          </a:p>
        </p:txBody>
      </p:sp>
      <p:sp>
        <p:nvSpPr>
          <p:cNvPr id="19" name="AutoShape 19"/>
          <p:cNvSpPr/>
          <p:nvPr/>
        </p:nvSpPr>
        <p:spPr>
          <a:xfrm flipV="1">
            <a:off x="17674808" y="5659105"/>
            <a:ext cx="0" cy="960120"/>
          </a:xfrm>
          <a:prstGeom prst="line">
            <a:avLst/>
          </a:prstGeom>
          <a:ln w="19050" cap="flat">
            <a:solidFill>
              <a:srgbClr val="FFFFFF"/>
            </a:solidFill>
            <a:prstDash val="solid"/>
            <a:headEnd type="none" w="sm" len="sm"/>
            <a:tailEnd type="none" w="sm" len="sm"/>
          </a:ln>
        </p:spPr>
        <p:txBody>
          <a:bodyPr/>
          <a:lstStyle/>
          <a:p>
            <a:endParaRPr lang="en-US"/>
          </a:p>
        </p:txBody>
      </p:sp>
      <p:grpSp>
        <p:nvGrpSpPr>
          <p:cNvPr id="20" name="Group 20"/>
          <p:cNvGrpSpPr/>
          <p:nvPr/>
        </p:nvGrpSpPr>
        <p:grpSpPr>
          <a:xfrm>
            <a:off x="0" y="8244826"/>
            <a:ext cx="2737757" cy="2737757"/>
            <a:chOff x="0" y="0"/>
            <a:chExt cx="3650343" cy="3650343"/>
          </a:xfrm>
        </p:grpSpPr>
        <p:sp>
          <p:nvSpPr>
            <p:cNvPr id="21" name="Freeform 21"/>
            <p:cNvSpPr/>
            <p:nvPr/>
          </p:nvSpPr>
          <p:spPr>
            <a:xfrm>
              <a:off x="0" y="0"/>
              <a:ext cx="3650343" cy="3650343"/>
            </a:xfrm>
            <a:custGeom>
              <a:avLst/>
              <a:gdLst/>
              <a:ahLst/>
              <a:cxnLst/>
              <a:rect l="l" t="t" r="r" b="b"/>
              <a:pathLst>
                <a:path w="3650343" h="3650343">
                  <a:moveTo>
                    <a:pt x="0" y="0"/>
                  </a:moveTo>
                  <a:lnTo>
                    <a:pt x="3650343" y="0"/>
                  </a:lnTo>
                  <a:lnTo>
                    <a:pt x="3650343" y="3650343"/>
                  </a:lnTo>
                  <a:lnTo>
                    <a:pt x="0" y="3650343"/>
                  </a:lnTo>
                  <a:lnTo>
                    <a:pt x="0" y="0"/>
                  </a:lnTo>
                  <a:close/>
                </a:path>
              </a:pathLst>
            </a:custGeom>
            <a:blipFill>
              <a:blip>
                <a:alphaModFix amt="4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2" name="Freeform 22"/>
            <p:cNvSpPr/>
            <p:nvPr/>
          </p:nvSpPr>
          <p:spPr>
            <a:xfrm>
              <a:off x="257215" y="827328"/>
              <a:ext cx="2779958" cy="1629020"/>
            </a:xfrm>
            <a:custGeom>
              <a:avLst/>
              <a:gdLst/>
              <a:ahLst/>
              <a:cxnLst/>
              <a:rect l="l" t="t" r="r" b="b"/>
              <a:pathLst>
                <a:path w="2779958" h="1629020">
                  <a:moveTo>
                    <a:pt x="0" y="0"/>
                  </a:moveTo>
                  <a:lnTo>
                    <a:pt x="2779958" y="0"/>
                  </a:lnTo>
                  <a:lnTo>
                    <a:pt x="2779958" y="1629020"/>
                  </a:lnTo>
                  <a:lnTo>
                    <a:pt x="0" y="1629020"/>
                  </a:lnTo>
                  <a:lnTo>
                    <a:pt x="0" y="0"/>
                  </a:lnTo>
                  <a:close/>
                </a:path>
              </a:pathLst>
            </a:custGeom>
            <a:blipFill>
              <a:blip r:embed="rId4"/>
              <a:stretch>
                <a:fillRect/>
              </a:stretch>
            </a:blipFill>
          </p:spPr>
          <p:txBody>
            <a:bodyPr/>
            <a:lstStyle/>
            <a:p>
              <a:endParaRPr lang="en-US"/>
            </a:p>
          </p:txBody>
        </p:sp>
      </p:grpSp>
      <p:sp>
        <p:nvSpPr>
          <p:cNvPr id="24" name="Slide Number Placeholder 23">
            <a:extLst>
              <a:ext uri="{FF2B5EF4-FFF2-40B4-BE49-F238E27FC236}">
                <a16:creationId xmlns:a16="http://schemas.microsoft.com/office/drawing/2014/main" id="{0B15A3B0-BBAD-3448-5130-98E5FB13D685}"/>
              </a:ext>
            </a:extLst>
          </p:cNvPr>
          <p:cNvSpPr>
            <a:spLocks noGrp="1"/>
          </p:cNvSpPr>
          <p:nvPr>
            <p:ph type="sldNum" sz="quarter" idx="12"/>
          </p:nvPr>
        </p:nvSpPr>
        <p:spPr>
          <a:xfrm>
            <a:off x="15925800" y="9715500"/>
            <a:ext cx="2133600" cy="365125"/>
          </a:xfrm>
        </p:spPr>
        <p:txBody>
          <a:bodyPr/>
          <a:lstStyle/>
          <a:p>
            <a:fld id="{B6F15528-21DE-4FAA-801E-634DDDAF4B2B}"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lin ang="5400000"/>
        </a:gradFill>
        <a:effectLst/>
      </p:bgPr>
    </p:bg>
    <p:spTree>
      <p:nvGrpSpPr>
        <p:cNvPr id="1" name="">
          <a:extLst>
            <a:ext uri="{FF2B5EF4-FFF2-40B4-BE49-F238E27FC236}">
              <a16:creationId xmlns:a16="http://schemas.microsoft.com/office/drawing/2014/main" id="{4D59EC55-5A05-6C7C-70DF-50C9DE850A3C}"/>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539836B2-E069-EF25-C93B-769C4697C922}"/>
              </a:ext>
            </a:extLst>
          </p:cNvPr>
          <p:cNvSpPr txBox="1"/>
          <p:nvPr/>
        </p:nvSpPr>
        <p:spPr>
          <a:xfrm>
            <a:off x="1677381" y="2250811"/>
            <a:ext cx="13029219" cy="962186"/>
          </a:xfrm>
          <a:prstGeom prst="rect">
            <a:avLst/>
          </a:prstGeom>
        </p:spPr>
        <p:txBody>
          <a:bodyPr wrap="square" lIns="0" tIns="0" rIns="0" bIns="0" rtlCol="0" anchor="t">
            <a:spAutoFit/>
          </a:bodyPr>
          <a:lstStyle/>
          <a:p>
            <a:pPr>
              <a:lnSpc>
                <a:spcPts val="2538"/>
              </a:lnSpc>
            </a:pPr>
            <a:r>
              <a:rPr lang="en-US" sz="2400" dirty="0">
                <a:solidFill>
                  <a:schemeClr val="bg2"/>
                </a:solidFill>
              </a:rPr>
              <a:t>The baselines span classical state-space, recurrent, linear decomposition, and transformer-based forecasting families, allowing </a:t>
            </a:r>
            <a:r>
              <a:rPr lang="en-US" sz="2400" dirty="0" err="1">
                <a:solidFill>
                  <a:schemeClr val="bg2"/>
                </a:solidFill>
              </a:rPr>
              <a:t>MycoMorph</a:t>
            </a:r>
            <a:r>
              <a:rPr lang="en-US" sz="2400" dirty="0">
                <a:solidFill>
                  <a:schemeClr val="bg2"/>
                </a:solidFill>
              </a:rPr>
              <a:t> to be evaluated against a broad range of modeling assumptions rather than a single architecture type.</a:t>
            </a:r>
            <a:endParaRPr lang="en-US" sz="2400" spc="-4" dirty="0">
              <a:solidFill>
                <a:schemeClr val="bg2"/>
              </a:solidFill>
              <a:latin typeface="IBM Plex Sans"/>
              <a:ea typeface="IBM Plex Sans"/>
              <a:cs typeface="IBM Plex Sans"/>
              <a:sym typeface="IBM Plex Sans"/>
            </a:endParaRPr>
          </a:p>
        </p:txBody>
      </p:sp>
      <p:sp>
        <p:nvSpPr>
          <p:cNvPr id="3" name="TextBox 3">
            <a:extLst>
              <a:ext uri="{FF2B5EF4-FFF2-40B4-BE49-F238E27FC236}">
                <a16:creationId xmlns:a16="http://schemas.microsoft.com/office/drawing/2014/main" id="{C57D5934-B7EE-516D-AA84-2AC05AC21EB2}"/>
              </a:ext>
            </a:extLst>
          </p:cNvPr>
          <p:cNvSpPr txBox="1"/>
          <p:nvPr/>
        </p:nvSpPr>
        <p:spPr>
          <a:xfrm>
            <a:off x="1677380" y="1097131"/>
            <a:ext cx="11505219" cy="903004"/>
          </a:xfrm>
          <a:prstGeom prst="rect">
            <a:avLst/>
          </a:prstGeom>
        </p:spPr>
        <p:txBody>
          <a:bodyPr wrap="square" lIns="0" tIns="0" rIns="0" bIns="0" rtlCol="0" anchor="t">
            <a:spAutoFit/>
          </a:bodyPr>
          <a:lstStyle/>
          <a:p>
            <a:pPr algn="l">
              <a:lnSpc>
                <a:spcPts val="7351"/>
              </a:lnSpc>
            </a:pPr>
            <a:r>
              <a:rPr lang="en-US" sz="5876" b="1" spc="-17" dirty="0">
                <a:solidFill>
                  <a:srgbClr val="D7E5D8"/>
                </a:solidFill>
                <a:latin typeface="IBM Plex Sans Bold"/>
                <a:ea typeface="IBM Plex Sans Bold"/>
                <a:cs typeface="IBM Plex Sans Bold"/>
                <a:sym typeface="IBM Plex Sans Bold"/>
              </a:rPr>
              <a:t>BASELINE MODELS</a:t>
            </a:r>
          </a:p>
        </p:txBody>
      </p:sp>
      <p:sp>
        <p:nvSpPr>
          <p:cNvPr id="4" name="AutoShape 4">
            <a:extLst>
              <a:ext uri="{FF2B5EF4-FFF2-40B4-BE49-F238E27FC236}">
                <a16:creationId xmlns:a16="http://schemas.microsoft.com/office/drawing/2014/main" id="{BF1E1F51-8A7B-8DFA-EDA6-EA35D30C318E}"/>
              </a:ext>
            </a:extLst>
          </p:cNvPr>
          <p:cNvSpPr/>
          <p:nvPr/>
        </p:nvSpPr>
        <p:spPr>
          <a:xfrm flipV="1">
            <a:off x="500412" y="62275"/>
            <a:ext cx="0" cy="6492240"/>
          </a:xfrm>
          <a:prstGeom prst="line">
            <a:avLst/>
          </a:prstGeom>
          <a:ln w="19050" cap="flat">
            <a:solidFill>
              <a:srgbClr val="FFFFFF"/>
            </a:solidFill>
            <a:prstDash val="solid"/>
            <a:headEnd type="none" w="sm" len="sm"/>
            <a:tailEnd type="none" w="sm" len="sm"/>
          </a:ln>
        </p:spPr>
        <p:txBody>
          <a:bodyPr/>
          <a:lstStyle/>
          <a:p>
            <a:endParaRPr lang="en-US"/>
          </a:p>
        </p:txBody>
      </p:sp>
      <p:sp>
        <p:nvSpPr>
          <p:cNvPr id="5" name="AutoShape 5">
            <a:extLst>
              <a:ext uri="{FF2B5EF4-FFF2-40B4-BE49-F238E27FC236}">
                <a16:creationId xmlns:a16="http://schemas.microsoft.com/office/drawing/2014/main" id="{985323A9-02A9-FD7B-C034-7E5FAADE2D61}"/>
              </a:ext>
            </a:extLst>
          </p:cNvPr>
          <p:cNvSpPr/>
          <p:nvPr/>
        </p:nvSpPr>
        <p:spPr>
          <a:xfrm flipV="1">
            <a:off x="500412" y="7053950"/>
            <a:ext cx="0" cy="960120"/>
          </a:xfrm>
          <a:prstGeom prst="line">
            <a:avLst/>
          </a:prstGeom>
          <a:ln w="19050" cap="flat">
            <a:solidFill>
              <a:srgbClr val="FFFFFF"/>
            </a:solidFill>
            <a:prstDash val="solid"/>
            <a:headEnd type="none" w="sm" len="sm"/>
            <a:tailEnd type="none" w="sm" len="sm"/>
          </a:ln>
        </p:spPr>
        <p:txBody>
          <a:bodyPr/>
          <a:lstStyle/>
          <a:p>
            <a:endParaRPr lang="en-US"/>
          </a:p>
        </p:txBody>
      </p:sp>
      <p:sp>
        <p:nvSpPr>
          <p:cNvPr id="6" name="AutoShape 6">
            <a:extLst>
              <a:ext uri="{FF2B5EF4-FFF2-40B4-BE49-F238E27FC236}">
                <a16:creationId xmlns:a16="http://schemas.microsoft.com/office/drawing/2014/main" id="{65D29642-F06D-889C-A5AE-534C3FBE6A41}"/>
              </a:ext>
            </a:extLst>
          </p:cNvPr>
          <p:cNvSpPr/>
          <p:nvPr/>
        </p:nvSpPr>
        <p:spPr>
          <a:xfrm flipV="1">
            <a:off x="500412" y="8446345"/>
            <a:ext cx="0" cy="442454"/>
          </a:xfrm>
          <a:prstGeom prst="line">
            <a:avLst/>
          </a:prstGeom>
          <a:ln w="19050" cap="flat">
            <a:solidFill>
              <a:srgbClr val="FFFFFF"/>
            </a:solidFill>
            <a:prstDash val="solid"/>
            <a:headEnd type="none" w="sm" len="sm"/>
            <a:tailEnd type="none" w="sm" len="sm"/>
          </a:ln>
        </p:spPr>
        <p:txBody>
          <a:bodyPr/>
          <a:lstStyle/>
          <a:p>
            <a:endParaRPr lang="en-US"/>
          </a:p>
        </p:txBody>
      </p:sp>
      <p:sp>
        <p:nvSpPr>
          <p:cNvPr id="19" name="Freeform 19">
            <a:extLst>
              <a:ext uri="{FF2B5EF4-FFF2-40B4-BE49-F238E27FC236}">
                <a16:creationId xmlns:a16="http://schemas.microsoft.com/office/drawing/2014/main" id="{64E672A1-BA5B-9E5F-BCBB-02B772022497}"/>
              </a:ext>
            </a:extLst>
          </p:cNvPr>
          <p:cNvSpPr/>
          <p:nvPr/>
        </p:nvSpPr>
        <p:spPr>
          <a:xfrm>
            <a:off x="15957252" y="1682187"/>
            <a:ext cx="2330748" cy="2330748"/>
          </a:xfrm>
          <a:custGeom>
            <a:avLst/>
            <a:gdLst/>
            <a:ahLst/>
            <a:cxnLst/>
            <a:rect l="l" t="t" r="r" b="b"/>
            <a:pathLst>
              <a:path w="2330748" h="2330748">
                <a:moveTo>
                  <a:pt x="0" y="0"/>
                </a:moveTo>
                <a:lnTo>
                  <a:pt x="2330748" y="0"/>
                </a:lnTo>
                <a:lnTo>
                  <a:pt x="2330748" y="2330748"/>
                </a:lnTo>
                <a:lnTo>
                  <a:pt x="0" y="2330748"/>
                </a:lnTo>
                <a:lnTo>
                  <a:pt x="0" y="0"/>
                </a:lnTo>
                <a:close/>
              </a:path>
            </a:pathLst>
          </a:custGeom>
          <a:blipFill>
            <a:blip>
              <a:alphaModFix amt="37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0" name="Freeform 20">
            <a:extLst>
              <a:ext uri="{FF2B5EF4-FFF2-40B4-BE49-F238E27FC236}">
                <a16:creationId xmlns:a16="http://schemas.microsoft.com/office/drawing/2014/main" id="{47CC1F0B-A54B-AEAC-1BE8-3747A91A0187}"/>
              </a:ext>
            </a:extLst>
          </p:cNvPr>
          <p:cNvSpPr/>
          <p:nvPr/>
        </p:nvSpPr>
        <p:spPr>
          <a:xfrm>
            <a:off x="10931283" y="9538070"/>
            <a:ext cx="964746" cy="964746"/>
          </a:xfrm>
          <a:custGeom>
            <a:avLst/>
            <a:gdLst/>
            <a:ahLst/>
            <a:cxnLst/>
            <a:rect l="l" t="t" r="r" b="b"/>
            <a:pathLst>
              <a:path w="964746" h="964746">
                <a:moveTo>
                  <a:pt x="0" y="0"/>
                </a:moveTo>
                <a:lnTo>
                  <a:pt x="964746" y="0"/>
                </a:lnTo>
                <a:lnTo>
                  <a:pt x="964746" y="964747"/>
                </a:lnTo>
                <a:lnTo>
                  <a:pt x="0" y="964747"/>
                </a:lnTo>
                <a:lnTo>
                  <a:pt x="0" y="0"/>
                </a:lnTo>
                <a:close/>
              </a:path>
            </a:pathLst>
          </a:custGeom>
          <a:blipFill>
            <a:blip>
              <a:alphaModFix amt="37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1" name="Freeform 21">
            <a:extLst>
              <a:ext uri="{FF2B5EF4-FFF2-40B4-BE49-F238E27FC236}">
                <a16:creationId xmlns:a16="http://schemas.microsoft.com/office/drawing/2014/main" id="{A8986241-C96F-6A0D-E723-FA4DB8AAA08E}"/>
              </a:ext>
            </a:extLst>
          </p:cNvPr>
          <p:cNvSpPr/>
          <p:nvPr/>
        </p:nvSpPr>
        <p:spPr>
          <a:xfrm>
            <a:off x="8899544" y="8542949"/>
            <a:ext cx="715351" cy="715351"/>
          </a:xfrm>
          <a:custGeom>
            <a:avLst/>
            <a:gdLst/>
            <a:ahLst/>
            <a:cxnLst/>
            <a:rect l="l" t="t" r="r" b="b"/>
            <a:pathLst>
              <a:path w="715351" h="715351">
                <a:moveTo>
                  <a:pt x="0" y="0"/>
                </a:moveTo>
                <a:lnTo>
                  <a:pt x="715351" y="0"/>
                </a:lnTo>
                <a:lnTo>
                  <a:pt x="715351" y="715351"/>
                </a:lnTo>
                <a:lnTo>
                  <a:pt x="0" y="715351"/>
                </a:lnTo>
                <a:lnTo>
                  <a:pt x="0" y="0"/>
                </a:lnTo>
                <a:close/>
              </a:path>
            </a:pathLst>
          </a:custGeom>
          <a:blipFill>
            <a:blip>
              <a:alphaModFix amt="37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22" name="Group 22">
            <a:extLst>
              <a:ext uri="{FF2B5EF4-FFF2-40B4-BE49-F238E27FC236}">
                <a16:creationId xmlns:a16="http://schemas.microsoft.com/office/drawing/2014/main" id="{5831A870-24DF-98B8-AE48-5670BAC8B3A6}"/>
              </a:ext>
            </a:extLst>
          </p:cNvPr>
          <p:cNvGrpSpPr/>
          <p:nvPr/>
        </p:nvGrpSpPr>
        <p:grpSpPr>
          <a:xfrm>
            <a:off x="0" y="8244826"/>
            <a:ext cx="2737757" cy="2737757"/>
            <a:chOff x="0" y="0"/>
            <a:chExt cx="3650343" cy="3650343"/>
          </a:xfrm>
        </p:grpSpPr>
        <p:sp>
          <p:nvSpPr>
            <p:cNvPr id="23" name="Freeform 23">
              <a:extLst>
                <a:ext uri="{FF2B5EF4-FFF2-40B4-BE49-F238E27FC236}">
                  <a16:creationId xmlns:a16="http://schemas.microsoft.com/office/drawing/2014/main" id="{813B59AB-B15E-C209-9FA8-E9E3350D0333}"/>
                </a:ext>
              </a:extLst>
            </p:cNvPr>
            <p:cNvSpPr/>
            <p:nvPr/>
          </p:nvSpPr>
          <p:spPr>
            <a:xfrm>
              <a:off x="0" y="0"/>
              <a:ext cx="3650343" cy="3650343"/>
            </a:xfrm>
            <a:custGeom>
              <a:avLst/>
              <a:gdLst/>
              <a:ahLst/>
              <a:cxnLst/>
              <a:rect l="l" t="t" r="r" b="b"/>
              <a:pathLst>
                <a:path w="3650343" h="3650343">
                  <a:moveTo>
                    <a:pt x="0" y="0"/>
                  </a:moveTo>
                  <a:lnTo>
                    <a:pt x="3650343" y="0"/>
                  </a:lnTo>
                  <a:lnTo>
                    <a:pt x="3650343" y="3650343"/>
                  </a:lnTo>
                  <a:lnTo>
                    <a:pt x="0" y="3650343"/>
                  </a:lnTo>
                  <a:lnTo>
                    <a:pt x="0" y="0"/>
                  </a:lnTo>
                  <a:close/>
                </a:path>
              </a:pathLst>
            </a:custGeom>
            <a:blipFill>
              <a:blip>
                <a:alphaModFix amt="4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4" name="Freeform 24">
              <a:extLst>
                <a:ext uri="{FF2B5EF4-FFF2-40B4-BE49-F238E27FC236}">
                  <a16:creationId xmlns:a16="http://schemas.microsoft.com/office/drawing/2014/main" id="{8BB61FA9-0A87-F19F-9959-001A5F2FBF69}"/>
                </a:ext>
              </a:extLst>
            </p:cNvPr>
            <p:cNvSpPr/>
            <p:nvPr/>
          </p:nvSpPr>
          <p:spPr>
            <a:xfrm>
              <a:off x="257215" y="827328"/>
              <a:ext cx="2779958" cy="1629020"/>
            </a:xfrm>
            <a:custGeom>
              <a:avLst/>
              <a:gdLst/>
              <a:ahLst/>
              <a:cxnLst/>
              <a:rect l="l" t="t" r="r" b="b"/>
              <a:pathLst>
                <a:path w="2779958" h="1629020">
                  <a:moveTo>
                    <a:pt x="0" y="0"/>
                  </a:moveTo>
                  <a:lnTo>
                    <a:pt x="2779958" y="0"/>
                  </a:lnTo>
                  <a:lnTo>
                    <a:pt x="2779958" y="1629020"/>
                  </a:lnTo>
                  <a:lnTo>
                    <a:pt x="0" y="1629020"/>
                  </a:lnTo>
                  <a:lnTo>
                    <a:pt x="0" y="0"/>
                  </a:lnTo>
                  <a:close/>
                </a:path>
              </a:pathLst>
            </a:custGeom>
            <a:blipFill>
              <a:blip r:embed="rId4"/>
              <a:stretch>
                <a:fillRect/>
              </a:stretch>
            </a:blipFill>
          </p:spPr>
          <p:txBody>
            <a:bodyPr/>
            <a:lstStyle/>
            <a:p>
              <a:endParaRPr lang="en-US"/>
            </a:p>
          </p:txBody>
        </p:sp>
      </p:grpSp>
      <p:sp>
        <p:nvSpPr>
          <p:cNvPr id="25" name="TextBox 25">
            <a:extLst>
              <a:ext uri="{FF2B5EF4-FFF2-40B4-BE49-F238E27FC236}">
                <a16:creationId xmlns:a16="http://schemas.microsoft.com/office/drawing/2014/main" id="{477C1050-4BB4-1CFE-826A-BC91DD0A1B22}"/>
              </a:ext>
            </a:extLst>
          </p:cNvPr>
          <p:cNvSpPr txBox="1"/>
          <p:nvPr/>
        </p:nvSpPr>
        <p:spPr>
          <a:xfrm>
            <a:off x="17260960" y="9210675"/>
            <a:ext cx="149079" cy="335541"/>
          </a:xfrm>
          <a:prstGeom prst="rect">
            <a:avLst/>
          </a:prstGeom>
        </p:spPr>
        <p:txBody>
          <a:bodyPr wrap="none" lIns="0" tIns="0" rIns="0" bIns="0" rtlCol="0" anchor="t">
            <a:spAutoFit/>
          </a:bodyPr>
          <a:lstStyle/>
          <a:p>
            <a:pPr algn="ctr">
              <a:lnSpc>
                <a:spcPts val="2800"/>
              </a:lnSpc>
              <a:spcBef>
                <a:spcPct val="0"/>
              </a:spcBef>
            </a:pPr>
            <a:r>
              <a:rPr lang="en-US" sz="2000" dirty="0">
                <a:solidFill>
                  <a:srgbClr val="000000"/>
                </a:solidFill>
                <a:latin typeface="Canva Sans"/>
                <a:ea typeface="Canva Sans"/>
                <a:cs typeface="Canva Sans"/>
                <a:sym typeface="Canva Sans"/>
              </a:rPr>
              <a:t>3</a:t>
            </a:r>
          </a:p>
        </p:txBody>
      </p:sp>
      <p:graphicFrame>
        <p:nvGraphicFramePr>
          <p:cNvPr id="8" name="Table 7">
            <a:extLst>
              <a:ext uri="{FF2B5EF4-FFF2-40B4-BE49-F238E27FC236}">
                <a16:creationId xmlns:a16="http://schemas.microsoft.com/office/drawing/2014/main" id="{5A1B9C50-7D4E-4AE8-E641-9ECBCBE37E06}"/>
              </a:ext>
            </a:extLst>
          </p:cNvPr>
          <p:cNvGraphicFramePr>
            <a:graphicFrameLocks noGrp="1"/>
          </p:cNvGraphicFramePr>
          <p:nvPr>
            <p:extLst>
              <p:ext uri="{D42A27DB-BD31-4B8C-83A1-F6EECF244321}">
                <p14:modId xmlns:p14="http://schemas.microsoft.com/office/powerpoint/2010/main" val="1396016416"/>
              </p:ext>
            </p:extLst>
          </p:nvPr>
        </p:nvGraphicFramePr>
        <p:xfrm>
          <a:off x="2458068" y="3718046"/>
          <a:ext cx="13371863" cy="5260120"/>
        </p:xfrm>
        <a:graphic>
          <a:graphicData uri="http://schemas.openxmlformats.org/drawingml/2006/table">
            <a:tbl>
              <a:tblPr firstRow="1" firstCol="1" bandRow="1">
                <a:tableStyleId>{C083E6E3-FA7D-4D7B-A595-EF9225AFEA82}</a:tableStyleId>
              </a:tblPr>
              <a:tblGrid>
                <a:gridCol w="2672420">
                  <a:extLst>
                    <a:ext uri="{9D8B030D-6E8A-4147-A177-3AD203B41FA5}">
                      <a16:colId xmlns:a16="http://schemas.microsoft.com/office/drawing/2014/main" val="2966136457"/>
                    </a:ext>
                  </a:extLst>
                </a:gridCol>
                <a:gridCol w="5093958">
                  <a:extLst>
                    <a:ext uri="{9D8B030D-6E8A-4147-A177-3AD203B41FA5}">
                      <a16:colId xmlns:a16="http://schemas.microsoft.com/office/drawing/2014/main" val="2235298322"/>
                    </a:ext>
                  </a:extLst>
                </a:gridCol>
                <a:gridCol w="5605485">
                  <a:extLst>
                    <a:ext uri="{9D8B030D-6E8A-4147-A177-3AD203B41FA5}">
                      <a16:colId xmlns:a16="http://schemas.microsoft.com/office/drawing/2014/main" val="2366979016"/>
                    </a:ext>
                  </a:extLst>
                </a:gridCol>
              </a:tblGrid>
              <a:tr h="407708">
                <a:tc>
                  <a:txBody>
                    <a:bodyPr/>
                    <a:lstStyle/>
                    <a:p>
                      <a:pPr marL="0" marR="0" algn="ctr" hangingPunct="0">
                        <a:buNone/>
                      </a:pPr>
                      <a:r>
                        <a:rPr lang="en-US" sz="2400" kern="100" dirty="0">
                          <a:solidFill>
                            <a:schemeClr val="bg2"/>
                          </a:solidFill>
                          <a:effectLst/>
                        </a:rPr>
                        <a:t>Model</a:t>
                      </a:r>
                      <a:endParaRPr lang="en-US" sz="24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ctr" hangingPunct="0">
                        <a:buNone/>
                      </a:pPr>
                      <a:r>
                        <a:rPr lang="en-US" sz="2400" kern="100">
                          <a:solidFill>
                            <a:schemeClr val="bg2"/>
                          </a:solidFill>
                          <a:effectLst/>
                        </a:rPr>
                        <a:t>Family</a:t>
                      </a:r>
                      <a:endParaRPr lang="en-US" sz="24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ctr" hangingPunct="0">
                        <a:buNone/>
                      </a:pPr>
                      <a:r>
                        <a:rPr lang="en-US" sz="2400" kern="100" dirty="0">
                          <a:solidFill>
                            <a:schemeClr val="bg2"/>
                          </a:solidFill>
                          <a:effectLst/>
                        </a:rPr>
                        <a:t>Calibration or training</a:t>
                      </a:r>
                      <a:endParaRPr lang="en-US" sz="24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extLst>
                  <a:ext uri="{0D108BD9-81ED-4DB2-BD59-A6C34878D82A}">
                    <a16:rowId xmlns:a16="http://schemas.microsoft.com/office/drawing/2014/main" val="3657871355"/>
                  </a:ext>
                </a:extLst>
              </a:tr>
              <a:tr h="727167">
                <a:tc>
                  <a:txBody>
                    <a:bodyPr/>
                    <a:lstStyle/>
                    <a:p>
                      <a:pPr marL="0" marR="0" algn="l" hangingPunct="0">
                        <a:buNone/>
                      </a:pPr>
                      <a:r>
                        <a:rPr lang="en-US" sz="2400" kern="100" dirty="0">
                          <a:solidFill>
                            <a:schemeClr val="bg2"/>
                          </a:solidFill>
                          <a:effectLst/>
                          <a:latin typeface="+mn-lt"/>
                          <a:cs typeface="Times New Roman" panose="02020603050405020304" pitchFamily="18" charset="0"/>
                        </a:rPr>
                        <a:t>Persistence</a:t>
                      </a:r>
                      <a:endParaRPr lang="en-US" sz="2400" kern="100" dirty="0">
                        <a:solidFill>
                          <a:schemeClr val="bg2"/>
                        </a:solidFill>
                        <a:effectLst/>
                        <a:latin typeface="+mn-lt"/>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l" hangingPunct="0">
                        <a:buNone/>
                      </a:pPr>
                      <a:r>
                        <a:rPr lang="en-US" sz="2400" kern="100" dirty="0">
                          <a:solidFill>
                            <a:schemeClr val="bg2"/>
                          </a:solidFill>
                          <a:effectLst/>
                        </a:rPr>
                        <a:t>Naive reference</a:t>
                      </a:r>
                      <a:endParaRPr lang="en-US" sz="24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l" hangingPunct="0">
                        <a:buNone/>
                      </a:pPr>
                      <a:r>
                        <a:rPr lang="en-US" sz="2400" kern="100" dirty="0">
                          <a:solidFill>
                            <a:schemeClr val="bg2"/>
                          </a:solidFill>
                          <a:effectLst/>
                        </a:rPr>
                        <a:t>None (next value = current value)</a:t>
                      </a:r>
                      <a:endParaRPr lang="en-US" sz="24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extLst>
                  <a:ext uri="{0D108BD9-81ED-4DB2-BD59-A6C34878D82A}">
                    <a16:rowId xmlns:a16="http://schemas.microsoft.com/office/drawing/2014/main" val="94604427"/>
                  </a:ext>
                </a:extLst>
              </a:tr>
              <a:tr h="815416">
                <a:tc>
                  <a:txBody>
                    <a:bodyPr/>
                    <a:lstStyle/>
                    <a:p>
                      <a:pPr marL="0" marR="0" algn="l" hangingPunct="0">
                        <a:buNone/>
                      </a:pPr>
                      <a:r>
                        <a:rPr lang="en-US" sz="2400" kern="100" dirty="0">
                          <a:solidFill>
                            <a:schemeClr val="bg2"/>
                          </a:solidFill>
                          <a:effectLst/>
                          <a:latin typeface="+mn-lt"/>
                          <a:cs typeface="Times New Roman" panose="02020603050405020304" pitchFamily="18" charset="0"/>
                        </a:rPr>
                        <a:t>Constant-velocity </a:t>
                      </a:r>
                    </a:p>
                    <a:p>
                      <a:pPr marL="0" marR="0" algn="l" hangingPunct="0">
                        <a:buNone/>
                      </a:pPr>
                      <a:r>
                        <a:rPr lang="en-US" sz="2400" kern="100" dirty="0">
                          <a:solidFill>
                            <a:schemeClr val="bg2"/>
                          </a:solidFill>
                          <a:effectLst/>
                          <a:latin typeface="+mn-lt"/>
                          <a:cs typeface="Times New Roman" panose="02020603050405020304" pitchFamily="18" charset="0"/>
                        </a:rPr>
                        <a:t>Kalman</a:t>
                      </a:r>
                      <a:endParaRPr lang="en-US" sz="2400" kern="100" dirty="0">
                        <a:solidFill>
                          <a:schemeClr val="bg2"/>
                        </a:solidFill>
                        <a:effectLst/>
                        <a:latin typeface="+mn-lt"/>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l" hangingPunct="0">
                        <a:buNone/>
                      </a:pPr>
                      <a:r>
                        <a:rPr lang="en-US" sz="2400" kern="100" dirty="0">
                          <a:solidFill>
                            <a:schemeClr val="bg2"/>
                          </a:solidFill>
                          <a:effectLst/>
                        </a:rPr>
                        <a:t>Local linear state-space model</a:t>
                      </a:r>
                      <a:endParaRPr lang="en-US" sz="24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l" hangingPunct="0">
                        <a:buNone/>
                      </a:pPr>
                      <a:r>
                        <a:rPr lang="en-US" sz="2400" kern="100" dirty="0">
                          <a:solidFill>
                            <a:schemeClr val="bg2"/>
                          </a:solidFill>
                          <a:effectLst/>
                        </a:rPr>
                        <a:t>Fits process and observation noise by innovation likelihood</a:t>
                      </a:r>
                      <a:endParaRPr lang="en-US" sz="24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extLst>
                  <a:ext uri="{0D108BD9-81ED-4DB2-BD59-A6C34878D82A}">
                    <a16:rowId xmlns:a16="http://schemas.microsoft.com/office/drawing/2014/main" val="4059550163"/>
                  </a:ext>
                </a:extLst>
              </a:tr>
              <a:tr h="741986">
                <a:tc>
                  <a:txBody>
                    <a:bodyPr/>
                    <a:lstStyle/>
                    <a:p>
                      <a:pPr marL="0" marR="0" algn="l" hangingPunct="0">
                        <a:buNone/>
                      </a:pPr>
                      <a:r>
                        <a:rPr lang="en-US" sz="2400" kern="100" dirty="0" err="1">
                          <a:solidFill>
                            <a:schemeClr val="bg2"/>
                          </a:solidFill>
                          <a:effectLst/>
                          <a:latin typeface="+mn-lt"/>
                          <a:cs typeface="Times New Roman" panose="02020603050405020304" pitchFamily="18" charset="0"/>
                        </a:rPr>
                        <a:t>DLinear</a:t>
                      </a:r>
                      <a:endParaRPr lang="en-US" sz="2400" kern="100" dirty="0">
                        <a:solidFill>
                          <a:schemeClr val="bg2"/>
                        </a:solidFill>
                        <a:effectLst/>
                        <a:latin typeface="+mn-lt"/>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l" hangingPunct="0">
                        <a:buNone/>
                      </a:pPr>
                      <a:r>
                        <a:rPr lang="en-US" sz="2400" kern="100" dirty="0">
                          <a:solidFill>
                            <a:schemeClr val="bg2"/>
                          </a:solidFill>
                          <a:effectLst/>
                        </a:rPr>
                        <a:t>Linear decomposition forecaster</a:t>
                      </a:r>
                      <a:endParaRPr lang="en-US" sz="24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l" hangingPunct="0">
                        <a:buNone/>
                      </a:pPr>
                      <a:r>
                        <a:rPr lang="en-US" sz="2400" kern="100">
                          <a:solidFill>
                            <a:schemeClr val="bg2"/>
                          </a:solidFill>
                          <a:effectLst/>
                        </a:rPr>
                        <a:t>Trained once on calibration interval</a:t>
                      </a:r>
                      <a:endParaRPr lang="en-US" sz="24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extLst>
                  <a:ext uri="{0D108BD9-81ED-4DB2-BD59-A6C34878D82A}">
                    <a16:rowId xmlns:a16="http://schemas.microsoft.com/office/drawing/2014/main" val="573519828"/>
                  </a:ext>
                </a:extLst>
              </a:tr>
              <a:tr h="727167">
                <a:tc>
                  <a:txBody>
                    <a:bodyPr/>
                    <a:lstStyle/>
                    <a:p>
                      <a:pPr marL="0" marR="0" algn="l" hangingPunct="0">
                        <a:buNone/>
                      </a:pPr>
                      <a:r>
                        <a:rPr lang="en-US" sz="2400" kern="100" dirty="0">
                          <a:solidFill>
                            <a:schemeClr val="bg2"/>
                          </a:solidFill>
                          <a:effectLst/>
                          <a:latin typeface="+mn-lt"/>
                          <a:cs typeface="Times New Roman" panose="02020603050405020304" pitchFamily="18" charset="0"/>
                        </a:rPr>
                        <a:t>LSTM</a:t>
                      </a:r>
                      <a:endParaRPr lang="en-US" sz="2400" kern="100" dirty="0">
                        <a:solidFill>
                          <a:schemeClr val="bg2"/>
                        </a:solidFill>
                        <a:effectLst/>
                        <a:latin typeface="+mn-lt"/>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l" hangingPunct="0">
                        <a:buNone/>
                      </a:pPr>
                      <a:r>
                        <a:rPr lang="en-US" sz="2400" kern="100" dirty="0">
                          <a:solidFill>
                            <a:schemeClr val="bg2"/>
                          </a:solidFill>
                          <a:effectLst/>
                        </a:rPr>
                        <a:t>Recurrent neural forecaster</a:t>
                      </a:r>
                      <a:endParaRPr lang="en-US" sz="24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l" hangingPunct="0">
                        <a:buNone/>
                      </a:pPr>
                      <a:r>
                        <a:rPr lang="en-US" sz="2400" kern="100" dirty="0">
                          <a:solidFill>
                            <a:schemeClr val="bg2"/>
                          </a:solidFill>
                          <a:effectLst/>
                        </a:rPr>
                        <a:t>Trained once on calibration interval</a:t>
                      </a:r>
                      <a:endParaRPr lang="en-US" sz="24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extLst>
                  <a:ext uri="{0D108BD9-81ED-4DB2-BD59-A6C34878D82A}">
                    <a16:rowId xmlns:a16="http://schemas.microsoft.com/office/drawing/2014/main" val="856333439"/>
                  </a:ext>
                </a:extLst>
              </a:tr>
              <a:tr h="741986">
                <a:tc>
                  <a:txBody>
                    <a:bodyPr/>
                    <a:lstStyle/>
                    <a:p>
                      <a:pPr marL="0" marR="0" algn="l" hangingPunct="0">
                        <a:buNone/>
                      </a:pPr>
                      <a:r>
                        <a:rPr lang="en-US" sz="2400" kern="100" dirty="0" err="1">
                          <a:solidFill>
                            <a:schemeClr val="bg2"/>
                          </a:solidFill>
                          <a:effectLst/>
                          <a:latin typeface="+mn-lt"/>
                          <a:cs typeface="Times New Roman" panose="02020603050405020304" pitchFamily="18" charset="0"/>
                        </a:rPr>
                        <a:t>PatchTST</a:t>
                      </a:r>
                      <a:endParaRPr lang="en-US" sz="2400" kern="100" dirty="0">
                        <a:solidFill>
                          <a:schemeClr val="bg2"/>
                        </a:solidFill>
                        <a:effectLst/>
                        <a:latin typeface="+mn-lt"/>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l" hangingPunct="0">
                        <a:buNone/>
                      </a:pPr>
                      <a:r>
                        <a:rPr lang="en-US" sz="2400" kern="100" dirty="0">
                          <a:solidFill>
                            <a:schemeClr val="bg2"/>
                          </a:solidFill>
                          <a:effectLst/>
                        </a:rPr>
                        <a:t>Patch-based transformer forecaster</a:t>
                      </a:r>
                      <a:endParaRPr lang="en-US" sz="24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l" hangingPunct="0">
                        <a:buNone/>
                      </a:pPr>
                      <a:r>
                        <a:rPr lang="en-US" sz="2400" kern="100" dirty="0">
                          <a:solidFill>
                            <a:schemeClr val="bg2"/>
                          </a:solidFill>
                          <a:effectLst/>
                        </a:rPr>
                        <a:t>Trained once on calibration interval</a:t>
                      </a:r>
                      <a:endParaRPr lang="en-US" sz="24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extLst>
                  <a:ext uri="{0D108BD9-81ED-4DB2-BD59-A6C34878D82A}">
                    <a16:rowId xmlns:a16="http://schemas.microsoft.com/office/drawing/2014/main" val="3052818504"/>
                  </a:ext>
                </a:extLst>
              </a:tr>
              <a:tr h="1098690">
                <a:tc>
                  <a:txBody>
                    <a:bodyPr/>
                    <a:lstStyle/>
                    <a:p>
                      <a:pPr marL="0" marR="0" algn="l" hangingPunct="0">
                        <a:buNone/>
                      </a:pPr>
                      <a:r>
                        <a:rPr lang="en-US" sz="2400" kern="100" dirty="0" err="1">
                          <a:solidFill>
                            <a:schemeClr val="bg2"/>
                          </a:solidFill>
                          <a:effectLst/>
                          <a:latin typeface="+mn-lt"/>
                          <a:cs typeface="Times New Roman" panose="02020603050405020304" pitchFamily="18" charset="0"/>
                        </a:rPr>
                        <a:t>MycoMorph</a:t>
                      </a:r>
                      <a:endParaRPr lang="en-US" sz="2400" kern="100" dirty="0">
                        <a:solidFill>
                          <a:schemeClr val="bg2"/>
                        </a:solidFill>
                        <a:effectLst/>
                        <a:latin typeface="+mn-lt"/>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l" hangingPunct="0">
                        <a:buNone/>
                      </a:pPr>
                      <a:r>
                        <a:rPr lang="en-US" sz="2400" kern="100" dirty="0">
                          <a:solidFill>
                            <a:schemeClr val="bg2"/>
                          </a:solidFill>
                          <a:effectLst/>
                        </a:rPr>
                        <a:t>Topology-adaptive streaming forecaster</a:t>
                      </a:r>
                      <a:endParaRPr lang="en-US" sz="24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l" hangingPunct="0">
                        <a:buNone/>
                      </a:pPr>
                      <a:r>
                        <a:rPr lang="en-US" sz="2400" kern="100" dirty="0">
                          <a:solidFill>
                            <a:schemeClr val="bg2"/>
                          </a:solidFill>
                          <a:effectLst/>
                        </a:rPr>
                        <a:t>Front-end parameters and period-derived settings calibrated on training interval</a:t>
                      </a:r>
                      <a:endParaRPr lang="en-US" sz="24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extLst>
                  <a:ext uri="{0D108BD9-81ED-4DB2-BD59-A6C34878D82A}">
                    <a16:rowId xmlns:a16="http://schemas.microsoft.com/office/drawing/2014/main" val="1576391927"/>
                  </a:ext>
                </a:extLst>
              </a:tr>
            </a:tbl>
          </a:graphicData>
        </a:graphic>
      </p:graphicFrame>
      <p:sp>
        <p:nvSpPr>
          <p:cNvPr id="7" name="Slide Number Placeholder 6">
            <a:extLst>
              <a:ext uri="{FF2B5EF4-FFF2-40B4-BE49-F238E27FC236}">
                <a16:creationId xmlns:a16="http://schemas.microsoft.com/office/drawing/2014/main" id="{A331228C-EBF0-2ABA-A46A-E33173003822}"/>
              </a:ext>
            </a:extLst>
          </p:cNvPr>
          <p:cNvSpPr>
            <a:spLocks noGrp="1"/>
          </p:cNvSpPr>
          <p:nvPr>
            <p:ph type="sldNum" sz="quarter" idx="12"/>
          </p:nvPr>
        </p:nvSpPr>
        <p:spPr>
          <a:xfrm>
            <a:off x="15925800" y="9715500"/>
            <a:ext cx="2133600" cy="365125"/>
          </a:xfrm>
        </p:spPr>
        <p:txBody>
          <a:bodyPr/>
          <a:lstStyle/>
          <a:p>
            <a:fld id="{B6F15528-21DE-4FAA-801E-634DDDAF4B2B}" type="slidenum">
              <a:rPr lang="en-US" smtClean="0"/>
              <a:pPr/>
              <a:t>22</a:t>
            </a:fld>
            <a:endParaRPr lang="en-US"/>
          </a:p>
        </p:txBody>
      </p:sp>
    </p:spTree>
    <p:extLst>
      <p:ext uri="{BB962C8B-B14F-4D97-AF65-F5344CB8AC3E}">
        <p14:creationId xmlns:p14="http://schemas.microsoft.com/office/powerpoint/2010/main" val="19976386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lin ang="5400000"/>
        </a:gra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2"/>
              <p:cNvSpPr txBox="1"/>
              <p:nvPr/>
            </p:nvSpPr>
            <p:spPr>
              <a:xfrm>
                <a:off x="1677382" y="3089037"/>
                <a:ext cx="7937514" cy="941861"/>
              </a:xfrm>
              <a:prstGeom prst="rect">
                <a:avLst/>
              </a:prstGeom>
            </p:spPr>
            <p:txBody>
              <a:bodyPr wrap="square" lIns="0" tIns="0" rIns="0" bIns="0" rtlCol="0" anchor="t">
                <a:spAutoFit/>
              </a:bodyPr>
              <a:lstStyle/>
              <a:p>
                <a:pPr>
                  <a:lnSpc>
                    <a:spcPts val="2538"/>
                  </a:lnSpc>
                </a:pPr>
                <a:r>
                  <a:rPr lang="en-US" dirty="0">
                    <a:solidFill>
                      <a:schemeClr val="bg2"/>
                    </a:solidFill>
                  </a:rPr>
                  <a:t>Signals use </a:t>
                </a:r>
                <a14:m>
                  <m:oMath xmlns:m="http://schemas.openxmlformats.org/officeDocument/2006/math">
                    <m:r>
                      <a:rPr lang="en-US" i="1">
                        <a:solidFill>
                          <a:schemeClr val="bg2"/>
                        </a:solidFill>
                        <a:latin typeface="Cambria Math" panose="02040503050406030204" pitchFamily="18" charset="0"/>
                      </a:rPr>
                      <m:t>𝑇</m:t>
                    </m:r>
                    <m:r>
                      <a:rPr lang="en-US" i="1">
                        <a:solidFill>
                          <a:schemeClr val="bg2"/>
                        </a:solidFill>
                        <a:latin typeface="Cambria Math" panose="02040503050406030204" pitchFamily="18" charset="0"/>
                      </a:rPr>
                      <m:t>=10,000</m:t>
                    </m:r>
                  </m:oMath>
                </a14:m>
                <a:r>
                  <a:rPr lang="en-US" dirty="0">
                    <a:solidFill>
                      <a:schemeClr val="bg2"/>
                    </a:solidFill>
                  </a:rPr>
                  <a:t> samples, Train = 2,000, Test = 8000. </a:t>
                </a:r>
              </a:p>
              <a:p>
                <a:pPr>
                  <a:lnSpc>
                    <a:spcPts val="2538"/>
                  </a:lnSpc>
                </a:pPr>
                <a:r>
                  <a:rPr lang="en-US" dirty="0">
                    <a:solidFill>
                      <a:schemeClr val="bg2"/>
                    </a:solidFill>
                  </a:rPr>
                  <a:t>and are evaluated at observation-noise standard deviations </a:t>
                </a:r>
                <a14:m>
                  <m:oMath xmlns:m="http://schemas.openxmlformats.org/officeDocument/2006/math">
                    <m:r>
                      <a:rPr lang="en-US" i="1">
                        <a:solidFill>
                          <a:schemeClr val="bg2"/>
                        </a:solidFill>
                        <a:latin typeface="Cambria Math" panose="02040503050406030204" pitchFamily="18" charset="0"/>
                      </a:rPr>
                      <m:t>𝜎</m:t>
                    </m:r>
                    <m:r>
                      <a:rPr lang="en-US" i="1">
                        <a:solidFill>
                          <a:schemeClr val="bg2"/>
                        </a:solidFill>
                        <a:latin typeface="Cambria Math" panose="02040503050406030204" pitchFamily="18" charset="0"/>
                      </a:rPr>
                      <m:t>𝑛</m:t>
                    </m:r>
                    <m:r>
                      <a:rPr lang="en-US" i="1">
                        <a:solidFill>
                          <a:schemeClr val="bg2"/>
                        </a:solidFill>
                        <a:latin typeface="Cambria Math" panose="02040503050406030204" pitchFamily="18" charset="0"/>
                      </a:rPr>
                      <m:t>∈{0.01,0.03,0.05}</m:t>
                    </m:r>
                  </m:oMath>
                </a14:m>
                <a:r>
                  <a:rPr lang="en-US" dirty="0">
                    <a:solidFill>
                      <a:schemeClr val="bg2"/>
                    </a:solidFill>
                  </a:rPr>
                  <a:t>. Three seeds </a:t>
                </a:r>
                <a14:m>
                  <m:oMath xmlns:m="http://schemas.openxmlformats.org/officeDocument/2006/math">
                    <m:r>
                      <a:rPr lang="en-US" i="1">
                        <a:solidFill>
                          <a:schemeClr val="bg2"/>
                        </a:solidFill>
                        <a:latin typeface="Cambria Math" panose="02040503050406030204" pitchFamily="18" charset="0"/>
                      </a:rPr>
                      <m:t>{0,1,2}</m:t>
                    </m:r>
                  </m:oMath>
                </a14:m>
                <a:r>
                  <a:rPr lang="en-US" dirty="0">
                    <a:solidFill>
                      <a:schemeClr val="bg2"/>
                    </a:solidFill>
                  </a:rPr>
                  <a:t> </a:t>
                </a:r>
                <a:endParaRPr lang="en-US" sz="1575" spc="-4" dirty="0">
                  <a:solidFill>
                    <a:schemeClr val="bg2"/>
                  </a:solidFill>
                  <a:latin typeface="IBM Plex Sans"/>
                  <a:ea typeface="IBM Plex Sans"/>
                  <a:cs typeface="IBM Plex Sans"/>
                  <a:sym typeface="IBM Plex Sans"/>
                </a:endParaRPr>
              </a:p>
            </p:txBody>
          </p:sp>
        </mc:Choice>
        <mc:Fallback xmlns="">
          <p:sp>
            <p:nvSpPr>
              <p:cNvPr id="2" name="TextBox 2"/>
              <p:cNvSpPr txBox="1">
                <a:spLocks noRot="1" noChangeAspect="1" noMove="1" noResize="1" noEditPoints="1" noAdjustHandles="1" noChangeArrowheads="1" noChangeShapeType="1" noTextEdit="1"/>
              </p:cNvSpPr>
              <p:nvPr/>
            </p:nvSpPr>
            <p:spPr>
              <a:xfrm>
                <a:off x="1677382" y="3089037"/>
                <a:ext cx="7937514" cy="941861"/>
              </a:xfrm>
              <a:prstGeom prst="rect">
                <a:avLst/>
              </a:prstGeom>
              <a:blipFill>
                <a:blip r:embed="rId3"/>
                <a:stretch>
                  <a:fillRect l="-1767" t="-5844" b="-14286"/>
                </a:stretch>
              </a:blipFill>
            </p:spPr>
            <p:txBody>
              <a:bodyPr/>
              <a:lstStyle/>
              <a:p>
                <a:r>
                  <a:rPr lang="en-US">
                    <a:noFill/>
                  </a:rPr>
                  <a:t> </a:t>
                </a:r>
              </a:p>
            </p:txBody>
          </p:sp>
        </mc:Fallback>
      </mc:AlternateContent>
      <p:sp>
        <p:nvSpPr>
          <p:cNvPr id="3" name="TextBox 3"/>
          <p:cNvSpPr txBox="1"/>
          <p:nvPr/>
        </p:nvSpPr>
        <p:spPr>
          <a:xfrm>
            <a:off x="1677381" y="1097131"/>
            <a:ext cx="5942618" cy="1851982"/>
          </a:xfrm>
          <a:prstGeom prst="rect">
            <a:avLst/>
          </a:prstGeom>
        </p:spPr>
        <p:txBody>
          <a:bodyPr wrap="square" lIns="0" tIns="0" rIns="0" bIns="0" rtlCol="0" anchor="t">
            <a:spAutoFit/>
          </a:bodyPr>
          <a:lstStyle/>
          <a:p>
            <a:pPr algn="l">
              <a:lnSpc>
                <a:spcPts val="7351"/>
              </a:lnSpc>
            </a:pPr>
            <a:r>
              <a:rPr lang="en-US" sz="5876" b="1" spc="-17" dirty="0">
                <a:solidFill>
                  <a:srgbClr val="D7E5D8"/>
                </a:solidFill>
                <a:latin typeface="IBM Plex Sans Bold"/>
                <a:ea typeface="IBM Plex Sans Bold"/>
                <a:cs typeface="IBM Plex Sans Bold"/>
                <a:sym typeface="IBM Plex Sans Bold"/>
              </a:rPr>
              <a:t>SYNTHETIC SIGNAL PANEL</a:t>
            </a:r>
          </a:p>
        </p:txBody>
      </p:sp>
      <p:sp>
        <p:nvSpPr>
          <p:cNvPr id="4" name="AutoShape 4"/>
          <p:cNvSpPr/>
          <p:nvPr/>
        </p:nvSpPr>
        <p:spPr>
          <a:xfrm flipV="1">
            <a:off x="500412" y="62275"/>
            <a:ext cx="0" cy="6492240"/>
          </a:xfrm>
          <a:prstGeom prst="line">
            <a:avLst/>
          </a:prstGeom>
          <a:ln w="19050" cap="flat">
            <a:solidFill>
              <a:srgbClr val="FFFFFF"/>
            </a:solidFill>
            <a:prstDash val="solid"/>
            <a:headEnd type="none" w="sm" len="sm"/>
            <a:tailEnd type="none" w="sm" len="sm"/>
          </a:ln>
        </p:spPr>
        <p:txBody>
          <a:bodyPr/>
          <a:lstStyle/>
          <a:p>
            <a:endParaRPr lang="en-US"/>
          </a:p>
        </p:txBody>
      </p:sp>
      <p:sp>
        <p:nvSpPr>
          <p:cNvPr id="5" name="AutoShape 5"/>
          <p:cNvSpPr/>
          <p:nvPr/>
        </p:nvSpPr>
        <p:spPr>
          <a:xfrm flipV="1">
            <a:off x="500412" y="7053950"/>
            <a:ext cx="0" cy="960120"/>
          </a:xfrm>
          <a:prstGeom prst="line">
            <a:avLst/>
          </a:prstGeom>
          <a:ln w="19050" cap="flat">
            <a:solidFill>
              <a:srgbClr val="FFFFFF"/>
            </a:solidFill>
            <a:prstDash val="solid"/>
            <a:headEnd type="none" w="sm" len="sm"/>
            <a:tailEnd type="none" w="sm" len="sm"/>
          </a:ln>
        </p:spPr>
        <p:txBody>
          <a:bodyPr/>
          <a:lstStyle/>
          <a:p>
            <a:endParaRPr lang="en-US"/>
          </a:p>
        </p:txBody>
      </p:sp>
      <p:sp>
        <p:nvSpPr>
          <p:cNvPr id="6" name="AutoShape 6"/>
          <p:cNvSpPr/>
          <p:nvPr/>
        </p:nvSpPr>
        <p:spPr>
          <a:xfrm flipV="1">
            <a:off x="500412" y="8446345"/>
            <a:ext cx="0" cy="442454"/>
          </a:xfrm>
          <a:prstGeom prst="line">
            <a:avLst/>
          </a:prstGeom>
          <a:ln w="19050" cap="flat">
            <a:solidFill>
              <a:srgbClr val="FFFFFF"/>
            </a:solidFill>
            <a:prstDash val="solid"/>
            <a:headEnd type="none" w="sm" len="sm"/>
            <a:tailEnd type="none" w="sm" len="sm"/>
          </a:ln>
        </p:spPr>
        <p:txBody>
          <a:bodyPr/>
          <a:lstStyle/>
          <a:p>
            <a:endParaRPr lang="en-US"/>
          </a:p>
        </p:txBody>
      </p:sp>
      <mc:AlternateContent xmlns:mc="http://schemas.openxmlformats.org/markup-compatibility/2006" xmlns:a14="http://schemas.microsoft.com/office/drawing/2010/main">
        <mc:Choice Requires="a14">
          <p:sp>
            <p:nvSpPr>
              <p:cNvPr id="7" name="TextBox 7"/>
              <p:cNvSpPr txBox="1"/>
              <p:nvPr/>
            </p:nvSpPr>
            <p:spPr>
              <a:xfrm>
                <a:off x="1677381" y="4449875"/>
                <a:ext cx="6495370" cy="3880614"/>
              </a:xfrm>
              <a:prstGeom prst="rect">
                <a:avLst/>
              </a:prstGeom>
            </p:spPr>
            <p:txBody>
              <a:bodyPr wrap="square" lIns="0" tIns="0" rIns="0" bIns="0" rtlCol="0" anchor="t">
                <a:spAutoFit/>
              </a:bodyPr>
              <a:lstStyle/>
              <a:p>
                <a:pPr marL="285750" lvl="0" indent="-285750">
                  <a:buFont typeface="Arial" panose="020B0604020202020204" pitchFamily="34" charset="0"/>
                  <a:buChar char="•"/>
                </a:pPr>
                <a:r>
                  <a:rPr lang="en-US" b="1" dirty="0">
                    <a:solidFill>
                      <a:schemeClr val="bg2"/>
                    </a:solidFill>
                  </a:rPr>
                  <a:t>period_grow: </a:t>
                </a:r>
                <a14:m>
                  <m:oMath xmlns:m="http://schemas.openxmlformats.org/officeDocument/2006/math">
                    <m:r>
                      <a:rPr lang="en-US" i="1">
                        <a:solidFill>
                          <a:schemeClr val="bg2"/>
                        </a:solidFill>
                        <a:latin typeface="Cambria Math" panose="02040503050406030204" pitchFamily="18" charset="0"/>
                      </a:rPr>
                      <m:t>𝑃</m:t>
                    </m:r>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𝑡</m:t>
                    </m:r>
                    <m:r>
                      <a:rPr lang="en-US" i="1">
                        <a:solidFill>
                          <a:schemeClr val="bg2"/>
                        </a:solidFill>
                        <a:latin typeface="Cambria Math" panose="02040503050406030204" pitchFamily="18" charset="0"/>
                      </a:rPr>
                      <m:t>)=40+40</m:t>
                    </m:r>
                    <m:r>
                      <a:rPr lang="en-US" i="1">
                        <a:solidFill>
                          <a:schemeClr val="bg2"/>
                        </a:solidFill>
                        <a:latin typeface="Cambria Math" panose="02040503050406030204" pitchFamily="18" charset="0"/>
                      </a:rPr>
                      <m:t>𝑢</m:t>
                    </m:r>
                  </m:oMath>
                </a14:m>
                <a:r>
                  <a:rPr lang="en-US" dirty="0">
                    <a:solidFill>
                      <a:schemeClr val="bg2"/>
                    </a:solidFill>
                  </a:rPr>
                  <a:t>.</a:t>
                </a:r>
              </a:p>
              <a:p>
                <a:pPr marL="285750" lvl="0" indent="-285750">
                  <a:buFont typeface="Arial" panose="020B0604020202020204" pitchFamily="34" charset="0"/>
                  <a:buChar char="•"/>
                </a:pPr>
                <a:r>
                  <a:rPr lang="en-US" b="1" dirty="0" err="1">
                    <a:solidFill>
                      <a:schemeClr val="bg2"/>
                    </a:solidFill>
                  </a:rPr>
                  <a:t>period_shrink</a:t>
                </a:r>
                <a:r>
                  <a:rPr lang="en-US" dirty="0">
                    <a:solidFill>
                      <a:schemeClr val="bg2"/>
                    </a:solidFill>
                  </a:rPr>
                  <a:t>: </a:t>
                </a:r>
                <a14:m>
                  <m:oMath xmlns:m="http://schemas.openxmlformats.org/officeDocument/2006/math">
                    <m:r>
                      <a:rPr lang="en-US" i="1">
                        <a:solidFill>
                          <a:schemeClr val="bg2"/>
                        </a:solidFill>
                        <a:latin typeface="Cambria Math" panose="02040503050406030204" pitchFamily="18" charset="0"/>
                      </a:rPr>
                      <m:t>𝑃</m:t>
                    </m:r>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𝑡</m:t>
                    </m:r>
                    <m:r>
                      <a:rPr lang="en-US" i="1">
                        <a:solidFill>
                          <a:schemeClr val="bg2"/>
                        </a:solidFill>
                        <a:latin typeface="Cambria Math" panose="02040503050406030204" pitchFamily="18" charset="0"/>
                      </a:rPr>
                      <m:t>)=80−40</m:t>
                    </m:r>
                    <m:r>
                      <a:rPr lang="en-US" i="1">
                        <a:solidFill>
                          <a:schemeClr val="bg2"/>
                        </a:solidFill>
                        <a:latin typeface="Cambria Math" panose="02040503050406030204" pitchFamily="18" charset="0"/>
                      </a:rPr>
                      <m:t>𝑢</m:t>
                    </m:r>
                  </m:oMath>
                </a14:m>
                <a:r>
                  <a:rPr lang="en-US" dirty="0">
                    <a:solidFill>
                      <a:schemeClr val="bg2"/>
                    </a:solidFill>
                  </a:rPr>
                  <a:t>.</a:t>
                </a:r>
              </a:p>
              <a:p>
                <a:pPr marL="285750" lvl="0" indent="-285750">
                  <a:buFont typeface="Arial" panose="020B0604020202020204" pitchFamily="34" charset="0"/>
                  <a:buChar char="•"/>
                </a:pPr>
                <a:r>
                  <a:rPr lang="en-US" b="1" dirty="0" err="1">
                    <a:solidFill>
                      <a:schemeClr val="bg2"/>
                    </a:solidFill>
                  </a:rPr>
                  <a:t>period_oscillate</a:t>
                </a:r>
                <a:r>
                  <a:rPr lang="en-US" b="1" dirty="0">
                    <a:solidFill>
                      <a:schemeClr val="bg2"/>
                    </a:solidFill>
                  </a:rPr>
                  <a:t>: </a:t>
                </a:r>
                <a14:m>
                  <m:oMath xmlns:m="http://schemas.openxmlformats.org/officeDocument/2006/math">
                    <m:r>
                      <a:rPr lang="en-US" i="1">
                        <a:solidFill>
                          <a:schemeClr val="bg2"/>
                        </a:solidFill>
                        <a:latin typeface="Cambria Math" panose="02040503050406030204" pitchFamily="18" charset="0"/>
                      </a:rPr>
                      <m:t>𝑃</m:t>
                    </m:r>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𝑡</m:t>
                    </m:r>
                    <m:r>
                      <a:rPr lang="en-US" i="1">
                        <a:solidFill>
                          <a:schemeClr val="bg2"/>
                        </a:solidFill>
                        <a:latin typeface="Cambria Math" panose="02040503050406030204" pitchFamily="18" charset="0"/>
                      </a:rPr>
                      <m:t>)=60+20</m:t>
                    </m:r>
                    <m:r>
                      <a:rPr lang="en-US" i="1">
                        <a:solidFill>
                          <a:schemeClr val="bg2"/>
                        </a:solidFill>
                        <a:latin typeface="Cambria Math" panose="02040503050406030204" pitchFamily="18" charset="0"/>
                      </a:rPr>
                      <m:t>𝑠𝑖𝑛</m:t>
                    </m:r>
                    <m:r>
                      <a:rPr lang="en-US" i="1">
                        <a:solidFill>
                          <a:schemeClr val="bg2"/>
                        </a:solidFill>
                        <a:latin typeface="Cambria Math" panose="02040503050406030204" pitchFamily="18" charset="0"/>
                      </a:rPr>
                      <m:t>(2</m:t>
                    </m:r>
                    <m:r>
                      <a:rPr lang="en-US" i="1">
                        <a:solidFill>
                          <a:schemeClr val="bg2"/>
                        </a:solidFill>
                        <a:latin typeface="Cambria Math" panose="02040503050406030204" pitchFamily="18" charset="0"/>
                      </a:rPr>
                      <m:t>𝜋</m:t>
                    </m:r>
                    <m:r>
                      <a:rPr lang="en-US" i="1">
                        <a:solidFill>
                          <a:schemeClr val="bg2"/>
                        </a:solidFill>
                        <a:latin typeface="Cambria Math" panose="02040503050406030204" pitchFamily="18" charset="0"/>
                      </a:rPr>
                      <m:t>𝑢</m:t>
                    </m:r>
                    <m:r>
                      <a:rPr lang="en-US" i="1">
                        <a:solidFill>
                          <a:schemeClr val="bg2"/>
                        </a:solidFill>
                        <a:latin typeface="Cambria Math" panose="02040503050406030204" pitchFamily="18" charset="0"/>
                      </a:rPr>
                      <m:t>)</m:t>
                    </m:r>
                  </m:oMath>
                </a14:m>
                <a:r>
                  <a:rPr lang="en-US" dirty="0">
                    <a:solidFill>
                      <a:schemeClr val="bg2"/>
                    </a:solidFill>
                  </a:rPr>
                  <a:t>.</a:t>
                </a:r>
              </a:p>
              <a:p>
                <a:pPr marL="285750" lvl="0" indent="-285750">
                  <a:buFont typeface="Arial" panose="020B0604020202020204" pitchFamily="34" charset="0"/>
                  <a:buChar char="•"/>
                </a:pPr>
                <a:r>
                  <a:rPr lang="en-US" b="1" dirty="0" err="1">
                    <a:solidFill>
                      <a:schemeClr val="bg2"/>
                    </a:solidFill>
                  </a:rPr>
                  <a:t>dual_frequency_drift</a:t>
                </a:r>
                <a:r>
                  <a:rPr lang="en-US" b="1" dirty="0">
                    <a:solidFill>
                      <a:schemeClr val="bg2"/>
                    </a:solidFill>
                  </a:rPr>
                  <a:t>:</a:t>
                </a:r>
                <a14:m>
                  <m:oMath xmlns:m="http://schemas.openxmlformats.org/officeDocument/2006/math">
                    <m:r>
                      <a:rPr lang="en-US" b="1" i="0" smtClean="0">
                        <a:solidFill>
                          <a:schemeClr val="bg2"/>
                        </a:solidFill>
                        <a:latin typeface="Cambria Math" panose="02040503050406030204" pitchFamily="18" charset="0"/>
                      </a:rPr>
                      <m:t> </m:t>
                    </m:r>
                    <m:r>
                      <a:rPr lang="en-US" i="1">
                        <a:solidFill>
                          <a:schemeClr val="bg2"/>
                        </a:solidFill>
                        <a:latin typeface="Cambria Math" panose="02040503050406030204" pitchFamily="18" charset="0"/>
                      </a:rPr>
                      <m:t>𝑦</m:t>
                    </m:r>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𝑡</m:t>
                    </m:r>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𝑠𝑖𝑛</m:t>
                    </m:r>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𝜑</m:t>
                    </m:r>
                    <m:r>
                      <a:rPr lang="en-US" i="1">
                        <a:solidFill>
                          <a:schemeClr val="bg2"/>
                        </a:solidFill>
                        <a:latin typeface="Cambria Math" panose="02040503050406030204" pitchFamily="18" charset="0"/>
                      </a:rPr>
                      <m:t>₁(</m:t>
                    </m:r>
                    <m:r>
                      <a:rPr lang="en-US" i="1">
                        <a:solidFill>
                          <a:schemeClr val="bg2"/>
                        </a:solidFill>
                        <a:latin typeface="Cambria Math" panose="02040503050406030204" pitchFamily="18" charset="0"/>
                      </a:rPr>
                      <m:t>𝑡</m:t>
                    </m:r>
                    <m:r>
                      <a:rPr lang="en-US" i="1">
                        <a:solidFill>
                          <a:schemeClr val="bg2"/>
                        </a:solidFill>
                        <a:latin typeface="Cambria Math" panose="02040503050406030204" pitchFamily="18" charset="0"/>
                      </a:rPr>
                      <m:t>))+0.5</m:t>
                    </m:r>
                    <m:r>
                      <a:rPr lang="en-US" i="1">
                        <a:solidFill>
                          <a:schemeClr val="bg2"/>
                        </a:solidFill>
                        <a:latin typeface="Cambria Math" panose="02040503050406030204" pitchFamily="18" charset="0"/>
                      </a:rPr>
                      <m:t>𝑠𝑖𝑛</m:t>
                    </m:r>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𝜑</m:t>
                    </m:r>
                    <m:r>
                      <a:rPr lang="en-US" i="1">
                        <a:solidFill>
                          <a:schemeClr val="bg2"/>
                        </a:solidFill>
                        <a:latin typeface="Cambria Math" panose="02040503050406030204" pitchFamily="18" charset="0"/>
                      </a:rPr>
                      <m:t>₂(</m:t>
                    </m:r>
                    <m:r>
                      <a:rPr lang="en-US" i="1">
                        <a:solidFill>
                          <a:schemeClr val="bg2"/>
                        </a:solidFill>
                        <a:latin typeface="Cambria Math" panose="02040503050406030204" pitchFamily="18" charset="0"/>
                      </a:rPr>
                      <m:t>𝑡</m:t>
                    </m:r>
                    <m:r>
                      <a:rPr lang="en-US" i="1">
                        <a:solidFill>
                          <a:schemeClr val="bg2"/>
                        </a:solidFill>
                        <a:latin typeface="Cambria Math" panose="02040503050406030204" pitchFamily="18" charset="0"/>
                      </a:rPr>
                      <m:t>)), </m:t>
                    </m:r>
                    <m:r>
                      <a:rPr lang="en-US" i="1">
                        <a:solidFill>
                          <a:schemeClr val="bg2"/>
                        </a:solidFill>
                        <a:latin typeface="Cambria Math" panose="02040503050406030204" pitchFamily="18" charset="0"/>
                      </a:rPr>
                      <m:t>𝑤𝑖𝑡ℎ</m:t>
                    </m:r>
                    <m:r>
                      <a:rPr lang="en-US" i="1">
                        <a:solidFill>
                          <a:schemeClr val="bg2"/>
                        </a:solidFill>
                        <a:latin typeface="Cambria Math" panose="02040503050406030204" pitchFamily="18" charset="0"/>
                      </a:rPr>
                      <m:t> </m:t>
                    </m:r>
                    <m:r>
                      <a:rPr lang="en-US" i="1">
                        <a:solidFill>
                          <a:schemeClr val="bg2"/>
                        </a:solidFill>
                        <a:latin typeface="Cambria Math" panose="02040503050406030204" pitchFamily="18" charset="0"/>
                      </a:rPr>
                      <m:t>𝑃</m:t>
                    </m:r>
                    <m:r>
                      <a:rPr lang="en-US" i="1">
                        <a:solidFill>
                          <a:schemeClr val="bg2"/>
                        </a:solidFill>
                        <a:latin typeface="Cambria Math" panose="02040503050406030204" pitchFamily="18" charset="0"/>
                      </a:rPr>
                      <m:t>₁(</m:t>
                    </m:r>
                    <m:r>
                      <a:rPr lang="en-US" i="1">
                        <a:solidFill>
                          <a:schemeClr val="bg2"/>
                        </a:solidFill>
                        <a:latin typeface="Cambria Math" panose="02040503050406030204" pitchFamily="18" charset="0"/>
                      </a:rPr>
                      <m:t>𝑡</m:t>
                    </m:r>
                    <m:r>
                      <a:rPr lang="en-US" i="1">
                        <a:solidFill>
                          <a:schemeClr val="bg2"/>
                        </a:solidFill>
                        <a:latin typeface="Cambria Math" panose="02040503050406030204" pitchFamily="18" charset="0"/>
                      </a:rPr>
                      <m:t>)=40+40</m:t>
                    </m:r>
                    <m:r>
                      <a:rPr lang="en-US" i="1">
                        <a:solidFill>
                          <a:schemeClr val="bg2"/>
                        </a:solidFill>
                        <a:latin typeface="Cambria Math" panose="02040503050406030204" pitchFamily="18" charset="0"/>
                      </a:rPr>
                      <m:t>𝑢</m:t>
                    </m:r>
                    <m:r>
                      <a:rPr lang="en-US" i="1">
                        <a:solidFill>
                          <a:schemeClr val="bg2"/>
                        </a:solidFill>
                        <a:latin typeface="Cambria Math" panose="02040503050406030204" pitchFamily="18" charset="0"/>
                      </a:rPr>
                      <m:t> </m:t>
                    </m:r>
                    <m:r>
                      <a:rPr lang="en-US" i="1">
                        <a:solidFill>
                          <a:schemeClr val="bg2"/>
                        </a:solidFill>
                        <a:latin typeface="Cambria Math" panose="02040503050406030204" pitchFamily="18" charset="0"/>
                      </a:rPr>
                      <m:t>𝑎𝑛𝑑</m:t>
                    </m:r>
                    <m:r>
                      <a:rPr lang="en-US" i="1">
                        <a:solidFill>
                          <a:schemeClr val="bg2"/>
                        </a:solidFill>
                        <a:latin typeface="Cambria Math" panose="02040503050406030204" pitchFamily="18" charset="0"/>
                      </a:rPr>
                      <m:t> </m:t>
                    </m:r>
                    <m:r>
                      <a:rPr lang="en-US" i="1">
                        <a:solidFill>
                          <a:schemeClr val="bg2"/>
                        </a:solidFill>
                        <a:latin typeface="Cambria Math" panose="02040503050406030204" pitchFamily="18" charset="0"/>
                      </a:rPr>
                      <m:t>𝑃</m:t>
                    </m:r>
                    <m:r>
                      <a:rPr lang="en-US" i="1">
                        <a:solidFill>
                          <a:schemeClr val="bg2"/>
                        </a:solidFill>
                        <a:latin typeface="Cambria Math" panose="02040503050406030204" pitchFamily="18" charset="0"/>
                      </a:rPr>
                      <m:t>₂(</m:t>
                    </m:r>
                    <m:r>
                      <a:rPr lang="en-US" i="1">
                        <a:solidFill>
                          <a:schemeClr val="bg2"/>
                        </a:solidFill>
                        <a:latin typeface="Cambria Math" panose="02040503050406030204" pitchFamily="18" charset="0"/>
                      </a:rPr>
                      <m:t>𝑡</m:t>
                    </m:r>
                    <m:r>
                      <a:rPr lang="en-US" i="1">
                        <a:solidFill>
                          <a:schemeClr val="bg2"/>
                        </a:solidFill>
                        <a:latin typeface="Cambria Math" panose="02040503050406030204" pitchFamily="18" charset="0"/>
                      </a:rPr>
                      <m:t>)=17+14</m:t>
                    </m:r>
                    <m:r>
                      <a:rPr lang="en-US" i="1">
                        <a:solidFill>
                          <a:schemeClr val="bg2"/>
                        </a:solidFill>
                        <a:latin typeface="Cambria Math" panose="02040503050406030204" pitchFamily="18" charset="0"/>
                      </a:rPr>
                      <m:t>𝑢</m:t>
                    </m:r>
                  </m:oMath>
                </a14:m>
                <a:r>
                  <a:rPr lang="en-US" dirty="0">
                    <a:solidFill>
                      <a:schemeClr val="bg2"/>
                    </a:solidFill>
                  </a:rPr>
                  <a:t>.</a:t>
                </a:r>
              </a:p>
              <a:p>
                <a:pPr marL="285750" lvl="0" indent="-285750">
                  <a:buFont typeface="Arial" panose="020B0604020202020204" pitchFamily="34" charset="0"/>
                  <a:buChar char="•"/>
                </a:pPr>
                <a:r>
                  <a:rPr lang="en-US" b="1" dirty="0" err="1">
                    <a:solidFill>
                      <a:schemeClr val="bg2"/>
                    </a:solidFill>
                  </a:rPr>
                  <a:t>shape_skew</a:t>
                </a:r>
                <a:r>
                  <a:rPr lang="en-US" b="1" dirty="0">
                    <a:solidFill>
                      <a:schemeClr val="bg2"/>
                    </a:solidFill>
                  </a:rPr>
                  <a:t>: </a:t>
                </a:r>
                <a14:m>
                  <m:oMath xmlns:m="http://schemas.openxmlformats.org/officeDocument/2006/math">
                    <m:r>
                      <a:rPr lang="en-US" i="1">
                        <a:solidFill>
                          <a:schemeClr val="bg2"/>
                        </a:solidFill>
                        <a:latin typeface="Cambria Math" panose="02040503050406030204" pitchFamily="18" charset="0"/>
                      </a:rPr>
                      <m:t>𝑦</m:t>
                    </m:r>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𝑡</m:t>
                    </m:r>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𝑠𝑖𝑛</m:t>
                    </m:r>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𝜑</m:t>
                    </m:r>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𝑡</m:t>
                    </m:r>
                    <m:r>
                      <a:rPr lang="en-US" i="1">
                        <a:solidFill>
                          <a:schemeClr val="bg2"/>
                        </a:solidFill>
                        <a:latin typeface="Cambria Math" panose="02040503050406030204" pitchFamily="18" charset="0"/>
                      </a:rPr>
                      <m:t>)+0.9</m:t>
                    </m:r>
                    <m:r>
                      <a:rPr lang="en-US" i="1">
                        <a:solidFill>
                          <a:schemeClr val="bg2"/>
                        </a:solidFill>
                        <a:latin typeface="Cambria Math" panose="02040503050406030204" pitchFamily="18" charset="0"/>
                      </a:rPr>
                      <m:t>𝑢</m:t>
                    </m:r>
                    <m:r>
                      <a:rPr lang="en-US" i="1">
                        <a:solidFill>
                          <a:schemeClr val="bg2"/>
                        </a:solidFill>
                        <a:latin typeface="Cambria Math" panose="02040503050406030204" pitchFamily="18" charset="0"/>
                      </a:rPr>
                      <m:t> </m:t>
                    </m:r>
                    <m:r>
                      <a:rPr lang="en-US" i="1">
                        <a:solidFill>
                          <a:schemeClr val="bg2"/>
                        </a:solidFill>
                        <a:latin typeface="Cambria Math" panose="02040503050406030204" pitchFamily="18" charset="0"/>
                      </a:rPr>
                      <m:t>𝑠𝑖𝑛</m:t>
                    </m:r>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𝜑</m:t>
                    </m:r>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𝑡</m:t>
                    </m:r>
                    <m:r>
                      <a:rPr lang="en-US" i="1">
                        <a:solidFill>
                          <a:schemeClr val="bg2"/>
                        </a:solidFill>
                        <a:latin typeface="Cambria Math" panose="02040503050406030204" pitchFamily="18" charset="0"/>
                      </a:rPr>
                      <m:t>)))</m:t>
                    </m:r>
                  </m:oMath>
                </a14:m>
                <a:r>
                  <a:rPr lang="en-US" dirty="0">
                    <a:solidFill>
                      <a:schemeClr val="bg2"/>
                    </a:solidFill>
                  </a:rPr>
                  <a:t>.</a:t>
                </a:r>
              </a:p>
              <a:p>
                <a:pPr marL="285750" lvl="0" indent="-285750">
                  <a:buFont typeface="Arial" panose="020B0604020202020204" pitchFamily="34" charset="0"/>
                  <a:buChar char="•"/>
                </a:pPr>
                <a:r>
                  <a:rPr lang="en-US" b="1" dirty="0" err="1">
                    <a:solidFill>
                      <a:schemeClr val="bg2"/>
                    </a:solidFill>
                  </a:rPr>
                  <a:t>shape_triangle</a:t>
                </a:r>
                <a:r>
                  <a:rPr lang="en-US" b="1" dirty="0">
                    <a:solidFill>
                      <a:schemeClr val="bg2"/>
                    </a:solidFill>
                  </a:rPr>
                  <a:t>: </a:t>
                </a:r>
                <a14:m>
                  <m:oMath xmlns:m="http://schemas.openxmlformats.org/officeDocument/2006/math">
                    <m:r>
                      <a:rPr lang="en-US" i="1">
                        <a:solidFill>
                          <a:schemeClr val="bg2"/>
                        </a:solidFill>
                        <a:latin typeface="Cambria Math" panose="02040503050406030204" pitchFamily="18" charset="0"/>
                      </a:rPr>
                      <m:t>𝑦</m:t>
                    </m:r>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𝑡</m:t>
                    </m:r>
                    <m:r>
                      <a:rPr lang="en-US" i="1">
                        <a:solidFill>
                          <a:schemeClr val="bg2"/>
                        </a:solidFill>
                        <a:latin typeface="Cambria Math" panose="02040503050406030204" pitchFamily="18" charset="0"/>
                      </a:rPr>
                      <m:t>)=(1−</m:t>
                    </m:r>
                    <m:r>
                      <a:rPr lang="en-US" i="1">
                        <a:solidFill>
                          <a:schemeClr val="bg2"/>
                        </a:solidFill>
                        <a:latin typeface="Cambria Math" panose="02040503050406030204" pitchFamily="18" charset="0"/>
                      </a:rPr>
                      <m:t>𝑢</m:t>
                    </m:r>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𝑠𝑖𝑛</m:t>
                    </m:r>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𝜑</m:t>
                    </m:r>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𝑡</m:t>
                    </m:r>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𝑢</m:t>
                    </m:r>
                    <m:r>
                      <a:rPr lang="en-US" i="1">
                        <a:solidFill>
                          <a:schemeClr val="bg2"/>
                        </a:solidFill>
                        <a:latin typeface="Cambria Math" panose="02040503050406030204" pitchFamily="18" charset="0"/>
                      </a:rPr>
                      <m:t>(8/</m:t>
                    </m:r>
                    <m:r>
                      <a:rPr lang="en-US" i="1">
                        <a:solidFill>
                          <a:schemeClr val="bg2"/>
                        </a:solidFill>
                        <a:latin typeface="Cambria Math" panose="02040503050406030204" pitchFamily="18" charset="0"/>
                      </a:rPr>
                      <m:t>𝜋</m:t>
                    </m:r>
                    <m:r>
                      <a:rPr lang="en-US" i="1">
                        <a:solidFill>
                          <a:schemeClr val="bg2"/>
                        </a:solidFill>
                        <a:latin typeface="Cambria Math" panose="02040503050406030204" pitchFamily="18" charset="0"/>
                      </a:rPr>
                      <m:t>²)</m:t>
                    </m:r>
                    <m:r>
                      <a:rPr lang="en-US" i="1">
                        <a:solidFill>
                          <a:schemeClr val="bg2"/>
                        </a:solidFill>
                        <a:latin typeface="Cambria Math" panose="02040503050406030204" pitchFamily="18" charset="0"/>
                      </a:rPr>
                      <m:t>𝛴</m:t>
                    </m:r>
                    <m:r>
                      <a:rPr lang="en-US" i="1">
                        <a:solidFill>
                          <a:schemeClr val="bg2"/>
                        </a:solidFill>
                        <a:latin typeface="Cambria Math" panose="02040503050406030204" pitchFamily="18" charset="0"/>
                      </a:rPr>
                      <m:t>ₖ₌₀⁴ (−1)ᵏ </m:t>
                    </m:r>
                    <m:r>
                      <a:rPr lang="en-US" i="1">
                        <a:solidFill>
                          <a:schemeClr val="bg2"/>
                        </a:solidFill>
                        <a:latin typeface="Cambria Math" panose="02040503050406030204" pitchFamily="18" charset="0"/>
                      </a:rPr>
                      <m:t>𝑠𝑖𝑛</m:t>
                    </m:r>
                    <m:r>
                      <a:rPr lang="en-US" i="1">
                        <a:solidFill>
                          <a:schemeClr val="bg2"/>
                        </a:solidFill>
                        <a:latin typeface="Cambria Math" panose="02040503050406030204" pitchFamily="18" charset="0"/>
                      </a:rPr>
                      <m:t>((2</m:t>
                    </m:r>
                    <m:r>
                      <a:rPr lang="en-US" i="1">
                        <a:solidFill>
                          <a:schemeClr val="bg2"/>
                        </a:solidFill>
                        <a:latin typeface="Cambria Math" panose="02040503050406030204" pitchFamily="18" charset="0"/>
                      </a:rPr>
                      <m:t>𝑘</m:t>
                    </m:r>
                    <m:r>
                      <a:rPr lang="en-US" i="1">
                        <a:solidFill>
                          <a:schemeClr val="bg2"/>
                        </a:solidFill>
                        <a:latin typeface="Cambria Math" panose="02040503050406030204" pitchFamily="18" charset="0"/>
                      </a:rPr>
                      <m:t>+1)</m:t>
                    </m:r>
                    <m:r>
                      <a:rPr lang="en-US" i="1">
                        <a:solidFill>
                          <a:schemeClr val="bg2"/>
                        </a:solidFill>
                        <a:latin typeface="Cambria Math" panose="02040503050406030204" pitchFamily="18" charset="0"/>
                      </a:rPr>
                      <m:t>𝜑</m:t>
                    </m:r>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𝑡</m:t>
                    </m:r>
                    <m:r>
                      <a:rPr lang="en-US" i="1">
                        <a:solidFill>
                          <a:schemeClr val="bg2"/>
                        </a:solidFill>
                        <a:latin typeface="Cambria Math" panose="02040503050406030204" pitchFamily="18" charset="0"/>
                      </a:rPr>
                      <m:t>))/(2</m:t>
                    </m:r>
                    <m:r>
                      <a:rPr lang="en-US" i="1">
                        <a:solidFill>
                          <a:schemeClr val="bg2"/>
                        </a:solidFill>
                        <a:latin typeface="Cambria Math" panose="02040503050406030204" pitchFamily="18" charset="0"/>
                      </a:rPr>
                      <m:t>𝑘</m:t>
                    </m:r>
                    <m:r>
                      <a:rPr lang="en-US" i="1">
                        <a:solidFill>
                          <a:schemeClr val="bg2"/>
                        </a:solidFill>
                        <a:latin typeface="Cambria Math" panose="02040503050406030204" pitchFamily="18" charset="0"/>
                      </a:rPr>
                      <m:t>+1)²</m:t>
                    </m:r>
                  </m:oMath>
                </a14:m>
                <a:r>
                  <a:rPr lang="en-US" dirty="0">
                    <a:solidFill>
                      <a:schemeClr val="bg2"/>
                    </a:solidFill>
                  </a:rPr>
                  <a:t>.</a:t>
                </a:r>
              </a:p>
              <a:p>
                <a:pPr marL="285750" lvl="0" indent="-285750">
                  <a:buFont typeface="Arial" panose="020B0604020202020204" pitchFamily="34" charset="0"/>
                  <a:buChar char="•"/>
                </a:pPr>
                <a:r>
                  <a:rPr lang="en-US" b="1" dirty="0" err="1">
                    <a:solidFill>
                      <a:schemeClr val="bg2"/>
                    </a:solidFill>
                  </a:rPr>
                  <a:t>shape_harmonic</a:t>
                </a:r>
                <a:r>
                  <a:rPr lang="en-US" b="1" dirty="0">
                    <a:solidFill>
                      <a:schemeClr val="bg2"/>
                    </a:solidFill>
                  </a:rPr>
                  <a:t>:</a:t>
                </a:r>
                <a14:m>
                  <m:oMath xmlns:m="http://schemas.openxmlformats.org/officeDocument/2006/math">
                    <m:r>
                      <a:rPr lang="en-US" b="1" i="1">
                        <a:solidFill>
                          <a:schemeClr val="bg2"/>
                        </a:solidFill>
                        <a:latin typeface="Cambria Math" panose="02040503050406030204" pitchFamily="18" charset="0"/>
                      </a:rPr>
                      <m:t> </m:t>
                    </m:r>
                    <m:r>
                      <a:rPr lang="en-US" i="1">
                        <a:solidFill>
                          <a:schemeClr val="bg2"/>
                        </a:solidFill>
                        <a:latin typeface="Cambria Math" panose="02040503050406030204" pitchFamily="18" charset="0"/>
                      </a:rPr>
                      <m:t>𝑦</m:t>
                    </m:r>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𝑡</m:t>
                    </m:r>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𝑠𝑖𝑛</m:t>
                    </m:r>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𝜑</m:t>
                    </m:r>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𝑡</m:t>
                    </m:r>
                    <m:r>
                      <a:rPr lang="en-US" i="1">
                        <a:solidFill>
                          <a:schemeClr val="bg2"/>
                        </a:solidFill>
                        <a:latin typeface="Cambria Math" panose="02040503050406030204" pitchFamily="18" charset="0"/>
                      </a:rPr>
                      <m:t>))+0.45</m:t>
                    </m:r>
                    <m:r>
                      <a:rPr lang="en-US" i="1">
                        <a:solidFill>
                          <a:schemeClr val="bg2"/>
                        </a:solidFill>
                        <a:latin typeface="Cambria Math" panose="02040503050406030204" pitchFamily="18" charset="0"/>
                      </a:rPr>
                      <m:t>𝑢</m:t>
                    </m:r>
                    <m:r>
                      <a:rPr lang="en-US" i="1">
                        <a:solidFill>
                          <a:schemeClr val="bg2"/>
                        </a:solidFill>
                        <a:latin typeface="Cambria Math" panose="02040503050406030204" pitchFamily="18" charset="0"/>
                      </a:rPr>
                      <m:t> </m:t>
                    </m:r>
                    <m:r>
                      <a:rPr lang="en-US" i="1">
                        <a:solidFill>
                          <a:schemeClr val="bg2"/>
                        </a:solidFill>
                        <a:latin typeface="Cambria Math" panose="02040503050406030204" pitchFamily="18" charset="0"/>
                      </a:rPr>
                      <m:t>𝑠𝑖𝑛</m:t>
                    </m:r>
                    <m:r>
                      <a:rPr lang="en-US" i="1">
                        <a:solidFill>
                          <a:schemeClr val="bg2"/>
                        </a:solidFill>
                        <a:latin typeface="Cambria Math" panose="02040503050406030204" pitchFamily="18" charset="0"/>
                      </a:rPr>
                      <m:t>(2</m:t>
                    </m:r>
                    <m:r>
                      <a:rPr lang="en-US" i="1">
                        <a:solidFill>
                          <a:schemeClr val="bg2"/>
                        </a:solidFill>
                        <a:latin typeface="Cambria Math" panose="02040503050406030204" pitchFamily="18" charset="0"/>
                      </a:rPr>
                      <m:t>𝜑</m:t>
                    </m:r>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𝑡</m:t>
                    </m:r>
                    <m:r>
                      <a:rPr lang="en-US" i="1">
                        <a:solidFill>
                          <a:schemeClr val="bg2"/>
                        </a:solidFill>
                        <a:latin typeface="Cambria Math" panose="02040503050406030204" pitchFamily="18" charset="0"/>
                      </a:rPr>
                      <m:t>))+0.25</m:t>
                    </m:r>
                    <m:r>
                      <a:rPr lang="en-US" i="1">
                        <a:solidFill>
                          <a:schemeClr val="bg2"/>
                        </a:solidFill>
                        <a:latin typeface="Cambria Math" panose="02040503050406030204" pitchFamily="18" charset="0"/>
                      </a:rPr>
                      <m:t>𝑢</m:t>
                    </m:r>
                    <m:r>
                      <a:rPr lang="en-US" i="1">
                        <a:solidFill>
                          <a:schemeClr val="bg2"/>
                        </a:solidFill>
                        <a:latin typeface="Cambria Math" panose="02040503050406030204" pitchFamily="18" charset="0"/>
                      </a:rPr>
                      <m:t> </m:t>
                    </m:r>
                    <m:r>
                      <a:rPr lang="en-US" i="1">
                        <a:solidFill>
                          <a:schemeClr val="bg2"/>
                        </a:solidFill>
                        <a:latin typeface="Cambria Math" panose="02040503050406030204" pitchFamily="18" charset="0"/>
                      </a:rPr>
                      <m:t>𝑠𝑖𝑛</m:t>
                    </m:r>
                    <m:r>
                      <a:rPr lang="en-US" i="1">
                        <a:solidFill>
                          <a:schemeClr val="bg2"/>
                        </a:solidFill>
                        <a:latin typeface="Cambria Math" panose="02040503050406030204" pitchFamily="18" charset="0"/>
                      </a:rPr>
                      <m:t>(3</m:t>
                    </m:r>
                    <m:r>
                      <a:rPr lang="en-US" i="1">
                        <a:solidFill>
                          <a:schemeClr val="bg2"/>
                        </a:solidFill>
                        <a:latin typeface="Cambria Math" panose="02040503050406030204" pitchFamily="18" charset="0"/>
                      </a:rPr>
                      <m:t>𝜑</m:t>
                    </m:r>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𝑡</m:t>
                    </m:r>
                    <m:r>
                      <a:rPr lang="en-US" i="1">
                        <a:solidFill>
                          <a:schemeClr val="bg2"/>
                        </a:solidFill>
                        <a:latin typeface="Cambria Math" panose="02040503050406030204" pitchFamily="18" charset="0"/>
                      </a:rPr>
                      <m:t>))</m:t>
                    </m:r>
                  </m:oMath>
                </a14:m>
                <a:r>
                  <a:rPr lang="en-US" dirty="0">
                    <a:solidFill>
                      <a:schemeClr val="bg2"/>
                    </a:solidFill>
                  </a:rPr>
                  <a:t>.</a:t>
                </a:r>
              </a:p>
              <a:p>
                <a:pPr marL="285750" lvl="0" indent="-285750">
                  <a:buFont typeface="Arial" panose="020B0604020202020204" pitchFamily="34" charset="0"/>
                  <a:buChar char="•"/>
                </a:pPr>
                <a:r>
                  <a:rPr lang="en-US" b="1" dirty="0" err="1">
                    <a:solidFill>
                      <a:schemeClr val="bg2"/>
                    </a:solidFill>
                  </a:rPr>
                  <a:t>shape_harmonic_settle</a:t>
                </a:r>
                <a:r>
                  <a:rPr lang="en-US" b="1" dirty="0">
                    <a:solidFill>
                      <a:schemeClr val="bg2"/>
                    </a:solidFill>
                  </a:rPr>
                  <a:t>: </a:t>
                </a:r>
                <a:r>
                  <a:rPr lang="en-US" dirty="0">
                    <a:solidFill>
                      <a:schemeClr val="bg2"/>
                    </a:solidFill>
                  </a:rPr>
                  <a:t>the same harmonic form with drift factor </a:t>
                </a:r>
                <a14:m>
                  <m:oMath xmlns:m="http://schemas.openxmlformats.org/officeDocument/2006/math">
                    <m:r>
                      <a:rPr lang="en-US" i="1">
                        <a:solidFill>
                          <a:schemeClr val="bg2"/>
                        </a:solidFill>
                        <a:latin typeface="Cambria Math" panose="02040503050406030204" pitchFamily="18" charset="0"/>
                      </a:rPr>
                      <m:t>𝑚𝑖𝑛</m:t>
                    </m:r>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𝑢</m:t>
                    </m:r>
                    <m:r>
                      <a:rPr lang="en-US" i="1">
                        <a:solidFill>
                          <a:schemeClr val="bg2"/>
                        </a:solidFill>
                        <a:latin typeface="Cambria Math" panose="02040503050406030204" pitchFamily="18" charset="0"/>
                      </a:rPr>
                      <m:t>/0.4,1)</m:t>
                    </m:r>
                  </m:oMath>
                </a14:m>
                <a:r>
                  <a:rPr lang="en-US" dirty="0">
                    <a:solidFill>
                      <a:schemeClr val="bg2"/>
                    </a:solidFill>
                  </a:rPr>
                  <a:t>.</a:t>
                </a:r>
              </a:p>
              <a:p>
                <a:pPr marL="285750" lvl="0" indent="-285750">
                  <a:buFont typeface="Arial" panose="020B0604020202020204" pitchFamily="34" charset="0"/>
                  <a:buChar char="•"/>
                </a:pPr>
                <a:r>
                  <a:rPr lang="en-US" b="1" dirty="0" err="1">
                    <a:solidFill>
                      <a:schemeClr val="bg2"/>
                    </a:solidFill>
                  </a:rPr>
                  <a:t>amp_drift</a:t>
                </a:r>
                <a:r>
                  <a:rPr lang="en-US" b="1" dirty="0">
                    <a:solidFill>
                      <a:schemeClr val="bg2"/>
                    </a:solidFill>
                  </a:rPr>
                  <a:t>: </a:t>
                </a:r>
                <a14:m>
                  <m:oMath xmlns:m="http://schemas.openxmlformats.org/officeDocument/2006/math">
                    <m:r>
                      <a:rPr lang="en-US" i="1">
                        <a:solidFill>
                          <a:schemeClr val="bg2"/>
                        </a:solidFill>
                        <a:latin typeface="Cambria Math" panose="02040503050406030204" pitchFamily="18" charset="0"/>
                      </a:rPr>
                      <m:t>𝑦</m:t>
                    </m:r>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𝑡</m:t>
                    </m:r>
                    <m:r>
                      <a:rPr lang="en-US" i="1">
                        <a:solidFill>
                          <a:schemeClr val="bg2"/>
                        </a:solidFill>
                        <a:latin typeface="Cambria Math" panose="02040503050406030204" pitchFamily="18" charset="0"/>
                      </a:rPr>
                      <m:t>)=(1+2</m:t>
                    </m:r>
                    <m:r>
                      <a:rPr lang="en-US" i="1">
                        <a:solidFill>
                          <a:schemeClr val="bg2"/>
                        </a:solidFill>
                        <a:latin typeface="Cambria Math" panose="02040503050406030204" pitchFamily="18" charset="0"/>
                      </a:rPr>
                      <m:t>𝑢</m:t>
                    </m:r>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𝑠𝑖𝑛</m:t>
                    </m:r>
                    <m:r>
                      <a:rPr lang="en-US" i="1">
                        <a:solidFill>
                          <a:schemeClr val="bg2"/>
                        </a:solidFill>
                        <a:latin typeface="Cambria Math" panose="02040503050406030204" pitchFamily="18" charset="0"/>
                      </a:rPr>
                      <m:t>(2</m:t>
                    </m:r>
                    <m:r>
                      <a:rPr lang="en-US" i="1">
                        <a:solidFill>
                          <a:schemeClr val="bg2"/>
                        </a:solidFill>
                        <a:latin typeface="Cambria Math" panose="02040503050406030204" pitchFamily="18" charset="0"/>
                      </a:rPr>
                      <m:t>𝜋</m:t>
                    </m:r>
                    <m:r>
                      <a:rPr lang="en-US" i="1">
                        <a:solidFill>
                          <a:schemeClr val="bg2"/>
                        </a:solidFill>
                        <a:latin typeface="Cambria Math" panose="02040503050406030204" pitchFamily="18" charset="0"/>
                      </a:rPr>
                      <m:t>𝑡</m:t>
                    </m:r>
                    <m:r>
                      <a:rPr lang="en-US" i="1">
                        <a:solidFill>
                          <a:schemeClr val="bg2"/>
                        </a:solidFill>
                        <a:latin typeface="Cambria Math" panose="02040503050406030204" pitchFamily="18" charset="0"/>
                      </a:rPr>
                      <m:t>/50)</m:t>
                    </m:r>
                  </m:oMath>
                </a14:m>
                <a:r>
                  <a:rPr lang="en-US" dirty="0">
                    <a:solidFill>
                      <a:schemeClr val="bg2"/>
                    </a:solidFill>
                  </a:rPr>
                  <a:t>.</a:t>
                </a:r>
              </a:p>
              <a:p>
                <a:pPr marL="285750" lvl="0" indent="-285750">
                  <a:buFont typeface="Arial" panose="020B0604020202020204" pitchFamily="34" charset="0"/>
                  <a:buChar char="•"/>
                </a:pPr>
                <a:r>
                  <a:rPr lang="en-US" b="1" dirty="0" err="1">
                    <a:solidFill>
                      <a:schemeClr val="bg2"/>
                    </a:solidFill>
                  </a:rPr>
                  <a:t>position_drift</a:t>
                </a:r>
                <a:r>
                  <a:rPr lang="en-US" b="1" dirty="0">
                    <a:solidFill>
                      <a:schemeClr val="bg2"/>
                    </a:solidFill>
                  </a:rPr>
                  <a:t>:</a:t>
                </a:r>
                <a14:m>
                  <m:oMath xmlns:m="http://schemas.openxmlformats.org/officeDocument/2006/math">
                    <m:r>
                      <a:rPr lang="en-US" b="1" i="1">
                        <a:solidFill>
                          <a:schemeClr val="bg2"/>
                        </a:solidFill>
                        <a:latin typeface="Cambria Math" panose="02040503050406030204" pitchFamily="18" charset="0"/>
                      </a:rPr>
                      <m:t> </m:t>
                    </m:r>
                    <m:r>
                      <a:rPr lang="en-US" i="1">
                        <a:solidFill>
                          <a:schemeClr val="bg2"/>
                        </a:solidFill>
                        <a:latin typeface="Cambria Math" panose="02040503050406030204" pitchFamily="18" charset="0"/>
                      </a:rPr>
                      <m:t>𝑦</m:t>
                    </m:r>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𝑡</m:t>
                    </m:r>
                    <m:r>
                      <a:rPr lang="en-US" i="1">
                        <a:solidFill>
                          <a:schemeClr val="bg2"/>
                        </a:solidFill>
                        <a:latin typeface="Cambria Math" panose="02040503050406030204" pitchFamily="18" charset="0"/>
                      </a:rPr>
                      <m:t>)=</m:t>
                    </m:r>
                    <m:r>
                      <a:rPr lang="en-US" i="1">
                        <a:solidFill>
                          <a:schemeClr val="bg2"/>
                        </a:solidFill>
                        <a:latin typeface="Cambria Math" panose="02040503050406030204" pitchFamily="18" charset="0"/>
                      </a:rPr>
                      <m:t>𝑠𝑖𝑛</m:t>
                    </m:r>
                    <m:r>
                      <a:rPr lang="en-US" i="1">
                        <a:solidFill>
                          <a:schemeClr val="bg2"/>
                        </a:solidFill>
                        <a:latin typeface="Cambria Math" panose="02040503050406030204" pitchFamily="18" charset="0"/>
                      </a:rPr>
                      <m:t>(2</m:t>
                    </m:r>
                    <m:r>
                      <a:rPr lang="en-US" i="1">
                        <a:solidFill>
                          <a:schemeClr val="bg2"/>
                        </a:solidFill>
                        <a:latin typeface="Cambria Math" panose="02040503050406030204" pitchFamily="18" charset="0"/>
                      </a:rPr>
                      <m:t>𝜋</m:t>
                    </m:r>
                    <m:r>
                      <a:rPr lang="en-US" i="1">
                        <a:solidFill>
                          <a:schemeClr val="bg2"/>
                        </a:solidFill>
                        <a:latin typeface="Cambria Math" panose="02040503050406030204" pitchFamily="18" charset="0"/>
                      </a:rPr>
                      <m:t>𝑡</m:t>
                    </m:r>
                    <m:r>
                      <a:rPr lang="en-US" i="1">
                        <a:solidFill>
                          <a:schemeClr val="bg2"/>
                        </a:solidFill>
                        <a:latin typeface="Cambria Math" panose="02040503050406030204" pitchFamily="18" charset="0"/>
                      </a:rPr>
                      <m:t>/50)+2</m:t>
                    </m:r>
                    <m:r>
                      <a:rPr lang="en-US" i="1">
                        <a:solidFill>
                          <a:schemeClr val="bg2"/>
                        </a:solidFill>
                        <a:latin typeface="Cambria Math" panose="02040503050406030204" pitchFamily="18" charset="0"/>
                      </a:rPr>
                      <m:t>𝑢</m:t>
                    </m:r>
                  </m:oMath>
                </a14:m>
                <a:r>
                  <a:rPr lang="en-US" dirty="0">
                    <a:solidFill>
                      <a:schemeClr val="bg2"/>
                    </a:solidFill>
                  </a:rPr>
                  <a:t>.</a:t>
                </a:r>
              </a:p>
            </p:txBody>
          </p:sp>
        </mc:Choice>
        <mc:Fallback xmlns="">
          <p:sp>
            <p:nvSpPr>
              <p:cNvPr id="7" name="TextBox 7"/>
              <p:cNvSpPr txBox="1">
                <a:spLocks noRot="1" noChangeAspect="1" noMove="1" noResize="1" noEditPoints="1" noAdjustHandles="1" noChangeArrowheads="1" noChangeShapeType="1" noTextEdit="1"/>
              </p:cNvSpPr>
              <p:nvPr/>
            </p:nvSpPr>
            <p:spPr>
              <a:xfrm>
                <a:off x="1677381" y="4449875"/>
                <a:ext cx="6495370" cy="3880614"/>
              </a:xfrm>
              <a:prstGeom prst="rect">
                <a:avLst/>
              </a:prstGeom>
              <a:blipFill>
                <a:blip r:embed="rId4"/>
                <a:stretch>
                  <a:fillRect l="-1970" t="-2041" r="-2158" b="-2669"/>
                </a:stretch>
              </a:blipFill>
            </p:spPr>
            <p:txBody>
              <a:bodyPr/>
              <a:lstStyle/>
              <a:p>
                <a:r>
                  <a:rPr lang="en-US">
                    <a:noFill/>
                  </a:rPr>
                  <a:t> </a:t>
                </a:r>
              </a:p>
            </p:txBody>
          </p:sp>
        </mc:Fallback>
      </mc:AlternateContent>
      <p:sp>
        <p:nvSpPr>
          <p:cNvPr id="19" name="Freeform 19"/>
          <p:cNvSpPr/>
          <p:nvPr/>
        </p:nvSpPr>
        <p:spPr>
          <a:xfrm>
            <a:off x="15957252" y="1682187"/>
            <a:ext cx="2330748" cy="2330748"/>
          </a:xfrm>
          <a:custGeom>
            <a:avLst/>
            <a:gdLst/>
            <a:ahLst/>
            <a:cxnLst/>
            <a:rect l="l" t="t" r="r" b="b"/>
            <a:pathLst>
              <a:path w="2330748" h="2330748">
                <a:moveTo>
                  <a:pt x="0" y="0"/>
                </a:moveTo>
                <a:lnTo>
                  <a:pt x="2330748" y="0"/>
                </a:lnTo>
                <a:lnTo>
                  <a:pt x="2330748" y="2330748"/>
                </a:lnTo>
                <a:lnTo>
                  <a:pt x="0" y="2330748"/>
                </a:lnTo>
                <a:lnTo>
                  <a:pt x="0" y="0"/>
                </a:lnTo>
                <a:close/>
              </a:path>
            </a:pathLst>
          </a:custGeom>
          <a:blipFill>
            <a:blip>
              <a:alphaModFix amt="37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0" name="Freeform 20"/>
          <p:cNvSpPr/>
          <p:nvPr/>
        </p:nvSpPr>
        <p:spPr>
          <a:xfrm>
            <a:off x="10931283" y="9538070"/>
            <a:ext cx="964746" cy="964746"/>
          </a:xfrm>
          <a:custGeom>
            <a:avLst/>
            <a:gdLst/>
            <a:ahLst/>
            <a:cxnLst/>
            <a:rect l="l" t="t" r="r" b="b"/>
            <a:pathLst>
              <a:path w="964746" h="964746">
                <a:moveTo>
                  <a:pt x="0" y="0"/>
                </a:moveTo>
                <a:lnTo>
                  <a:pt x="964746" y="0"/>
                </a:lnTo>
                <a:lnTo>
                  <a:pt x="964746" y="964747"/>
                </a:lnTo>
                <a:lnTo>
                  <a:pt x="0" y="964747"/>
                </a:lnTo>
                <a:lnTo>
                  <a:pt x="0" y="0"/>
                </a:lnTo>
                <a:close/>
              </a:path>
            </a:pathLst>
          </a:custGeom>
          <a:blipFill>
            <a:blip>
              <a:alphaModFix amt="37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1" name="Freeform 21"/>
          <p:cNvSpPr/>
          <p:nvPr/>
        </p:nvSpPr>
        <p:spPr>
          <a:xfrm>
            <a:off x="8899544" y="8542949"/>
            <a:ext cx="715351" cy="715351"/>
          </a:xfrm>
          <a:custGeom>
            <a:avLst/>
            <a:gdLst/>
            <a:ahLst/>
            <a:cxnLst/>
            <a:rect l="l" t="t" r="r" b="b"/>
            <a:pathLst>
              <a:path w="715351" h="715351">
                <a:moveTo>
                  <a:pt x="0" y="0"/>
                </a:moveTo>
                <a:lnTo>
                  <a:pt x="715351" y="0"/>
                </a:lnTo>
                <a:lnTo>
                  <a:pt x="715351" y="715351"/>
                </a:lnTo>
                <a:lnTo>
                  <a:pt x="0" y="715351"/>
                </a:lnTo>
                <a:lnTo>
                  <a:pt x="0" y="0"/>
                </a:lnTo>
                <a:close/>
              </a:path>
            </a:pathLst>
          </a:custGeom>
          <a:blipFill>
            <a:blip>
              <a:alphaModFix amt="37000"/>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22" name="Group 22"/>
          <p:cNvGrpSpPr/>
          <p:nvPr/>
        </p:nvGrpSpPr>
        <p:grpSpPr>
          <a:xfrm>
            <a:off x="0" y="8244826"/>
            <a:ext cx="2737757" cy="2737757"/>
            <a:chOff x="0" y="0"/>
            <a:chExt cx="3650343" cy="3650343"/>
          </a:xfrm>
        </p:grpSpPr>
        <p:sp>
          <p:nvSpPr>
            <p:cNvPr id="23" name="Freeform 23"/>
            <p:cNvSpPr/>
            <p:nvPr/>
          </p:nvSpPr>
          <p:spPr>
            <a:xfrm>
              <a:off x="0" y="0"/>
              <a:ext cx="3650343" cy="3650343"/>
            </a:xfrm>
            <a:custGeom>
              <a:avLst/>
              <a:gdLst/>
              <a:ahLst/>
              <a:cxnLst/>
              <a:rect l="l" t="t" r="r" b="b"/>
              <a:pathLst>
                <a:path w="3650343" h="3650343">
                  <a:moveTo>
                    <a:pt x="0" y="0"/>
                  </a:moveTo>
                  <a:lnTo>
                    <a:pt x="3650343" y="0"/>
                  </a:lnTo>
                  <a:lnTo>
                    <a:pt x="3650343" y="3650343"/>
                  </a:lnTo>
                  <a:lnTo>
                    <a:pt x="0" y="3650343"/>
                  </a:lnTo>
                  <a:lnTo>
                    <a:pt x="0" y="0"/>
                  </a:lnTo>
                  <a:close/>
                </a:path>
              </a:pathLst>
            </a:custGeom>
            <a:blipFill>
              <a:blip>
                <a:alphaModFix amt="41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4" name="Freeform 24"/>
            <p:cNvSpPr/>
            <p:nvPr/>
          </p:nvSpPr>
          <p:spPr>
            <a:xfrm>
              <a:off x="257215" y="827328"/>
              <a:ext cx="2779958" cy="1629020"/>
            </a:xfrm>
            <a:custGeom>
              <a:avLst/>
              <a:gdLst/>
              <a:ahLst/>
              <a:cxnLst/>
              <a:rect l="l" t="t" r="r" b="b"/>
              <a:pathLst>
                <a:path w="2779958" h="1629020">
                  <a:moveTo>
                    <a:pt x="0" y="0"/>
                  </a:moveTo>
                  <a:lnTo>
                    <a:pt x="2779958" y="0"/>
                  </a:lnTo>
                  <a:lnTo>
                    <a:pt x="2779958" y="1629020"/>
                  </a:lnTo>
                  <a:lnTo>
                    <a:pt x="0" y="1629020"/>
                  </a:lnTo>
                  <a:lnTo>
                    <a:pt x="0" y="0"/>
                  </a:lnTo>
                  <a:close/>
                </a:path>
              </a:pathLst>
            </a:custGeom>
            <a:blipFill>
              <a:blip r:embed="rId6"/>
              <a:stretch>
                <a:fillRect/>
              </a:stretch>
            </a:blipFill>
          </p:spPr>
          <p:txBody>
            <a:bodyPr/>
            <a:lstStyle/>
            <a:p>
              <a:endParaRPr lang="en-US"/>
            </a:p>
          </p:txBody>
        </p:sp>
      </p:grpSp>
      <p:sp>
        <p:nvSpPr>
          <p:cNvPr id="25" name="TextBox 25"/>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13</a:t>
            </a:r>
          </a:p>
        </p:txBody>
      </p:sp>
      <p:pic>
        <p:nvPicPr>
          <p:cNvPr id="27" name="Picture 26">
            <a:extLst>
              <a:ext uri="{FF2B5EF4-FFF2-40B4-BE49-F238E27FC236}">
                <a16:creationId xmlns:a16="http://schemas.microsoft.com/office/drawing/2014/main" id="{9BA11F3C-B10E-BB49-3AE3-88A0A0DE37C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988162" y="114300"/>
            <a:ext cx="8206434" cy="9847074"/>
          </a:xfrm>
          <a:prstGeom prst="rect">
            <a:avLst/>
          </a:prstGeom>
        </p:spPr>
      </p:pic>
      <p:sp>
        <p:nvSpPr>
          <p:cNvPr id="29" name="TextBox 2">
            <a:extLst>
              <a:ext uri="{FF2B5EF4-FFF2-40B4-BE49-F238E27FC236}">
                <a16:creationId xmlns:a16="http://schemas.microsoft.com/office/drawing/2014/main" id="{CE0FC22A-6FD6-F909-48DC-CF3C853284DF}"/>
              </a:ext>
            </a:extLst>
          </p:cNvPr>
          <p:cNvSpPr txBox="1"/>
          <p:nvPr/>
        </p:nvSpPr>
        <p:spPr>
          <a:xfrm>
            <a:off x="10157575" y="9974754"/>
            <a:ext cx="7937514" cy="246221"/>
          </a:xfrm>
          <a:prstGeom prst="rect">
            <a:avLst/>
          </a:prstGeom>
        </p:spPr>
        <p:txBody>
          <a:bodyPr wrap="square" lIns="0" tIns="0" rIns="0" bIns="0" rtlCol="0" anchor="t">
            <a:spAutoFit/>
          </a:bodyPr>
          <a:lstStyle/>
          <a:p>
            <a:pPr algn="ctr" hangingPunct="0"/>
            <a:r>
              <a:rPr lang="en-US" sz="1600" dirty="0">
                <a:solidFill>
                  <a:schemeClr val="bg2"/>
                </a:solidFill>
              </a:rPr>
              <a:t>Figure 4.1 Ten-signal synthetic evaluation panel grouped by drift axis</a:t>
            </a:r>
          </a:p>
        </p:txBody>
      </p:sp>
      <p:sp>
        <p:nvSpPr>
          <p:cNvPr id="8" name="Slide Number Placeholder 7">
            <a:extLst>
              <a:ext uri="{FF2B5EF4-FFF2-40B4-BE49-F238E27FC236}">
                <a16:creationId xmlns:a16="http://schemas.microsoft.com/office/drawing/2014/main" id="{E6B4D333-C7F8-9E99-29B1-917642C606A3}"/>
              </a:ext>
            </a:extLst>
          </p:cNvPr>
          <p:cNvSpPr>
            <a:spLocks noGrp="1"/>
          </p:cNvSpPr>
          <p:nvPr>
            <p:ph type="sldNum" sz="quarter" idx="12"/>
          </p:nvPr>
        </p:nvSpPr>
        <p:spPr>
          <a:xfrm>
            <a:off x="15925800" y="9715500"/>
            <a:ext cx="2133600" cy="365125"/>
          </a:xfrm>
        </p:spPr>
        <p:txBody>
          <a:bodyPr/>
          <a:lstStyle/>
          <a:p>
            <a:fld id="{B6F15528-21DE-4FAA-801E-634DDDAF4B2B}"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lin ang="5400000"/>
        </a:gradFill>
        <a:effectLst/>
      </p:bgPr>
    </p:bg>
    <p:spTree>
      <p:nvGrpSpPr>
        <p:cNvPr id="1" name="">
          <a:extLst>
            <a:ext uri="{FF2B5EF4-FFF2-40B4-BE49-F238E27FC236}">
              <a16:creationId xmlns:a16="http://schemas.microsoft.com/office/drawing/2014/main" id="{4C0E78CB-EBD3-5FA9-137D-3C11DEED4569}"/>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DBBFDD1D-80D9-A2D8-DE55-92B198A078B2}"/>
              </a:ext>
            </a:extLst>
          </p:cNvPr>
          <p:cNvSpPr txBox="1"/>
          <p:nvPr/>
        </p:nvSpPr>
        <p:spPr>
          <a:xfrm>
            <a:off x="1677382" y="3089037"/>
            <a:ext cx="7937514" cy="1603388"/>
          </a:xfrm>
          <a:prstGeom prst="rect">
            <a:avLst/>
          </a:prstGeom>
        </p:spPr>
        <p:txBody>
          <a:bodyPr wrap="square" lIns="0" tIns="0" rIns="0" bIns="0" rtlCol="0" anchor="t">
            <a:spAutoFit/>
          </a:bodyPr>
          <a:lstStyle/>
          <a:p>
            <a:pPr>
              <a:lnSpc>
                <a:spcPts val="2538"/>
              </a:lnSpc>
            </a:pPr>
            <a:r>
              <a:rPr lang="en-US" sz="2400" dirty="0">
                <a:solidFill>
                  <a:schemeClr val="bg2"/>
                </a:solidFill>
              </a:rPr>
              <a:t>The real-world panel was selected to span biological, environmental, energy, and mechanical streams, including PPG, respiration, electricity demand, air temperature, bearing vibration, and changing-speed motor signals with naturally mixed and imperfectly observed dynamics.</a:t>
            </a:r>
            <a:endParaRPr lang="en-US" sz="2400" spc="-4" dirty="0">
              <a:solidFill>
                <a:schemeClr val="bg2"/>
              </a:solidFill>
              <a:latin typeface="IBM Plex Sans"/>
              <a:ea typeface="IBM Plex Sans"/>
              <a:cs typeface="IBM Plex Sans"/>
              <a:sym typeface="IBM Plex Sans"/>
            </a:endParaRPr>
          </a:p>
        </p:txBody>
      </p:sp>
      <p:sp>
        <p:nvSpPr>
          <p:cNvPr id="3" name="TextBox 3">
            <a:extLst>
              <a:ext uri="{FF2B5EF4-FFF2-40B4-BE49-F238E27FC236}">
                <a16:creationId xmlns:a16="http://schemas.microsoft.com/office/drawing/2014/main" id="{3B71DE92-D6DA-5669-995C-D342EECECA3A}"/>
              </a:ext>
            </a:extLst>
          </p:cNvPr>
          <p:cNvSpPr txBox="1"/>
          <p:nvPr/>
        </p:nvSpPr>
        <p:spPr>
          <a:xfrm>
            <a:off x="1677381" y="1097131"/>
            <a:ext cx="5942618" cy="1851982"/>
          </a:xfrm>
          <a:prstGeom prst="rect">
            <a:avLst/>
          </a:prstGeom>
        </p:spPr>
        <p:txBody>
          <a:bodyPr wrap="square" lIns="0" tIns="0" rIns="0" bIns="0" rtlCol="0" anchor="t">
            <a:spAutoFit/>
          </a:bodyPr>
          <a:lstStyle/>
          <a:p>
            <a:pPr algn="l">
              <a:lnSpc>
                <a:spcPts val="7351"/>
              </a:lnSpc>
            </a:pPr>
            <a:r>
              <a:rPr lang="en-US" sz="5876" b="1" spc="-17" dirty="0">
                <a:solidFill>
                  <a:srgbClr val="D7E5D8"/>
                </a:solidFill>
                <a:latin typeface="IBM Plex Sans Bold"/>
                <a:ea typeface="IBM Plex Sans Bold"/>
                <a:cs typeface="IBM Plex Sans Bold"/>
                <a:sym typeface="IBM Plex Sans Bold"/>
              </a:rPr>
              <a:t>REAL WORLD SIGNAL PANEL</a:t>
            </a:r>
          </a:p>
        </p:txBody>
      </p:sp>
      <p:sp>
        <p:nvSpPr>
          <p:cNvPr id="4" name="AutoShape 4">
            <a:extLst>
              <a:ext uri="{FF2B5EF4-FFF2-40B4-BE49-F238E27FC236}">
                <a16:creationId xmlns:a16="http://schemas.microsoft.com/office/drawing/2014/main" id="{43DBC073-EF12-DB0D-2970-8BDB5BBEA817}"/>
              </a:ext>
            </a:extLst>
          </p:cNvPr>
          <p:cNvSpPr/>
          <p:nvPr/>
        </p:nvSpPr>
        <p:spPr>
          <a:xfrm flipV="1">
            <a:off x="500412" y="62275"/>
            <a:ext cx="0" cy="6492240"/>
          </a:xfrm>
          <a:prstGeom prst="line">
            <a:avLst/>
          </a:prstGeom>
          <a:ln w="19050" cap="flat">
            <a:solidFill>
              <a:srgbClr val="FFFFFF"/>
            </a:solidFill>
            <a:prstDash val="solid"/>
            <a:headEnd type="none" w="sm" len="sm"/>
            <a:tailEnd type="none" w="sm" len="sm"/>
          </a:ln>
        </p:spPr>
        <p:txBody>
          <a:bodyPr/>
          <a:lstStyle/>
          <a:p>
            <a:endParaRPr lang="en-US"/>
          </a:p>
        </p:txBody>
      </p:sp>
      <p:sp>
        <p:nvSpPr>
          <p:cNvPr id="5" name="AutoShape 5">
            <a:extLst>
              <a:ext uri="{FF2B5EF4-FFF2-40B4-BE49-F238E27FC236}">
                <a16:creationId xmlns:a16="http://schemas.microsoft.com/office/drawing/2014/main" id="{88906AB4-2303-1E59-87A0-26BC085E79DF}"/>
              </a:ext>
            </a:extLst>
          </p:cNvPr>
          <p:cNvSpPr/>
          <p:nvPr/>
        </p:nvSpPr>
        <p:spPr>
          <a:xfrm flipV="1">
            <a:off x="500412" y="7053950"/>
            <a:ext cx="0" cy="960120"/>
          </a:xfrm>
          <a:prstGeom prst="line">
            <a:avLst/>
          </a:prstGeom>
          <a:ln w="19050" cap="flat">
            <a:solidFill>
              <a:srgbClr val="FFFFFF"/>
            </a:solidFill>
            <a:prstDash val="solid"/>
            <a:headEnd type="none" w="sm" len="sm"/>
            <a:tailEnd type="none" w="sm" len="sm"/>
          </a:ln>
        </p:spPr>
        <p:txBody>
          <a:bodyPr/>
          <a:lstStyle/>
          <a:p>
            <a:endParaRPr lang="en-US"/>
          </a:p>
        </p:txBody>
      </p:sp>
      <p:sp>
        <p:nvSpPr>
          <p:cNvPr id="6" name="AutoShape 6">
            <a:extLst>
              <a:ext uri="{FF2B5EF4-FFF2-40B4-BE49-F238E27FC236}">
                <a16:creationId xmlns:a16="http://schemas.microsoft.com/office/drawing/2014/main" id="{D7604C5A-DAEC-7CDC-67ED-F57977AE3268}"/>
              </a:ext>
            </a:extLst>
          </p:cNvPr>
          <p:cNvSpPr/>
          <p:nvPr/>
        </p:nvSpPr>
        <p:spPr>
          <a:xfrm flipV="1">
            <a:off x="500412" y="8446345"/>
            <a:ext cx="0" cy="442454"/>
          </a:xfrm>
          <a:prstGeom prst="line">
            <a:avLst/>
          </a:prstGeom>
          <a:ln w="19050" cap="flat">
            <a:solidFill>
              <a:srgbClr val="FFFFFF"/>
            </a:solidFill>
            <a:prstDash val="solid"/>
            <a:headEnd type="none" w="sm" len="sm"/>
            <a:tailEnd type="none" w="sm" len="sm"/>
          </a:ln>
        </p:spPr>
        <p:txBody>
          <a:bodyPr/>
          <a:lstStyle/>
          <a:p>
            <a:endParaRPr lang="en-US"/>
          </a:p>
        </p:txBody>
      </p:sp>
      <p:sp>
        <p:nvSpPr>
          <p:cNvPr id="19" name="Freeform 19">
            <a:extLst>
              <a:ext uri="{FF2B5EF4-FFF2-40B4-BE49-F238E27FC236}">
                <a16:creationId xmlns:a16="http://schemas.microsoft.com/office/drawing/2014/main" id="{93E6BFC4-4D2C-338F-A1C1-3105DDEDB0CF}"/>
              </a:ext>
            </a:extLst>
          </p:cNvPr>
          <p:cNvSpPr/>
          <p:nvPr/>
        </p:nvSpPr>
        <p:spPr>
          <a:xfrm>
            <a:off x="15957252" y="1682187"/>
            <a:ext cx="2330748" cy="2330748"/>
          </a:xfrm>
          <a:custGeom>
            <a:avLst/>
            <a:gdLst/>
            <a:ahLst/>
            <a:cxnLst/>
            <a:rect l="l" t="t" r="r" b="b"/>
            <a:pathLst>
              <a:path w="2330748" h="2330748">
                <a:moveTo>
                  <a:pt x="0" y="0"/>
                </a:moveTo>
                <a:lnTo>
                  <a:pt x="2330748" y="0"/>
                </a:lnTo>
                <a:lnTo>
                  <a:pt x="2330748" y="2330748"/>
                </a:lnTo>
                <a:lnTo>
                  <a:pt x="0" y="2330748"/>
                </a:lnTo>
                <a:lnTo>
                  <a:pt x="0" y="0"/>
                </a:lnTo>
                <a:close/>
              </a:path>
            </a:pathLst>
          </a:custGeom>
          <a:blipFill>
            <a:blip>
              <a:alphaModFix amt="37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0" name="Freeform 20">
            <a:extLst>
              <a:ext uri="{FF2B5EF4-FFF2-40B4-BE49-F238E27FC236}">
                <a16:creationId xmlns:a16="http://schemas.microsoft.com/office/drawing/2014/main" id="{7E0B6B33-2F22-279F-3F8E-4D56B4CC79DE}"/>
              </a:ext>
            </a:extLst>
          </p:cNvPr>
          <p:cNvSpPr/>
          <p:nvPr/>
        </p:nvSpPr>
        <p:spPr>
          <a:xfrm>
            <a:off x="10931283" y="9538070"/>
            <a:ext cx="964746" cy="964746"/>
          </a:xfrm>
          <a:custGeom>
            <a:avLst/>
            <a:gdLst/>
            <a:ahLst/>
            <a:cxnLst/>
            <a:rect l="l" t="t" r="r" b="b"/>
            <a:pathLst>
              <a:path w="964746" h="964746">
                <a:moveTo>
                  <a:pt x="0" y="0"/>
                </a:moveTo>
                <a:lnTo>
                  <a:pt x="964746" y="0"/>
                </a:lnTo>
                <a:lnTo>
                  <a:pt x="964746" y="964747"/>
                </a:lnTo>
                <a:lnTo>
                  <a:pt x="0" y="964747"/>
                </a:lnTo>
                <a:lnTo>
                  <a:pt x="0" y="0"/>
                </a:lnTo>
                <a:close/>
              </a:path>
            </a:pathLst>
          </a:custGeom>
          <a:blipFill>
            <a:blip>
              <a:alphaModFix amt="37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1" name="Freeform 21">
            <a:extLst>
              <a:ext uri="{FF2B5EF4-FFF2-40B4-BE49-F238E27FC236}">
                <a16:creationId xmlns:a16="http://schemas.microsoft.com/office/drawing/2014/main" id="{9593EAE0-4474-80F0-7764-C867836B755E}"/>
              </a:ext>
            </a:extLst>
          </p:cNvPr>
          <p:cNvSpPr/>
          <p:nvPr/>
        </p:nvSpPr>
        <p:spPr>
          <a:xfrm>
            <a:off x="8899544" y="8542949"/>
            <a:ext cx="715351" cy="715351"/>
          </a:xfrm>
          <a:custGeom>
            <a:avLst/>
            <a:gdLst/>
            <a:ahLst/>
            <a:cxnLst/>
            <a:rect l="l" t="t" r="r" b="b"/>
            <a:pathLst>
              <a:path w="715351" h="715351">
                <a:moveTo>
                  <a:pt x="0" y="0"/>
                </a:moveTo>
                <a:lnTo>
                  <a:pt x="715351" y="0"/>
                </a:lnTo>
                <a:lnTo>
                  <a:pt x="715351" y="715351"/>
                </a:lnTo>
                <a:lnTo>
                  <a:pt x="0" y="715351"/>
                </a:lnTo>
                <a:lnTo>
                  <a:pt x="0" y="0"/>
                </a:lnTo>
                <a:close/>
              </a:path>
            </a:pathLst>
          </a:custGeom>
          <a:blipFill>
            <a:blip>
              <a:alphaModFix amt="37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22" name="Group 22">
            <a:extLst>
              <a:ext uri="{FF2B5EF4-FFF2-40B4-BE49-F238E27FC236}">
                <a16:creationId xmlns:a16="http://schemas.microsoft.com/office/drawing/2014/main" id="{CF7C8C3D-C756-BEAB-87E6-D055F829801D}"/>
              </a:ext>
            </a:extLst>
          </p:cNvPr>
          <p:cNvGrpSpPr/>
          <p:nvPr/>
        </p:nvGrpSpPr>
        <p:grpSpPr>
          <a:xfrm>
            <a:off x="0" y="8244826"/>
            <a:ext cx="2737757" cy="2737757"/>
            <a:chOff x="0" y="0"/>
            <a:chExt cx="3650343" cy="3650343"/>
          </a:xfrm>
        </p:grpSpPr>
        <p:sp>
          <p:nvSpPr>
            <p:cNvPr id="23" name="Freeform 23">
              <a:extLst>
                <a:ext uri="{FF2B5EF4-FFF2-40B4-BE49-F238E27FC236}">
                  <a16:creationId xmlns:a16="http://schemas.microsoft.com/office/drawing/2014/main" id="{5AE4A210-31F3-7576-2298-088D1271961B}"/>
                </a:ext>
              </a:extLst>
            </p:cNvPr>
            <p:cNvSpPr/>
            <p:nvPr/>
          </p:nvSpPr>
          <p:spPr>
            <a:xfrm>
              <a:off x="0" y="0"/>
              <a:ext cx="3650343" cy="3650343"/>
            </a:xfrm>
            <a:custGeom>
              <a:avLst/>
              <a:gdLst/>
              <a:ahLst/>
              <a:cxnLst/>
              <a:rect l="l" t="t" r="r" b="b"/>
              <a:pathLst>
                <a:path w="3650343" h="3650343">
                  <a:moveTo>
                    <a:pt x="0" y="0"/>
                  </a:moveTo>
                  <a:lnTo>
                    <a:pt x="3650343" y="0"/>
                  </a:lnTo>
                  <a:lnTo>
                    <a:pt x="3650343" y="3650343"/>
                  </a:lnTo>
                  <a:lnTo>
                    <a:pt x="0" y="3650343"/>
                  </a:lnTo>
                  <a:lnTo>
                    <a:pt x="0" y="0"/>
                  </a:lnTo>
                  <a:close/>
                </a:path>
              </a:pathLst>
            </a:custGeom>
            <a:blipFill>
              <a:blip>
                <a:alphaModFix amt="4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4" name="Freeform 24">
              <a:extLst>
                <a:ext uri="{FF2B5EF4-FFF2-40B4-BE49-F238E27FC236}">
                  <a16:creationId xmlns:a16="http://schemas.microsoft.com/office/drawing/2014/main" id="{7C1CDDC4-95F8-7735-B4C9-8467AEDDAEF3}"/>
                </a:ext>
              </a:extLst>
            </p:cNvPr>
            <p:cNvSpPr/>
            <p:nvPr/>
          </p:nvSpPr>
          <p:spPr>
            <a:xfrm>
              <a:off x="257215" y="827328"/>
              <a:ext cx="2779958" cy="1629020"/>
            </a:xfrm>
            <a:custGeom>
              <a:avLst/>
              <a:gdLst/>
              <a:ahLst/>
              <a:cxnLst/>
              <a:rect l="l" t="t" r="r" b="b"/>
              <a:pathLst>
                <a:path w="2779958" h="1629020">
                  <a:moveTo>
                    <a:pt x="0" y="0"/>
                  </a:moveTo>
                  <a:lnTo>
                    <a:pt x="2779958" y="0"/>
                  </a:lnTo>
                  <a:lnTo>
                    <a:pt x="2779958" y="1629020"/>
                  </a:lnTo>
                  <a:lnTo>
                    <a:pt x="0" y="1629020"/>
                  </a:lnTo>
                  <a:lnTo>
                    <a:pt x="0" y="0"/>
                  </a:lnTo>
                  <a:close/>
                </a:path>
              </a:pathLst>
            </a:custGeom>
            <a:blipFill>
              <a:blip r:embed="rId4"/>
              <a:stretch>
                <a:fillRect/>
              </a:stretch>
            </a:blipFill>
          </p:spPr>
          <p:txBody>
            <a:bodyPr/>
            <a:lstStyle/>
            <a:p>
              <a:endParaRPr lang="en-US"/>
            </a:p>
          </p:txBody>
        </p:sp>
      </p:grpSp>
      <p:sp>
        <p:nvSpPr>
          <p:cNvPr id="25" name="TextBox 25">
            <a:extLst>
              <a:ext uri="{FF2B5EF4-FFF2-40B4-BE49-F238E27FC236}">
                <a16:creationId xmlns:a16="http://schemas.microsoft.com/office/drawing/2014/main" id="{8ADA925B-7D12-C450-032C-93CDE65F2E9B}"/>
              </a:ext>
            </a:extLst>
          </p:cNvPr>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13</a:t>
            </a:r>
          </a:p>
        </p:txBody>
      </p:sp>
      <p:pic>
        <p:nvPicPr>
          <p:cNvPr id="9" name="Picture 8">
            <a:extLst>
              <a:ext uri="{FF2B5EF4-FFF2-40B4-BE49-F238E27FC236}">
                <a16:creationId xmlns:a16="http://schemas.microsoft.com/office/drawing/2014/main" id="{9C319EC9-12D2-9C15-9C28-7719157FFDA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192853" y="56610"/>
            <a:ext cx="7001743" cy="9811290"/>
          </a:xfrm>
          <a:prstGeom prst="rect">
            <a:avLst/>
          </a:prstGeom>
        </p:spPr>
      </p:pic>
      <p:pic>
        <p:nvPicPr>
          <p:cNvPr id="12" name="Picture 11">
            <a:extLst>
              <a:ext uri="{FF2B5EF4-FFF2-40B4-BE49-F238E27FC236}">
                <a16:creationId xmlns:a16="http://schemas.microsoft.com/office/drawing/2014/main" id="{42480449-3994-E746-E37A-9E7DC75DEAB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877806" y="5227963"/>
            <a:ext cx="6865610" cy="4030337"/>
          </a:xfrm>
          <a:prstGeom prst="rect">
            <a:avLst/>
          </a:prstGeom>
        </p:spPr>
      </p:pic>
      <p:sp>
        <p:nvSpPr>
          <p:cNvPr id="14" name="TextBox 2">
            <a:extLst>
              <a:ext uri="{FF2B5EF4-FFF2-40B4-BE49-F238E27FC236}">
                <a16:creationId xmlns:a16="http://schemas.microsoft.com/office/drawing/2014/main" id="{91126F3C-CBB1-7232-9AB9-7663BB79F142}"/>
              </a:ext>
            </a:extLst>
          </p:cNvPr>
          <p:cNvSpPr txBox="1"/>
          <p:nvPr/>
        </p:nvSpPr>
        <p:spPr>
          <a:xfrm>
            <a:off x="10724967" y="9939136"/>
            <a:ext cx="7937514" cy="246221"/>
          </a:xfrm>
          <a:prstGeom prst="rect">
            <a:avLst/>
          </a:prstGeom>
        </p:spPr>
        <p:txBody>
          <a:bodyPr wrap="square" lIns="0" tIns="0" rIns="0" bIns="0" rtlCol="0" anchor="t">
            <a:spAutoFit/>
          </a:bodyPr>
          <a:lstStyle/>
          <a:p>
            <a:pPr algn="ctr" hangingPunct="0"/>
            <a:r>
              <a:rPr lang="en-US" sz="1600" dirty="0">
                <a:solidFill>
                  <a:schemeClr val="bg2"/>
                </a:solidFill>
              </a:rPr>
              <a:t>Figure 4.2 Representative measured records from the real-world evaluation panel</a:t>
            </a:r>
          </a:p>
        </p:txBody>
      </p:sp>
      <p:sp>
        <p:nvSpPr>
          <p:cNvPr id="16" name="TextBox 2">
            <a:extLst>
              <a:ext uri="{FF2B5EF4-FFF2-40B4-BE49-F238E27FC236}">
                <a16:creationId xmlns:a16="http://schemas.microsoft.com/office/drawing/2014/main" id="{3371965D-D018-B864-E4C3-78300FD428D9}"/>
              </a:ext>
            </a:extLst>
          </p:cNvPr>
          <p:cNvSpPr txBox="1"/>
          <p:nvPr/>
        </p:nvSpPr>
        <p:spPr>
          <a:xfrm>
            <a:off x="2080364" y="9414959"/>
            <a:ext cx="8460493" cy="246221"/>
          </a:xfrm>
          <a:prstGeom prst="rect">
            <a:avLst/>
          </a:prstGeom>
        </p:spPr>
        <p:txBody>
          <a:bodyPr wrap="square" lIns="0" tIns="0" rIns="0" bIns="0" rtlCol="0" anchor="t">
            <a:spAutoFit/>
          </a:bodyPr>
          <a:lstStyle/>
          <a:p>
            <a:pPr algn="ctr" hangingPunct="0"/>
            <a:r>
              <a:rPr lang="en-US" sz="1600" dirty="0">
                <a:solidFill>
                  <a:schemeClr val="bg2"/>
                </a:solidFill>
              </a:rPr>
              <a:t>Figure 4.3 Initial and final segments of the increasing- and decreasing-speed motor records</a:t>
            </a:r>
          </a:p>
        </p:txBody>
      </p:sp>
      <p:sp>
        <p:nvSpPr>
          <p:cNvPr id="8" name="Slide Number Placeholder 7">
            <a:extLst>
              <a:ext uri="{FF2B5EF4-FFF2-40B4-BE49-F238E27FC236}">
                <a16:creationId xmlns:a16="http://schemas.microsoft.com/office/drawing/2014/main" id="{D6F78F23-087B-ABC1-75B3-9D248E90A653}"/>
              </a:ext>
            </a:extLst>
          </p:cNvPr>
          <p:cNvSpPr>
            <a:spLocks noGrp="1"/>
          </p:cNvSpPr>
          <p:nvPr>
            <p:ph type="sldNum" sz="quarter" idx="12"/>
          </p:nvPr>
        </p:nvSpPr>
        <p:spPr>
          <a:xfrm>
            <a:off x="15925800" y="9715500"/>
            <a:ext cx="2133600" cy="365125"/>
          </a:xfrm>
        </p:spPr>
        <p:txBody>
          <a:bodyPr/>
          <a:lstStyle/>
          <a:p>
            <a:fld id="{B6F15528-21DE-4FAA-801E-634DDDAF4B2B}" type="slidenum">
              <a:rPr lang="en-US" smtClean="0"/>
              <a:pPr/>
              <a:t>24</a:t>
            </a:fld>
            <a:endParaRPr lang="en-US"/>
          </a:p>
        </p:txBody>
      </p:sp>
    </p:spTree>
    <p:extLst>
      <p:ext uri="{BB962C8B-B14F-4D97-AF65-F5344CB8AC3E}">
        <p14:creationId xmlns:p14="http://schemas.microsoft.com/office/powerpoint/2010/main" val="19674782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lin ang="5400000"/>
        </a:gradFill>
        <a:effectLst/>
      </p:bgPr>
    </p:bg>
    <p:spTree>
      <p:nvGrpSpPr>
        <p:cNvPr id="1" name="">
          <a:extLst>
            <a:ext uri="{FF2B5EF4-FFF2-40B4-BE49-F238E27FC236}">
              <a16:creationId xmlns:a16="http://schemas.microsoft.com/office/drawing/2014/main" id="{78E51F36-2F23-04E2-8FCF-D322B70BE1F0}"/>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E9BFC6F5-5B84-70DA-F8EF-2CAEF7AF22E0}"/>
              </a:ext>
            </a:extLst>
          </p:cNvPr>
          <p:cNvSpPr/>
          <p:nvPr/>
        </p:nvSpPr>
        <p:spPr>
          <a:xfrm>
            <a:off x="15087601" y="-314077"/>
            <a:ext cx="5149872" cy="2788004"/>
          </a:xfrm>
          <a:custGeom>
            <a:avLst/>
            <a:gdLst/>
            <a:ahLst/>
            <a:cxnLst/>
            <a:rect l="l" t="t" r="r" b="b"/>
            <a:pathLst>
              <a:path w="7315200" h="3596640">
                <a:moveTo>
                  <a:pt x="0" y="0"/>
                </a:moveTo>
                <a:lnTo>
                  <a:pt x="7315200" y="0"/>
                </a:lnTo>
                <a:lnTo>
                  <a:pt x="7315200" y="3596640"/>
                </a:lnTo>
                <a:lnTo>
                  <a:pt x="0" y="3596640"/>
                </a:lnTo>
                <a:lnTo>
                  <a:pt x="0" y="0"/>
                </a:lnTo>
                <a:close/>
              </a:path>
            </a:pathLst>
          </a:custGeom>
          <a:blipFill>
            <a:blip>
              <a:alphaModFix amt="44999"/>
              <a:extLst>
                <a:ext uri="{96DAC541-7B7A-43D3-8B79-37D633B846F1}">
                  <asvg:svgBlip xmlns:asvg="http://schemas.microsoft.com/office/drawing/2016/SVG/main" r:embed="rId2"/>
                </a:ext>
              </a:extLst>
            </a:blip>
            <a:stretch>
              <a:fillRect/>
            </a:stretch>
          </a:blipFill>
        </p:spPr>
        <p:txBody>
          <a:bodyPr/>
          <a:lstStyle/>
          <a:p>
            <a:endParaRPr lang="en-US"/>
          </a:p>
        </p:txBody>
      </p:sp>
      <p:sp>
        <p:nvSpPr>
          <p:cNvPr id="8" name="AutoShape 8">
            <a:extLst>
              <a:ext uri="{FF2B5EF4-FFF2-40B4-BE49-F238E27FC236}">
                <a16:creationId xmlns:a16="http://schemas.microsoft.com/office/drawing/2014/main" id="{8013887C-7FD0-14C7-777B-7C14E911F238}"/>
              </a:ext>
            </a:extLst>
          </p:cNvPr>
          <p:cNvSpPr/>
          <p:nvPr/>
        </p:nvSpPr>
        <p:spPr>
          <a:xfrm flipH="1">
            <a:off x="0" y="9676538"/>
            <a:ext cx="16463090" cy="0"/>
          </a:xfrm>
          <a:prstGeom prst="line">
            <a:avLst/>
          </a:prstGeom>
          <a:ln w="19050" cap="flat">
            <a:solidFill>
              <a:srgbClr val="FFFFFF"/>
            </a:solidFill>
            <a:prstDash val="solid"/>
            <a:headEnd type="none" w="sm" len="sm"/>
            <a:tailEnd type="none" w="sm" len="sm"/>
          </a:ln>
        </p:spPr>
        <p:txBody>
          <a:bodyPr/>
          <a:lstStyle/>
          <a:p>
            <a:endParaRPr lang="en-US"/>
          </a:p>
        </p:txBody>
      </p:sp>
      <p:sp>
        <p:nvSpPr>
          <p:cNvPr id="9" name="AutoShape 9">
            <a:extLst>
              <a:ext uri="{FF2B5EF4-FFF2-40B4-BE49-F238E27FC236}">
                <a16:creationId xmlns:a16="http://schemas.microsoft.com/office/drawing/2014/main" id="{F1D9614A-35C0-B6CA-F364-83F326C73CD1}"/>
              </a:ext>
            </a:extLst>
          </p:cNvPr>
          <p:cNvSpPr/>
          <p:nvPr/>
        </p:nvSpPr>
        <p:spPr>
          <a:xfrm flipH="1">
            <a:off x="17050227" y="9667013"/>
            <a:ext cx="960120" cy="0"/>
          </a:xfrm>
          <a:prstGeom prst="line">
            <a:avLst/>
          </a:prstGeom>
          <a:ln w="19050" cap="flat">
            <a:solidFill>
              <a:srgbClr val="FFFFFF"/>
            </a:solidFill>
            <a:prstDash val="solid"/>
            <a:headEnd type="none" w="sm" len="sm"/>
            <a:tailEnd type="none" w="sm" len="sm"/>
          </a:ln>
        </p:spPr>
        <p:txBody>
          <a:bodyPr/>
          <a:lstStyle/>
          <a:p>
            <a:endParaRPr lang="en-US"/>
          </a:p>
        </p:txBody>
      </p:sp>
      <p:sp>
        <p:nvSpPr>
          <p:cNvPr id="10" name="TextBox 10">
            <a:extLst>
              <a:ext uri="{FF2B5EF4-FFF2-40B4-BE49-F238E27FC236}">
                <a16:creationId xmlns:a16="http://schemas.microsoft.com/office/drawing/2014/main" id="{55226E24-4F04-2A9E-F89A-9751637C58DE}"/>
              </a:ext>
            </a:extLst>
          </p:cNvPr>
          <p:cNvSpPr txBox="1"/>
          <p:nvPr/>
        </p:nvSpPr>
        <p:spPr>
          <a:xfrm>
            <a:off x="1028700" y="923925"/>
            <a:ext cx="12001964" cy="903004"/>
          </a:xfrm>
          <a:prstGeom prst="rect">
            <a:avLst/>
          </a:prstGeom>
        </p:spPr>
        <p:txBody>
          <a:bodyPr lIns="0" tIns="0" rIns="0" bIns="0" rtlCol="0" anchor="t">
            <a:spAutoFit/>
          </a:bodyPr>
          <a:lstStyle/>
          <a:p>
            <a:pPr algn="l">
              <a:lnSpc>
                <a:spcPts val="7351"/>
              </a:lnSpc>
            </a:pPr>
            <a:r>
              <a:rPr lang="en-US" sz="5876" b="1" spc="-17" dirty="0">
                <a:solidFill>
                  <a:srgbClr val="D7E5D8"/>
                </a:solidFill>
                <a:latin typeface="IBM Plex Sans Bold"/>
                <a:ea typeface="IBM Plex Sans Bold"/>
                <a:cs typeface="IBM Plex Sans Bold"/>
                <a:sym typeface="IBM Plex Sans Bold"/>
              </a:rPr>
              <a:t>SYNTHETIC SIGNAL RESULTS</a:t>
            </a:r>
          </a:p>
        </p:txBody>
      </p:sp>
      <p:sp>
        <p:nvSpPr>
          <p:cNvPr id="11" name="TextBox 11">
            <a:extLst>
              <a:ext uri="{FF2B5EF4-FFF2-40B4-BE49-F238E27FC236}">
                <a16:creationId xmlns:a16="http://schemas.microsoft.com/office/drawing/2014/main" id="{B1B3FDF8-8C95-5A95-1F0E-26288213DEF4}"/>
              </a:ext>
            </a:extLst>
          </p:cNvPr>
          <p:cNvSpPr txBox="1"/>
          <p:nvPr/>
        </p:nvSpPr>
        <p:spPr>
          <a:xfrm>
            <a:off x="2026962" y="8752701"/>
            <a:ext cx="9462052" cy="276999"/>
          </a:xfrm>
          <a:prstGeom prst="rect">
            <a:avLst/>
          </a:prstGeom>
        </p:spPr>
        <p:txBody>
          <a:bodyPr wrap="square" lIns="0" tIns="0" rIns="0" bIns="0" rtlCol="0" anchor="t">
            <a:spAutoFit/>
          </a:bodyPr>
          <a:lstStyle/>
          <a:p>
            <a:pPr algn="ctr" hangingPunct="0"/>
            <a:r>
              <a:rPr lang="en-US" dirty="0">
                <a:solidFill>
                  <a:schemeClr val="bg2"/>
                </a:solidFill>
              </a:rPr>
              <a:t>Table 5.1 Mean absolute error across the synthetic evaluation panel by signal.</a:t>
            </a:r>
          </a:p>
        </p:txBody>
      </p:sp>
      <p:grpSp>
        <p:nvGrpSpPr>
          <p:cNvPr id="18" name="Group 18">
            <a:extLst>
              <a:ext uri="{FF2B5EF4-FFF2-40B4-BE49-F238E27FC236}">
                <a16:creationId xmlns:a16="http://schemas.microsoft.com/office/drawing/2014/main" id="{0933C98B-0BC2-CAB0-67E0-9D392B5B3E7E}"/>
              </a:ext>
            </a:extLst>
          </p:cNvPr>
          <p:cNvGrpSpPr/>
          <p:nvPr/>
        </p:nvGrpSpPr>
        <p:grpSpPr>
          <a:xfrm>
            <a:off x="0" y="8244826"/>
            <a:ext cx="2737757" cy="2737757"/>
            <a:chOff x="0" y="0"/>
            <a:chExt cx="3650343" cy="3650343"/>
          </a:xfrm>
        </p:grpSpPr>
        <p:sp>
          <p:nvSpPr>
            <p:cNvPr id="19" name="Freeform 19">
              <a:extLst>
                <a:ext uri="{FF2B5EF4-FFF2-40B4-BE49-F238E27FC236}">
                  <a16:creationId xmlns:a16="http://schemas.microsoft.com/office/drawing/2014/main" id="{AC224E78-068D-B518-8EF6-BC7B017D650B}"/>
                </a:ext>
              </a:extLst>
            </p:cNvPr>
            <p:cNvSpPr/>
            <p:nvPr/>
          </p:nvSpPr>
          <p:spPr>
            <a:xfrm>
              <a:off x="0" y="0"/>
              <a:ext cx="3650343" cy="3650343"/>
            </a:xfrm>
            <a:custGeom>
              <a:avLst/>
              <a:gdLst/>
              <a:ahLst/>
              <a:cxnLst/>
              <a:rect l="l" t="t" r="r" b="b"/>
              <a:pathLst>
                <a:path w="3650343" h="3650343">
                  <a:moveTo>
                    <a:pt x="0" y="0"/>
                  </a:moveTo>
                  <a:lnTo>
                    <a:pt x="3650343" y="0"/>
                  </a:lnTo>
                  <a:lnTo>
                    <a:pt x="3650343" y="3650343"/>
                  </a:lnTo>
                  <a:lnTo>
                    <a:pt x="0" y="3650343"/>
                  </a:lnTo>
                  <a:lnTo>
                    <a:pt x="0" y="0"/>
                  </a:lnTo>
                  <a:close/>
                </a:path>
              </a:pathLst>
            </a:custGeom>
            <a:blipFill>
              <a:blip>
                <a:alphaModFix amt="4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0" name="Freeform 20">
              <a:extLst>
                <a:ext uri="{FF2B5EF4-FFF2-40B4-BE49-F238E27FC236}">
                  <a16:creationId xmlns:a16="http://schemas.microsoft.com/office/drawing/2014/main" id="{B2DA47E5-72BC-D139-41CD-04ECF0179983}"/>
                </a:ext>
              </a:extLst>
            </p:cNvPr>
            <p:cNvSpPr/>
            <p:nvPr/>
          </p:nvSpPr>
          <p:spPr>
            <a:xfrm>
              <a:off x="257215" y="827328"/>
              <a:ext cx="2779958" cy="1629020"/>
            </a:xfrm>
            <a:custGeom>
              <a:avLst/>
              <a:gdLst/>
              <a:ahLst/>
              <a:cxnLst/>
              <a:rect l="l" t="t" r="r" b="b"/>
              <a:pathLst>
                <a:path w="2779958" h="1629020">
                  <a:moveTo>
                    <a:pt x="0" y="0"/>
                  </a:moveTo>
                  <a:lnTo>
                    <a:pt x="2779958" y="0"/>
                  </a:lnTo>
                  <a:lnTo>
                    <a:pt x="2779958" y="1629020"/>
                  </a:lnTo>
                  <a:lnTo>
                    <a:pt x="0" y="1629020"/>
                  </a:lnTo>
                  <a:lnTo>
                    <a:pt x="0" y="0"/>
                  </a:lnTo>
                  <a:close/>
                </a:path>
              </a:pathLst>
            </a:custGeom>
            <a:blipFill>
              <a:blip r:embed="rId4"/>
              <a:stretch>
                <a:fillRect/>
              </a:stretch>
            </a:blipFill>
          </p:spPr>
          <p:txBody>
            <a:bodyPr/>
            <a:lstStyle/>
            <a:p>
              <a:endParaRPr lang="en-US"/>
            </a:p>
          </p:txBody>
        </p:sp>
      </p:grpSp>
      <p:graphicFrame>
        <p:nvGraphicFramePr>
          <p:cNvPr id="22" name="Table 21">
            <a:extLst>
              <a:ext uri="{FF2B5EF4-FFF2-40B4-BE49-F238E27FC236}">
                <a16:creationId xmlns:a16="http://schemas.microsoft.com/office/drawing/2014/main" id="{32CF5446-817B-9234-1228-2BFB2993CD83}"/>
              </a:ext>
            </a:extLst>
          </p:cNvPr>
          <p:cNvGraphicFramePr>
            <a:graphicFrameLocks noGrp="1"/>
          </p:cNvGraphicFramePr>
          <p:nvPr>
            <p:extLst>
              <p:ext uri="{D42A27DB-BD31-4B8C-83A1-F6EECF244321}">
                <p14:modId xmlns:p14="http://schemas.microsoft.com/office/powerpoint/2010/main" val="2550236533"/>
              </p:ext>
            </p:extLst>
          </p:nvPr>
        </p:nvGraphicFramePr>
        <p:xfrm>
          <a:off x="1042555" y="2160160"/>
          <a:ext cx="11430866" cy="6412340"/>
        </p:xfrm>
        <a:graphic>
          <a:graphicData uri="http://schemas.openxmlformats.org/drawingml/2006/table">
            <a:tbl>
              <a:tblPr firstRow="1" firstCol="1" bandRow="1">
                <a:tableStyleId>{C083E6E3-FA7D-4D7B-A595-EF9225AFEA82}</a:tableStyleId>
              </a:tblPr>
              <a:tblGrid>
                <a:gridCol w="2340259">
                  <a:extLst>
                    <a:ext uri="{9D8B030D-6E8A-4147-A177-3AD203B41FA5}">
                      <a16:colId xmlns:a16="http://schemas.microsoft.com/office/drawing/2014/main" val="3901473132"/>
                    </a:ext>
                  </a:extLst>
                </a:gridCol>
                <a:gridCol w="1559746">
                  <a:extLst>
                    <a:ext uri="{9D8B030D-6E8A-4147-A177-3AD203B41FA5}">
                      <a16:colId xmlns:a16="http://schemas.microsoft.com/office/drawing/2014/main" val="2198633026"/>
                    </a:ext>
                  </a:extLst>
                </a:gridCol>
                <a:gridCol w="1362374">
                  <a:extLst>
                    <a:ext uri="{9D8B030D-6E8A-4147-A177-3AD203B41FA5}">
                      <a16:colId xmlns:a16="http://schemas.microsoft.com/office/drawing/2014/main" val="3011848110"/>
                    </a:ext>
                  </a:extLst>
                </a:gridCol>
                <a:gridCol w="1531548">
                  <a:extLst>
                    <a:ext uri="{9D8B030D-6E8A-4147-A177-3AD203B41FA5}">
                      <a16:colId xmlns:a16="http://schemas.microsoft.com/office/drawing/2014/main" val="1007214005"/>
                    </a:ext>
                  </a:extLst>
                </a:gridCol>
                <a:gridCol w="1507197">
                  <a:extLst>
                    <a:ext uri="{9D8B030D-6E8A-4147-A177-3AD203B41FA5}">
                      <a16:colId xmlns:a16="http://schemas.microsoft.com/office/drawing/2014/main" val="2142155676"/>
                    </a:ext>
                  </a:extLst>
                </a:gridCol>
                <a:gridCol w="1297010">
                  <a:extLst>
                    <a:ext uri="{9D8B030D-6E8A-4147-A177-3AD203B41FA5}">
                      <a16:colId xmlns:a16="http://schemas.microsoft.com/office/drawing/2014/main" val="2084820415"/>
                    </a:ext>
                  </a:extLst>
                </a:gridCol>
                <a:gridCol w="1832732">
                  <a:extLst>
                    <a:ext uri="{9D8B030D-6E8A-4147-A177-3AD203B41FA5}">
                      <a16:colId xmlns:a16="http://schemas.microsoft.com/office/drawing/2014/main" val="471894087"/>
                    </a:ext>
                  </a:extLst>
                </a:gridCol>
              </a:tblGrid>
              <a:tr h="582940">
                <a:tc>
                  <a:txBody>
                    <a:bodyPr/>
                    <a:lstStyle/>
                    <a:p>
                      <a:pPr marL="0" marR="0" algn="ctr" hangingPunct="0">
                        <a:lnSpc>
                          <a:spcPct val="150000"/>
                        </a:lnSpc>
                        <a:buNone/>
                      </a:pPr>
                      <a:r>
                        <a:rPr lang="en-US" sz="2400" kern="100" dirty="0">
                          <a:solidFill>
                            <a:schemeClr val="bg2"/>
                          </a:solidFill>
                          <a:effectLst/>
                          <a:latin typeface="Times New Roman" panose="02020603050405020304" pitchFamily="18" charset="0"/>
                          <a:cs typeface="Times New Roman" panose="02020603050405020304" pitchFamily="18" charset="0"/>
                        </a:rPr>
                        <a:t>Signal</a:t>
                      </a:r>
                      <a:endParaRPr lang="en-US" sz="24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ctr" hangingPunct="0">
                        <a:lnSpc>
                          <a:spcPct val="150000"/>
                        </a:lnSpc>
                        <a:buNone/>
                      </a:pPr>
                      <a:r>
                        <a:rPr lang="en-US" sz="2400" kern="100" dirty="0">
                          <a:solidFill>
                            <a:schemeClr val="bg2"/>
                          </a:solidFill>
                          <a:effectLst/>
                          <a:latin typeface="Times New Roman" panose="02020603050405020304" pitchFamily="18" charset="0"/>
                          <a:cs typeface="Times New Roman" panose="02020603050405020304" pitchFamily="18" charset="0"/>
                        </a:rPr>
                        <a:t>Persist</a:t>
                      </a:r>
                      <a:endParaRPr lang="en-US" sz="24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ctr" hangingPunct="0">
                        <a:lnSpc>
                          <a:spcPct val="150000"/>
                        </a:lnSpc>
                        <a:buNone/>
                      </a:pPr>
                      <a:r>
                        <a:rPr lang="en-US" sz="2400" kern="100" dirty="0">
                          <a:solidFill>
                            <a:schemeClr val="bg2"/>
                          </a:solidFill>
                          <a:effectLst/>
                          <a:latin typeface="Times New Roman" panose="02020603050405020304" pitchFamily="18" charset="0"/>
                          <a:cs typeface="Times New Roman" panose="02020603050405020304" pitchFamily="18" charset="0"/>
                        </a:rPr>
                        <a:t>Kalman</a:t>
                      </a:r>
                      <a:endParaRPr lang="en-US" sz="24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ctr" hangingPunct="0">
                        <a:lnSpc>
                          <a:spcPct val="150000"/>
                        </a:lnSpc>
                        <a:buNone/>
                      </a:pPr>
                      <a:r>
                        <a:rPr lang="en-US" sz="2400" kern="100" dirty="0" err="1">
                          <a:solidFill>
                            <a:schemeClr val="bg2"/>
                          </a:solidFill>
                          <a:effectLst/>
                          <a:latin typeface="Times New Roman" panose="02020603050405020304" pitchFamily="18" charset="0"/>
                          <a:cs typeface="Times New Roman" panose="02020603050405020304" pitchFamily="18" charset="0"/>
                        </a:rPr>
                        <a:t>Dlinear</a:t>
                      </a:r>
                      <a:endParaRPr lang="en-US" sz="24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ctr" hangingPunct="0">
                        <a:lnSpc>
                          <a:spcPct val="150000"/>
                        </a:lnSpc>
                        <a:buNone/>
                      </a:pPr>
                      <a:r>
                        <a:rPr lang="en-US" sz="2400" kern="100" dirty="0" err="1">
                          <a:solidFill>
                            <a:schemeClr val="bg2"/>
                          </a:solidFill>
                          <a:effectLst/>
                          <a:latin typeface="Times New Roman" panose="02020603050405020304" pitchFamily="18" charset="0"/>
                          <a:cs typeface="Times New Roman" panose="02020603050405020304" pitchFamily="18" charset="0"/>
                        </a:rPr>
                        <a:t>PatchTST</a:t>
                      </a:r>
                      <a:endParaRPr lang="en-US" sz="24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ctr" hangingPunct="0">
                        <a:lnSpc>
                          <a:spcPct val="150000"/>
                        </a:lnSpc>
                        <a:buNone/>
                      </a:pPr>
                      <a:r>
                        <a:rPr lang="en-US" sz="2400" kern="100">
                          <a:solidFill>
                            <a:schemeClr val="bg2"/>
                          </a:solidFill>
                          <a:effectLst/>
                          <a:latin typeface="Times New Roman" panose="02020603050405020304" pitchFamily="18" charset="0"/>
                          <a:cs typeface="Times New Roman" panose="02020603050405020304" pitchFamily="18" charset="0"/>
                        </a:rPr>
                        <a:t>LSTM</a:t>
                      </a:r>
                      <a:endParaRPr lang="en-US" sz="24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ctr" hangingPunct="0">
                        <a:lnSpc>
                          <a:spcPct val="150000"/>
                        </a:lnSpc>
                        <a:buNone/>
                      </a:pPr>
                      <a:r>
                        <a:rPr lang="en-US" sz="2400" kern="100" dirty="0" err="1">
                          <a:solidFill>
                            <a:schemeClr val="bg2"/>
                          </a:solidFill>
                          <a:effectLst/>
                          <a:latin typeface="Times New Roman" panose="02020603050405020304" pitchFamily="18" charset="0"/>
                          <a:cs typeface="Times New Roman" panose="02020603050405020304" pitchFamily="18" charset="0"/>
                        </a:rPr>
                        <a:t>MycoMorph</a:t>
                      </a:r>
                      <a:endParaRPr lang="en-US" sz="24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extLst>
                  <a:ext uri="{0D108BD9-81ED-4DB2-BD59-A6C34878D82A}">
                    <a16:rowId xmlns:a16="http://schemas.microsoft.com/office/drawing/2014/main" val="4027733603"/>
                  </a:ext>
                </a:extLst>
              </a:tr>
              <a:tr h="582940">
                <a:tc>
                  <a:txBody>
                    <a:bodyPr/>
                    <a:lstStyle/>
                    <a:p>
                      <a:pPr marL="0" marR="0" algn="l" hangingPunct="0">
                        <a:lnSpc>
                          <a:spcPct val="150000"/>
                        </a:lnSpc>
                        <a:buNone/>
                      </a:pPr>
                      <a:r>
                        <a:rPr lang="en-US" sz="2400" kern="100" dirty="0" err="1">
                          <a:solidFill>
                            <a:schemeClr val="bg2"/>
                          </a:solidFill>
                          <a:effectLst/>
                          <a:latin typeface="Times New Roman" panose="02020603050405020304" pitchFamily="18" charset="0"/>
                          <a:cs typeface="Times New Roman" panose="02020603050405020304" pitchFamily="18" charset="0"/>
                        </a:rPr>
                        <a:t>period_grow</a:t>
                      </a:r>
                      <a:endParaRPr lang="en-US" sz="24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ctr" hangingPunct="0">
                        <a:lnSpc>
                          <a:spcPct val="150000"/>
                        </a:lnSpc>
                        <a:buNone/>
                      </a:pPr>
                      <a:r>
                        <a:rPr lang="en-US" sz="20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0.0722</a:t>
                      </a:r>
                    </a:p>
                  </a:txBody>
                  <a:tcPr marL="68580" marR="68580" marT="0" marB="0" anchor="ctr"/>
                </a:tc>
                <a:tc>
                  <a:txBody>
                    <a:bodyPr/>
                    <a:lstStyle/>
                    <a:p>
                      <a:pPr marL="0" marR="0" algn="ctr" hangingPunct="0">
                        <a:lnSpc>
                          <a:spcPct val="150000"/>
                        </a:lnSpc>
                        <a:buNone/>
                      </a:pPr>
                      <a:r>
                        <a:rPr lang="en-US" sz="2000" i="1"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0.0406</a:t>
                      </a:r>
                      <a:endParaRPr lang="en-US" sz="20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ctr" hangingPunct="0">
                        <a:lnSpc>
                          <a:spcPct val="150000"/>
                        </a:lnSpc>
                        <a:buNone/>
                      </a:pPr>
                      <a:r>
                        <a:rPr lang="en-US" sz="20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0.737</a:t>
                      </a:r>
                    </a:p>
                  </a:txBody>
                  <a:tcPr marL="68580" marR="68580" marT="0" marB="0" anchor="ctr"/>
                </a:tc>
                <a:tc>
                  <a:txBody>
                    <a:bodyPr/>
                    <a:lstStyle/>
                    <a:p>
                      <a:pPr marL="0" marR="0" algn="ctr" hangingPunct="0">
                        <a:lnSpc>
                          <a:spcPct val="150000"/>
                        </a:lnSpc>
                        <a:buNone/>
                      </a:pPr>
                      <a:r>
                        <a:rPr lang="en-US" sz="20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0.171</a:t>
                      </a:r>
                    </a:p>
                  </a:txBody>
                  <a:tcPr marL="68580" marR="68580" marT="0" marB="0" anchor="ctr"/>
                </a:tc>
                <a:tc>
                  <a:txBody>
                    <a:bodyPr/>
                    <a:lstStyle/>
                    <a:p>
                      <a:pPr marL="0" marR="0" algn="ctr" hangingPunct="0">
                        <a:lnSpc>
                          <a:spcPct val="150000"/>
                        </a:lnSpc>
                        <a:buNone/>
                      </a:pPr>
                      <a:r>
                        <a:rPr lang="en-US" sz="20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0.0512</a:t>
                      </a:r>
                    </a:p>
                  </a:txBody>
                  <a:tcPr marL="68580" marR="68580" marT="0" marB="0" anchor="ctr"/>
                </a:tc>
                <a:tc>
                  <a:txBody>
                    <a:bodyPr/>
                    <a:lstStyle/>
                    <a:p>
                      <a:pPr marL="0" marR="0" algn="ctr" hangingPunct="0">
                        <a:lnSpc>
                          <a:spcPct val="150000"/>
                        </a:lnSpc>
                        <a:buNone/>
                      </a:pPr>
                      <a:r>
                        <a:rPr lang="en-US" sz="2000" b="1"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0.0303</a:t>
                      </a:r>
                      <a:endParaRPr lang="en-US" sz="20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extLst>
                  <a:ext uri="{0D108BD9-81ED-4DB2-BD59-A6C34878D82A}">
                    <a16:rowId xmlns:a16="http://schemas.microsoft.com/office/drawing/2014/main" val="1234580128"/>
                  </a:ext>
                </a:extLst>
              </a:tr>
              <a:tr h="582940">
                <a:tc>
                  <a:txBody>
                    <a:bodyPr/>
                    <a:lstStyle/>
                    <a:p>
                      <a:pPr marL="0" marR="0" algn="l" hangingPunct="0">
                        <a:lnSpc>
                          <a:spcPct val="150000"/>
                        </a:lnSpc>
                        <a:buNone/>
                      </a:pPr>
                      <a:r>
                        <a:rPr lang="en-US" sz="2400" kern="100">
                          <a:solidFill>
                            <a:schemeClr val="bg2"/>
                          </a:solidFill>
                          <a:effectLst/>
                          <a:latin typeface="Times New Roman" panose="02020603050405020304" pitchFamily="18" charset="0"/>
                          <a:cs typeface="Times New Roman" panose="02020603050405020304" pitchFamily="18" charset="0"/>
                        </a:rPr>
                        <a:t>period_shrink</a:t>
                      </a:r>
                      <a:endParaRPr lang="en-US" sz="24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ctr" hangingPunct="0">
                        <a:lnSpc>
                          <a:spcPct val="150000"/>
                        </a:lnSpc>
                        <a:buNone/>
                      </a:pPr>
                      <a:r>
                        <a:rPr lang="en-US" sz="20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0.0807</a:t>
                      </a:r>
                    </a:p>
                  </a:txBody>
                  <a:tcPr marL="68580" marR="68580" marT="0" marB="0" anchor="ctr"/>
                </a:tc>
                <a:tc>
                  <a:txBody>
                    <a:bodyPr/>
                    <a:lstStyle/>
                    <a:p>
                      <a:pPr marL="0" marR="0" algn="ctr" hangingPunct="0">
                        <a:lnSpc>
                          <a:spcPct val="150000"/>
                        </a:lnSpc>
                        <a:buNone/>
                      </a:pPr>
                      <a:r>
                        <a:rPr lang="en-US" sz="2000" i="1"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0.0452</a:t>
                      </a:r>
                      <a:endParaRPr lang="en-US" sz="20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ctr" hangingPunct="0">
                        <a:lnSpc>
                          <a:spcPct val="150000"/>
                        </a:lnSpc>
                        <a:buNone/>
                      </a:pPr>
                      <a:r>
                        <a:rPr lang="en-US" sz="20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0.5183</a:t>
                      </a:r>
                    </a:p>
                  </a:txBody>
                  <a:tcPr marL="68580" marR="68580" marT="0" marB="0" anchor="ctr"/>
                </a:tc>
                <a:tc>
                  <a:txBody>
                    <a:bodyPr/>
                    <a:lstStyle/>
                    <a:p>
                      <a:pPr marL="0" marR="0" algn="ctr" hangingPunct="0">
                        <a:lnSpc>
                          <a:spcPct val="150000"/>
                        </a:lnSpc>
                        <a:buNone/>
                      </a:pPr>
                      <a:r>
                        <a:rPr lang="en-US" sz="20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0.2137</a:t>
                      </a:r>
                    </a:p>
                  </a:txBody>
                  <a:tcPr marL="68580" marR="68580" marT="0" marB="0" anchor="ctr"/>
                </a:tc>
                <a:tc>
                  <a:txBody>
                    <a:bodyPr/>
                    <a:lstStyle/>
                    <a:p>
                      <a:pPr marL="0" marR="0" algn="ctr" hangingPunct="0">
                        <a:lnSpc>
                          <a:spcPct val="150000"/>
                        </a:lnSpc>
                        <a:buNone/>
                      </a:pPr>
                      <a:r>
                        <a:rPr lang="en-US" sz="20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0.0758</a:t>
                      </a:r>
                    </a:p>
                  </a:txBody>
                  <a:tcPr marL="68580" marR="68580" marT="0" marB="0" anchor="ctr"/>
                </a:tc>
                <a:tc>
                  <a:txBody>
                    <a:bodyPr/>
                    <a:lstStyle/>
                    <a:p>
                      <a:pPr marL="0" marR="0" algn="ctr" hangingPunct="0">
                        <a:lnSpc>
                          <a:spcPct val="150000"/>
                        </a:lnSpc>
                        <a:buNone/>
                      </a:pPr>
                      <a:r>
                        <a:rPr lang="en-US" sz="2000" b="1"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0.0319</a:t>
                      </a:r>
                      <a:endParaRPr lang="en-US" sz="20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extLst>
                  <a:ext uri="{0D108BD9-81ED-4DB2-BD59-A6C34878D82A}">
                    <a16:rowId xmlns:a16="http://schemas.microsoft.com/office/drawing/2014/main" val="685717504"/>
                  </a:ext>
                </a:extLst>
              </a:tr>
              <a:tr h="582940">
                <a:tc>
                  <a:txBody>
                    <a:bodyPr/>
                    <a:lstStyle/>
                    <a:p>
                      <a:pPr marL="0" marR="0" algn="l" hangingPunct="0">
                        <a:lnSpc>
                          <a:spcPct val="150000"/>
                        </a:lnSpc>
                        <a:buNone/>
                      </a:pPr>
                      <a:r>
                        <a:rPr lang="en-US" sz="2400" kern="100" dirty="0" err="1">
                          <a:solidFill>
                            <a:schemeClr val="bg2"/>
                          </a:solidFill>
                          <a:effectLst/>
                          <a:latin typeface="Times New Roman" panose="02020603050405020304" pitchFamily="18" charset="0"/>
                          <a:cs typeface="Times New Roman" panose="02020603050405020304" pitchFamily="18" charset="0"/>
                        </a:rPr>
                        <a:t>period_oscillate</a:t>
                      </a:r>
                      <a:endParaRPr lang="en-US" sz="24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ctr" hangingPunct="0">
                        <a:lnSpc>
                          <a:spcPct val="150000"/>
                        </a:lnSpc>
                        <a:buNone/>
                      </a:pPr>
                      <a:r>
                        <a:rPr lang="en-US" sz="20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0.0859</a:t>
                      </a:r>
                    </a:p>
                  </a:txBody>
                  <a:tcPr marL="68580" marR="68580" marT="0" marB="0" anchor="ctr"/>
                </a:tc>
                <a:tc>
                  <a:txBody>
                    <a:bodyPr/>
                    <a:lstStyle/>
                    <a:p>
                      <a:pPr marL="0" marR="0" algn="ctr" hangingPunct="0">
                        <a:lnSpc>
                          <a:spcPct val="150000"/>
                        </a:lnSpc>
                        <a:buNone/>
                      </a:pPr>
                      <a:r>
                        <a:rPr lang="en-US" sz="2000" i="1"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0.0454</a:t>
                      </a:r>
                      <a:endParaRPr lang="en-US" sz="20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ctr" hangingPunct="0">
                        <a:lnSpc>
                          <a:spcPct val="150000"/>
                        </a:lnSpc>
                        <a:buNone/>
                      </a:pPr>
                      <a:r>
                        <a:rPr lang="en-US" sz="20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0.3727</a:t>
                      </a:r>
                    </a:p>
                  </a:txBody>
                  <a:tcPr marL="68580" marR="68580" marT="0" marB="0" anchor="ctr"/>
                </a:tc>
                <a:tc>
                  <a:txBody>
                    <a:bodyPr/>
                    <a:lstStyle/>
                    <a:p>
                      <a:pPr marL="0" marR="0" algn="ctr" hangingPunct="0">
                        <a:lnSpc>
                          <a:spcPct val="150000"/>
                        </a:lnSpc>
                        <a:buNone/>
                      </a:pPr>
                      <a:r>
                        <a:rPr lang="en-US" sz="20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0.1202</a:t>
                      </a:r>
                    </a:p>
                  </a:txBody>
                  <a:tcPr marL="68580" marR="68580" marT="0" marB="0" anchor="ctr"/>
                </a:tc>
                <a:tc>
                  <a:txBody>
                    <a:bodyPr/>
                    <a:lstStyle/>
                    <a:p>
                      <a:pPr marL="0" marR="0" algn="ctr" hangingPunct="0">
                        <a:lnSpc>
                          <a:spcPct val="150000"/>
                        </a:lnSpc>
                        <a:buNone/>
                      </a:pPr>
                      <a:r>
                        <a:rPr lang="en-US" sz="20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0.0801</a:t>
                      </a:r>
                    </a:p>
                  </a:txBody>
                  <a:tcPr marL="68580" marR="68580" marT="0" marB="0" anchor="ctr"/>
                </a:tc>
                <a:tc>
                  <a:txBody>
                    <a:bodyPr/>
                    <a:lstStyle/>
                    <a:p>
                      <a:pPr marL="0" marR="0" algn="ctr" hangingPunct="0">
                        <a:lnSpc>
                          <a:spcPct val="150000"/>
                        </a:lnSpc>
                        <a:buNone/>
                      </a:pPr>
                      <a:r>
                        <a:rPr lang="en-US" sz="2000" b="1"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0.0349</a:t>
                      </a:r>
                      <a:endParaRPr lang="en-US" sz="20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extLst>
                  <a:ext uri="{0D108BD9-81ED-4DB2-BD59-A6C34878D82A}">
                    <a16:rowId xmlns:a16="http://schemas.microsoft.com/office/drawing/2014/main" val="1138434273"/>
                  </a:ext>
                </a:extLst>
              </a:tr>
              <a:tr h="582940">
                <a:tc>
                  <a:txBody>
                    <a:bodyPr/>
                    <a:lstStyle/>
                    <a:p>
                      <a:pPr marL="0" marR="0" algn="l" hangingPunct="0">
                        <a:lnSpc>
                          <a:spcPct val="150000"/>
                        </a:lnSpc>
                        <a:buNone/>
                      </a:pPr>
                      <a:r>
                        <a:rPr lang="en-US" sz="2400" kern="100">
                          <a:solidFill>
                            <a:schemeClr val="bg2"/>
                          </a:solidFill>
                          <a:effectLst/>
                          <a:latin typeface="Times New Roman" panose="02020603050405020304" pitchFamily="18" charset="0"/>
                          <a:cs typeface="Times New Roman" panose="02020603050405020304" pitchFamily="18" charset="0"/>
                        </a:rPr>
                        <a:t>dual_freq_drift</a:t>
                      </a:r>
                      <a:endParaRPr lang="en-US" sz="24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ctr" hangingPunct="0">
                        <a:lnSpc>
                          <a:spcPct val="150000"/>
                        </a:lnSpc>
                        <a:buNone/>
                      </a:pPr>
                      <a:r>
                        <a:rPr lang="en-US" sz="20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0.087</a:t>
                      </a:r>
                    </a:p>
                  </a:txBody>
                  <a:tcPr marL="68580" marR="68580" marT="0" marB="0" anchor="ctr"/>
                </a:tc>
                <a:tc>
                  <a:txBody>
                    <a:bodyPr/>
                    <a:lstStyle/>
                    <a:p>
                      <a:pPr marL="0" marR="0" algn="ctr" hangingPunct="0">
                        <a:lnSpc>
                          <a:spcPct val="150000"/>
                        </a:lnSpc>
                        <a:buNone/>
                      </a:pPr>
                      <a:r>
                        <a:rPr lang="en-US" sz="2000" i="1"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0.0428</a:t>
                      </a:r>
                      <a:endParaRPr lang="en-US" sz="20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ctr" hangingPunct="0">
                        <a:lnSpc>
                          <a:spcPct val="150000"/>
                        </a:lnSpc>
                        <a:buNone/>
                      </a:pPr>
                      <a:r>
                        <a:rPr lang="en-US" sz="20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0.454</a:t>
                      </a:r>
                    </a:p>
                  </a:txBody>
                  <a:tcPr marL="68580" marR="68580" marT="0" marB="0" anchor="ctr"/>
                </a:tc>
                <a:tc>
                  <a:txBody>
                    <a:bodyPr/>
                    <a:lstStyle/>
                    <a:p>
                      <a:pPr marL="0" marR="0" algn="ctr" hangingPunct="0">
                        <a:lnSpc>
                          <a:spcPct val="150000"/>
                        </a:lnSpc>
                        <a:buNone/>
                      </a:pPr>
                      <a:r>
                        <a:rPr lang="en-US" sz="20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0.1726</a:t>
                      </a:r>
                    </a:p>
                  </a:txBody>
                  <a:tcPr marL="68580" marR="68580" marT="0" marB="0" anchor="ctr"/>
                </a:tc>
                <a:tc>
                  <a:txBody>
                    <a:bodyPr/>
                    <a:lstStyle/>
                    <a:p>
                      <a:pPr marL="0" marR="0" algn="ctr" hangingPunct="0">
                        <a:lnSpc>
                          <a:spcPct val="150000"/>
                        </a:lnSpc>
                        <a:buNone/>
                      </a:pPr>
                      <a:r>
                        <a:rPr lang="en-US" sz="20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0.0515</a:t>
                      </a:r>
                    </a:p>
                  </a:txBody>
                  <a:tcPr marL="68580" marR="68580" marT="0" marB="0" anchor="ctr"/>
                </a:tc>
                <a:tc>
                  <a:txBody>
                    <a:bodyPr/>
                    <a:lstStyle/>
                    <a:p>
                      <a:pPr marL="0" marR="0" algn="ctr" hangingPunct="0">
                        <a:lnSpc>
                          <a:spcPct val="150000"/>
                        </a:lnSpc>
                        <a:buNone/>
                      </a:pPr>
                      <a:r>
                        <a:rPr lang="en-US" sz="2000" b="1"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0.0358</a:t>
                      </a:r>
                      <a:endParaRPr lang="en-US" sz="20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extLst>
                  <a:ext uri="{0D108BD9-81ED-4DB2-BD59-A6C34878D82A}">
                    <a16:rowId xmlns:a16="http://schemas.microsoft.com/office/drawing/2014/main" val="3539103631"/>
                  </a:ext>
                </a:extLst>
              </a:tr>
              <a:tr h="582940">
                <a:tc>
                  <a:txBody>
                    <a:bodyPr/>
                    <a:lstStyle/>
                    <a:p>
                      <a:pPr marL="0" marR="0" algn="l" hangingPunct="0">
                        <a:lnSpc>
                          <a:spcPct val="150000"/>
                        </a:lnSpc>
                        <a:buNone/>
                      </a:pPr>
                      <a:r>
                        <a:rPr lang="en-US" sz="2400" kern="100">
                          <a:solidFill>
                            <a:schemeClr val="bg2"/>
                          </a:solidFill>
                          <a:effectLst/>
                          <a:latin typeface="Times New Roman" panose="02020603050405020304" pitchFamily="18" charset="0"/>
                          <a:cs typeface="Times New Roman" panose="02020603050405020304" pitchFamily="18" charset="0"/>
                        </a:rPr>
                        <a:t>shape_skew</a:t>
                      </a:r>
                      <a:endParaRPr lang="en-US" sz="24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ctr" hangingPunct="0">
                        <a:lnSpc>
                          <a:spcPct val="150000"/>
                        </a:lnSpc>
                        <a:buNone/>
                      </a:pPr>
                      <a:r>
                        <a:rPr lang="en-US" sz="20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0.0866</a:t>
                      </a:r>
                    </a:p>
                  </a:txBody>
                  <a:tcPr marL="68580" marR="68580" marT="0" marB="0" anchor="ctr"/>
                </a:tc>
                <a:tc>
                  <a:txBody>
                    <a:bodyPr/>
                    <a:lstStyle/>
                    <a:p>
                      <a:pPr marL="0" marR="0" algn="ctr" hangingPunct="0">
                        <a:lnSpc>
                          <a:spcPct val="150000"/>
                        </a:lnSpc>
                        <a:buNone/>
                      </a:pPr>
                      <a:r>
                        <a:rPr lang="en-US" sz="20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0.0473</a:t>
                      </a:r>
                    </a:p>
                  </a:txBody>
                  <a:tcPr marL="68580" marR="68580" marT="0" marB="0" anchor="ctr"/>
                </a:tc>
                <a:tc>
                  <a:txBody>
                    <a:bodyPr/>
                    <a:lstStyle/>
                    <a:p>
                      <a:pPr marL="0" marR="0" algn="ctr" hangingPunct="0">
                        <a:lnSpc>
                          <a:spcPct val="150000"/>
                        </a:lnSpc>
                        <a:buNone/>
                      </a:pPr>
                      <a:r>
                        <a:rPr lang="en-US" sz="20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0.0425</a:t>
                      </a:r>
                    </a:p>
                  </a:txBody>
                  <a:tcPr marL="68580" marR="68580" marT="0" marB="0" anchor="ctr"/>
                </a:tc>
                <a:tc>
                  <a:txBody>
                    <a:bodyPr/>
                    <a:lstStyle/>
                    <a:p>
                      <a:pPr marL="0" marR="0" algn="ctr" hangingPunct="0">
                        <a:lnSpc>
                          <a:spcPct val="150000"/>
                        </a:lnSpc>
                        <a:buNone/>
                      </a:pPr>
                      <a:r>
                        <a:rPr lang="en-US" sz="2000" i="1"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0.0369</a:t>
                      </a:r>
                      <a:endParaRPr lang="en-US" sz="20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ctr" hangingPunct="0">
                        <a:lnSpc>
                          <a:spcPct val="150000"/>
                        </a:lnSpc>
                        <a:buNone/>
                      </a:pPr>
                      <a:r>
                        <a:rPr lang="en-US" sz="20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0.0709</a:t>
                      </a:r>
                    </a:p>
                  </a:txBody>
                  <a:tcPr marL="68580" marR="68580" marT="0" marB="0" anchor="ctr"/>
                </a:tc>
                <a:tc>
                  <a:txBody>
                    <a:bodyPr/>
                    <a:lstStyle/>
                    <a:p>
                      <a:pPr marL="0" marR="0" algn="ctr" hangingPunct="0">
                        <a:lnSpc>
                          <a:spcPct val="150000"/>
                        </a:lnSpc>
                        <a:buNone/>
                      </a:pPr>
                      <a:r>
                        <a:rPr lang="en-US" sz="2000" b="1"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0.0291</a:t>
                      </a:r>
                      <a:endParaRPr lang="en-US" sz="20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extLst>
                  <a:ext uri="{0D108BD9-81ED-4DB2-BD59-A6C34878D82A}">
                    <a16:rowId xmlns:a16="http://schemas.microsoft.com/office/drawing/2014/main" val="3245909827"/>
                  </a:ext>
                </a:extLst>
              </a:tr>
              <a:tr h="582940">
                <a:tc>
                  <a:txBody>
                    <a:bodyPr/>
                    <a:lstStyle/>
                    <a:p>
                      <a:pPr marL="0" marR="0" algn="l" hangingPunct="0">
                        <a:lnSpc>
                          <a:spcPct val="150000"/>
                        </a:lnSpc>
                        <a:buNone/>
                      </a:pPr>
                      <a:r>
                        <a:rPr lang="en-US" sz="2400" kern="100">
                          <a:solidFill>
                            <a:schemeClr val="bg2"/>
                          </a:solidFill>
                          <a:effectLst/>
                          <a:latin typeface="Times New Roman" panose="02020603050405020304" pitchFamily="18" charset="0"/>
                          <a:cs typeface="Times New Roman" panose="02020603050405020304" pitchFamily="18" charset="0"/>
                        </a:rPr>
                        <a:t>shape_triangle</a:t>
                      </a:r>
                      <a:endParaRPr lang="en-US" sz="24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ctr" hangingPunct="0">
                        <a:lnSpc>
                          <a:spcPct val="150000"/>
                        </a:lnSpc>
                        <a:buNone/>
                      </a:pPr>
                      <a:r>
                        <a:rPr lang="en-US" sz="20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0.082</a:t>
                      </a:r>
                    </a:p>
                  </a:txBody>
                  <a:tcPr marL="68580" marR="68580" marT="0" marB="0" anchor="ctr"/>
                </a:tc>
                <a:tc>
                  <a:txBody>
                    <a:bodyPr/>
                    <a:lstStyle/>
                    <a:p>
                      <a:pPr marL="0" marR="0" algn="ctr" hangingPunct="0">
                        <a:lnSpc>
                          <a:spcPct val="150000"/>
                        </a:lnSpc>
                        <a:buNone/>
                      </a:pPr>
                      <a:r>
                        <a:rPr lang="en-US" sz="20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0.043</a:t>
                      </a:r>
                    </a:p>
                  </a:txBody>
                  <a:tcPr marL="68580" marR="68580" marT="0" marB="0" anchor="ctr"/>
                </a:tc>
                <a:tc>
                  <a:txBody>
                    <a:bodyPr/>
                    <a:lstStyle/>
                    <a:p>
                      <a:pPr marL="0" marR="0" algn="ctr" hangingPunct="0">
                        <a:lnSpc>
                          <a:spcPct val="150000"/>
                        </a:lnSpc>
                        <a:buNone/>
                      </a:pPr>
                      <a:r>
                        <a:rPr lang="en-US" sz="2000" i="1"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0.0312</a:t>
                      </a:r>
                      <a:endParaRPr lang="en-US" sz="20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ctr" hangingPunct="0">
                        <a:lnSpc>
                          <a:spcPct val="150000"/>
                        </a:lnSpc>
                        <a:buNone/>
                      </a:pPr>
                      <a:r>
                        <a:rPr lang="en-US" sz="20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0.0326</a:t>
                      </a:r>
                    </a:p>
                  </a:txBody>
                  <a:tcPr marL="68580" marR="68580" marT="0" marB="0" anchor="ctr"/>
                </a:tc>
                <a:tc>
                  <a:txBody>
                    <a:bodyPr/>
                    <a:lstStyle/>
                    <a:p>
                      <a:pPr marL="0" marR="0" algn="ctr" hangingPunct="0">
                        <a:lnSpc>
                          <a:spcPct val="150000"/>
                        </a:lnSpc>
                        <a:buNone/>
                      </a:pPr>
                      <a:r>
                        <a:rPr lang="en-US" sz="20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0.0428</a:t>
                      </a:r>
                    </a:p>
                  </a:txBody>
                  <a:tcPr marL="68580" marR="68580" marT="0" marB="0" anchor="ctr"/>
                </a:tc>
                <a:tc>
                  <a:txBody>
                    <a:bodyPr/>
                    <a:lstStyle/>
                    <a:p>
                      <a:pPr marL="0" marR="0" algn="ctr" hangingPunct="0">
                        <a:lnSpc>
                          <a:spcPct val="150000"/>
                        </a:lnSpc>
                        <a:buNone/>
                      </a:pPr>
                      <a:r>
                        <a:rPr lang="en-US" sz="2000" b="1"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0.0292</a:t>
                      </a:r>
                      <a:endParaRPr lang="en-US" sz="20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extLst>
                  <a:ext uri="{0D108BD9-81ED-4DB2-BD59-A6C34878D82A}">
                    <a16:rowId xmlns:a16="http://schemas.microsoft.com/office/drawing/2014/main" val="1468132098"/>
                  </a:ext>
                </a:extLst>
              </a:tr>
              <a:tr h="582940">
                <a:tc>
                  <a:txBody>
                    <a:bodyPr/>
                    <a:lstStyle/>
                    <a:p>
                      <a:pPr marL="0" marR="0" algn="l" hangingPunct="0">
                        <a:lnSpc>
                          <a:spcPct val="150000"/>
                        </a:lnSpc>
                        <a:buNone/>
                      </a:pPr>
                      <a:r>
                        <a:rPr lang="en-US" sz="2400" kern="100">
                          <a:solidFill>
                            <a:schemeClr val="bg2"/>
                          </a:solidFill>
                          <a:effectLst/>
                          <a:latin typeface="Times New Roman" panose="02020603050405020304" pitchFamily="18" charset="0"/>
                          <a:cs typeface="Times New Roman" panose="02020603050405020304" pitchFamily="18" charset="0"/>
                        </a:rPr>
                        <a:t>shape_harmonic</a:t>
                      </a:r>
                      <a:endParaRPr lang="en-US" sz="24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ctr" hangingPunct="0">
                        <a:lnSpc>
                          <a:spcPct val="150000"/>
                        </a:lnSpc>
                        <a:buNone/>
                      </a:pPr>
                      <a:r>
                        <a:rPr lang="en-US" sz="20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0.0946</a:t>
                      </a:r>
                    </a:p>
                  </a:txBody>
                  <a:tcPr marL="68580" marR="68580" marT="0" marB="0" anchor="ctr"/>
                </a:tc>
                <a:tc>
                  <a:txBody>
                    <a:bodyPr/>
                    <a:lstStyle/>
                    <a:p>
                      <a:pPr marL="0" marR="0" algn="ctr" hangingPunct="0">
                        <a:lnSpc>
                          <a:spcPct val="150000"/>
                        </a:lnSpc>
                        <a:buNone/>
                      </a:pPr>
                      <a:r>
                        <a:rPr lang="en-US" sz="20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0.0539</a:t>
                      </a:r>
                    </a:p>
                  </a:txBody>
                  <a:tcPr marL="68580" marR="68580" marT="0" marB="0" anchor="ctr"/>
                </a:tc>
                <a:tc>
                  <a:txBody>
                    <a:bodyPr/>
                    <a:lstStyle/>
                    <a:p>
                      <a:pPr marL="0" marR="0" algn="ctr" hangingPunct="0">
                        <a:lnSpc>
                          <a:spcPct val="150000"/>
                        </a:lnSpc>
                        <a:buNone/>
                      </a:pPr>
                      <a:r>
                        <a:rPr lang="en-US" sz="2000" b="1"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0.0288</a:t>
                      </a:r>
                      <a:endParaRPr lang="en-US" sz="20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ctr" hangingPunct="0">
                        <a:lnSpc>
                          <a:spcPct val="150000"/>
                        </a:lnSpc>
                        <a:buNone/>
                      </a:pPr>
                      <a:r>
                        <a:rPr lang="en-US" sz="20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0.0379</a:t>
                      </a:r>
                    </a:p>
                  </a:txBody>
                  <a:tcPr marL="68580" marR="68580" marT="0" marB="0" anchor="ctr"/>
                </a:tc>
                <a:tc>
                  <a:txBody>
                    <a:bodyPr/>
                    <a:lstStyle/>
                    <a:p>
                      <a:pPr marL="0" marR="0" algn="ctr" hangingPunct="0">
                        <a:lnSpc>
                          <a:spcPct val="150000"/>
                        </a:lnSpc>
                        <a:buNone/>
                      </a:pPr>
                      <a:r>
                        <a:rPr lang="en-US" sz="20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0.0857</a:t>
                      </a:r>
                    </a:p>
                  </a:txBody>
                  <a:tcPr marL="68580" marR="68580" marT="0" marB="0" anchor="ctr"/>
                </a:tc>
                <a:tc>
                  <a:txBody>
                    <a:bodyPr/>
                    <a:lstStyle/>
                    <a:p>
                      <a:pPr marL="0" marR="0" algn="ctr" hangingPunct="0">
                        <a:lnSpc>
                          <a:spcPct val="150000"/>
                        </a:lnSpc>
                        <a:buNone/>
                      </a:pPr>
                      <a:r>
                        <a:rPr lang="en-US" sz="2000" i="1"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0.029</a:t>
                      </a:r>
                      <a:endParaRPr lang="en-US" sz="20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extLst>
                  <a:ext uri="{0D108BD9-81ED-4DB2-BD59-A6C34878D82A}">
                    <a16:rowId xmlns:a16="http://schemas.microsoft.com/office/drawing/2014/main" val="2756412281"/>
                  </a:ext>
                </a:extLst>
              </a:tr>
              <a:tr h="582940">
                <a:tc>
                  <a:txBody>
                    <a:bodyPr/>
                    <a:lstStyle/>
                    <a:p>
                      <a:pPr marL="0" marR="0" algn="l" hangingPunct="0">
                        <a:lnSpc>
                          <a:spcPct val="150000"/>
                        </a:lnSpc>
                        <a:buNone/>
                      </a:pPr>
                      <a:r>
                        <a:rPr lang="en-US" sz="2400" kern="100">
                          <a:solidFill>
                            <a:schemeClr val="bg2"/>
                          </a:solidFill>
                          <a:effectLst/>
                          <a:latin typeface="Times New Roman" panose="02020603050405020304" pitchFamily="18" charset="0"/>
                          <a:cs typeface="Times New Roman" panose="02020603050405020304" pitchFamily="18" charset="0"/>
                        </a:rPr>
                        <a:t>harmonic_settle</a:t>
                      </a:r>
                      <a:endParaRPr lang="en-US" sz="24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ctr" hangingPunct="0">
                        <a:lnSpc>
                          <a:spcPct val="150000"/>
                        </a:lnSpc>
                        <a:buNone/>
                      </a:pPr>
                      <a:r>
                        <a:rPr lang="en-US" sz="20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0.1067</a:t>
                      </a:r>
                    </a:p>
                  </a:txBody>
                  <a:tcPr marL="68580" marR="68580" marT="0" marB="0" anchor="ctr"/>
                </a:tc>
                <a:tc>
                  <a:txBody>
                    <a:bodyPr/>
                    <a:lstStyle/>
                    <a:p>
                      <a:pPr marL="0" marR="0" algn="ctr" hangingPunct="0">
                        <a:lnSpc>
                          <a:spcPct val="150000"/>
                        </a:lnSpc>
                        <a:buNone/>
                      </a:pPr>
                      <a:r>
                        <a:rPr lang="en-US" sz="20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0.0622</a:t>
                      </a:r>
                    </a:p>
                  </a:txBody>
                  <a:tcPr marL="68580" marR="68580" marT="0" marB="0" anchor="ctr"/>
                </a:tc>
                <a:tc>
                  <a:txBody>
                    <a:bodyPr/>
                    <a:lstStyle/>
                    <a:p>
                      <a:pPr marL="0" marR="0" algn="ctr" hangingPunct="0">
                        <a:lnSpc>
                          <a:spcPct val="150000"/>
                        </a:lnSpc>
                        <a:buNone/>
                      </a:pPr>
                      <a:r>
                        <a:rPr lang="en-US" sz="20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0.0314</a:t>
                      </a:r>
                    </a:p>
                  </a:txBody>
                  <a:tcPr marL="68580" marR="68580" marT="0" marB="0" anchor="ctr"/>
                </a:tc>
                <a:tc>
                  <a:txBody>
                    <a:bodyPr/>
                    <a:lstStyle/>
                    <a:p>
                      <a:pPr marL="0" marR="0" algn="ctr" hangingPunct="0">
                        <a:lnSpc>
                          <a:spcPct val="150000"/>
                        </a:lnSpc>
                        <a:buNone/>
                      </a:pPr>
                      <a:r>
                        <a:rPr lang="en-US" sz="2000" b="1"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0.028</a:t>
                      </a:r>
                      <a:endParaRPr lang="en-US" sz="20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ctr" hangingPunct="0">
                        <a:lnSpc>
                          <a:spcPct val="150000"/>
                        </a:lnSpc>
                        <a:buNone/>
                      </a:pPr>
                      <a:r>
                        <a:rPr lang="en-US" sz="20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0.0635</a:t>
                      </a:r>
                    </a:p>
                  </a:txBody>
                  <a:tcPr marL="68580" marR="68580" marT="0" marB="0" anchor="ctr"/>
                </a:tc>
                <a:tc>
                  <a:txBody>
                    <a:bodyPr/>
                    <a:lstStyle/>
                    <a:p>
                      <a:pPr marL="0" marR="0" algn="ctr" hangingPunct="0">
                        <a:lnSpc>
                          <a:spcPct val="150000"/>
                        </a:lnSpc>
                        <a:buNone/>
                      </a:pPr>
                      <a:r>
                        <a:rPr lang="en-US" sz="2000" i="1"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0.0292</a:t>
                      </a:r>
                      <a:endParaRPr lang="en-US" sz="20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extLst>
                  <a:ext uri="{0D108BD9-81ED-4DB2-BD59-A6C34878D82A}">
                    <a16:rowId xmlns:a16="http://schemas.microsoft.com/office/drawing/2014/main" val="3323655434"/>
                  </a:ext>
                </a:extLst>
              </a:tr>
              <a:tr h="582940">
                <a:tc>
                  <a:txBody>
                    <a:bodyPr/>
                    <a:lstStyle/>
                    <a:p>
                      <a:pPr marL="0" marR="0" algn="l" hangingPunct="0">
                        <a:lnSpc>
                          <a:spcPct val="150000"/>
                        </a:lnSpc>
                        <a:buNone/>
                      </a:pPr>
                      <a:r>
                        <a:rPr lang="en-US" sz="2400" kern="100">
                          <a:solidFill>
                            <a:schemeClr val="bg2"/>
                          </a:solidFill>
                          <a:effectLst/>
                          <a:latin typeface="Times New Roman" panose="02020603050405020304" pitchFamily="18" charset="0"/>
                          <a:cs typeface="Times New Roman" panose="02020603050405020304" pitchFamily="18" charset="0"/>
                        </a:rPr>
                        <a:t>amp_drift</a:t>
                      </a:r>
                      <a:endParaRPr lang="en-US" sz="24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ctr" hangingPunct="0">
                        <a:lnSpc>
                          <a:spcPct val="150000"/>
                        </a:lnSpc>
                        <a:buNone/>
                      </a:pPr>
                      <a:r>
                        <a:rPr lang="en-US" sz="20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0.1788</a:t>
                      </a:r>
                    </a:p>
                  </a:txBody>
                  <a:tcPr marL="68580" marR="68580" marT="0" marB="0" anchor="ctr"/>
                </a:tc>
                <a:tc>
                  <a:txBody>
                    <a:bodyPr/>
                    <a:lstStyle/>
                    <a:p>
                      <a:pPr marL="0" marR="0" algn="ctr" hangingPunct="0">
                        <a:lnSpc>
                          <a:spcPct val="150000"/>
                        </a:lnSpc>
                        <a:buNone/>
                      </a:pPr>
                      <a:r>
                        <a:rPr lang="en-US" sz="20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0.0569</a:t>
                      </a:r>
                    </a:p>
                  </a:txBody>
                  <a:tcPr marL="68580" marR="68580" marT="0" marB="0" anchor="ctr"/>
                </a:tc>
                <a:tc>
                  <a:txBody>
                    <a:bodyPr/>
                    <a:lstStyle/>
                    <a:p>
                      <a:pPr marL="0" marR="0" algn="ctr" hangingPunct="0">
                        <a:lnSpc>
                          <a:spcPct val="150000"/>
                        </a:lnSpc>
                        <a:buNone/>
                      </a:pPr>
                      <a:r>
                        <a:rPr lang="en-US" sz="2000" b="1"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0.0285</a:t>
                      </a:r>
                      <a:endParaRPr lang="en-US" sz="20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ctr" hangingPunct="0">
                        <a:lnSpc>
                          <a:spcPct val="150000"/>
                        </a:lnSpc>
                        <a:buNone/>
                      </a:pPr>
                      <a:r>
                        <a:rPr lang="en-US" sz="2000" i="1"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0.029</a:t>
                      </a:r>
                      <a:endParaRPr lang="en-US" sz="20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ctr" hangingPunct="0">
                        <a:lnSpc>
                          <a:spcPct val="150000"/>
                        </a:lnSpc>
                        <a:buNone/>
                      </a:pPr>
                      <a:r>
                        <a:rPr lang="en-US" sz="20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0.0343</a:t>
                      </a:r>
                    </a:p>
                  </a:txBody>
                  <a:tcPr marL="68580" marR="68580" marT="0" marB="0" anchor="ctr"/>
                </a:tc>
                <a:tc>
                  <a:txBody>
                    <a:bodyPr/>
                    <a:lstStyle/>
                    <a:p>
                      <a:pPr marL="0" marR="0" algn="ctr" hangingPunct="0">
                        <a:lnSpc>
                          <a:spcPct val="150000"/>
                        </a:lnSpc>
                        <a:buNone/>
                      </a:pPr>
                      <a:r>
                        <a:rPr lang="en-US" sz="2000" i="1"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0.029</a:t>
                      </a:r>
                      <a:endParaRPr lang="en-US" sz="20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extLst>
                  <a:ext uri="{0D108BD9-81ED-4DB2-BD59-A6C34878D82A}">
                    <a16:rowId xmlns:a16="http://schemas.microsoft.com/office/drawing/2014/main" val="2371977343"/>
                  </a:ext>
                </a:extLst>
              </a:tr>
              <a:tr h="582940">
                <a:tc>
                  <a:txBody>
                    <a:bodyPr/>
                    <a:lstStyle/>
                    <a:p>
                      <a:pPr marL="0" marR="0" algn="l" hangingPunct="0">
                        <a:lnSpc>
                          <a:spcPct val="150000"/>
                        </a:lnSpc>
                        <a:buNone/>
                      </a:pPr>
                      <a:r>
                        <a:rPr lang="en-US" sz="2400" kern="100" dirty="0" err="1">
                          <a:solidFill>
                            <a:schemeClr val="bg2"/>
                          </a:solidFill>
                          <a:effectLst/>
                          <a:latin typeface="Times New Roman" panose="02020603050405020304" pitchFamily="18" charset="0"/>
                          <a:cs typeface="Times New Roman" panose="02020603050405020304" pitchFamily="18" charset="0"/>
                        </a:rPr>
                        <a:t>pos_drift</a:t>
                      </a:r>
                      <a:endParaRPr lang="en-US" sz="24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ctr" hangingPunct="0">
                        <a:lnSpc>
                          <a:spcPct val="150000"/>
                        </a:lnSpc>
                        <a:buNone/>
                      </a:pPr>
                      <a:r>
                        <a:rPr lang="en-US" sz="20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0.0865</a:t>
                      </a:r>
                    </a:p>
                  </a:txBody>
                  <a:tcPr marL="68580" marR="68580" marT="0" marB="0" anchor="ctr"/>
                </a:tc>
                <a:tc>
                  <a:txBody>
                    <a:bodyPr/>
                    <a:lstStyle/>
                    <a:p>
                      <a:pPr marL="0" marR="0" algn="ctr" hangingPunct="0">
                        <a:lnSpc>
                          <a:spcPct val="150000"/>
                        </a:lnSpc>
                        <a:buNone/>
                      </a:pPr>
                      <a:r>
                        <a:rPr lang="en-US" sz="20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0.0421</a:t>
                      </a:r>
                    </a:p>
                  </a:txBody>
                  <a:tcPr marL="68580" marR="68580" marT="0" marB="0" anchor="ctr"/>
                </a:tc>
                <a:tc>
                  <a:txBody>
                    <a:bodyPr/>
                    <a:lstStyle/>
                    <a:p>
                      <a:pPr marL="0" marR="0" algn="ctr" hangingPunct="0">
                        <a:lnSpc>
                          <a:spcPct val="150000"/>
                        </a:lnSpc>
                        <a:buNone/>
                      </a:pPr>
                      <a:r>
                        <a:rPr lang="en-US" sz="2000" i="1"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0.0262</a:t>
                      </a:r>
                      <a:endParaRPr lang="en-US" sz="20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ctr" hangingPunct="0">
                        <a:lnSpc>
                          <a:spcPct val="150000"/>
                        </a:lnSpc>
                        <a:buNone/>
                      </a:pPr>
                      <a:r>
                        <a:rPr lang="en-US" sz="2000" b="1"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0.0259</a:t>
                      </a:r>
                      <a:endParaRPr lang="en-US" sz="2000" kern="10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endParaRPr>
                    </a:p>
                  </a:txBody>
                  <a:tcPr marL="68580" marR="68580" marT="0" marB="0" anchor="ctr"/>
                </a:tc>
                <a:tc>
                  <a:txBody>
                    <a:bodyPr/>
                    <a:lstStyle/>
                    <a:p>
                      <a:pPr marL="0" marR="0" algn="ctr" hangingPunct="0">
                        <a:lnSpc>
                          <a:spcPct val="150000"/>
                        </a:lnSpc>
                        <a:buNone/>
                      </a:pPr>
                      <a:r>
                        <a:rPr lang="en-US" sz="20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0.0274</a:t>
                      </a:r>
                    </a:p>
                  </a:txBody>
                  <a:tcPr marL="68580" marR="68580" marT="0" marB="0" anchor="ctr"/>
                </a:tc>
                <a:tc>
                  <a:txBody>
                    <a:bodyPr/>
                    <a:lstStyle/>
                    <a:p>
                      <a:pPr marL="0" marR="0" algn="ctr" hangingPunct="0">
                        <a:lnSpc>
                          <a:spcPct val="150000"/>
                        </a:lnSpc>
                        <a:buNone/>
                      </a:pPr>
                      <a:r>
                        <a:rPr lang="en-US" sz="2000" kern="100" dirty="0">
                          <a:solidFill>
                            <a:schemeClr val="bg2"/>
                          </a:solidFill>
                          <a:effectLst/>
                          <a:latin typeface="Times New Roman" panose="02020603050405020304" pitchFamily="18" charset="0"/>
                          <a:ea typeface="DFKai-SB" panose="03000509000000000000" pitchFamily="65" charset="-120"/>
                          <a:cs typeface="Times New Roman" panose="02020603050405020304" pitchFamily="18" charset="0"/>
                        </a:rPr>
                        <a:t>0.0292</a:t>
                      </a:r>
                    </a:p>
                  </a:txBody>
                  <a:tcPr marL="68580" marR="68580" marT="0" marB="0" anchor="ctr"/>
                </a:tc>
                <a:extLst>
                  <a:ext uri="{0D108BD9-81ED-4DB2-BD59-A6C34878D82A}">
                    <a16:rowId xmlns:a16="http://schemas.microsoft.com/office/drawing/2014/main" val="3689366390"/>
                  </a:ext>
                </a:extLst>
              </a:tr>
            </a:tbl>
          </a:graphicData>
        </a:graphic>
      </p:graphicFrame>
      <p:sp>
        <p:nvSpPr>
          <p:cNvPr id="3" name="TextBox 9">
            <a:extLst>
              <a:ext uri="{FF2B5EF4-FFF2-40B4-BE49-F238E27FC236}">
                <a16:creationId xmlns:a16="http://schemas.microsoft.com/office/drawing/2014/main" id="{1D91AFA1-B69A-5337-93B9-179514053915}"/>
              </a:ext>
            </a:extLst>
          </p:cNvPr>
          <p:cNvSpPr txBox="1"/>
          <p:nvPr/>
        </p:nvSpPr>
        <p:spPr>
          <a:xfrm>
            <a:off x="13143774" y="3884354"/>
            <a:ext cx="4267926" cy="2446311"/>
          </a:xfrm>
          <a:prstGeom prst="rect">
            <a:avLst/>
          </a:prstGeom>
        </p:spPr>
        <p:txBody>
          <a:bodyPr wrap="square" lIns="0" tIns="0" rIns="0" bIns="0" rtlCol="0" anchor="t">
            <a:spAutoFit/>
          </a:bodyPr>
          <a:lstStyle/>
          <a:p>
            <a:pPr>
              <a:lnSpc>
                <a:spcPts val="2428"/>
              </a:lnSpc>
            </a:pPr>
            <a:r>
              <a:rPr lang="en-US" sz="1600" b="1" dirty="0">
                <a:solidFill>
                  <a:schemeClr val="bg2"/>
                </a:solidFill>
              </a:rPr>
              <a:t>6/10 lowest errors:</a:t>
            </a:r>
            <a:r>
              <a:rPr lang="en-US" sz="1600" dirty="0">
                <a:solidFill>
                  <a:schemeClr val="bg2"/>
                </a:solidFill>
              </a:rPr>
              <a:t> </a:t>
            </a:r>
            <a:r>
              <a:rPr lang="en-US" sz="1600" dirty="0" err="1">
                <a:solidFill>
                  <a:schemeClr val="bg2"/>
                </a:solidFill>
              </a:rPr>
              <a:t>MycoMorph</a:t>
            </a:r>
            <a:r>
              <a:rPr lang="en-US" sz="1600" dirty="0">
                <a:solidFill>
                  <a:schemeClr val="bg2"/>
                </a:solidFill>
              </a:rPr>
              <a:t> </a:t>
            </a:r>
          </a:p>
          <a:p>
            <a:pPr>
              <a:lnSpc>
                <a:spcPts val="2428"/>
              </a:lnSpc>
            </a:pPr>
            <a:r>
              <a:rPr lang="en-US" sz="1600" b="1" dirty="0">
                <a:solidFill>
                  <a:schemeClr val="bg2"/>
                </a:solidFill>
              </a:rPr>
              <a:t>Mean error:</a:t>
            </a:r>
            <a:r>
              <a:rPr lang="en-US" sz="1600" dirty="0">
                <a:solidFill>
                  <a:schemeClr val="bg2"/>
                </a:solidFill>
              </a:rPr>
              <a:t> 0.0308 </a:t>
            </a:r>
          </a:p>
          <a:p>
            <a:pPr>
              <a:lnSpc>
                <a:spcPts val="2428"/>
              </a:lnSpc>
            </a:pPr>
            <a:r>
              <a:rPr lang="en-US" sz="1600" b="1" dirty="0">
                <a:solidFill>
                  <a:schemeClr val="bg2"/>
                </a:solidFill>
              </a:rPr>
              <a:t>Median error:</a:t>
            </a:r>
            <a:r>
              <a:rPr lang="en-US" sz="1600" dirty="0">
                <a:solidFill>
                  <a:schemeClr val="bg2"/>
                </a:solidFill>
              </a:rPr>
              <a:t> 0.0292 </a:t>
            </a:r>
          </a:p>
          <a:p>
            <a:pPr>
              <a:lnSpc>
                <a:spcPts val="2428"/>
              </a:lnSpc>
            </a:pPr>
            <a:r>
              <a:rPr lang="en-US" sz="1600" b="1" dirty="0">
                <a:solidFill>
                  <a:schemeClr val="bg2"/>
                </a:solidFill>
              </a:rPr>
              <a:t>Error range:</a:t>
            </a:r>
            <a:r>
              <a:rPr lang="en-US" sz="1600" dirty="0">
                <a:solidFill>
                  <a:schemeClr val="bg2"/>
                </a:solidFill>
              </a:rPr>
              <a:t> 0.0290–0.0358 </a:t>
            </a:r>
          </a:p>
          <a:p>
            <a:pPr>
              <a:lnSpc>
                <a:spcPts val="2428"/>
              </a:lnSpc>
            </a:pPr>
            <a:r>
              <a:rPr lang="en-US" sz="1600" b="1" dirty="0">
                <a:solidFill>
                  <a:schemeClr val="bg2"/>
                </a:solidFill>
              </a:rPr>
              <a:t>Period-drift wins:</a:t>
            </a:r>
            <a:r>
              <a:rPr lang="en-US" sz="1600" dirty="0">
                <a:solidFill>
                  <a:schemeClr val="bg2"/>
                </a:solidFill>
              </a:rPr>
              <a:t> 4/4 </a:t>
            </a:r>
          </a:p>
          <a:p>
            <a:pPr>
              <a:lnSpc>
                <a:spcPts val="2428"/>
              </a:lnSpc>
            </a:pPr>
            <a:r>
              <a:rPr lang="en-US" sz="1600" b="1" dirty="0">
                <a:solidFill>
                  <a:schemeClr val="bg2"/>
                </a:solidFill>
              </a:rPr>
              <a:t>Shape-drift wins:</a:t>
            </a:r>
            <a:r>
              <a:rPr lang="en-US" sz="1600" dirty="0">
                <a:solidFill>
                  <a:schemeClr val="bg2"/>
                </a:solidFill>
              </a:rPr>
              <a:t> 2/4 </a:t>
            </a:r>
          </a:p>
          <a:p>
            <a:pPr>
              <a:lnSpc>
                <a:spcPts val="2428"/>
              </a:lnSpc>
            </a:pPr>
            <a:r>
              <a:rPr lang="en-US" sz="1600" b="1" dirty="0">
                <a:solidFill>
                  <a:schemeClr val="bg2"/>
                </a:solidFill>
              </a:rPr>
              <a:t>Period-drift reduction vs ML models:</a:t>
            </a:r>
            <a:r>
              <a:rPr lang="en-US" sz="1600" dirty="0">
                <a:solidFill>
                  <a:schemeClr val="bg2"/>
                </a:solidFill>
              </a:rPr>
              <a:t> </a:t>
            </a:r>
            <a:r>
              <a:rPr lang="en-US" sz="1600" b="1" dirty="0">
                <a:solidFill>
                  <a:schemeClr val="bg2"/>
                </a:solidFill>
              </a:rPr>
              <a:t>30.5%–57.9%</a:t>
            </a:r>
          </a:p>
          <a:p>
            <a:pPr>
              <a:lnSpc>
                <a:spcPts val="2428"/>
              </a:lnSpc>
            </a:pPr>
            <a:r>
              <a:rPr lang="en-US" sz="1600" b="1" dirty="0">
                <a:solidFill>
                  <a:schemeClr val="bg2"/>
                </a:solidFill>
              </a:rPr>
              <a:t>Baseline wins:</a:t>
            </a:r>
            <a:r>
              <a:rPr lang="en-US" sz="1600" dirty="0">
                <a:solidFill>
                  <a:schemeClr val="bg2"/>
                </a:solidFill>
              </a:rPr>
              <a:t> </a:t>
            </a:r>
            <a:r>
              <a:rPr lang="en-US" sz="1600" dirty="0" err="1">
                <a:solidFill>
                  <a:schemeClr val="bg2"/>
                </a:solidFill>
              </a:rPr>
              <a:t>DLinear</a:t>
            </a:r>
            <a:r>
              <a:rPr lang="en-US" sz="1600" dirty="0">
                <a:solidFill>
                  <a:schemeClr val="bg2"/>
                </a:solidFill>
              </a:rPr>
              <a:t> 2/10; </a:t>
            </a:r>
            <a:r>
              <a:rPr lang="en-US" sz="1600" dirty="0" err="1">
                <a:solidFill>
                  <a:schemeClr val="bg2"/>
                </a:solidFill>
              </a:rPr>
              <a:t>PatchTST</a:t>
            </a:r>
            <a:r>
              <a:rPr lang="en-US" sz="1600" dirty="0">
                <a:solidFill>
                  <a:schemeClr val="bg2"/>
                </a:solidFill>
              </a:rPr>
              <a:t> 2/10</a:t>
            </a:r>
            <a:endParaRPr lang="en-US" sz="1507" spc="21" dirty="0">
              <a:solidFill>
                <a:schemeClr val="bg2"/>
              </a:solidFill>
              <a:latin typeface="Amicale Light"/>
              <a:ea typeface="Amicale Light"/>
              <a:cs typeface="Amicale Light"/>
              <a:sym typeface="Amicale Light"/>
            </a:endParaRPr>
          </a:p>
        </p:txBody>
      </p:sp>
      <p:sp>
        <p:nvSpPr>
          <p:cNvPr id="4" name="Slide Number Placeholder 3">
            <a:extLst>
              <a:ext uri="{FF2B5EF4-FFF2-40B4-BE49-F238E27FC236}">
                <a16:creationId xmlns:a16="http://schemas.microsoft.com/office/drawing/2014/main" id="{4C39B0E8-15B0-91FA-61F6-76D9097E1149}"/>
              </a:ext>
            </a:extLst>
          </p:cNvPr>
          <p:cNvSpPr>
            <a:spLocks noGrp="1"/>
          </p:cNvSpPr>
          <p:nvPr>
            <p:ph type="sldNum" sz="quarter" idx="12"/>
          </p:nvPr>
        </p:nvSpPr>
        <p:spPr>
          <a:xfrm>
            <a:off x="15925800" y="9715500"/>
            <a:ext cx="2133600" cy="365125"/>
          </a:xfrm>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val="19242895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lin ang="5400000"/>
        </a:gradFill>
        <a:effectLst/>
      </p:bgPr>
    </p:bg>
    <p:spTree>
      <p:nvGrpSpPr>
        <p:cNvPr id="1" name="">
          <a:extLst>
            <a:ext uri="{FF2B5EF4-FFF2-40B4-BE49-F238E27FC236}">
              <a16:creationId xmlns:a16="http://schemas.microsoft.com/office/drawing/2014/main" id="{510C84AE-F098-52C4-4492-A08EC98E7686}"/>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0FD285D7-3E35-A00F-A4DE-54E86F8FA44F}"/>
              </a:ext>
            </a:extLst>
          </p:cNvPr>
          <p:cNvSpPr/>
          <p:nvPr/>
        </p:nvSpPr>
        <p:spPr>
          <a:xfrm>
            <a:off x="15087601" y="-314077"/>
            <a:ext cx="5149872" cy="2788004"/>
          </a:xfrm>
          <a:custGeom>
            <a:avLst/>
            <a:gdLst/>
            <a:ahLst/>
            <a:cxnLst/>
            <a:rect l="l" t="t" r="r" b="b"/>
            <a:pathLst>
              <a:path w="7315200" h="3596640">
                <a:moveTo>
                  <a:pt x="0" y="0"/>
                </a:moveTo>
                <a:lnTo>
                  <a:pt x="7315200" y="0"/>
                </a:lnTo>
                <a:lnTo>
                  <a:pt x="7315200" y="3596640"/>
                </a:lnTo>
                <a:lnTo>
                  <a:pt x="0" y="3596640"/>
                </a:lnTo>
                <a:lnTo>
                  <a:pt x="0" y="0"/>
                </a:lnTo>
                <a:close/>
              </a:path>
            </a:pathLst>
          </a:custGeom>
          <a:blipFill>
            <a:blip>
              <a:alphaModFix amt="44999"/>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AutoShape 8">
            <a:extLst>
              <a:ext uri="{FF2B5EF4-FFF2-40B4-BE49-F238E27FC236}">
                <a16:creationId xmlns:a16="http://schemas.microsoft.com/office/drawing/2014/main" id="{B6B236D7-6382-5A9A-1BE1-02AF79A39EAD}"/>
              </a:ext>
            </a:extLst>
          </p:cNvPr>
          <p:cNvSpPr/>
          <p:nvPr/>
        </p:nvSpPr>
        <p:spPr>
          <a:xfrm flipH="1">
            <a:off x="0" y="9676538"/>
            <a:ext cx="16463090" cy="0"/>
          </a:xfrm>
          <a:prstGeom prst="line">
            <a:avLst/>
          </a:prstGeom>
          <a:ln w="19050" cap="flat">
            <a:solidFill>
              <a:srgbClr val="FFFFFF"/>
            </a:solidFill>
            <a:prstDash val="solid"/>
            <a:headEnd type="none" w="sm" len="sm"/>
            <a:tailEnd type="none" w="sm" len="sm"/>
          </a:ln>
        </p:spPr>
        <p:txBody>
          <a:bodyPr/>
          <a:lstStyle/>
          <a:p>
            <a:endParaRPr lang="en-US"/>
          </a:p>
        </p:txBody>
      </p:sp>
      <p:sp>
        <p:nvSpPr>
          <p:cNvPr id="9" name="AutoShape 9">
            <a:extLst>
              <a:ext uri="{FF2B5EF4-FFF2-40B4-BE49-F238E27FC236}">
                <a16:creationId xmlns:a16="http://schemas.microsoft.com/office/drawing/2014/main" id="{163A6F2D-97D6-F6C2-3F05-9F753FEF2494}"/>
              </a:ext>
            </a:extLst>
          </p:cNvPr>
          <p:cNvSpPr/>
          <p:nvPr/>
        </p:nvSpPr>
        <p:spPr>
          <a:xfrm flipH="1">
            <a:off x="17050227" y="9667013"/>
            <a:ext cx="960120" cy="0"/>
          </a:xfrm>
          <a:prstGeom prst="line">
            <a:avLst/>
          </a:prstGeom>
          <a:ln w="19050" cap="flat">
            <a:solidFill>
              <a:srgbClr val="FFFFFF"/>
            </a:solidFill>
            <a:prstDash val="solid"/>
            <a:headEnd type="none" w="sm" len="sm"/>
            <a:tailEnd type="none" w="sm" len="sm"/>
          </a:ln>
        </p:spPr>
        <p:txBody>
          <a:bodyPr/>
          <a:lstStyle/>
          <a:p>
            <a:endParaRPr lang="en-US"/>
          </a:p>
        </p:txBody>
      </p:sp>
      <p:sp>
        <p:nvSpPr>
          <p:cNvPr id="10" name="TextBox 10">
            <a:extLst>
              <a:ext uri="{FF2B5EF4-FFF2-40B4-BE49-F238E27FC236}">
                <a16:creationId xmlns:a16="http://schemas.microsoft.com/office/drawing/2014/main" id="{BF575EAA-F2EA-1582-A336-E90F82E1B2D3}"/>
              </a:ext>
            </a:extLst>
          </p:cNvPr>
          <p:cNvSpPr txBox="1"/>
          <p:nvPr/>
        </p:nvSpPr>
        <p:spPr>
          <a:xfrm>
            <a:off x="1028700" y="923925"/>
            <a:ext cx="12001964" cy="903004"/>
          </a:xfrm>
          <a:prstGeom prst="rect">
            <a:avLst/>
          </a:prstGeom>
        </p:spPr>
        <p:txBody>
          <a:bodyPr lIns="0" tIns="0" rIns="0" bIns="0" rtlCol="0" anchor="t">
            <a:spAutoFit/>
          </a:bodyPr>
          <a:lstStyle/>
          <a:p>
            <a:pPr algn="l">
              <a:lnSpc>
                <a:spcPts val="7351"/>
              </a:lnSpc>
            </a:pPr>
            <a:r>
              <a:rPr lang="en-US" sz="5876" b="1" spc="-17" dirty="0">
                <a:solidFill>
                  <a:srgbClr val="D7E5D8"/>
                </a:solidFill>
                <a:latin typeface="IBM Plex Sans Bold"/>
                <a:ea typeface="IBM Plex Sans Bold"/>
                <a:cs typeface="IBM Plex Sans Bold"/>
                <a:sym typeface="IBM Plex Sans Bold"/>
              </a:rPr>
              <a:t>SYNTHETIC SIGNAL RESULTS</a:t>
            </a:r>
          </a:p>
        </p:txBody>
      </p:sp>
      <p:sp>
        <p:nvSpPr>
          <p:cNvPr id="11" name="TextBox 11">
            <a:extLst>
              <a:ext uri="{FF2B5EF4-FFF2-40B4-BE49-F238E27FC236}">
                <a16:creationId xmlns:a16="http://schemas.microsoft.com/office/drawing/2014/main" id="{62DF6E27-F552-72F0-8641-94BE435558D0}"/>
              </a:ext>
            </a:extLst>
          </p:cNvPr>
          <p:cNvSpPr txBox="1"/>
          <p:nvPr/>
        </p:nvSpPr>
        <p:spPr>
          <a:xfrm>
            <a:off x="4322173" y="9050816"/>
            <a:ext cx="9462052" cy="553998"/>
          </a:xfrm>
          <a:prstGeom prst="rect">
            <a:avLst/>
          </a:prstGeom>
        </p:spPr>
        <p:txBody>
          <a:bodyPr wrap="square" lIns="0" tIns="0" rIns="0" bIns="0" rtlCol="0" anchor="t">
            <a:spAutoFit/>
          </a:bodyPr>
          <a:lstStyle/>
          <a:p>
            <a:pPr algn="ctr" hangingPunct="0"/>
            <a:r>
              <a:rPr lang="en-US" dirty="0">
                <a:solidFill>
                  <a:schemeClr val="bg2"/>
                </a:solidFill>
              </a:rPr>
              <a:t>Figure 5.1 Synthetic-panel MAE by drift axis on a logarithmic scale.</a:t>
            </a:r>
          </a:p>
          <a:p>
            <a:pPr algn="ctr" hangingPunct="0"/>
            <a:r>
              <a:rPr lang="en-US" dirty="0">
                <a:solidFill>
                  <a:schemeClr val="bg2"/>
                </a:solidFill>
              </a:rPr>
              <a:t>Averaged over all signals, noise levels, and seeds within each category</a:t>
            </a:r>
          </a:p>
        </p:txBody>
      </p:sp>
      <p:grpSp>
        <p:nvGrpSpPr>
          <p:cNvPr id="18" name="Group 18">
            <a:extLst>
              <a:ext uri="{FF2B5EF4-FFF2-40B4-BE49-F238E27FC236}">
                <a16:creationId xmlns:a16="http://schemas.microsoft.com/office/drawing/2014/main" id="{F7BFC646-3D21-BC17-F122-EB34113DD3AB}"/>
              </a:ext>
            </a:extLst>
          </p:cNvPr>
          <p:cNvGrpSpPr/>
          <p:nvPr/>
        </p:nvGrpSpPr>
        <p:grpSpPr>
          <a:xfrm>
            <a:off x="0" y="8244826"/>
            <a:ext cx="2737757" cy="2737757"/>
            <a:chOff x="0" y="0"/>
            <a:chExt cx="3650343" cy="3650343"/>
          </a:xfrm>
        </p:grpSpPr>
        <p:sp>
          <p:nvSpPr>
            <p:cNvPr id="19" name="Freeform 19">
              <a:extLst>
                <a:ext uri="{FF2B5EF4-FFF2-40B4-BE49-F238E27FC236}">
                  <a16:creationId xmlns:a16="http://schemas.microsoft.com/office/drawing/2014/main" id="{7FC363E3-BBB4-7CDB-E164-EFE66036850C}"/>
                </a:ext>
              </a:extLst>
            </p:cNvPr>
            <p:cNvSpPr/>
            <p:nvPr/>
          </p:nvSpPr>
          <p:spPr>
            <a:xfrm>
              <a:off x="0" y="0"/>
              <a:ext cx="3650343" cy="3650343"/>
            </a:xfrm>
            <a:custGeom>
              <a:avLst/>
              <a:gdLst/>
              <a:ahLst/>
              <a:cxnLst/>
              <a:rect l="l" t="t" r="r" b="b"/>
              <a:pathLst>
                <a:path w="3650343" h="3650343">
                  <a:moveTo>
                    <a:pt x="0" y="0"/>
                  </a:moveTo>
                  <a:lnTo>
                    <a:pt x="3650343" y="0"/>
                  </a:lnTo>
                  <a:lnTo>
                    <a:pt x="3650343" y="3650343"/>
                  </a:lnTo>
                  <a:lnTo>
                    <a:pt x="0" y="3650343"/>
                  </a:lnTo>
                  <a:lnTo>
                    <a:pt x="0" y="0"/>
                  </a:lnTo>
                  <a:close/>
                </a:path>
              </a:pathLst>
            </a:custGeom>
            <a:blipFill>
              <a:blip>
                <a:alphaModFix amt="41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0" name="Freeform 20">
              <a:extLst>
                <a:ext uri="{FF2B5EF4-FFF2-40B4-BE49-F238E27FC236}">
                  <a16:creationId xmlns:a16="http://schemas.microsoft.com/office/drawing/2014/main" id="{6C91F357-1F0C-3A2E-9D61-8E61F75E40D0}"/>
                </a:ext>
              </a:extLst>
            </p:cNvPr>
            <p:cNvSpPr/>
            <p:nvPr/>
          </p:nvSpPr>
          <p:spPr>
            <a:xfrm>
              <a:off x="257215" y="827328"/>
              <a:ext cx="2779958" cy="1629020"/>
            </a:xfrm>
            <a:custGeom>
              <a:avLst/>
              <a:gdLst/>
              <a:ahLst/>
              <a:cxnLst/>
              <a:rect l="l" t="t" r="r" b="b"/>
              <a:pathLst>
                <a:path w="2779958" h="1629020">
                  <a:moveTo>
                    <a:pt x="0" y="0"/>
                  </a:moveTo>
                  <a:lnTo>
                    <a:pt x="2779958" y="0"/>
                  </a:lnTo>
                  <a:lnTo>
                    <a:pt x="2779958" y="1629020"/>
                  </a:lnTo>
                  <a:lnTo>
                    <a:pt x="0" y="1629020"/>
                  </a:lnTo>
                  <a:lnTo>
                    <a:pt x="0" y="0"/>
                  </a:lnTo>
                  <a:close/>
                </a:path>
              </a:pathLst>
            </a:custGeom>
            <a:blipFill>
              <a:blip r:embed="rId5"/>
              <a:stretch>
                <a:fillRect/>
              </a:stretch>
            </a:blipFill>
          </p:spPr>
          <p:txBody>
            <a:bodyPr/>
            <a:lstStyle/>
            <a:p>
              <a:endParaRPr lang="en-US"/>
            </a:p>
          </p:txBody>
        </p:sp>
      </p:grpSp>
      <p:pic>
        <p:nvPicPr>
          <p:cNvPr id="3" name="Picture 2">
            <a:extLst>
              <a:ext uri="{FF2B5EF4-FFF2-40B4-BE49-F238E27FC236}">
                <a16:creationId xmlns:a16="http://schemas.microsoft.com/office/drawing/2014/main" id="{480446B5-0F8F-1AC5-F4E3-BE691352785D}"/>
              </a:ext>
            </a:extLst>
          </p:cNvPr>
          <p:cNvPicPr>
            <a:picLocks noChangeAspect="1"/>
          </p:cNvPicPr>
          <p:nvPr/>
        </p:nvPicPr>
        <p:blipFill>
          <a:blip r:embed="rId6">
            <a:extLst>
              <a:ext uri="{28A0092B-C50C-407E-A947-70E740481C1C}">
                <a14:useLocalDpi xmlns:a14="http://schemas.microsoft.com/office/drawing/2010/main" val="0"/>
              </a:ext>
            </a:extLst>
          </a:blip>
          <a:srcRect t="11200"/>
          <a:stretch>
            <a:fillRect/>
          </a:stretch>
        </p:blipFill>
        <p:spPr>
          <a:xfrm>
            <a:off x="2891088" y="2034265"/>
            <a:ext cx="12505823" cy="6831057"/>
          </a:xfrm>
          <a:prstGeom prst="rect">
            <a:avLst/>
          </a:prstGeom>
        </p:spPr>
      </p:pic>
      <p:sp>
        <p:nvSpPr>
          <p:cNvPr id="2" name="Slide Number Placeholder 1">
            <a:extLst>
              <a:ext uri="{FF2B5EF4-FFF2-40B4-BE49-F238E27FC236}">
                <a16:creationId xmlns:a16="http://schemas.microsoft.com/office/drawing/2014/main" id="{FCA25ABA-3412-E445-24C9-234C40E14372}"/>
              </a:ext>
            </a:extLst>
          </p:cNvPr>
          <p:cNvSpPr>
            <a:spLocks noGrp="1"/>
          </p:cNvSpPr>
          <p:nvPr>
            <p:ph type="sldNum" sz="quarter" idx="12"/>
          </p:nvPr>
        </p:nvSpPr>
        <p:spPr>
          <a:xfrm>
            <a:off x="15925800" y="9715500"/>
            <a:ext cx="2133600" cy="365125"/>
          </a:xfrm>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val="7543191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lin ang="5400000"/>
        </a:gradFill>
        <a:effectLst/>
      </p:bgPr>
    </p:bg>
    <p:spTree>
      <p:nvGrpSpPr>
        <p:cNvPr id="1" name="">
          <a:extLst>
            <a:ext uri="{FF2B5EF4-FFF2-40B4-BE49-F238E27FC236}">
              <a16:creationId xmlns:a16="http://schemas.microsoft.com/office/drawing/2014/main" id="{4ED81322-9581-4954-DCE8-6399497AA0D3}"/>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98143970-D444-67AB-F3AD-2DDF5C128AE1}"/>
              </a:ext>
            </a:extLst>
          </p:cNvPr>
          <p:cNvSpPr/>
          <p:nvPr/>
        </p:nvSpPr>
        <p:spPr>
          <a:xfrm>
            <a:off x="15087601" y="-314077"/>
            <a:ext cx="5149872" cy="2788004"/>
          </a:xfrm>
          <a:custGeom>
            <a:avLst/>
            <a:gdLst/>
            <a:ahLst/>
            <a:cxnLst/>
            <a:rect l="l" t="t" r="r" b="b"/>
            <a:pathLst>
              <a:path w="7315200" h="3596640">
                <a:moveTo>
                  <a:pt x="0" y="0"/>
                </a:moveTo>
                <a:lnTo>
                  <a:pt x="7315200" y="0"/>
                </a:lnTo>
                <a:lnTo>
                  <a:pt x="7315200" y="3596640"/>
                </a:lnTo>
                <a:lnTo>
                  <a:pt x="0" y="3596640"/>
                </a:lnTo>
                <a:lnTo>
                  <a:pt x="0" y="0"/>
                </a:lnTo>
                <a:close/>
              </a:path>
            </a:pathLst>
          </a:custGeom>
          <a:blipFill>
            <a:blip>
              <a:alphaModFix amt="44999"/>
              <a:extLst>
                <a:ext uri="{96DAC541-7B7A-43D3-8B79-37D633B846F1}">
                  <asvg:svgBlip xmlns:asvg="http://schemas.microsoft.com/office/drawing/2016/SVG/main" r:embed="rId2"/>
                </a:ext>
              </a:extLst>
            </a:blip>
            <a:stretch>
              <a:fillRect/>
            </a:stretch>
          </a:blipFill>
        </p:spPr>
        <p:txBody>
          <a:bodyPr/>
          <a:lstStyle/>
          <a:p>
            <a:endParaRPr lang="en-US"/>
          </a:p>
        </p:txBody>
      </p:sp>
      <p:sp>
        <p:nvSpPr>
          <p:cNvPr id="8" name="AutoShape 8">
            <a:extLst>
              <a:ext uri="{FF2B5EF4-FFF2-40B4-BE49-F238E27FC236}">
                <a16:creationId xmlns:a16="http://schemas.microsoft.com/office/drawing/2014/main" id="{1698FB08-1F2E-C78F-EABE-7683756A7A54}"/>
              </a:ext>
            </a:extLst>
          </p:cNvPr>
          <p:cNvSpPr/>
          <p:nvPr/>
        </p:nvSpPr>
        <p:spPr>
          <a:xfrm flipH="1">
            <a:off x="0" y="9676538"/>
            <a:ext cx="16463090" cy="0"/>
          </a:xfrm>
          <a:prstGeom prst="line">
            <a:avLst/>
          </a:prstGeom>
          <a:ln w="19050" cap="flat">
            <a:solidFill>
              <a:srgbClr val="FFFFFF"/>
            </a:solidFill>
            <a:prstDash val="solid"/>
            <a:headEnd type="none" w="sm" len="sm"/>
            <a:tailEnd type="none" w="sm" len="sm"/>
          </a:ln>
        </p:spPr>
        <p:txBody>
          <a:bodyPr/>
          <a:lstStyle/>
          <a:p>
            <a:endParaRPr lang="en-US"/>
          </a:p>
        </p:txBody>
      </p:sp>
      <p:sp>
        <p:nvSpPr>
          <p:cNvPr id="9" name="AutoShape 9">
            <a:extLst>
              <a:ext uri="{FF2B5EF4-FFF2-40B4-BE49-F238E27FC236}">
                <a16:creationId xmlns:a16="http://schemas.microsoft.com/office/drawing/2014/main" id="{7BDACE79-C5D2-2E85-50D7-CCFFCEC45977}"/>
              </a:ext>
            </a:extLst>
          </p:cNvPr>
          <p:cNvSpPr/>
          <p:nvPr/>
        </p:nvSpPr>
        <p:spPr>
          <a:xfrm flipH="1">
            <a:off x="17050227" y="9667013"/>
            <a:ext cx="960120" cy="0"/>
          </a:xfrm>
          <a:prstGeom prst="line">
            <a:avLst/>
          </a:prstGeom>
          <a:ln w="19050" cap="flat">
            <a:solidFill>
              <a:srgbClr val="FFFFFF"/>
            </a:solidFill>
            <a:prstDash val="solid"/>
            <a:headEnd type="none" w="sm" len="sm"/>
            <a:tailEnd type="none" w="sm" len="sm"/>
          </a:ln>
        </p:spPr>
        <p:txBody>
          <a:bodyPr/>
          <a:lstStyle/>
          <a:p>
            <a:endParaRPr lang="en-US"/>
          </a:p>
        </p:txBody>
      </p:sp>
      <p:sp>
        <p:nvSpPr>
          <p:cNvPr id="10" name="TextBox 10">
            <a:extLst>
              <a:ext uri="{FF2B5EF4-FFF2-40B4-BE49-F238E27FC236}">
                <a16:creationId xmlns:a16="http://schemas.microsoft.com/office/drawing/2014/main" id="{81A2548F-445F-D890-E5F9-7F72496621A2}"/>
              </a:ext>
            </a:extLst>
          </p:cNvPr>
          <p:cNvSpPr txBox="1"/>
          <p:nvPr/>
        </p:nvSpPr>
        <p:spPr>
          <a:xfrm>
            <a:off x="1028700" y="923925"/>
            <a:ext cx="12001964" cy="903004"/>
          </a:xfrm>
          <a:prstGeom prst="rect">
            <a:avLst/>
          </a:prstGeom>
        </p:spPr>
        <p:txBody>
          <a:bodyPr lIns="0" tIns="0" rIns="0" bIns="0" rtlCol="0" anchor="t">
            <a:spAutoFit/>
          </a:bodyPr>
          <a:lstStyle/>
          <a:p>
            <a:pPr algn="l">
              <a:lnSpc>
                <a:spcPts val="7351"/>
              </a:lnSpc>
            </a:pPr>
            <a:r>
              <a:rPr lang="en-US" sz="5876" b="1" spc="-17" dirty="0">
                <a:solidFill>
                  <a:srgbClr val="D7E5D8"/>
                </a:solidFill>
                <a:latin typeface="IBM Plex Sans Bold"/>
                <a:ea typeface="IBM Plex Sans Bold"/>
                <a:cs typeface="IBM Plex Sans Bold"/>
                <a:sym typeface="IBM Plex Sans Bold"/>
              </a:rPr>
              <a:t>REAL WORLD SIGNAL RESULTS</a:t>
            </a:r>
          </a:p>
        </p:txBody>
      </p:sp>
      <p:sp>
        <p:nvSpPr>
          <p:cNvPr id="11" name="TextBox 11">
            <a:extLst>
              <a:ext uri="{FF2B5EF4-FFF2-40B4-BE49-F238E27FC236}">
                <a16:creationId xmlns:a16="http://schemas.microsoft.com/office/drawing/2014/main" id="{4AEC0E2C-FA9C-DCDC-71A9-1D0501BBF05F}"/>
              </a:ext>
            </a:extLst>
          </p:cNvPr>
          <p:cNvSpPr txBox="1"/>
          <p:nvPr/>
        </p:nvSpPr>
        <p:spPr>
          <a:xfrm>
            <a:off x="2308650" y="9300656"/>
            <a:ext cx="9462052" cy="276999"/>
          </a:xfrm>
          <a:prstGeom prst="rect">
            <a:avLst/>
          </a:prstGeom>
        </p:spPr>
        <p:txBody>
          <a:bodyPr wrap="square" lIns="0" tIns="0" rIns="0" bIns="0" rtlCol="0" anchor="t">
            <a:spAutoFit/>
          </a:bodyPr>
          <a:lstStyle/>
          <a:p>
            <a:pPr algn="ctr" hangingPunct="0"/>
            <a:r>
              <a:rPr lang="en-US" dirty="0">
                <a:solidFill>
                  <a:schemeClr val="bg2"/>
                </a:solidFill>
              </a:rPr>
              <a:t>Table 5.5 Mean absolute error on the fifteen real-world records.</a:t>
            </a:r>
          </a:p>
        </p:txBody>
      </p:sp>
      <p:grpSp>
        <p:nvGrpSpPr>
          <p:cNvPr id="18" name="Group 18">
            <a:extLst>
              <a:ext uri="{FF2B5EF4-FFF2-40B4-BE49-F238E27FC236}">
                <a16:creationId xmlns:a16="http://schemas.microsoft.com/office/drawing/2014/main" id="{D5E6FB60-3FFA-AEAD-256E-1B0C94109995}"/>
              </a:ext>
            </a:extLst>
          </p:cNvPr>
          <p:cNvGrpSpPr/>
          <p:nvPr/>
        </p:nvGrpSpPr>
        <p:grpSpPr>
          <a:xfrm>
            <a:off x="0" y="8244826"/>
            <a:ext cx="2737757" cy="2737757"/>
            <a:chOff x="0" y="0"/>
            <a:chExt cx="3650343" cy="3650343"/>
          </a:xfrm>
        </p:grpSpPr>
        <p:sp>
          <p:nvSpPr>
            <p:cNvPr id="19" name="Freeform 19">
              <a:extLst>
                <a:ext uri="{FF2B5EF4-FFF2-40B4-BE49-F238E27FC236}">
                  <a16:creationId xmlns:a16="http://schemas.microsoft.com/office/drawing/2014/main" id="{2CCA2707-6129-7E10-2D03-001428F1F1A3}"/>
                </a:ext>
              </a:extLst>
            </p:cNvPr>
            <p:cNvSpPr/>
            <p:nvPr/>
          </p:nvSpPr>
          <p:spPr>
            <a:xfrm>
              <a:off x="0" y="0"/>
              <a:ext cx="3650343" cy="3650343"/>
            </a:xfrm>
            <a:custGeom>
              <a:avLst/>
              <a:gdLst/>
              <a:ahLst/>
              <a:cxnLst/>
              <a:rect l="l" t="t" r="r" b="b"/>
              <a:pathLst>
                <a:path w="3650343" h="3650343">
                  <a:moveTo>
                    <a:pt x="0" y="0"/>
                  </a:moveTo>
                  <a:lnTo>
                    <a:pt x="3650343" y="0"/>
                  </a:lnTo>
                  <a:lnTo>
                    <a:pt x="3650343" y="3650343"/>
                  </a:lnTo>
                  <a:lnTo>
                    <a:pt x="0" y="3650343"/>
                  </a:lnTo>
                  <a:lnTo>
                    <a:pt x="0" y="0"/>
                  </a:lnTo>
                  <a:close/>
                </a:path>
              </a:pathLst>
            </a:custGeom>
            <a:blipFill>
              <a:blip>
                <a:alphaModFix amt="4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0" name="Freeform 20">
              <a:extLst>
                <a:ext uri="{FF2B5EF4-FFF2-40B4-BE49-F238E27FC236}">
                  <a16:creationId xmlns:a16="http://schemas.microsoft.com/office/drawing/2014/main" id="{C1A398E1-9395-E08C-8690-A674C474E8CA}"/>
                </a:ext>
              </a:extLst>
            </p:cNvPr>
            <p:cNvSpPr/>
            <p:nvPr/>
          </p:nvSpPr>
          <p:spPr>
            <a:xfrm>
              <a:off x="257215" y="827328"/>
              <a:ext cx="2779958" cy="1629020"/>
            </a:xfrm>
            <a:custGeom>
              <a:avLst/>
              <a:gdLst/>
              <a:ahLst/>
              <a:cxnLst/>
              <a:rect l="l" t="t" r="r" b="b"/>
              <a:pathLst>
                <a:path w="2779958" h="1629020">
                  <a:moveTo>
                    <a:pt x="0" y="0"/>
                  </a:moveTo>
                  <a:lnTo>
                    <a:pt x="2779958" y="0"/>
                  </a:lnTo>
                  <a:lnTo>
                    <a:pt x="2779958" y="1629020"/>
                  </a:lnTo>
                  <a:lnTo>
                    <a:pt x="0" y="1629020"/>
                  </a:lnTo>
                  <a:lnTo>
                    <a:pt x="0" y="0"/>
                  </a:lnTo>
                  <a:close/>
                </a:path>
              </a:pathLst>
            </a:custGeom>
            <a:blipFill>
              <a:blip r:embed="rId4"/>
              <a:stretch>
                <a:fillRect/>
              </a:stretch>
            </a:blipFill>
          </p:spPr>
          <p:txBody>
            <a:bodyPr/>
            <a:lstStyle/>
            <a:p>
              <a:endParaRPr lang="en-US"/>
            </a:p>
          </p:txBody>
        </p:sp>
      </p:grpSp>
      <p:sp>
        <p:nvSpPr>
          <p:cNvPr id="21" name="TextBox 21">
            <a:extLst>
              <a:ext uri="{FF2B5EF4-FFF2-40B4-BE49-F238E27FC236}">
                <a16:creationId xmlns:a16="http://schemas.microsoft.com/office/drawing/2014/main" id="{461E322D-FAB5-6E50-5D3E-FE7D04F8FC7F}"/>
              </a:ext>
            </a:extLst>
          </p:cNvPr>
          <p:cNvSpPr txBox="1"/>
          <p:nvPr/>
        </p:nvSpPr>
        <p:spPr>
          <a:xfrm>
            <a:off x="17252945" y="9210675"/>
            <a:ext cx="165110" cy="335541"/>
          </a:xfrm>
          <a:prstGeom prst="rect">
            <a:avLst/>
          </a:prstGeom>
        </p:spPr>
        <p:txBody>
          <a:bodyPr wrap="none" lIns="0" tIns="0" rIns="0" bIns="0" rtlCol="0" anchor="t">
            <a:spAutoFit/>
          </a:bodyPr>
          <a:lstStyle/>
          <a:p>
            <a:pPr algn="ctr">
              <a:lnSpc>
                <a:spcPts val="2800"/>
              </a:lnSpc>
              <a:spcBef>
                <a:spcPct val="0"/>
              </a:spcBef>
            </a:pPr>
            <a:r>
              <a:rPr lang="en-US" sz="2000" dirty="0">
                <a:solidFill>
                  <a:srgbClr val="000000"/>
                </a:solidFill>
                <a:latin typeface="Canva Sans"/>
                <a:ea typeface="Canva Sans"/>
                <a:cs typeface="Canva Sans"/>
                <a:sym typeface="Canva Sans"/>
              </a:rPr>
              <a:t>9</a:t>
            </a:r>
          </a:p>
        </p:txBody>
      </p:sp>
      <p:graphicFrame>
        <p:nvGraphicFramePr>
          <p:cNvPr id="22" name="Table 21">
            <a:extLst>
              <a:ext uri="{FF2B5EF4-FFF2-40B4-BE49-F238E27FC236}">
                <a16:creationId xmlns:a16="http://schemas.microsoft.com/office/drawing/2014/main" id="{3293E8C9-EBCA-DE07-C1C6-46F101CC9F33}"/>
              </a:ext>
            </a:extLst>
          </p:cNvPr>
          <p:cNvGraphicFramePr>
            <a:graphicFrameLocks noGrp="1"/>
          </p:cNvGraphicFramePr>
          <p:nvPr>
            <p:extLst>
              <p:ext uri="{D42A27DB-BD31-4B8C-83A1-F6EECF244321}">
                <p14:modId xmlns:p14="http://schemas.microsoft.com/office/powerpoint/2010/main" val="4200651915"/>
              </p:ext>
            </p:extLst>
          </p:nvPr>
        </p:nvGraphicFramePr>
        <p:xfrm>
          <a:off x="1042555" y="1908110"/>
          <a:ext cx="12001968" cy="7293664"/>
        </p:xfrm>
        <a:graphic>
          <a:graphicData uri="http://schemas.openxmlformats.org/drawingml/2006/table">
            <a:tbl>
              <a:tblPr firstRow="1" firstCol="1" bandRow="1">
                <a:tableStyleId>{C083E6E3-FA7D-4D7B-A595-EF9225AFEA82}</a:tableStyleId>
              </a:tblPr>
              <a:tblGrid>
                <a:gridCol w="2781300">
                  <a:extLst>
                    <a:ext uri="{9D8B030D-6E8A-4147-A177-3AD203B41FA5}">
                      <a16:colId xmlns:a16="http://schemas.microsoft.com/office/drawing/2014/main" val="3901473132"/>
                    </a:ext>
                  </a:extLst>
                </a:gridCol>
                <a:gridCol w="1536778">
                  <a:extLst>
                    <a:ext uri="{9D8B030D-6E8A-4147-A177-3AD203B41FA5}">
                      <a16:colId xmlns:a16="http://schemas.microsoft.com/office/drawing/2014/main" val="2198633026"/>
                    </a:ext>
                  </a:extLst>
                </a:gridCol>
                <a:gridCol w="1536778">
                  <a:extLst>
                    <a:ext uri="{9D8B030D-6E8A-4147-A177-3AD203B41FA5}">
                      <a16:colId xmlns:a16="http://schemas.microsoft.com/office/drawing/2014/main" val="3011848110"/>
                    </a:ext>
                  </a:extLst>
                </a:gridCol>
                <a:gridCol w="1536778">
                  <a:extLst>
                    <a:ext uri="{9D8B030D-6E8A-4147-A177-3AD203B41FA5}">
                      <a16:colId xmlns:a16="http://schemas.microsoft.com/office/drawing/2014/main" val="1007214005"/>
                    </a:ext>
                  </a:extLst>
                </a:gridCol>
                <a:gridCol w="1536778">
                  <a:extLst>
                    <a:ext uri="{9D8B030D-6E8A-4147-A177-3AD203B41FA5}">
                      <a16:colId xmlns:a16="http://schemas.microsoft.com/office/drawing/2014/main" val="2142155676"/>
                    </a:ext>
                  </a:extLst>
                </a:gridCol>
                <a:gridCol w="1536778">
                  <a:extLst>
                    <a:ext uri="{9D8B030D-6E8A-4147-A177-3AD203B41FA5}">
                      <a16:colId xmlns:a16="http://schemas.microsoft.com/office/drawing/2014/main" val="2084820415"/>
                    </a:ext>
                  </a:extLst>
                </a:gridCol>
                <a:gridCol w="1536778">
                  <a:extLst>
                    <a:ext uri="{9D8B030D-6E8A-4147-A177-3AD203B41FA5}">
                      <a16:colId xmlns:a16="http://schemas.microsoft.com/office/drawing/2014/main" val="471894087"/>
                    </a:ext>
                  </a:extLst>
                </a:gridCol>
              </a:tblGrid>
              <a:tr h="455854">
                <a:tc>
                  <a:txBody>
                    <a:bodyPr/>
                    <a:lstStyle/>
                    <a:p>
                      <a:pPr marL="0" marR="0" algn="ctr">
                        <a:spcBef>
                          <a:spcPts val="900"/>
                        </a:spcBef>
                        <a:spcAft>
                          <a:spcPts val="900"/>
                        </a:spcAft>
                        <a:buNone/>
                      </a:pPr>
                      <a:r>
                        <a:rPr lang="en-US" sz="2000"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Signal</a:t>
                      </a:r>
                      <a:endParaRPr lang="en-US" sz="20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2000"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Persist</a:t>
                      </a:r>
                      <a:endParaRPr lang="en-US" sz="20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20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Kalman</a:t>
                      </a:r>
                      <a:endParaRPr lang="en-US" sz="20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20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Dlinear</a:t>
                      </a:r>
                      <a:endParaRPr lang="en-US" sz="20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2000" kern="100" dirty="0" err="1">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PatchTST</a:t>
                      </a:r>
                      <a:endParaRPr lang="en-US" sz="20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20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LSTM</a:t>
                      </a:r>
                      <a:endParaRPr lang="en-US" sz="20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2000" kern="100" dirty="0" err="1">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MycoMorph</a:t>
                      </a:r>
                      <a:endParaRPr lang="en-US" sz="20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027733603"/>
                  </a:ext>
                </a:extLst>
              </a:tr>
              <a:tr h="455854">
                <a:tc>
                  <a:txBody>
                    <a:bodyPr/>
                    <a:lstStyle/>
                    <a:p>
                      <a:pPr marL="0" marR="0" algn="just">
                        <a:spcBef>
                          <a:spcPts val="900"/>
                        </a:spcBef>
                        <a:spcAft>
                          <a:spcPts val="900"/>
                        </a:spcAft>
                        <a:buNone/>
                      </a:pPr>
                      <a:r>
                        <a:rPr lang="en-US" sz="2000"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bidmc01_pleth</a:t>
                      </a:r>
                      <a:endParaRPr lang="en-US" sz="20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0.0047</a:t>
                      </a:r>
                      <a:endParaRPr lang="en-US" sz="18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i="1"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0.0012</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0.0026</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i="1"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0.0012</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0.0013</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b="1"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0.0008</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234580128"/>
                  </a:ext>
                </a:extLst>
              </a:tr>
              <a:tr h="455854">
                <a:tc>
                  <a:txBody>
                    <a:bodyPr/>
                    <a:lstStyle/>
                    <a:p>
                      <a:pPr marL="0" marR="0" algn="just">
                        <a:spcBef>
                          <a:spcPts val="900"/>
                        </a:spcBef>
                        <a:spcAft>
                          <a:spcPts val="900"/>
                        </a:spcAft>
                        <a:buNone/>
                      </a:pPr>
                      <a:r>
                        <a:rPr lang="en-US" sz="2000"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bidmc11_pleth</a:t>
                      </a:r>
                      <a:endParaRPr lang="en-US" sz="20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0.0076</a:t>
                      </a:r>
                      <a:endParaRPr lang="en-US" sz="18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0.0014</a:t>
                      </a:r>
                      <a:endParaRPr lang="en-US" sz="18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0.0041</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0.0016</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i="1"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0.0011</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b="1"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0.001</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685717504"/>
                  </a:ext>
                </a:extLst>
              </a:tr>
              <a:tr h="455854">
                <a:tc>
                  <a:txBody>
                    <a:bodyPr/>
                    <a:lstStyle/>
                    <a:p>
                      <a:pPr marL="0" marR="0" algn="just">
                        <a:spcBef>
                          <a:spcPts val="900"/>
                        </a:spcBef>
                        <a:spcAft>
                          <a:spcPts val="900"/>
                        </a:spcAft>
                        <a:buNone/>
                      </a:pPr>
                      <a:r>
                        <a:rPr lang="en-US" sz="20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bidmc21_pleth</a:t>
                      </a:r>
                      <a:endParaRPr lang="en-US" sz="20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0.0075</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i="1"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0.0014</a:t>
                      </a:r>
                      <a:endParaRPr lang="en-US" sz="18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0.0072</a:t>
                      </a:r>
                      <a:endParaRPr lang="en-US" sz="18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0.0019</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0.002</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b="1"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0.0011</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138434273"/>
                  </a:ext>
                </a:extLst>
              </a:tr>
              <a:tr h="455854">
                <a:tc>
                  <a:txBody>
                    <a:bodyPr/>
                    <a:lstStyle/>
                    <a:p>
                      <a:pPr marL="0" marR="0" algn="just">
                        <a:spcBef>
                          <a:spcPts val="900"/>
                        </a:spcBef>
                        <a:spcAft>
                          <a:spcPts val="900"/>
                        </a:spcAft>
                        <a:buNone/>
                      </a:pPr>
                      <a:r>
                        <a:rPr lang="en-US" sz="20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bidmc31_pleth</a:t>
                      </a:r>
                      <a:endParaRPr lang="en-US" sz="20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0.0067</a:t>
                      </a:r>
                      <a:endParaRPr lang="en-US" sz="18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i="1"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0.0011</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0.003</a:t>
                      </a:r>
                      <a:endParaRPr lang="en-US" sz="18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0.0023</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0.0016</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b="1"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0.0008</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539103631"/>
                  </a:ext>
                </a:extLst>
              </a:tr>
              <a:tr h="455854">
                <a:tc>
                  <a:txBody>
                    <a:bodyPr/>
                    <a:lstStyle/>
                    <a:p>
                      <a:pPr marL="0" marR="0" algn="just">
                        <a:spcBef>
                          <a:spcPts val="900"/>
                        </a:spcBef>
                        <a:spcAft>
                          <a:spcPts val="900"/>
                        </a:spcAft>
                        <a:buNone/>
                      </a:pPr>
                      <a:r>
                        <a:rPr lang="en-US" sz="20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bidmc41_pleth</a:t>
                      </a:r>
                      <a:endParaRPr lang="en-US" sz="20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0.0043</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i="1"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0.001</a:t>
                      </a:r>
                      <a:endParaRPr lang="en-US" sz="18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0.0057</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0.0015</a:t>
                      </a:r>
                      <a:endParaRPr lang="en-US" sz="18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i="1"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0.001</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b="1"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0.0008</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245909827"/>
                  </a:ext>
                </a:extLst>
              </a:tr>
              <a:tr h="455854">
                <a:tc>
                  <a:txBody>
                    <a:bodyPr/>
                    <a:lstStyle/>
                    <a:p>
                      <a:pPr marL="0" marR="0" algn="just">
                        <a:spcBef>
                          <a:spcPts val="900"/>
                        </a:spcBef>
                        <a:spcAft>
                          <a:spcPts val="900"/>
                        </a:spcAft>
                        <a:buNone/>
                      </a:pPr>
                      <a:r>
                        <a:rPr lang="en-US" sz="2000"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bidmc01_resp</a:t>
                      </a:r>
                      <a:endParaRPr lang="en-US" sz="20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0.0057</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b="1"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0.0007</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0.0055</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0.0013</a:t>
                      </a:r>
                      <a:endParaRPr lang="en-US" sz="18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0.0012</a:t>
                      </a:r>
                      <a:endParaRPr lang="en-US" sz="18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b="1"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0.0007</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68132098"/>
                  </a:ext>
                </a:extLst>
              </a:tr>
              <a:tr h="455854">
                <a:tc>
                  <a:txBody>
                    <a:bodyPr/>
                    <a:lstStyle/>
                    <a:p>
                      <a:pPr marL="0" marR="0" algn="just">
                        <a:spcBef>
                          <a:spcPts val="900"/>
                        </a:spcBef>
                        <a:spcAft>
                          <a:spcPts val="900"/>
                        </a:spcAft>
                        <a:buNone/>
                      </a:pPr>
                      <a:r>
                        <a:rPr lang="en-US" sz="20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bidmc11_resp</a:t>
                      </a:r>
                      <a:endParaRPr lang="en-US" sz="20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0.0031</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b="1"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0.0011</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0.0029</a:t>
                      </a:r>
                      <a:endParaRPr lang="en-US" sz="18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0.0013</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0.0012</a:t>
                      </a:r>
                      <a:endParaRPr lang="en-US" sz="18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b="1"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0.0011</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756412281"/>
                  </a:ext>
                </a:extLst>
              </a:tr>
              <a:tr h="455854">
                <a:tc>
                  <a:txBody>
                    <a:bodyPr/>
                    <a:lstStyle/>
                    <a:p>
                      <a:pPr marL="0" marR="0" algn="just">
                        <a:spcBef>
                          <a:spcPts val="900"/>
                        </a:spcBef>
                        <a:spcAft>
                          <a:spcPts val="900"/>
                        </a:spcAft>
                        <a:buNone/>
                      </a:pPr>
                      <a:r>
                        <a:rPr lang="en-US" sz="20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bidmc21_resp</a:t>
                      </a:r>
                      <a:endParaRPr lang="en-US" sz="20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0.0065</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b="1"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0.0009</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0.0077</a:t>
                      </a:r>
                      <a:endParaRPr lang="en-US" sz="18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0.0019</a:t>
                      </a:r>
                      <a:endParaRPr lang="en-US" sz="18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0.0023</a:t>
                      </a:r>
                      <a:endParaRPr lang="en-US" sz="18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b="1"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0.0009</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323655434"/>
                  </a:ext>
                </a:extLst>
              </a:tr>
              <a:tr h="455854">
                <a:tc>
                  <a:txBody>
                    <a:bodyPr/>
                    <a:lstStyle/>
                    <a:p>
                      <a:pPr marL="0" marR="0" algn="just">
                        <a:spcBef>
                          <a:spcPts val="900"/>
                        </a:spcBef>
                        <a:spcAft>
                          <a:spcPts val="900"/>
                        </a:spcAft>
                        <a:buNone/>
                      </a:pPr>
                      <a:r>
                        <a:rPr lang="en-US" sz="20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bidmc31_resp</a:t>
                      </a:r>
                      <a:endParaRPr lang="en-US" sz="20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0.0052</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b="1"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0.0007</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0.0036</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0.001</a:t>
                      </a:r>
                      <a:endParaRPr lang="en-US" sz="18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0.002</a:t>
                      </a:r>
                      <a:endParaRPr lang="en-US" sz="18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b="1"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0.0007</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371977343"/>
                  </a:ext>
                </a:extLst>
              </a:tr>
              <a:tr h="455854">
                <a:tc>
                  <a:txBody>
                    <a:bodyPr/>
                    <a:lstStyle/>
                    <a:p>
                      <a:pPr marL="0" marR="0" algn="just">
                        <a:spcBef>
                          <a:spcPts val="900"/>
                        </a:spcBef>
                        <a:spcAft>
                          <a:spcPts val="900"/>
                        </a:spcAft>
                        <a:buNone/>
                      </a:pPr>
                      <a:r>
                        <a:rPr lang="en-US" sz="20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bidmc41_resp</a:t>
                      </a:r>
                      <a:endParaRPr lang="en-US" sz="20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0.0057</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b="1"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0.0011</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0.0051</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0.0017</a:t>
                      </a:r>
                      <a:endParaRPr lang="en-US" sz="18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0.0043</a:t>
                      </a:r>
                      <a:endParaRPr lang="en-US" sz="18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0.0012</a:t>
                      </a:r>
                      <a:endParaRPr lang="en-US" sz="18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689366390"/>
                  </a:ext>
                </a:extLst>
              </a:tr>
              <a:tr h="455854">
                <a:tc>
                  <a:txBody>
                    <a:bodyPr/>
                    <a:lstStyle/>
                    <a:p>
                      <a:pPr marL="0" marR="0" algn="just">
                        <a:spcBef>
                          <a:spcPts val="900"/>
                        </a:spcBef>
                        <a:spcAft>
                          <a:spcPts val="900"/>
                        </a:spcAft>
                        <a:buNone/>
                      </a:pPr>
                      <a:r>
                        <a:rPr lang="en-US" sz="20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aep_electricity</a:t>
                      </a:r>
                      <a:endParaRPr lang="en-US" sz="20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0.1622</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0.09</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0.0708</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b="1"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0.0423</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i="1"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0.057</a:t>
                      </a:r>
                      <a:endParaRPr lang="en-US" sz="18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0.0674</a:t>
                      </a:r>
                      <a:endParaRPr lang="en-US" sz="18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205147384"/>
                  </a:ext>
                </a:extLst>
              </a:tr>
              <a:tr h="455854">
                <a:tc>
                  <a:txBody>
                    <a:bodyPr/>
                    <a:lstStyle/>
                    <a:p>
                      <a:pPr marL="0" marR="0" algn="just">
                        <a:spcBef>
                          <a:spcPts val="900"/>
                        </a:spcBef>
                        <a:spcAft>
                          <a:spcPts val="900"/>
                        </a:spcAft>
                        <a:buNone/>
                      </a:pPr>
                      <a:r>
                        <a:rPr lang="en-US" sz="20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air_temperature</a:t>
                      </a:r>
                      <a:endParaRPr lang="en-US" sz="20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0.1238</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0.0574</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0.0557</a:t>
                      </a:r>
                      <a:endParaRPr lang="en-US" sz="18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b="1"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0.0347</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i="1"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0.0427</a:t>
                      </a:r>
                      <a:endParaRPr lang="en-US" sz="18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0.0468</a:t>
                      </a:r>
                      <a:endParaRPr lang="en-US" sz="18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76215579"/>
                  </a:ext>
                </a:extLst>
              </a:tr>
              <a:tr h="455854">
                <a:tc>
                  <a:txBody>
                    <a:bodyPr/>
                    <a:lstStyle/>
                    <a:p>
                      <a:pPr marL="0" marR="0" algn="just">
                        <a:spcBef>
                          <a:spcPts val="900"/>
                        </a:spcBef>
                        <a:spcAft>
                          <a:spcPts val="900"/>
                        </a:spcAft>
                        <a:buNone/>
                      </a:pPr>
                      <a:r>
                        <a:rPr lang="en-US" sz="20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vibration_fullload</a:t>
                      </a:r>
                      <a:endParaRPr lang="en-US" sz="20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0.1684</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i="1"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0.1234</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0.2395</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0.1327</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0.1399</a:t>
                      </a:r>
                      <a:endParaRPr lang="en-US" sz="18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b="1"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0.097</a:t>
                      </a:r>
                      <a:endParaRPr lang="en-US" sz="18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913480470"/>
                  </a:ext>
                </a:extLst>
              </a:tr>
              <a:tr h="455854">
                <a:tc>
                  <a:txBody>
                    <a:bodyPr/>
                    <a:lstStyle/>
                    <a:p>
                      <a:pPr marL="0" marR="0" algn="just">
                        <a:spcBef>
                          <a:spcPts val="900"/>
                        </a:spcBef>
                        <a:spcAft>
                          <a:spcPts val="900"/>
                        </a:spcAft>
                        <a:buNone/>
                      </a:pPr>
                      <a:r>
                        <a:rPr lang="en-US" sz="2000" kern="100" dirty="0" err="1">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motorspeed_increasing</a:t>
                      </a:r>
                      <a:endParaRPr lang="en-US" sz="20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0.7982</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1.0116</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0.8966</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0.7833</a:t>
                      </a:r>
                      <a:endParaRPr lang="en-US" sz="1800" kern="10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i="1"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0.7568</a:t>
                      </a:r>
                      <a:endParaRPr lang="en-US" sz="18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b="1"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0.6892</a:t>
                      </a:r>
                      <a:endParaRPr lang="en-US" sz="18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815657128"/>
                  </a:ext>
                </a:extLst>
              </a:tr>
              <a:tr h="455854">
                <a:tc>
                  <a:txBody>
                    <a:bodyPr/>
                    <a:lstStyle/>
                    <a:p>
                      <a:pPr marL="0" marR="0" algn="just">
                        <a:spcBef>
                          <a:spcPts val="900"/>
                        </a:spcBef>
                        <a:spcAft>
                          <a:spcPts val="900"/>
                        </a:spcAft>
                        <a:buNone/>
                      </a:pPr>
                      <a:r>
                        <a:rPr lang="en-US" sz="2000" kern="100" dirty="0" err="1">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motorspeed_decreasing</a:t>
                      </a:r>
                      <a:endParaRPr lang="en-US" sz="20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0.7499</a:t>
                      </a:r>
                      <a:endParaRPr lang="en-US" sz="18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i="1"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0.7422</a:t>
                      </a:r>
                      <a:endParaRPr lang="en-US" sz="18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0.8154</a:t>
                      </a:r>
                      <a:endParaRPr lang="en-US" sz="18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0.7773</a:t>
                      </a:r>
                      <a:endParaRPr lang="en-US" sz="18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0.9873</a:t>
                      </a:r>
                      <a:endParaRPr lang="en-US" sz="18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900"/>
                        </a:spcBef>
                        <a:spcAft>
                          <a:spcPts val="900"/>
                        </a:spcAft>
                        <a:buNone/>
                      </a:pPr>
                      <a:r>
                        <a:rPr lang="en-US" sz="1800" b="1" kern="1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0.7245</a:t>
                      </a:r>
                      <a:endParaRPr lang="en-US" sz="18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26114343"/>
                  </a:ext>
                </a:extLst>
              </a:tr>
            </a:tbl>
          </a:graphicData>
        </a:graphic>
      </p:graphicFrame>
      <p:sp>
        <p:nvSpPr>
          <p:cNvPr id="3" name="TextBox 9">
            <a:extLst>
              <a:ext uri="{FF2B5EF4-FFF2-40B4-BE49-F238E27FC236}">
                <a16:creationId xmlns:a16="http://schemas.microsoft.com/office/drawing/2014/main" id="{DFD78779-BDC6-A05C-8C79-A241EC49253C}"/>
              </a:ext>
            </a:extLst>
          </p:cNvPr>
          <p:cNvSpPr txBox="1"/>
          <p:nvPr/>
        </p:nvSpPr>
        <p:spPr>
          <a:xfrm>
            <a:off x="13351593" y="3611843"/>
            <a:ext cx="4936407" cy="3978269"/>
          </a:xfrm>
          <a:prstGeom prst="rect">
            <a:avLst/>
          </a:prstGeom>
        </p:spPr>
        <p:txBody>
          <a:bodyPr wrap="square" lIns="0" tIns="0" rIns="0" bIns="0" rtlCol="0" anchor="t">
            <a:spAutoFit/>
          </a:bodyPr>
          <a:lstStyle/>
          <a:p>
            <a:pPr>
              <a:lnSpc>
                <a:spcPts val="2428"/>
              </a:lnSpc>
            </a:pPr>
            <a:r>
              <a:rPr lang="en-US" sz="1600" b="1" dirty="0">
                <a:solidFill>
                  <a:schemeClr val="bg2"/>
                </a:solidFill>
              </a:rPr>
              <a:t>Outright lowest error:</a:t>
            </a:r>
            <a:r>
              <a:rPr lang="en-US" sz="1600" dirty="0">
                <a:solidFill>
                  <a:schemeClr val="bg2"/>
                </a:solidFill>
              </a:rPr>
              <a:t> </a:t>
            </a:r>
            <a:r>
              <a:rPr lang="en-US" sz="1600" dirty="0" err="1">
                <a:solidFill>
                  <a:schemeClr val="bg2"/>
                </a:solidFill>
              </a:rPr>
              <a:t>MycoMorph</a:t>
            </a:r>
            <a:r>
              <a:rPr lang="en-US" sz="1600" dirty="0">
                <a:solidFill>
                  <a:schemeClr val="bg2"/>
                </a:solidFill>
              </a:rPr>
              <a:t> </a:t>
            </a:r>
            <a:r>
              <a:rPr lang="en-US" sz="1600" b="1" dirty="0">
                <a:solidFill>
                  <a:schemeClr val="bg2"/>
                </a:solidFill>
              </a:rPr>
              <a:t>8/15</a:t>
            </a:r>
            <a:r>
              <a:rPr lang="en-US" sz="1600" dirty="0">
                <a:solidFill>
                  <a:schemeClr val="bg2"/>
                </a:solidFill>
              </a:rPr>
              <a:t> </a:t>
            </a:r>
          </a:p>
          <a:p>
            <a:pPr>
              <a:lnSpc>
                <a:spcPts val="2428"/>
              </a:lnSpc>
            </a:pPr>
            <a:r>
              <a:rPr lang="en-US" sz="1600" b="1" dirty="0">
                <a:solidFill>
                  <a:schemeClr val="bg2"/>
                </a:solidFill>
              </a:rPr>
              <a:t>Lowest or tied-lowest error:</a:t>
            </a:r>
            <a:r>
              <a:rPr lang="en-US" sz="1600" dirty="0">
                <a:solidFill>
                  <a:schemeClr val="bg2"/>
                </a:solidFill>
              </a:rPr>
              <a:t> </a:t>
            </a:r>
            <a:r>
              <a:rPr lang="en-US" sz="1600" b="1" dirty="0">
                <a:solidFill>
                  <a:schemeClr val="bg2"/>
                </a:solidFill>
              </a:rPr>
              <a:t>12/15</a:t>
            </a:r>
            <a:r>
              <a:rPr lang="en-US" sz="1600" dirty="0">
                <a:solidFill>
                  <a:schemeClr val="bg2"/>
                </a:solidFill>
              </a:rPr>
              <a:t> </a:t>
            </a:r>
          </a:p>
          <a:p>
            <a:pPr>
              <a:lnSpc>
                <a:spcPts val="2428"/>
              </a:lnSpc>
            </a:pPr>
            <a:r>
              <a:rPr lang="en-US" sz="1600" b="1" dirty="0">
                <a:solidFill>
                  <a:schemeClr val="bg2"/>
                </a:solidFill>
              </a:rPr>
              <a:t>Best deep-learning comparison:</a:t>
            </a:r>
            <a:r>
              <a:rPr lang="en-US" sz="1600" dirty="0">
                <a:solidFill>
                  <a:schemeClr val="bg2"/>
                </a:solidFill>
              </a:rPr>
              <a:t> </a:t>
            </a:r>
            <a:r>
              <a:rPr lang="en-US" sz="1600" dirty="0" err="1">
                <a:solidFill>
                  <a:schemeClr val="bg2"/>
                </a:solidFill>
              </a:rPr>
              <a:t>MycoMorph</a:t>
            </a:r>
            <a:r>
              <a:rPr lang="en-US" sz="1600" dirty="0">
                <a:solidFill>
                  <a:schemeClr val="bg2"/>
                </a:solidFill>
              </a:rPr>
              <a:t> </a:t>
            </a:r>
            <a:r>
              <a:rPr lang="en-US" sz="1600" b="1" dirty="0">
                <a:solidFill>
                  <a:schemeClr val="bg2"/>
                </a:solidFill>
              </a:rPr>
              <a:t>13/15</a:t>
            </a:r>
            <a:r>
              <a:rPr lang="en-US" sz="1600" dirty="0">
                <a:solidFill>
                  <a:schemeClr val="bg2"/>
                </a:solidFill>
              </a:rPr>
              <a:t> </a:t>
            </a:r>
          </a:p>
          <a:p>
            <a:pPr>
              <a:lnSpc>
                <a:spcPts val="2428"/>
              </a:lnSpc>
            </a:pPr>
            <a:r>
              <a:rPr lang="en-US" sz="1600" b="1" dirty="0">
                <a:solidFill>
                  <a:schemeClr val="bg2"/>
                </a:solidFill>
              </a:rPr>
              <a:t>Reduction vs best deep model on wins:</a:t>
            </a:r>
            <a:r>
              <a:rPr lang="en-US" sz="1600" dirty="0">
                <a:solidFill>
                  <a:schemeClr val="bg2"/>
                </a:solidFill>
              </a:rPr>
              <a:t> </a:t>
            </a:r>
            <a:r>
              <a:rPr lang="en-US" sz="1600" b="1" dirty="0">
                <a:solidFill>
                  <a:schemeClr val="bg2"/>
                </a:solidFill>
              </a:rPr>
              <a:t>6.8%–52.6%</a:t>
            </a:r>
            <a:r>
              <a:rPr lang="en-US" sz="1600" dirty="0">
                <a:solidFill>
                  <a:schemeClr val="bg2"/>
                </a:solidFill>
              </a:rPr>
              <a:t> </a:t>
            </a:r>
          </a:p>
          <a:p>
            <a:pPr>
              <a:lnSpc>
                <a:spcPts val="2428"/>
              </a:lnSpc>
            </a:pPr>
            <a:r>
              <a:rPr lang="en-US" sz="1600" b="1" dirty="0">
                <a:solidFill>
                  <a:schemeClr val="bg2"/>
                </a:solidFill>
              </a:rPr>
              <a:t>Mean reduction vs best deep model on wins:</a:t>
            </a:r>
            <a:r>
              <a:rPr lang="en-US" sz="1600" dirty="0">
                <a:solidFill>
                  <a:schemeClr val="bg2"/>
                </a:solidFill>
              </a:rPr>
              <a:t> </a:t>
            </a:r>
            <a:r>
              <a:rPr lang="en-US" sz="1600" b="1" dirty="0">
                <a:solidFill>
                  <a:schemeClr val="bg2"/>
                </a:solidFill>
              </a:rPr>
              <a:t>27.6%</a:t>
            </a:r>
            <a:r>
              <a:rPr lang="en-US" sz="1600" dirty="0">
                <a:solidFill>
                  <a:schemeClr val="bg2"/>
                </a:solidFill>
              </a:rPr>
              <a:t> </a:t>
            </a:r>
          </a:p>
          <a:p>
            <a:pPr>
              <a:lnSpc>
                <a:spcPts val="2428"/>
              </a:lnSpc>
            </a:pPr>
            <a:r>
              <a:rPr lang="en-US" sz="1600" b="1" dirty="0">
                <a:solidFill>
                  <a:schemeClr val="bg2"/>
                </a:solidFill>
              </a:rPr>
              <a:t>Median reduction vs best deep model on wins: 29.4%</a:t>
            </a:r>
          </a:p>
          <a:p>
            <a:pPr>
              <a:lnSpc>
                <a:spcPts val="2428"/>
              </a:lnSpc>
            </a:pPr>
            <a:endParaRPr lang="en-US" sz="1600" b="1" dirty="0">
              <a:solidFill>
                <a:schemeClr val="bg2"/>
              </a:solidFill>
              <a:sym typeface="Amicale Light"/>
            </a:endParaRPr>
          </a:p>
          <a:p>
            <a:pPr>
              <a:lnSpc>
                <a:spcPts val="2428"/>
              </a:lnSpc>
            </a:pPr>
            <a:r>
              <a:rPr lang="en-US" sz="1600" b="1" dirty="0">
                <a:solidFill>
                  <a:schemeClr val="bg2"/>
                </a:solidFill>
              </a:rPr>
              <a:t>BY SIGNAL GROUP</a:t>
            </a:r>
          </a:p>
          <a:p>
            <a:pPr>
              <a:lnSpc>
                <a:spcPts val="2428"/>
              </a:lnSpc>
            </a:pPr>
            <a:r>
              <a:rPr lang="en-US" sz="1600" b="1" dirty="0">
                <a:solidFill>
                  <a:schemeClr val="bg2"/>
                </a:solidFill>
              </a:rPr>
              <a:t>Plethysmography: outright best 5/5 </a:t>
            </a:r>
          </a:p>
          <a:p>
            <a:pPr>
              <a:lnSpc>
                <a:spcPts val="2428"/>
              </a:lnSpc>
            </a:pPr>
            <a:r>
              <a:rPr lang="en-US" sz="1600" b="1" dirty="0">
                <a:solidFill>
                  <a:schemeClr val="bg2"/>
                </a:solidFill>
              </a:rPr>
              <a:t>Respiration: tied best 4/5; second-best 1/5 </a:t>
            </a:r>
          </a:p>
          <a:p>
            <a:pPr>
              <a:lnSpc>
                <a:spcPts val="2428"/>
              </a:lnSpc>
            </a:pPr>
            <a:r>
              <a:rPr lang="en-US" sz="1600" b="1" dirty="0">
                <a:solidFill>
                  <a:schemeClr val="bg2"/>
                </a:solidFill>
              </a:rPr>
              <a:t>Vibration: outright best 1/1 </a:t>
            </a:r>
          </a:p>
          <a:p>
            <a:pPr>
              <a:lnSpc>
                <a:spcPts val="2428"/>
              </a:lnSpc>
            </a:pPr>
            <a:r>
              <a:rPr lang="en-US" sz="1600" b="1" dirty="0">
                <a:solidFill>
                  <a:schemeClr val="bg2"/>
                </a:solidFill>
              </a:rPr>
              <a:t>Changing motor speed: outright best 2/2 </a:t>
            </a:r>
          </a:p>
          <a:p>
            <a:pPr>
              <a:lnSpc>
                <a:spcPts val="2428"/>
              </a:lnSpc>
            </a:pPr>
            <a:r>
              <a:rPr lang="en-US" sz="1600" b="1" dirty="0">
                <a:solidFill>
                  <a:schemeClr val="bg2"/>
                </a:solidFill>
              </a:rPr>
              <a:t>Electricity and air temperature: </a:t>
            </a:r>
            <a:r>
              <a:rPr lang="en-US" sz="1600" b="1" dirty="0" err="1">
                <a:solidFill>
                  <a:schemeClr val="bg2"/>
                </a:solidFill>
              </a:rPr>
              <a:t>PatchTST</a:t>
            </a:r>
            <a:r>
              <a:rPr lang="en-US" sz="1600" b="1" dirty="0">
                <a:solidFill>
                  <a:schemeClr val="bg2"/>
                </a:solidFill>
              </a:rPr>
              <a:t> best 2/2</a:t>
            </a:r>
          </a:p>
        </p:txBody>
      </p:sp>
      <p:sp>
        <p:nvSpPr>
          <p:cNvPr id="4" name="Slide Number Placeholder 3">
            <a:extLst>
              <a:ext uri="{FF2B5EF4-FFF2-40B4-BE49-F238E27FC236}">
                <a16:creationId xmlns:a16="http://schemas.microsoft.com/office/drawing/2014/main" id="{7363D3D2-A0F5-BA48-F14C-8B2AAA131C58}"/>
              </a:ext>
            </a:extLst>
          </p:cNvPr>
          <p:cNvSpPr>
            <a:spLocks noGrp="1"/>
          </p:cNvSpPr>
          <p:nvPr>
            <p:ph type="sldNum" sz="quarter" idx="12"/>
          </p:nvPr>
        </p:nvSpPr>
        <p:spPr>
          <a:xfrm>
            <a:off x="15925800" y="9715500"/>
            <a:ext cx="2133600" cy="365125"/>
          </a:xfrm>
        </p:spPr>
        <p:txBody>
          <a:bodyPr/>
          <a:lstStyle/>
          <a:p>
            <a:fld id="{B6F15528-21DE-4FAA-801E-634DDDAF4B2B}" type="slidenum">
              <a:rPr lang="en-US" smtClean="0"/>
              <a:pPr/>
              <a:t>27</a:t>
            </a:fld>
            <a:endParaRPr lang="en-US"/>
          </a:p>
        </p:txBody>
      </p:sp>
    </p:spTree>
    <p:extLst>
      <p:ext uri="{BB962C8B-B14F-4D97-AF65-F5344CB8AC3E}">
        <p14:creationId xmlns:p14="http://schemas.microsoft.com/office/powerpoint/2010/main" val="32155235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lin ang="5400000"/>
        </a:gradFill>
        <a:effectLst/>
      </p:bgPr>
    </p:bg>
    <p:spTree>
      <p:nvGrpSpPr>
        <p:cNvPr id="1" name="">
          <a:extLst>
            <a:ext uri="{FF2B5EF4-FFF2-40B4-BE49-F238E27FC236}">
              <a16:creationId xmlns:a16="http://schemas.microsoft.com/office/drawing/2014/main" id="{E8292729-94FE-1CDB-5C69-DC19B17D9EAA}"/>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BB640E81-7C5F-AE51-7D64-CA489EDC4398}"/>
              </a:ext>
            </a:extLst>
          </p:cNvPr>
          <p:cNvSpPr/>
          <p:nvPr/>
        </p:nvSpPr>
        <p:spPr>
          <a:xfrm>
            <a:off x="15087601" y="-314077"/>
            <a:ext cx="5149872" cy="2788004"/>
          </a:xfrm>
          <a:custGeom>
            <a:avLst/>
            <a:gdLst/>
            <a:ahLst/>
            <a:cxnLst/>
            <a:rect l="l" t="t" r="r" b="b"/>
            <a:pathLst>
              <a:path w="7315200" h="3596640">
                <a:moveTo>
                  <a:pt x="0" y="0"/>
                </a:moveTo>
                <a:lnTo>
                  <a:pt x="7315200" y="0"/>
                </a:lnTo>
                <a:lnTo>
                  <a:pt x="7315200" y="3596640"/>
                </a:lnTo>
                <a:lnTo>
                  <a:pt x="0" y="3596640"/>
                </a:lnTo>
                <a:lnTo>
                  <a:pt x="0" y="0"/>
                </a:lnTo>
                <a:close/>
              </a:path>
            </a:pathLst>
          </a:custGeom>
          <a:blipFill>
            <a:blip>
              <a:alphaModFix amt="44999"/>
              <a:extLst>
                <a:ext uri="{96DAC541-7B7A-43D3-8B79-37D633B846F1}">
                  <asvg:svgBlip xmlns:asvg="http://schemas.microsoft.com/office/drawing/2016/SVG/main" r:embed="rId2"/>
                </a:ext>
              </a:extLst>
            </a:blip>
            <a:stretch>
              <a:fillRect/>
            </a:stretch>
          </a:blipFill>
        </p:spPr>
        <p:txBody>
          <a:bodyPr/>
          <a:lstStyle/>
          <a:p>
            <a:endParaRPr lang="en-US"/>
          </a:p>
        </p:txBody>
      </p:sp>
      <p:sp>
        <p:nvSpPr>
          <p:cNvPr id="8" name="AutoShape 8">
            <a:extLst>
              <a:ext uri="{FF2B5EF4-FFF2-40B4-BE49-F238E27FC236}">
                <a16:creationId xmlns:a16="http://schemas.microsoft.com/office/drawing/2014/main" id="{D302D3FF-11EC-181B-546A-6FE3AEE1CC7C}"/>
              </a:ext>
            </a:extLst>
          </p:cNvPr>
          <p:cNvSpPr/>
          <p:nvPr/>
        </p:nvSpPr>
        <p:spPr>
          <a:xfrm flipH="1">
            <a:off x="0" y="9676538"/>
            <a:ext cx="16463090" cy="0"/>
          </a:xfrm>
          <a:prstGeom prst="line">
            <a:avLst/>
          </a:prstGeom>
          <a:ln w="19050" cap="flat">
            <a:solidFill>
              <a:srgbClr val="FFFFFF"/>
            </a:solidFill>
            <a:prstDash val="solid"/>
            <a:headEnd type="none" w="sm" len="sm"/>
            <a:tailEnd type="none" w="sm" len="sm"/>
          </a:ln>
        </p:spPr>
        <p:txBody>
          <a:bodyPr/>
          <a:lstStyle/>
          <a:p>
            <a:endParaRPr lang="en-US"/>
          </a:p>
        </p:txBody>
      </p:sp>
      <p:sp>
        <p:nvSpPr>
          <p:cNvPr id="9" name="AutoShape 9">
            <a:extLst>
              <a:ext uri="{FF2B5EF4-FFF2-40B4-BE49-F238E27FC236}">
                <a16:creationId xmlns:a16="http://schemas.microsoft.com/office/drawing/2014/main" id="{802DC299-AB3A-7E66-9BFF-6232F14C3AA8}"/>
              </a:ext>
            </a:extLst>
          </p:cNvPr>
          <p:cNvSpPr/>
          <p:nvPr/>
        </p:nvSpPr>
        <p:spPr>
          <a:xfrm flipH="1">
            <a:off x="17050227" y="9715500"/>
            <a:ext cx="960120" cy="0"/>
          </a:xfrm>
          <a:prstGeom prst="line">
            <a:avLst/>
          </a:prstGeom>
          <a:ln w="19050" cap="flat">
            <a:solidFill>
              <a:srgbClr val="FFFFFF"/>
            </a:solidFill>
            <a:prstDash val="solid"/>
            <a:headEnd type="none" w="sm" len="sm"/>
            <a:tailEnd type="none" w="sm" len="sm"/>
          </a:ln>
        </p:spPr>
        <p:txBody>
          <a:bodyPr/>
          <a:lstStyle/>
          <a:p>
            <a:endParaRPr lang="en-US"/>
          </a:p>
        </p:txBody>
      </p:sp>
      <p:sp>
        <p:nvSpPr>
          <p:cNvPr id="10" name="TextBox 10">
            <a:extLst>
              <a:ext uri="{FF2B5EF4-FFF2-40B4-BE49-F238E27FC236}">
                <a16:creationId xmlns:a16="http://schemas.microsoft.com/office/drawing/2014/main" id="{A532D166-B555-5D3B-3BF1-8462304F39E1}"/>
              </a:ext>
            </a:extLst>
          </p:cNvPr>
          <p:cNvSpPr txBox="1"/>
          <p:nvPr/>
        </p:nvSpPr>
        <p:spPr>
          <a:xfrm>
            <a:off x="1028700" y="923925"/>
            <a:ext cx="12001964" cy="903004"/>
          </a:xfrm>
          <a:prstGeom prst="rect">
            <a:avLst/>
          </a:prstGeom>
        </p:spPr>
        <p:txBody>
          <a:bodyPr lIns="0" tIns="0" rIns="0" bIns="0" rtlCol="0" anchor="t">
            <a:spAutoFit/>
          </a:bodyPr>
          <a:lstStyle/>
          <a:p>
            <a:pPr algn="l">
              <a:lnSpc>
                <a:spcPts val="7351"/>
              </a:lnSpc>
            </a:pPr>
            <a:r>
              <a:rPr lang="en-US" sz="5876" b="1" spc="-17" dirty="0">
                <a:solidFill>
                  <a:srgbClr val="D7E5D8"/>
                </a:solidFill>
                <a:latin typeface="IBM Plex Sans Bold"/>
                <a:ea typeface="IBM Plex Sans Bold"/>
                <a:cs typeface="IBM Plex Sans Bold"/>
                <a:sym typeface="IBM Plex Sans Bold"/>
              </a:rPr>
              <a:t>REAL WORLD SIGNAL RESULTS</a:t>
            </a:r>
          </a:p>
        </p:txBody>
      </p:sp>
      <p:sp>
        <p:nvSpPr>
          <p:cNvPr id="11" name="TextBox 11">
            <a:extLst>
              <a:ext uri="{FF2B5EF4-FFF2-40B4-BE49-F238E27FC236}">
                <a16:creationId xmlns:a16="http://schemas.microsoft.com/office/drawing/2014/main" id="{A8701BE9-DFFF-5B70-2C99-6956A80B383A}"/>
              </a:ext>
            </a:extLst>
          </p:cNvPr>
          <p:cNvSpPr txBox="1"/>
          <p:nvPr/>
        </p:nvSpPr>
        <p:spPr>
          <a:xfrm>
            <a:off x="4755874" y="9297134"/>
            <a:ext cx="9462052" cy="276999"/>
          </a:xfrm>
          <a:prstGeom prst="rect">
            <a:avLst/>
          </a:prstGeom>
        </p:spPr>
        <p:txBody>
          <a:bodyPr wrap="square" lIns="0" tIns="0" rIns="0" bIns="0" rtlCol="0" anchor="t">
            <a:spAutoFit/>
          </a:bodyPr>
          <a:lstStyle/>
          <a:p>
            <a:pPr algn="ctr" hangingPunct="0"/>
            <a:r>
              <a:rPr lang="en-US" dirty="0">
                <a:solidFill>
                  <a:schemeClr val="bg2"/>
                </a:solidFill>
              </a:rPr>
              <a:t>Figure 5.2 Real-world MAE by signal modality.</a:t>
            </a:r>
          </a:p>
        </p:txBody>
      </p:sp>
      <p:grpSp>
        <p:nvGrpSpPr>
          <p:cNvPr id="18" name="Group 18">
            <a:extLst>
              <a:ext uri="{FF2B5EF4-FFF2-40B4-BE49-F238E27FC236}">
                <a16:creationId xmlns:a16="http://schemas.microsoft.com/office/drawing/2014/main" id="{4A5A1CA0-7300-A859-9634-5CD3AEB71C45}"/>
              </a:ext>
            </a:extLst>
          </p:cNvPr>
          <p:cNvGrpSpPr/>
          <p:nvPr/>
        </p:nvGrpSpPr>
        <p:grpSpPr>
          <a:xfrm>
            <a:off x="0" y="8244826"/>
            <a:ext cx="2737757" cy="2737757"/>
            <a:chOff x="0" y="0"/>
            <a:chExt cx="3650343" cy="3650343"/>
          </a:xfrm>
        </p:grpSpPr>
        <p:sp>
          <p:nvSpPr>
            <p:cNvPr id="19" name="Freeform 19">
              <a:extLst>
                <a:ext uri="{FF2B5EF4-FFF2-40B4-BE49-F238E27FC236}">
                  <a16:creationId xmlns:a16="http://schemas.microsoft.com/office/drawing/2014/main" id="{722A0A51-584D-B253-79EB-E2164A1D22C6}"/>
                </a:ext>
              </a:extLst>
            </p:cNvPr>
            <p:cNvSpPr/>
            <p:nvPr/>
          </p:nvSpPr>
          <p:spPr>
            <a:xfrm>
              <a:off x="0" y="0"/>
              <a:ext cx="3650343" cy="3650343"/>
            </a:xfrm>
            <a:custGeom>
              <a:avLst/>
              <a:gdLst/>
              <a:ahLst/>
              <a:cxnLst/>
              <a:rect l="l" t="t" r="r" b="b"/>
              <a:pathLst>
                <a:path w="3650343" h="3650343">
                  <a:moveTo>
                    <a:pt x="0" y="0"/>
                  </a:moveTo>
                  <a:lnTo>
                    <a:pt x="3650343" y="0"/>
                  </a:lnTo>
                  <a:lnTo>
                    <a:pt x="3650343" y="3650343"/>
                  </a:lnTo>
                  <a:lnTo>
                    <a:pt x="0" y="3650343"/>
                  </a:lnTo>
                  <a:lnTo>
                    <a:pt x="0" y="0"/>
                  </a:lnTo>
                  <a:close/>
                </a:path>
              </a:pathLst>
            </a:custGeom>
            <a:blipFill>
              <a:blip>
                <a:alphaModFix amt="4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0" name="Freeform 20">
              <a:extLst>
                <a:ext uri="{FF2B5EF4-FFF2-40B4-BE49-F238E27FC236}">
                  <a16:creationId xmlns:a16="http://schemas.microsoft.com/office/drawing/2014/main" id="{B781B2A5-D1B4-035A-8657-9B90C3BA9065}"/>
                </a:ext>
              </a:extLst>
            </p:cNvPr>
            <p:cNvSpPr/>
            <p:nvPr/>
          </p:nvSpPr>
          <p:spPr>
            <a:xfrm>
              <a:off x="257215" y="827328"/>
              <a:ext cx="2779958" cy="1629020"/>
            </a:xfrm>
            <a:custGeom>
              <a:avLst/>
              <a:gdLst/>
              <a:ahLst/>
              <a:cxnLst/>
              <a:rect l="l" t="t" r="r" b="b"/>
              <a:pathLst>
                <a:path w="2779958" h="1629020">
                  <a:moveTo>
                    <a:pt x="0" y="0"/>
                  </a:moveTo>
                  <a:lnTo>
                    <a:pt x="2779958" y="0"/>
                  </a:lnTo>
                  <a:lnTo>
                    <a:pt x="2779958" y="1629020"/>
                  </a:lnTo>
                  <a:lnTo>
                    <a:pt x="0" y="1629020"/>
                  </a:lnTo>
                  <a:lnTo>
                    <a:pt x="0" y="0"/>
                  </a:lnTo>
                  <a:close/>
                </a:path>
              </a:pathLst>
            </a:custGeom>
            <a:blipFill>
              <a:blip r:embed="rId4"/>
              <a:stretch>
                <a:fillRect/>
              </a:stretch>
            </a:blipFill>
          </p:spPr>
          <p:txBody>
            <a:bodyPr/>
            <a:lstStyle/>
            <a:p>
              <a:endParaRPr lang="en-US"/>
            </a:p>
          </p:txBody>
        </p:sp>
      </p:grpSp>
      <p:pic>
        <p:nvPicPr>
          <p:cNvPr id="3" name="Picture 2">
            <a:extLst>
              <a:ext uri="{FF2B5EF4-FFF2-40B4-BE49-F238E27FC236}">
                <a16:creationId xmlns:a16="http://schemas.microsoft.com/office/drawing/2014/main" id="{DFD7348B-C0BF-A78E-2179-F8AC1901C512}"/>
              </a:ext>
            </a:extLst>
          </p:cNvPr>
          <p:cNvPicPr>
            <a:picLocks noChangeAspect="1"/>
          </p:cNvPicPr>
          <p:nvPr/>
        </p:nvPicPr>
        <p:blipFill>
          <a:blip r:embed="rId5">
            <a:extLst>
              <a:ext uri="{28A0092B-C50C-407E-A947-70E740481C1C}">
                <a14:useLocalDpi xmlns:a14="http://schemas.microsoft.com/office/drawing/2010/main" val="0"/>
              </a:ext>
            </a:extLst>
          </a:blip>
          <a:srcRect t="8136"/>
          <a:stretch>
            <a:fillRect/>
          </a:stretch>
        </p:blipFill>
        <p:spPr>
          <a:xfrm>
            <a:off x="2526940" y="1929335"/>
            <a:ext cx="13782700" cy="7265394"/>
          </a:xfrm>
          <a:prstGeom prst="rect">
            <a:avLst/>
          </a:prstGeom>
        </p:spPr>
      </p:pic>
      <p:sp>
        <p:nvSpPr>
          <p:cNvPr id="2" name="Slide Number Placeholder 1">
            <a:extLst>
              <a:ext uri="{FF2B5EF4-FFF2-40B4-BE49-F238E27FC236}">
                <a16:creationId xmlns:a16="http://schemas.microsoft.com/office/drawing/2014/main" id="{8A608967-51F0-EFCE-457B-579FD1C1E657}"/>
              </a:ext>
            </a:extLst>
          </p:cNvPr>
          <p:cNvSpPr>
            <a:spLocks noGrp="1"/>
          </p:cNvSpPr>
          <p:nvPr>
            <p:ph type="sldNum" sz="quarter" idx="12"/>
          </p:nvPr>
        </p:nvSpPr>
        <p:spPr>
          <a:xfrm>
            <a:off x="15925800" y="9715500"/>
            <a:ext cx="2133600" cy="365125"/>
          </a:xfrm>
        </p:spPr>
        <p:txBody>
          <a:bodyPr/>
          <a:lstStyle/>
          <a:p>
            <a:fld id="{B6F15528-21DE-4FAA-801E-634DDDAF4B2B}" type="slidenum">
              <a:rPr lang="en-US" smtClean="0"/>
              <a:pPr/>
              <a:t>28</a:t>
            </a:fld>
            <a:endParaRPr lang="en-US"/>
          </a:p>
        </p:txBody>
      </p:sp>
    </p:spTree>
    <p:extLst>
      <p:ext uri="{BB962C8B-B14F-4D97-AF65-F5344CB8AC3E}">
        <p14:creationId xmlns:p14="http://schemas.microsoft.com/office/powerpoint/2010/main" val="11497941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lin ang="5400000"/>
        </a:gradFill>
        <a:effectLst/>
      </p:bgPr>
    </p:bg>
    <p:spTree>
      <p:nvGrpSpPr>
        <p:cNvPr id="1" name=""/>
        <p:cNvGrpSpPr/>
        <p:nvPr/>
      </p:nvGrpSpPr>
      <p:grpSpPr>
        <a:xfrm>
          <a:off x="0" y="0"/>
          <a:ext cx="0" cy="0"/>
          <a:chOff x="0" y="0"/>
          <a:chExt cx="0" cy="0"/>
        </a:xfrm>
      </p:grpSpPr>
      <p:sp>
        <p:nvSpPr>
          <p:cNvPr id="3" name="Freeform 3"/>
          <p:cNvSpPr/>
          <p:nvPr/>
        </p:nvSpPr>
        <p:spPr>
          <a:xfrm rot="328611">
            <a:off x="15125395" y="3691329"/>
            <a:ext cx="1407070" cy="1407070"/>
          </a:xfrm>
          <a:custGeom>
            <a:avLst/>
            <a:gdLst/>
            <a:ahLst/>
            <a:cxnLst/>
            <a:rect l="l" t="t" r="r" b="b"/>
            <a:pathLst>
              <a:path w="1407070" h="1407070">
                <a:moveTo>
                  <a:pt x="0" y="0"/>
                </a:moveTo>
                <a:lnTo>
                  <a:pt x="1407070" y="0"/>
                </a:lnTo>
                <a:lnTo>
                  <a:pt x="1407070" y="1407070"/>
                </a:lnTo>
                <a:lnTo>
                  <a:pt x="0" y="1407070"/>
                </a:lnTo>
                <a:lnTo>
                  <a:pt x="0" y="0"/>
                </a:lnTo>
                <a:close/>
              </a:path>
            </a:pathLst>
          </a:custGeom>
          <a:blipFill>
            <a:blip>
              <a:alphaModFix amt="44999"/>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TextBox 4"/>
          <p:cNvSpPr txBox="1"/>
          <p:nvPr/>
        </p:nvSpPr>
        <p:spPr>
          <a:xfrm>
            <a:off x="1028700" y="923925"/>
            <a:ext cx="15445245" cy="908655"/>
          </a:xfrm>
          <a:prstGeom prst="rect">
            <a:avLst/>
          </a:prstGeom>
        </p:spPr>
        <p:txBody>
          <a:bodyPr lIns="0" tIns="0" rIns="0" bIns="0" rtlCol="0" anchor="t">
            <a:spAutoFit/>
          </a:bodyPr>
          <a:lstStyle/>
          <a:p>
            <a:pPr algn="l">
              <a:lnSpc>
                <a:spcPts val="7351"/>
              </a:lnSpc>
            </a:pPr>
            <a:r>
              <a:rPr lang="en-US" sz="5876" b="1" spc="-17" dirty="0">
                <a:solidFill>
                  <a:schemeClr val="bg2"/>
                </a:solidFill>
                <a:latin typeface="IBM Plex Sans Bold"/>
                <a:ea typeface="IBM Plex Sans Bold"/>
                <a:cs typeface="IBM Plex Sans Bold"/>
                <a:sym typeface="IBM Plex Sans Bold"/>
              </a:rPr>
              <a:t>RESULTS: ERROR TRAJECTORIES </a:t>
            </a:r>
          </a:p>
        </p:txBody>
      </p:sp>
      <mc:AlternateContent xmlns:mc="http://schemas.openxmlformats.org/markup-compatibility/2006" xmlns:a14="http://schemas.microsoft.com/office/drawing/2010/main">
        <mc:Choice Requires="a14">
          <p:sp>
            <p:nvSpPr>
              <p:cNvPr id="5" name="TextBox 5"/>
              <p:cNvSpPr txBox="1"/>
              <p:nvPr/>
            </p:nvSpPr>
            <p:spPr>
              <a:xfrm>
                <a:off x="1775256" y="7858741"/>
                <a:ext cx="15138291" cy="276999"/>
              </a:xfrm>
              <a:prstGeom prst="rect">
                <a:avLst/>
              </a:prstGeom>
            </p:spPr>
            <p:txBody>
              <a:bodyPr lIns="0" tIns="0" rIns="0" bIns="0" rtlCol="0" anchor="t">
                <a:spAutoFit/>
              </a:bodyPr>
              <a:lstStyle/>
              <a:p>
                <a:pPr algn="ctr" hangingPunct="0"/>
                <a:r>
                  <a:rPr lang="en-US" dirty="0">
                    <a:solidFill>
                      <a:schemeClr val="bg2"/>
                    </a:solidFill>
                  </a:rPr>
                  <a:t>Figure 5.3 Rolling absolute error for </a:t>
                </a:r>
                <a:r>
                  <a:rPr lang="en-US" dirty="0" err="1">
                    <a:solidFill>
                      <a:schemeClr val="bg2"/>
                    </a:solidFill>
                  </a:rPr>
                  <a:t>period_grow</a:t>
                </a:r>
                <a:r>
                  <a:rPr lang="en-US" dirty="0">
                    <a:solidFill>
                      <a:schemeClr val="bg2"/>
                    </a:solidFill>
                  </a:rPr>
                  <a:t> and </a:t>
                </a:r>
                <a:r>
                  <a:rPr lang="en-US" dirty="0" err="1">
                    <a:solidFill>
                      <a:schemeClr val="bg2"/>
                    </a:solidFill>
                  </a:rPr>
                  <a:t>period_shrink</a:t>
                </a:r>
                <a:r>
                  <a:rPr lang="en-US" dirty="0">
                    <a:solidFill>
                      <a:schemeClr val="bg2"/>
                    </a:solidFill>
                  </a:rPr>
                  <a:t> at seed 0 and observation-noise level </a:t>
                </a:r>
                <a14:m>
                  <m:oMath xmlns:m="http://schemas.openxmlformats.org/officeDocument/2006/math">
                    <m:sSub>
                      <m:sSubPr>
                        <m:ctrlPr>
                          <a:rPr lang="en-US" i="1">
                            <a:solidFill>
                              <a:schemeClr val="bg2"/>
                            </a:solidFill>
                            <a:latin typeface="Cambria Math" panose="02040503050406030204" pitchFamily="18" charset="0"/>
                          </a:rPr>
                        </m:ctrlPr>
                      </m:sSubPr>
                      <m:e>
                        <m:r>
                          <a:rPr lang="en-US" i="1">
                            <a:solidFill>
                              <a:schemeClr val="bg2"/>
                            </a:solidFill>
                            <a:latin typeface="Cambria Math" panose="02040503050406030204" pitchFamily="18" charset="0"/>
                          </a:rPr>
                          <m:t>𝜎</m:t>
                        </m:r>
                      </m:e>
                      <m:sub>
                        <m:r>
                          <a:rPr lang="en-US" i="1">
                            <a:solidFill>
                              <a:schemeClr val="bg2"/>
                            </a:solidFill>
                            <a:latin typeface="Cambria Math" panose="02040503050406030204" pitchFamily="18" charset="0"/>
                          </a:rPr>
                          <m:t>𝑛</m:t>
                        </m:r>
                      </m:sub>
                    </m:sSub>
                    <m:r>
                      <a:rPr lang="en-US">
                        <a:solidFill>
                          <a:schemeClr val="bg2"/>
                        </a:solidFill>
                        <a:latin typeface="Cambria Math" panose="02040503050406030204" pitchFamily="18" charset="0"/>
                      </a:rPr>
                      <m:t> = 0.03</m:t>
                    </m:r>
                  </m:oMath>
                </a14:m>
                <a:r>
                  <a:rPr lang="en-US" dirty="0">
                    <a:solidFill>
                      <a:schemeClr val="bg2"/>
                    </a:solidFill>
                  </a:rPr>
                  <a:t>.</a:t>
                </a:r>
              </a:p>
            </p:txBody>
          </p:sp>
        </mc:Choice>
        <mc:Fallback xmlns="">
          <p:sp>
            <p:nvSpPr>
              <p:cNvPr id="5" name="TextBox 5"/>
              <p:cNvSpPr txBox="1">
                <a:spLocks noRot="1" noChangeAspect="1" noMove="1" noResize="1" noEditPoints="1" noAdjustHandles="1" noChangeArrowheads="1" noChangeShapeType="1" noTextEdit="1"/>
              </p:cNvSpPr>
              <p:nvPr/>
            </p:nvSpPr>
            <p:spPr>
              <a:xfrm>
                <a:off x="1775256" y="7858741"/>
                <a:ext cx="15138291" cy="276999"/>
              </a:xfrm>
              <a:prstGeom prst="rect">
                <a:avLst/>
              </a:prstGeom>
              <a:blipFill>
                <a:blip r:embed="rId4"/>
                <a:stretch>
                  <a:fillRect t="-28261" b="-50000"/>
                </a:stretch>
              </a:blipFill>
            </p:spPr>
            <p:txBody>
              <a:bodyPr/>
              <a:lstStyle/>
              <a:p>
                <a:r>
                  <a:rPr lang="en-US">
                    <a:noFill/>
                  </a:rPr>
                  <a:t> </a:t>
                </a:r>
              </a:p>
            </p:txBody>
          </p:sp>
        </mc:Fallback>
      </mc:AlternateContent>
      <p:sp>
        <p:nvSpPr>
          <p:cNvPr id="18" name="AutoShape 18"/>
          <p:cNvSpPr/>
          <p:nvPr/>
        </p:nvSpPr>
        <p:spPr>
          <a:xfrm flipV="1">
            <a:off x="17674808" y="0"/>
            <a:ext cx="0" cy="5159670"/>
          </a:xfrm>
          <a:prstGeom prst="line">
            <a:avLst/>
          </a:prstGeom>
          <a:ln w="19050" cap="flat">
            <a:solidFill>
              <a:srgbClr val="FFFFFF"/>
            </a:solidFill>
            <a:prstDash val="solid"/>
            <a:headEnd type="none" w="sm" len="sm"/>
            <a:tailEnd type="none" w="sm" len="sm"/>
          </a:ln>
        </p:spPr>
        <p:txBody>
          <a:bodyPr/>
          <a:lstStyle/>
          <a:p>
            <a:endParaRPr lang="en-US"/>
          </a:p>
        </p:txBody>
      </p:sp>
      <p:sp>
        <p:nvSpPr>
          <p:cNvPr id="19" name="AutoShape 19"/>
          <p:cNvSpPr/>
          <p:nvPr/>
        </p:nvSpPr>
        <p:spPr>
          <a:xfrm flipV="1">
            <a:off x="17674808" y="5659105"/>
            <a:ext cx="0" cy="960120"/>
          </a:xfrm>
          <a:prstGeom prst="line">
            <a:avLst/>
          </a:prstGeom>
          <a:ln w="19050" cap="flat">
            <a:solidFill>
              <a:srgbClr val="FFFFFF"/>
            </a:solidFill>
            <a:prstDash val="solid"/>
            <a:headEnd type="none" w="sm" len="sm"/>
            <a:tailEnd type="none" w="sm" len="sm"/>
          </a:ln>
        </p:spPr>
        <p:txBody>
          <a:bodyPr/>
          <a:lstStyle/>
          <a:p>
            <a:endParaRPr lang="en-US"/>
          </a:p>
        </p:txBody>
      </p:sp>
      <p:grpSp>
        <p:nvGrpSpPr>
          <p:cNvPr id="20" name="Group 20"/>
          <p:cNvGrpSpPr/>
          <p:nvPr/>
        </p:nvGrpSpPr>
        <p:grpSpPr>
          <a:xfrm>
            <a:off x="0" y="8244826"/>
            <a:ext cx="2737757" cy="2737757"/>
            <a:chOff x="0" y="0"/>
            <a:chExt cx="3650343" cy="3650343"/>
          </a:xfrm>
        </p:grpSpPr>
        <p:sp>
          <p:nvSpPr>
            <p:cNvPr id="21" name="Freeform 21"/>
            <p:cNvSpPr/>
            <p:nvPr/>
          </p:nvSpPr>
          <p:spPr>
            <a:xfrm>
              <a:off x="0" y="0"/>
              <a:ext cx="3650343" cy="3650343"/>
            </a:xfrm>
            <a:custGeom>
              <a:avLst/>
              <a:gdLst/>
              <a:ahLst/>
              <a:cxnLst/>
              <a:rect l="l" t="t" r="r" b="b"/>
              <a:pathLst>
                <a:path w="3650343" h="3650343">
                  <a:moveTo>
                    <a:pt x="0" y="0"/>
                  </a:moveTo>
                  <a:lnTo>
                    <a:pt x="3650343" y="0"/>
                  </a:lnTo>
                  <a:lnTo>
                    <a:pt x="3650343" y="3650343"/>
                  </a:lnTo>
                  <a:lnTo>
                    <a:pt x="0" y="3650343"/>
                  </a:lnTo>
                  <a:lnTo>
                    <a:pt x="0" y="0"/>
                  </a:lnTo>
                  <a:close/>
                </a:path>
              </a:pathLst>
            </a:custGeom>
            <a:blipFill>
              <a:blip>
                <a:alphaModFix amt="41000"/>
                <a:extLst>
                  <a:ext uri="{96DAC541-7B7A-43D3-8B79-37D633B846F1}">
                    <asvg:svgBlip xmlns:asvg="http://schemas.microsoft.com/office/drawing/2016/SVG/main" r:embed="rId2"/>
                  </a:ext>
                </a:extLst>
              </a:blip>
              <a:stretch>
                <a:fillRect/>
              </a:stretch>
            </a:blipFill>
          </p:spPr>
          <p:txBody>
            <a:bodyPr/>
            <a:lstStyle/>
            <a:p>
              <a:endParaRPr lang="en-US"/>
            </a:p>
          </p:txBody>
        </p:sp>
        <p:sp>
          <p:nvSpPr>
            <p:cNvPr id="22" name="Freeform 22"/>
            <p:cNvSpPr/>
            <p:nvPr/>
          </p:nvSpPr>
          <p:spPr>
            <a:xfrm>
              <a:off x="257215" y="827328"/>
              <a:ext cx="2779958" cy="1629020"/>
            </a:xfrm>
            <a:custGeom>
              <a:avLst/>
              <a:gdLst/>
              <a:ahLst/>
              <a:cxnLst/>
              <a:rect l="l" t="t" r="r" b="b"/>
              <a:pathLst>
                <a:path w="2779958" h="1629020">
                  <a:moveTo>
                    <a:pt x="0" y="0"/>
                  </a:moveTo>
                  <a:lnTo>
                    <a:pt x="2779958" y="0"/>
                  </a:lnTo>
                  <a:lnTo>
                    <a:pt x="2779958" y="1629020"/>
                  </a:lnTo>
                  <a:lnTo>
                    <a:pt x="0" y="1629020"/>
                  </a:lnTo>
                  <a:lnTo>
                    <a:pt x="0" y="0"/>
                  </a:lnTo>
                  <a:close/>
                </a:path>
              </a:pathLst>
            </a:custGeom>
            <a:blipFill>
              <a:blip r:embed="rId5"/>
              <a:stretch>
                <a:fillRect/>
              </a:stretch>
            </a:blipFill>
          </p:spPr>
          <p:txBody>
            <a:bodyPr/>
            <a:lstStyle/>
            <a:p>
              <a:endParaRPr lang="en-US"/>
            </a:p>
          </p:txBody>
        </p:sp>
      </p:grpSp>
      <p:pic>
        <p:nvPicPr>
          <p:cNvPr id="25" name="Picture 24">
            <a:extLst>
              <a:ext uri="{FF2B5EF4-FFF2-40B4-BE49-F238E27FC236}">
                <a16:creationId xmlns:a16="http://schemas.microsoft.com/office/drawing/2014/main" id="{AEE4B36F-DE7B-1D5F-E674-0BB5B0B4D28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98675" y="3182047"/>
            <a:ext cx="7652647" cy="3955246"/>
          </a:xfrm>
          <a:prstGeom prst="rect">
            <a:avLst/>
          </a:prstGeom>
        </p:spPr>
      </p:pic>
      <p:pic>
        <p:nvPicPr>
          <p:cNvPr id="27" name="Picture 26">
            <a:extLst>
              <a:ext uri="{FF2B5EF4-FFF2-40B4-BE49-F238E27FC236}">
                <a16:creationId xmlns:a16="http://schemas.microsoft.com/office/drawing/2014/main" id="{4703D338-75E9-71EF-00A0-567A2D8601F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260900" y="3182047"/>
            <a:ext cx="7652647" cy="3955246"/>
          </a:xfrm>
          <a:prstGeom prst="rect">
            <a:avLst/>
          </a:prstGeom>
        </p:spPr>
      </p:pic>
      <p:sp>
        <p:nvSpPr>
          <p:cNvPr id="6" name="Slide Number Placeholder 5">
            <a:extLst>
              <a:ext uri="{FF2B5EF4-FFF2-40B4-BE49-F238E27FC236}">
                <a16:creationId xmlns:a16="http://schemas.microsoft.com/office/drawing/2014/main" id="{CB3E9048-5DCE-0BCC-4792-01C64B46CF56}"/>
              </a:ext>
            </a:extLst>
          </p:cNvPr>
          <p:cNvSpPr>
            <a:spLocks noGrp="1"/>
          </p:cNvSpPr>
          <p:nvPr>
            <p:ph type="sldNum" sz="quarter" idx="12"/>
          </p:nvPr>
        </p:nvSpPr>
        <p:spPr>
          <a:xfrm>
            <a:off x="15925800" y="9715500"/>
            <a:ext cx="2133600" cy="365125"/>
          </a:xfrm>
        </p:spPr>
        <p:txBody>
          <a:bodyPr/>
          <a:lstStyle/>
          <a:p>
            <a:fld id="{B6F15528-21DE-4FAA-801E-634DDDAF4B2B}" type="slidenum">
              <a:rPr lang="en-US" smtClean="0"/>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lin ang="5400000"/>
        </a:gradFill>
        <a:effectLst/>
      </p:bgPr>
    </p:bg>
    <p:spTree>
      <p:nvGrpSpPr>
        <p:cNvPr id="1" name="">
          <a:extLst>
            <a:ext uri="{FF2B5EF4-FFF2-40B4-BE49-F238E27FC236}">
              <a16:creationId xmlns:a16="http://schemas.microsoft.com/office/drawing/2014/main" id="{0B4BC9F1-6A4E-9158-77FF-3E9ACB40E6B7}"/>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82770189-656A-738B-F5D2-BC4242C57C08}"/>
              </a:ext>
            </a:extLst>
          </p:cNvPr>
          <p:cNvSpPr/>
          <p:nvPr/>
        </p:nvSpPr>
        <p:spPr>
          <a:xfrm rot="328611">
            <a:off x="15125395" y="3691329"/>
            <a:ext cx="1407070" cy="1407070"/>
          </a:xfrm>
          <a:custGeom>
            <a:avLst/>
            <a:gdLst/>
            <a:ahLst/>
            <a:cxnLst/>
            <a:rect l="l" t="t" r="r" b="b"/>
            <a:pathLst>
              <a:path w="1407070" h="1407070">
                <a:moveTo>
                  <a:pt x="0" y="0"/>
                </a:moveTo>
                <a:lnTo>
                  <a:pt x="1407070" y="0"/>
                </a:lnTo>
                <a:lnTo>
                  <a:pt x="1407070" y="1407070"/>
                </a:lnTo>
                <a:lnTo>
                  <a:pt x="0" y="1407070"/>
                </a:lnTo>
                <a:lnTo>
                  <a:pt x="0" y="0"/>
                </a:lnTo>
                <a:close/>
              </a:path>
            </a:pathLst>
          </a:custGeom>
          <a:blipFill>
            <a:blip>
              <a:alphaModFix amt="44999"/>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a:extLst>
              <a:ext uri="{FF2B5EF4-FFF2-40B4-BE49-F238E27FC236}">
                <a16:creationId xmlns:a16="http://schemas.microsoft.com/office/drawing/2014/main" id="{580FE574-33DB-47ED-3EB3-41E6FB93A65E}"/>
              </a:ext>
            </a:extLst>
          </p:cNvPr>
          <p:cNvSpPr txBox="1"/>
          <p:nvPr/>
        </p:nvSpPr>
        <p:spPr>
          <a:xfrm>
            <a:off x="1028700" y="923925"/>
            <a:ext cx="8672881" cy="1836528"/>
          </a:xfrm>
          <a:prstGeom prst="rect">
            <a:avLst/>
          </a:prstGeom>
        </p:spPr>
        <p:txBody>
          <a:bodyPr wrap="square" lIns="0" tIns="0" rIns="0" bIns="0" rtlCol="0" anchor="t">
            <a:spAutoFit/>
          </a:bodyPr>
          <a:lstStyle/>
          <a:p>
            <a:pPr algn="l">
              <a:lnSpc>
                <a:spcPts val="7351"/>
              </a:lnSpc>
            </a:pPr>
            <a:r>
              <a:rPr lang="en-US" sz="5400" b="1" spc="-17" dirty="0">
                <a:solidFill>
                  <a:srgbClr val="D7E5D8"/>
                </a:solidFill>
                <a:latin typeface="IBM Plex Sans Bold"/>
                <a:ea typeface="IBM Plex Sans Bold"/>
                <a:cs typeface="IBM Plex Sans Bold"/>
                <a:sym typeface="IBM Plex Sans Bold"/>
              </a:rPr>
              <a:t>EMERGENT TOPOLOGY &amp; STRUCTURAL MEMORY</a:t>
            </a:r>
          </a:p>
        </p:txBody>
      </p:sp>
      <p:sp>
        <p:nvSpPr>
          <p:cNvPr id="18" name="AutoShape 18">
            <a:extLst>
              <a:ext uri="{FF2B5EF4-FFF2-40B4-BE49-F238E27FC236}">
                <a16:creationId xmlns:a16="http://schemas.microsoft.com/office/drawing/2014/main" id="{F31250DF-564D-C65D-5EA6-719B26A61D06}"/>
              </a:ext>
            </a:extLst>
          </p:cNvPr>
          <p:cNvSpPr/>
          <p:nvPr/>
        </p:nvSpPr>
        <p:spPr>
          <a:xfrm flipV="1">
            <a:off x="17674808" y="0"/>
            <a:ext cx="0" cy="5159670"/>
          </a:xfrm>
          <a:prstGeom prst="line">
            <a:avLst/>
          </a:prstGeom>
          <a:ln w="19050" cap="flat">
            <a:solidFill>
              <a:srgbClr val="FFFFFF"/>
            </a:solidFill>
            <a:prstDash val="solid"/>
            <a:headEnd type="none" w="sm" len="sm"/>
            <a:tailEnd type="none" w="sm" len="sm"/>
          </a:ln>
        </p:spPr>
        <p:txBody>
          <a:bodyPr/>
          <a:lstStyle/>
          <a:p>
            <a:endParaRPr lang="en-US"/>
          </a:p>
        </p:txBody>
      </p:sp>
      <p:sp>
        <p:nvSpPr>
          <p:cNvPr id="19" name="AutoShape 19">
            <a:extLst>
              <a:ext uri="{FF2B5EF4-FFF2-40B4-BE49-F238E27FC236}">
                <a16:creationId xmlns:a16="http://schemas.microsoft.com/office/drawing/2014/main" id="{7A4C40F1-A5BD-6DD3-1A1D-7FEE2EE2E0D4}"/>
              </a:ext>
            </a:extLst>
          </p:cNvPr>
          <p:cNvSpPr/>
          <p:nvPr/>
        </p:nvSpPr>
        <p:spPr>
          <a:xfrm flipV="1">
            <a:off x="17674808" y="5659105"/>
            <a:ext cx="0" cy="960120"/>
          </a:xfrm>
          <a:prstGeom prst="line">
            <a:avLst/>
          </a:prstGeom>
          <a:ln w="19050" cap="flat">
            <a:solidFill>
              <a:srgbClr val="FFFFFF"/>
            </a:solidFill>
            <a:prstDash val="solid"/>
            <a:headEnd type="none" w="sm" len="sm"/>
            <a:tailEnd type="none" w="sm" len="sm"/>
          </a:ln>
        </p:spPr>
        <p:txBody>
          <a:bodyPr/>
          <a:lstStyle/>
          <a:p>
            <a:endParaRPr lang="en-US"/>
          </a:p>
        </p:txBody>
      </p:sp>
      <p:grpSp>
        <p:nvGrpSpPr>
          <p:cNvPr id="20" name="Group 20">
            <a:extLst>
              <a:ext uri="{FF2B5EF4-FFF2-40B4-BE49-F238E27FC236}">
                <a16:creationId xmlns:a16="http://schemas.microsoft.com/office/drawing/2014/main" id="{DE2F4B50-5012-6989-945A-128401F322B3}"/>
              </a:ext>
            </a:extLst>
          </p:cNvPr>
          <p:cNvGrpSpPr/>
          <p:nvPr/>
        </p:nvGrpSpPr>
        <p:grpSpPr>
          <a:xfrm>
            <a:off x="0" y="8244826"/>
            <a:ext cx="2737757" cy="2737757"/>
            <a:chOff x="0" y="0"/>
            <a:chExt cx="3650343" cy="3650343"/>
          </a:xfrm>
        </p:grpSpPr>
        <p:sp>
          <p:nvSpPr>
            <p:cNvPr id="21" name="Freeform 21">
              <a:extLst>
                <a:ext uri="{FF2B5EF4-FFF2-40B4-BE49-F238E27FC236}">
                  <a16:creationId xmlns:a16="http://schemas.microsoft.com/office/drawing/2014/main" id="{C939F576-1EB1-1E38-D03E-DF903EB8386D}"/>
                </a:ext>
              </a:extLst>
            </p:cNvPr>
            <p:cNvSpPr/>
            <p:nvPr/>
          </p:nvSpPr>
          <p:spPr>
            <a:xfrm>
              <a:off x="0" y="0"/>
              <a:ext cx="3650343" cy="3650343"/>
            </a:xfrm>
            <a:custGeom>
              <a:avLst/>
              <a:gdLst/>
              <a:ahLst/>
              <a:cxnLst/>
              <a:rect l="l" t="t" r="r" b="b"/>
              <a:pathLst>
                <a:path w="3650343" h="3650343">
                  <a:moveTo>
                    <a:pt x="0" y="0"/>
                  </a:moveTo>
                  <a:lnTo>
                    <a:pt x="3650343" y="0"/>
                  </a:lnTo>
                  <a:lnTo>
                    <a:pt x="3650343" y="3650343"/>
                  </a:lnTo>
                  <a:lnTo>
                    <a:pt x="0" y="3650343"/>
                  </a:lnTo>
                  <a:lnTo>
                    <a:pt x="0" y="0"/>
                  </a:lnTo>
                  <a:close/>
                </a:path>
              </a:pathLst>
            </a:custGeom>
            <a:blipFill>
              <a:blip>
                <a:alphaModFix amt="4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2" name="Freeform 22">
              <a:extLst>
                <a:ext uri="{FF2B5EF4-FFF2-40B4-BE49-F238E27FC236}">
                  <a16:creationId xmlns:a16="http://schemas.microsoft.com/office/drawing/2014/main" id="{25E977F2-5754-2E6F-C5B4-7CCADE6BE199}"/>
                </a:ext>
              </a:extLst>
            </p:cNvPr>
            <p:cNvSpPr/>
            <p:nvPr/>
          </p:nvSpPr>
          <p:spPr>
            <a:xfrm>
              <a:off x="257215" y="827328"/>
              <a:ext cx="2779958" cy="1629020"/>
            </a:xfrm>
            <a:custGeom>
              <a:avLst/>
              <a:gdLst/>
              <a:ahLst/>
              <a:cxnLst/>
              <a:rect l="l" t="t" r="r" b="b"/>
              <a:pathLst>
                <a:path w="2779958" h="1629020">
                  <a:moveTo>
                    <a:pt x="0" y="0"/>
                  </a:moveTo>
                  <a:lnTo>
                    <a:pt x="2779958" y="0"/>
                  </a:lnTo>
                  <a:lnTo>
                    <a:pt x="2779958" y="1629020"/>
                  </a:lnTo>
                  <a:lnTo>
                    <a:pt x="0" y="1629020"/>
                  </a:lnTo>
                  <a:lnTo>
                    <a:pt x="0" y="0"/>
                  </a:lnTo>
                  <a:close/>
                </a:path>
              </a:pathLst>
            </a:custGeom>
            <a:blipFill>
              <a:blip r:embed="rId4"/>
              <a:stretch>
                <a:fillRect/>
              </a:stretch>
            </a:blipFill>
          </p:spPr>
          <p:txBody>
            <a:bodyPr/>
            <a:lstStyle/>
            <a:p>
              <a:endParaRPr lang="en-US"/>
            </a:p>
          </p:txBody>
        </p:sp>
      </p:grpSp>
      <p:pic>
        <p:nvPicPr>
          <p:cNvPr id="25" name="Picture 24">
            <a:extLst>
              <a:ext uri="{FF2B5EF4-FFF2-40B4-BE49-F238E27FC236}">
                <a16:creationId xmlns:a16="http://schemas.microsoft.com/office/drawing/2014/main" id="{9980542C-6474-13DF-1D81-EA542FFDEC9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536845" y="576322"/>
            <a:ext cx="4779555" cy="3818434"/>
          </a:xfrm>
          <a:prstGeom prst="rect">
            <a:avLst/>
          </a:prstGeom>
        </p:spPr>
      </p:pic>
      <p:pic>
        <p:nvPicPr>
          <p:cNvPr id="27" name="Picture 26">
            <a:extLst>
              <a:ext uri="{FF2B5EF4-FFF2-40B4-BE49-F238E27FC236}">
                <a16:creationId xmlns:a16="http://schemas.microsoft.com/office/drawing/2014/main" id="{976818FD-FEED-05D2-1E88-DD9A0FF4E1B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158670" y="5372153"/>
            <a:ext cx="8256580" cy="3882928"/>
          </a:xfrm>
          <a:prstGeom prst="rect">
            <a:avLst/>
          </a:prstGeom>
        </p:spPr>
      </p:pic>
      <p:pic>
        <p:nvPicPr>
          <p:cNvPr id="29" name="Picture 28">
            <a:extLst>
              <a:ext uri="{FF2B5EF4-FFF2-40B4-BE49-F238E27FC236}">
                <a16:creationId xmlns:a16="http://schemas.microsoft.com/office/drawing/2014/main" id="{A7E1EEBF-A0D4-7C6D-6F0D-9C770FC9EF1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60040" y="3544603"/>
            <a:ext cx="6220693" cy="4329266"/>
          </a:xfrm>
          <a:prstGeom prst="rect">
            <a:avLst/>
          </a:prstGeom>
        </p:spPr>
      </p:pic>
      <p:sp>
        <p:nvSpPr>
          <p:cNvPr id="31" name="TextBox 5">
            <a:extLst>
              <a:ext uri="{FF2B5EF4-FFF2-40B4-BE49-F238E27FC236}">
                <a16:creationId xmlns:a16="http://schemas.microsoft.com/office/drawing/2014/main" id="{AFB0C00A-3E89-41D0-D3E6-F52B9110FB8F}"/>
              </a:ext>
            </a:extLst>
          </p:cNvPr>
          <p:cNvSpPr txBox="1"/>
          <p:nvPr/>
        </p:nvSpPr>
        <p:spPr>
          <a:xfrm>
            <a:off x="10881184" y="4483000"/>
            <a:ext cx="4169614" cy="492443"/>
          </a:xfrm>
          <a:prstGeom prst="rect">
            <a:avLst/>
          </a:prstGeom>
        </p:spPr>
        <p:txBody>
          <a:bodyPr wrap="square" lIns="0" tIns="0" rIns="0" bIns="0" rtlCol="0" anchor="t">
            <a:spAutoFit/>
          </a:bodyPr>
          <a:lstStyle/>
          <a:p>
            <a:pPr algn="ctr" hangingPunct="0"/>
            <a:r>
              <a:rPr lang="en-US" sz="1600" dirty="0">
                <a:solidFill>
                  <a:schemeClr val="bg2"/>
                </a:solidFill>
              </a:rPr>
              <a:t>Figure 5.4 Active graph topology at selected times in the air-temperature record</a:t>
            </a:r>
          </a:p>
        </p:txBody>
      </p:sp>
      <p:sp>
        <p:nvSpPr>
          <p:cNvPr id="33" name="TextBox 5">
            <a:extLst>
              <a:ext uri="{FF2B5EF4-FFF2-40B4-BE49-F238E27FC236}">
                <a16:creationId xmlns:a16="http://schemas.microsoft.com/office/drawing/2014/main" id="{3ADA52D7-D58D-6894-CC04-040727BC8A4C}"/>
              </a:ext>
            </a:extLst>
          </p:cNvPr>
          <p:cNvSpPr txBox="1"/>
          <p:nvPr/>
        </p:nvSpPr>
        <p:spPr>
          <a:xfrm>
            <a:off x="8382000" y="9443225"/>
            <a:ext cx="7773225" cy="246221"/>
          </a:xfrm>
          <a:prstGeom prst="rect">
            <a:avLst/>
          </a:prstGeom>
        </p:spPr>
        <p:txBody>
          <a:bodyPr wrap="square" lIns="0" tIns="0" rIns="0" bIns="0" rtlCol="0" anchor="t">
            <a:spAutoFit/>
          </a:bodyPr>
          <a:lstStyle/>
          <a:p>
            <a:pPr algn="ctr" hangingPunct="0"/>
            <a:r>
              <a:rPr lang="en-US" sz="1600" dirty="0">
                <a:solidFill>
                  <a:schemeClr val="bg2"/>
                </a:solidFill>
              </a:rPr>
              <a:t>Figure 5.5 Recurrence of related pathways across three years of the air-temperature record.</a:t>
            </a:r>
          </a:p>
        </p:txBody>
      </p:sp>
      <p:sp>
        <p:nvSpPr>
          <p:cNvPr id="35" name="TextBox 5">
            <a:extLst>
              <a:ext uri="{FF2B5EF4-FFF2-40B4-BE49-F238E27FC236}">
                <a16:creationId xmlns:a16="http://schemas.microsoft.com/office/drawing/2014/main" id="{AE4EC020-1F9B-437C-1502-F1F51BCF61C3}"/>
              </a:ext>
            </a:extLst>
          </p:cNvPr>
          <p:cNvSpPr txBox="1"/>
          <p:nvPr/>
        </p:nvSpPr>
        <p:spPr>
          <a:xfrm>
            <a:off x="1254524" y="8063478"/>
            <a:ext cx="5002022" cy="492443"/>
          </a:xfrm>
          <a:prstGeom prst="rect">
            <a:avLst/>
          </a:prstGeom>
        </p:spPr>
        <p:txBody>
          <a:bodyPr wrap="square" lIns="0" tIns="0" rIns="0" bIns="0" rtlCol="0" anchor="t">
            <a:spAutoFit/>
          </a:bodyPr>
          <a:lstStyle/>
          <a:p>
            <a:pPr algn="ctr" hangingPunct="0"/>
            <a:r>
              <a:rPr lang="en-US" sz="1600" dirty="0">
                <a:solidFill>
                  <a:schemeClr val="bg2"/>
                </a:solidFill>
              </a:rPr>
              <a:t>Figure 5.6 Total graph nodes, active nodes, and meta-graph cycles over the air-temperature stream</a:t>
            </a:r>
          </a:p>
        </p:txBody>
      </p:sp>
      <p:sp>
        <p:nvSpPr>
          <p:cNvPr id="6" name="Slide Number Placeholder 5">
            <a:extLst>
              <a:ext uri="{FF2B5EF4-FFF2-40B4-BE49-F238E27FC236}">
                <a16:creationId xmlns:a16="http://schemas.microsoft.com/office/drawing/2014/main" id="{85850EBB-5E2D-613E-0FA4-C2B74BB9398D}"/>
              </a:ext>
            </a:extLst>
          </p:cNvPr>
          <p:cNvSpPr>
            <a:spLocks noGrp="1"/>
          </p:cNvSpPr>
          <p:nvPr>
            <p:ph type="sldNum" sz="quarter" idx="12"/>
          </p:nvPr>
        </p:nvSpPr>
        <p:spPr>
          <a:xfrm>
            <a:off x="15925800" y="9715500"/>
            <a:ext cx="2133600" cy="365125"/>
          </a:xfrm>
        </p:spPr>
        <p:txBody>
          <a:bodyPr/>
          <a:lstStyle/>
          <a:p>
            <a:fld id="{B6F15528-21DE-4FAA-801E-634DDDAF4B2B}" type="slidenum">
              <a:rPr lang="en-US" smtClean="0"/>
              <a:pPr/>
              <a:t>30</a:t>
            </a:fld>
            <a:endParaRPr lang="en-US"/>
          </a:p>
        </p:txBody>
      </p:sp>
    </p:spTree>
    <p:extLst>
      <p:ext uri="{BB962C8B-B14F-4D97-AF65-F5344CB8AC3E}">
        <p14:creationId xmlns:p14="http://schemas.microsoft.com/office/powerpoint/2010/main" val="8416048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lin ang="5400000"/>
        </a:gradFill>
        <a:effectLst/>
      </p:bgPr>
    </p:bg>
    <p:spTree>
      <p:nvGrpSpPr>
        <p:cNvPr id="1" name="">
          <a:extLst>
            <a:ext uri="{FF2B5EF4-FFF2-40B4-BE49-F238E27FC236}">
              <a16:creationId xmlns:a16="http://schemas.microsoft.com/office/drawing/2014/main" id="{FF212BAF-03F4-348F-CFE7-F061286B63C2}"/>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5C8B8388-81F9-B680-4785-F0A298DA77BC}"/>
              </a:ext>
            </a:extLst>
          </p:cNvPr>
          <p:cNvSpPr/>
          <p:nvPr/>
        </p:nvSpPr>
        <p:spPr>
          <a:xfrm rot="328611">
            <a:off x="15125395" y="3691329"/>
            <a:ext cx="1407070" cy="1407070"/>
          </a:xfrm>
          <a:custGeom>
            <a:avLst/>
            <a:gdLst/>
            <a:ahLst/>
            <a:cxnLst/>
            <a:rect l="l" t="t" r="r" b="b"/>
            <a:pathLst>
              <a:path w="1407070" h="1407070">
                <a:moveTo>
                  <a:pt x="0" y="0"/>
                </a:moveTo>
                <a:lnTo>
                  <a:pt x="1407070" y="0"/>
                </a:lnTo>
                <a:lnTo>
                  <a:pt x="1407070" y="1407070"/>
                </a:lnTo>
                <a:lnTo>
                  <a:pt x="0" y="1407070"/>
                </a:lnTo>
                <a:lnTo>
                  <a:pt x="0" y="0"/>
                </a:lnTo>
                <a:close/>
              </a:path>
            </a:pathLst>
          </a:custGeom>
          <a:blipFill>
            <a:blip>
              <a:alphaModFix amt="44999"/>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TextBox 4">
            <a:extLst>
              <a:ext uri="{FF2B5EF4-FFF2-40B4-BE49-F238E27FC236}">
                <a16:creationId xmlns:a16="http://schemas.microsoft.com/office/drawing/2014/main" id="{35129251-3BA7-545B-91FC-96239276476E}"/>
              </a:ext>
            </a:extLst>
          </p:cNvPr>
          <p:cNvSpPr txBox="1"/>
          <p:nvPr/>
        </p:nvSpPr>
        <p:spPr>
          <a:xfrm>
            <a:off x="1028701" y="923925"/>
            <a:ext cx="11468100" cy="1836528"/>
          </a:xfrm>
          <a:prstGeom prst="rect">
            <a:avLst/>
          </a:prstGeom>
        </p:spPr>
        <p:txBody>
          <a:bodyPr wrap="square" lIns="0" tIns="0" rIns="0" bIns="0" rtlCol="0" anchor="t">
            <a:spAutoFit/>
          </a:bodyPr>
          <a:lstStyle/>
          <a:p>
            <a:pPr algn="l">
              <a:lnSpc>
                <a:spcPts val="7351"/>
              </a:lnSpc>
            </a:pPr>
            <a:r>
              <a:rPr lang="en-US" sz="5400" b="1" spc="-17" dirty="0">
                <a:solidFill>
                  <a:srgbClr val="D7E5D8"/>
                </a:solidFill>
                <a:latin typeface="IBM Plex Sans Bold"/>
                <a:ea typeface="IBM Plex Sans Bold"/>
                <a:cs typeface="IBM Plex Sans Bold"/>
                <a:sym typeface="IBM Plex Sans Bold"/>
              </a:rPr>
              <a:t>EMERGENT TOPOLOGY &amp; STRUCTURAL MEMORY</a:t>
            </a:r>
          </a:p>
        </p:txBody>
      </p:sp>
      <p:sp>
        <p:nvSpPr>
          <p:cNvPr id="18" name="AutoShape 18">
            <a:extLst>
              <a:ext uri="{FF2B5EF4-FFF2-40B4-BE49-F238E27FC236}">
                <a16:creationId xmlns:a16="http://schemas.microsoft.com/office/drawing/2014/main" id="{DFC66BEA-6D5D-954B-60EB-A4BF13E1DCE5}"/>
              </a:ext>
            </a:extLst>
          </p:cNvPr>
          <p:cNvSpPr/>
          <p:nvPr/>
        </p:nvSpPr>
        <p:spPr>
          <a:xfrm flipV="1">
            <a:off x="17674808" y="0"/>
            <a:ext cx="0" cy="5159670"/>
          </a:xfrm>
          <a:prstGeom prst="line">
            <a:avLst/>
          </a:prstGeom>
          <a:ln w="19050" cap="flat">
            <a:solidFill>
              <a:srgbClr val="FFFFFF"/>
            </a:solidFill>
            <a:prstDash val="solid"/>
            <a:headEnd type="none" w="sm" len="sm"/>
            <a:tailEnd type="none" w="sm" len="sm"/>
          </a:ln>
        </p:spPr>
        <p:txBody>
          <a:bodyPr/>
          <a:lstStyle/>
          <a:p>
            <a:endParaRPr lang="en-US"/>
          </a:p>
        </p:txBody>
      </p:sp>
      <p:sp>
        <p:nvSpPr>
          <p:cNvPr id="19" name="AutoShape 19">
            <a:extLst>
              <a:ext uri="{FF2B5EF4-FFF2-40B4-BE49-F238E27FC236}">
                <a16:creationId xmlns:a16="http://schemas.microsoft.com/office/drawing/2014/main" id="{724D0ABE-9A30-E493-3904-C36083667CAD}"/>
              </a:ext>
            </a:extLst>
          </p:cNvPr>
          <p:cNvSpPr/>
          <p:nvPr/>
        </p:nvSpPr>
        <p:spPr>
          <a:xfrm flipV="1">
            <a:off x="17674808" y="5659105"/>
            <a:ext cx="0" cy="960120"/>
          </a:xfrm>
          <a:prstGeom prst="line">
            <a:avLst/>
          </a:prstGeom>
          <a:ln w="19050" cap="flat">
            <a:solidFill>
              <a:srgbClr val="FFFFFF"/>
            </a:solidFill>
            <a:prstDash val="solid"/>
            <a:headEnd type="none" w="sm" len="sm"/>
            <a:tailEnd type="none" w="sm" len="sm"/>
          </a:ln>
        </p:spPr>
        <p:txBody>
          <a:bodyPr/>
          <a:lstStyle/>
          <a:p>
            <a:endParaRPr lang="en-US"/>
          </a:p>
        </p:txBody>
      </p:sp>
      <p:grpSp>
        <p:nvGrpSpPr>
          <p:cNvPr id="20" name="Group 20">
            <a:extLst>
              <a:ext uri="{FF2B5EF4-FFF2-40B4-BE49-F238E27FC236}">
                <a16:creationId xmlns:a16="http://schemas.microsoft.com/office/drawing/2014/main" id="{960245CF-28DD-438C-AA03-4AD25EE02045}"/>
              </a:ext>
            </a:extLst>
          </p:cNvPr>
          <p:cNvGrpSpPr/>
          <p:nvPr/>
        </p:nvGrpSpPr>
        <p:grpSpPr>
          <a:xfrm>
            <a:off x="0" y="8244826"/>
            <a:ext cx="2737757" cy="2737757"/>
            <a:chOff x="0" y="0"/>
            <a:chExt cx="3650343" cy="3650343"/>
          </a:xfrm>
        </p:grpSpPr>
        <p:sp>
          <p:nvSpPr>
            <p:cNvPr id="21" name="Freeform 21">
              <a:extLst>
                <a:ext uri="{FF2B5EF4-FFF2-40B4-BE49-F238E27FC236}">
                  <a16:creationId xmlns:a16="http://schemas.microsoft.com/office/drawing/2014/main" id="{197C051A-DED5-3513-4343-7C1C65573D0B}"/>
                </a:ext>
              </a:extLst>
            </p:cNvPr>
            <p:cNvSpPr/>
            <p:nvPr/>
          </p:nvSpPr>
          <p:spPr>
            <a:xfrm>
              <a:off x="0" y="0"/>
              <a:ext cx="3650343" cy="3650343"/>
            </a:xfrm>
            <a:custGeom>
              <a:avLst/>
              <a:gdLst/>
              <a:ahLst/>
              <a:cxnLst/>
              <a:rect l="l" t="t" r="r" b="b"/>
              <a:pathLst>
                <a:path w="3650343" h="3650343">
                  <a:moveTo>
                    <a:pt x="0" y="0"/>
                  </a:moveTo>
                  <a:lnTo>
                    <a:pt x="3650343" y="0"/>
                  </a:lnTo>
                  <a:lnTo>
                    <a:pt x="3650343" y="3650343"/>
                  </a:lnTo>
                  <a:lnTo>
                    <a:pt x="0" y="3650343"/>
                  </a:lnTo>
                  <a:lnTo>
                    <a:pt x="0" y="0"/>
                  </a:lnTo>
                  <a:close/>
                </a:path>
              </a:pathLst>
            </a:custGeom>
            <a:blipFill>
              <a:blip>
                <a:alphaModFix amt="41000"/>
                <a:extLst>
                  <a:ext uri="{96DAC541-7B7A-43D3-8B79-37D633B846F1}">
                    <asvg:svgBlip xmlns:asvg="http://schemas.microsoft.com/office/drawing/2016/SVG/main" r:embed="rId2"/>
                  </a:ext>
                </a:extLst>
              </a:blip>
              <a:stretch>
                <a:fillRect/>
              </a:stretch>
            </a:blipFill>
          </p:spPr>
          <p:txBody>
            <a:bodyPr/>
            <a:lstStyle/>
            <a:p>
              <a:endParaRPr lang="en-US"/>
            </a:p>
          </p:txBody>
        </p:sp>
        <p:sp>
          <p:nvSpPr>
            <p:cNvPr id="22" name="Freeform 22">
              <a:extLst>
                <a:ext uri="{FF2B5EF4-FFF2-40B4-BE49-F238E27FC236}">
                  <a16:creationId xmlns:a16="http://schemas.microsoft.com/office/drawing/2014/main" id="{217DEBAE-FF8A-40FA-3CFD-0ECC2DFA19FE}"/>
                </a:ext>
              </a:extLst>
            </p:cNvPr>
            <p:cNvSpPr/>
            <p:nvPr/>
          </p:nvSpPr>
          <p:spPr>
            <a:xfrm>
              <a:off x="257215" y="827328"/>
              <a:ext cx="2779958" cy="1629020"/>
            </a:xfrm>
            <a:custGeom>
              <a:avLst/>
              <a:gdLst/>
              <a:ahLst/>
              <a:cxnLst/>
              <a:rect l="l" t="t" r="r" b="b"/>
              <a:pathLst>
                <a:path w="2779958" h="1629020">
                  <a:moveTo>
                    <a:pt x="0" y="0"/>
                  </a:moveTo>
                  <a:lnTo>
                    <a:pt x="2779958" y="0"/>
                  </a:lnTo>
                  <a:lnTo>
                    <a:pt x="2779958" y="1629020"/>
                  </a:lnTo>
                  <a:lnTo>
                    <a:pt x="0" y="1629020"/>
                  </a:lnTo>
                  <a:lnTo>
                    <a:pt x="0" y="0"/>
                  </a:lnTo>
                  <a:close/>
                </a:path>
              </a:pathLst>
            </a:custGeom>
            <a:blipFill>
              <a:blip r:embed="rId3"/>
              <a:stretch>
                <a:fillRect/>
              </a:stretch>
            </a:blipFill>
          </p:spPr>
          <p:txBody>
            <a:bodyPr/>
            <a:lstStyle/>
            <a:p>
              <a:endParaRPr lang="en-US"/>
            </a:p>
          </p:txBody>
        </p:sp>
      </p:grpSp>
      <p:sp>
        <p:nvSpPr>
          <p:cNvPr id="31" name="TextBox 5">
            <a:extLst>
              <a:ext uri="{FF2B5EF4-FFF2-40B4-BE49-F238E27FC236}">
                <a16:creationId xmlns:a16="http://schemas.microsoft.com/office/drawing/2014/main" id="{DBC5815A-12A5-BFFE-162A-C0ADFFB634DD}"/>
              </a:ext>
            </a:extLst>
          </p:cNvPr>
          <p:cNvSpPr txBox="1"/>
          <p:nvPr/>
        </p:nvSpPr>
        <p:spPr>
          <a:xfrm>
            <a:off x="5403172" y="9430881"/>
            <a:ext cx="9867228" cy="276999"/>
          </a:xfrm>
          <a:prstGeom prst="rect">
            <a:avLst/>
          </a:prstGeom>
        </p:spPr>
        <p:txBody>
          <a:bodyPr wrap="square" lIns="0" tIns="0" rIns="0" bIns="0" rtlCol="0" anchor="t">
            <a:spAutoFit/>
          </a:bodyPr>
          <a:lstStyle/>
          <a:p>
            <a:pPr hangingPunct="0"/>
            <a:r>
              <a:rPr lang="en-US" dirty="0">
                <a:solidFill>
                  <a:schemeClr val="bg2"/>
                </a:solidFill>
              </a:rPr>
              <a:t>Figure 5.7 Alignment-dependent pathway reinforcement in the air-temperature record.</a:t>
            </a:r>
          </a:p>
        </p:txBody>
      </p:sp>
      <p:pic>
        <p:nvPicPr>
          <p:cNvPr id="7" name="Picture 6">
            <a:extLst>
              <a:ext uri="{FF2B5EF4-FFF2-40B4-BE49-F238E27FC236}">
                <a16:creationId xmlns:a16="http://schemas.microsoft.com/office/drawing/2014/main" id="{1C49E82D-EEF2-C198-465E-E75BAF8DB1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19600" y="3012316"/>
            <a:ext cx="10122786" cy="6291771"/>
          </a:xfrm>
          <a:prstGeom prst="rect">
            <a:avLst/>
          </a:prstGeom>
        </p:spPr>
      </p:pic>
      <p:sp>
        <p:nvSpPr>
          <p:cNvPr id="6" name="Slide Number Placeholder 5">
            <a:extLst>
              <a:ext uri="{FF2B5EF4-FFF2-40B4-BE49-F238E27FC236}">
                <a16:creationId xmlns:a16="http://schemas.microsoft.com/office/drawing/2014/main" id="{A1E803AE-BAB7-1A88-0667-50A4952C0392}"/>
              </a:ext>
            </a:extLst>
          </p:cNvPr>
          <p:cNvSpPr>
            <a:spLocks noGrp="1"/>
          </p:cNvSpPr>
          <p:nvPr>
            <p:ph type="sldNum" sz="quarter" idx="12"/>
          </p:nvPr>
        </p:nvSpPr>
        <p:spPr>
          <a:xfrm>
            <a:off x="15925800" y="9715500"/>
            <a:ext cx="2133600" cy="365125"/>
          </a:xfrm>
        </p:spPr>
        <p:txBody>
          <a:bodyPr/>
          <a:lstStyle/>
          <a:p>
            <a:fld id="{B6F15528-21DE-4FAA-801E-634DDDAF4B2B}" type="slidenum">
              <a:rPr lang="en-US" smtClean="0"/>
              <a:pPr/>
              <a:t>31</a:t>
            </a:fld>
            <a:endParaRPr lang="en-US"/>
          </a:p>
        </p:txBody>
      </p:sp>
    </p:spTree>
    <p:extLst>
      <p:ext uri="{BB962C8B-B14F-4D97-AF65-F5344CB8AC3E}">
        <p14:creationId xmlns:p14="http://schemas.microsoft.com/office/powerpoint/2010/main" val="15065195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lin ang="5400000"/>
        </a:gradFill>
        <a:effectLst/>
      </p:bgPr>
    </p:bg>
    <p:spTree>
      <p:nvGrpSpPr>
        <p:cNvPr id="1" name=""/>
        <p:cNvGrpSpPr/>
        <p:nvPr/>
      </p:nvGrpSpPr>
      <p:grpSpPr>
        <a:xfrm>
          <a:off x="0" y="0"/>
          <a:ext cx="0" cy="0"/>
          <a:chOff x="0" y="0"/>
          <a:chExt cx="0" cy="0"/>
        </a:xfrm>
      </p:grpSpPr>
      <p:sp>
        <p:nvSpPr>
          <p:cNvPr id="4" name="AutoShape 4"/>
          <p:cNvSpPr/>
          <p:nvPr/>
        </p:nvSpPr>
        <p:spPr>
          <a:xfrm flipH="1">
            <a:off x="0" y="9676538"/>
            <a:ext cx="16463090" cy="0"/>
          </a:xfrm>
          <a:prstGeom prst="line">
            <a:avLst/>
          </a:prstGeom>
          <a:ln w="19050" cap="flat">
            <a:solidFill>
              <a:srgbClr val="FFFFFF"/>
            </a:solidFill>
            <a:prstDash val="solid"/>
            <a:headEnd type="none" w="sm" len="sm"/>
            <a:tailEnd type="none" w="sm" len="sm"/>
          </a:ln>
        </p:spPr>
        <p:txBody>
          <a:bodyPr/>
          <a:lstStyle/>
          <a:p>
            <a:endParaRPr lang="en-US"/>
          </a:p>
        </p:txBody>
      </p:sp>
      <p:sp>
        <p:nvSpPr>
          <p:cNvPr id="5" name="AutoShape 5"/>
          <p:cNvSpPr/>
          <p:nvPr/>
        </p:nvSpPr>
        <p:spPr>
          <a:xfrm flipH="1">
            <a:off x="17050227" y="9667013"/>
            <a:ext cx="960120" cy="0"/>
          </a:xfrm>
          <a:prstGeom prst="line">
            <a:avLst/>
          </a:prstGeom>
          <a:ln w="19050" cap="flat">
            <a:solidFill>
              <a:srgbClr val="FFFFFF"/>
            </a:solidFill>
            <a:prstDash val="solid"/>
            <a:headEnd type="none" w="sm" len="sm"/>
            <a:tailEnd type="none" w="sm" len="sm"/>
          </a:ln>
        </p:spPr>
        <p:txBody>
          <a:bodyPr/>
          <a:lstStyle/>
          <a:p>
            <a:endParaRPr lang="en-US"/>
          </a:p>
        </p:txBody>
      </p:sp>
      <p:sp>
        <p:nvSpPr>
          <p:cNvPr id="6" name="TextBox 6"/>
          <p:cNvSpPr txBox="1"/>
          <p:nvPr/>
        </p:nvSpPr>
        <p:spPr>
          <a:xfrm>
            <a:off x="1028700" y="1000125"/>
            <a:ext cx="16230600" cy="878822"/>
          </a:xfrm>
          <a:prstGeom prst="rect">
            <a:avLst/>
          </a:prstGeom>
        </p:spPr>
        <p:txBody>
          <a:bodyPr lIns="0" tIns="0" rIns="0" bIns="0" rtlCol="0" anchor="t">
            <a:spAutoFit/>
          </a:bodyPr>
          <a:lstStyle/>
          <a:p>
            <a:pPr algn="l">
              <a:lnSpc>
                <a:spcPts val="7025"/>
              </a:lnSpc>
            </a:pPr>
            <a:r>
              <a:rPr lang="en-US" sz="5616" b="1" spc="-16" dirty="0">
                <a:solidFill>
                  <a:srgbClr val="D7E5D8"/>
                </a:solidFill>
                <a:latin typeface="IBM Plex Sans Bold"/>
                <a:ea typeface="IBM Plex Sans Bold"/>
                <a:cs typeface="IBM Plex Sans Bold"/>
                <a:sym typeface="IBM Plex Sans Bold"/>
              </a:rPr>
              <a:t>ABLATION TESTING </a:t>
            </a:r>
          </a:p>
        </p:txBody>
      </p:sp>
      <p:sp>
        <p:nvSpPr>
          <p:cNvPr id="7" name="TextBox 7"/>
          <p:cNvSpPr txBox="1"/>
          <p:nvPr/>
        </p:nvSpPr>
        <p:spPr>
          <a:xfrm>
            <a:off x="1028700" y="2004098"/>
            <a:ext cx="15138291" cy="346249"/>
          </a:xfrm>
          <a:prstGeom prst="rect">
            <a:avLst/>
          </a:prstGeom>
        </p:spPr>
        <p:txBody>
          <a:bodyPr lIns="0" tIns="0" rIns="0" bIns="0" rtlCol="0" anchor="t">
            <a:spAutoFit/>
          </a:bodyPr>
          <a:lstStyle/>
          <a:p>
            <a:pPr>
              <a:lnSpc>
                <a:spcPts val="2699"/>
              </a:lnSpc>
            </a:pPr>
            <a:r>
              <a:rPr lang="en-US" sz="2400" dirty="0">
                <a:solidFill>
                  <a:schemeClr val="bg2"/>
                </a:solidFill>
              </a:rPr>
              <a:t>Ablation testing isolates each architectural component to determine which stages of the pipeline contribute to prediction</a:t>
            </a:r>
            <a:endParaRPr lang="en-US" sz="2400" spc="-5" dirty="0">
              <a:solidFill>
                <a:schemeClr val="bg2"/>
              </a:solidFill>
              <a:latin typeface="IBM Plex Sans"/>
              <a:ea typeface="IBM Plex Sans"/>
              <a:cs typeface="IBM Plex Sans"/>
              <a:sym typeface="IBM Plex Sans"/>
            </a:endParaRPr>
          </a:p>
        </p:txBody>
      </p:sp>
      <p:grpSp>
        <p:nvGrpSpPr>
          <p:cNvPr id="16" name="Group 16"/>
          <p:cNvGrpSpPr/>
          <p:nvPr/>
        </p:nvGrpSpPr>
        <p:grpSpPr>
          <a:xfrm>
            <a:off x="0" y="8244826"/>
            <a:ext cx="2737757" cy="2737757"/>
            <a:chOff x="0" y="0"/>
            <a:chExt cx="3650343" cy="3650343"/>
          </a:xfrm>
        </p:grpSpPr>
        <p:sp>
          <p:nvSpPr>
            <p:cNvPr id="17" name="Freeform 17"/>
            <p:cNvSpPr/>
            <p:nvPr/>
          </p:nvSpPr>
          <p:spPr>
            <a:xfrm>
              <a:off x="0" y="0"/>
              <a:ext cx="3650343" cy="3650343"/>
            </a:xfrm>
            <a:custGeom>
              <a:avLst/>
              <a:gdLst/>
              <a:ahLst/>
              <a:cxnLst/>
              <a:rect l="l" t="t" r="r" b="b"/>
              <a:pathLst>
                <a:path w="3650343" h="3650343">
                  <a:moveTo>
                    <a:pt x="0" y="0"/>
                  </a:moveTo>
                  <a:lnTo>
                    <a:pt x="3650343" y="0"/>
                  </a:lnTo>
                  <a:lnTo>
                    <a:pt x="3650343" y="3650343"/>
                  </a:lnTo>
                  <a:lnTo>
                    <a:pt x="0" y="3650343"/>
                  </a:lnTo>
                  <a:lnTo>
                    <a:pt x="0" y="0"/>
                  </a:lnTo>
                  <a:close/>
                </a:path>
              </a:pathLst>
            </a:custGeom>
            <a:blipFill>
              <a:blip>
                <a:alphaModFix amt="4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8" name="Freeform 18"/>
            <p:cNvSpPr/>
            <p:nvPr/>
          </p:nvSpPr>
          <p:spPr>
            <a:xfrm>
              <a:off x="257215" y="827328"/>
              <a:ext cx="2779958" cy="1629020"/>
            </a:xfrm>
            <a:custGeom>
              <a:avLst/>
              <a:gdLst/>
              <a:ahLst/>
              <a:cxnLst/>
              <a:rect l="l" t="t" r="r" b="b"/>
              <a:pathLst>
                <a:path w="2779958" h="1629020">
                  <a:moveTo>
                    <a:pt x="0" y="0"/>
                  </a:moveTo>
                  <a:lnTo>
                    <a:pt x="2779958" y="0"/>
                  </a:lnTo>
                  <a:lnTo>
                    <a:pt x="2779958" y="1629020"/>
                  </a:lnTo>
                  <a:lnTo>
                    <a:pt x="0" y="1629020"/>
                  </a:lnTo>
                  <a:lnTo>
                    <a:pt x="0" y="0"/>
                  </a:lnTo>
                  <a:close/>
                </a:path>
              </a:pathLst>
            </a:custGeom>
            <a:blipFill>
              <a:blip r:embed="rId4"/>
              <a:stretch>
                <a:fillRect/>
              </a:stretch>
            </a:blipFill>
          </p:spPr>
          <p:txBody>
            <a:bodyPr/>
            <a:lstStyle/>
            <a:p>
              <a:endParaRPr lang="en-US"/>
            </a:p>
          </p:txBody>
        </p:sp>
      </p:grpSp>
      <p:pic>
        <p:nvPicPr>
          <p:cNvPr id="21" name="Picture 20">
            <a:extLst>
              <a:ext uri="{FF2B5EF4-FFF2-40B4-BE49-F238E27FC236}">
                <a16:creationId xmlns:a16="http://schemas.microsoft.com/office/drawing/2014/main" id="{2BB5D88E-31E3-31F2-5F8C-D3F1A2D6321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94662" y="2940131"/>
            <a:ext cx="8455565" cy="5525212"/>
          </a:xfrm>
          <a:prstGeom prst="rect">
            <a:avLst/>
          </a:prstGeom>
        </p:spPr>
      </p:pic>
      <p:pic>
        <p:nvPicPr>
          <p:cNvPr id="23" name="Picture 22">
            <a:extLst>
              <a:ext uri="{FF2B5EF4-FFF2-40B4-BE49-F238E27FC236}">
                <a16:creationId xmlns:a16="http://schemas.microsoft.com/office/drawing/2014/main" id="{6E322E55-B469-279B-E876-FCA2B9A37A6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00759" y="2981234"/>
            <a:ext cx="6804514" cy="5484109"/>
          </a:xfrm>
          <a:prstGeom prst="rect">
            <a:avLst/>
          </a:prstGeom>
        </p:spPr>
      </p:pic>
      <p:sp>
        <p:nvSpPr>
          <p:cNvPr id="2" name="Slide Number Placeholder 1">
            <a:extLst>
              <a:ext uri="{FF2B5EF4-FFF2-40B4-BE49-F238E27FC236}">
                <a16:creationId xmlns:a16="http://schemas.microsoft.com/office/drawing/2014/main" id="{F37CF601-4A71-57CE-8CD0-B1B16BBA1496}"/>
              </a:ext>
            </a:extLst>
          </p:cNvPr>
          <p:cNvSpPr>
            <a:spLocks noGrp="1"/>
          </p:cNvSpPr>
          <p:nvPr>
            <p:ph type="sldNum" sz="quarter" idx="12"/>
          </p:nvPr>
        </p:nvSpPr>
        <p:spPr>
          <a:xfrm>
            <a:off x="15925800" y="9715500"/>
            <a:ext cx="2133600" cy="365125"/>
          </a:xfrm>
        </p:spPr>
        <p:txBody>
          <a:bodyPr/>
          <a:lstStyle/>
          <a:p>
            <a:fld id="{B6F15528-21DE-4FAA-801E-634DDDAF4B2B}" type="slidenum">
              <a:rPr lang="en-US" smtClean="0"/>
              <a:pPr/>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lin ang="5400000"/>
        </a:gradFill>
        <a:effectLst/>
      </p:bgPr>
    </p:bg>
    <p:spTree>
      <p:nvGrpSpPr>
        <p:cNvPr id="1" name=""/>
        <p:cNvGrpSpPr/>
        <p:nvPr/>
      </p:nvGrpSpPr>
      <p:grpSpPr>
        <a:xfrm>
          <a:off x="0" y="0"/>
          <a:ext cx="0" cy="0"/>
          <a:chOff x="0" y="0"/>
          <a:chExt cx="0" cy="0"/>
        </a:xfrm>
      </p:grpSpPr>
      <p:sp>
        <p:nvSpPr>
          <p:cNvPr id="3" name="Freeform 3"/>
          <p:cNvSpPr/>
          <p:nvPr/>
        </p:nvSpPr>
        <p:spPr>
          <a:xfrm>
            <a:off x="394593" y="3007366"/>
            <a:ext cx="634107" cy="634107"/>
          </a:xfrm>
          <a:custGeom>
            <a:avLst/>
            <a:gdLst/>
            <a:ahLst/>
            <a:cxnLst/>
            <a:rect l="l" t="t" r="r" b="b"/>
            <a:pathLst>
              <a:path w="634107" h="634107">
                <a:moveTo>
                  <a:pt x="0" y="0"/>
                </a:moveTo>
                <a:lnTo>
                  <a:pt x="634107" y="0"/>
                </a:lnTo>
                <a:lnTo>
                  <a:pt x="634107" y="634107"/>
                </a:lnTo>
                <a:lnTo>
                  <a:pt x="0" y="634107"/>
                </a:lnTo>
                <a:lnTo>
                  <a:pt x="0" y="0"/>
                </a:lnTo>
                <a:close/>
              </a:path>
            </a:pathLst>
          </a:custGeom>
          <a:blipFill>
            <a:blip>
              <a:alphaModFix amt="43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328611">
            <a:off x="15579220" y="637161"/>
            <a:ext cx="1407070" cy="1407070"/>
          </a:xfrm>
          <a:custGeom>
            <a:avLst/>
            <a:gdLst/>
            <a:ahLst/>
            <a:cxnLst/>
            <a:rect l="l" t="t" r="r" b="b"/>
            <a:pathLst>
              <a:path w="1407070" h="1407070">
                <a:moveTo>
                  <a:pt x="0" y="0"/>
                </a:moveTo>
                <a:lnTo>
                  <a:pt x="1407070" y="0"/>
                </a:lnTo>
                <a:lnTo>
                  <a:pt x="1407070" y="1407070"/>
                </a:lnTo>
                <a:lnTo>
                  <a:pt x="0" y="1407070"/>
                </a:lnTo>
                <a:lnTo>
                  <a:pt x="0" y="0"/>
                </a:lnTo>
                <a:close/>
              </a:path>
            </a:pathLst>
          </a:custGeom>
          <a:blipFill>
            <a:blip>
              <a:alphaModFix amt="43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AutoShape 5"/>
          <p:cNvSpPr/>
          <p:nvPr/>
        </p:nvSpPr>
        <p:spPr>
          <a:xfrm flipH="1">
            <a:off x="0" y="9676538"/>
            <a:ext cx="16463090" cy="0"/>
          </a:xfrm>
          <a:prstGeom prst="line">
            <a:avLst/>
          </a:prstGeom>
          <a:ln w="19050" cap="flat">
            <a:solidFill>
              <a:srgbClr val="FFFFFF"/>
            </a:solidFill>
            <a:prstDash val="solid"/>
            <a:headEnd type="none" w="sm" len="sm"/>
            <a:tailEnd type="none" w="sm" len="sm"/>
          </a:ln>
        </p:spPr>
        <p:txBody>
          <a:bodyPr/>
          <a:lstStyle/>
          <a:p>
            <a:endParaRPr lang="en-US"/>
          </a:p>
        </p:txBody>
      </p:sp>
      <p:sp>
        <p:nvSpPr>
          <p:cNvPr id="6" name="AutoShape 6"/>
          <p:cNvSpPr/>
          <p:nvPr/>
        </p:nvSpPr>
        <p:spPr>
          <a:xfrm flipH="1">
            <a:off x="17050227" y="9667013"/>
            <a:ext cx="960120" cy="0"/>
          </a:xfrm>
          <a:prstGeom prst="line">
            <a:avLst/>
          </a:prstGeom>
          <a:ln w="19050" cap="flat">
            <a:solidFill>
              <a:srgbClr val="FFFFFF"/>
            </a:solidFill>
            <a:prstDash val="solid"/>
            <a:headEnd type="none" w="sm" len="sm"/>
            <a:tailEnd type="none" w="sm" len="sm"/>
          </a:ln>
        </p:spPr>
        <p:txBody>
          <a:bodyPr/>
          <a:lstStyle/>
          <a:p>
            <a:endParaRPr lang="en-US"/>
          </a:p>
        </p:txBody>
      </p:sp>
      <p:sp>
        <p:nvSpPr>
          <p:cNvPr id="7" name="TextBox 7"/>
          <p:cNvSpPr txBox="1"/>
          <p:nvPr/>
        </p:nvSpPr>
        <p:spPr>
          <a:xfrm>
            <a:off x="1028700" y="1321646"/>
            <a:ext cx="12532040" cy="908641"/>
          </a:xfrm>
          <a:prstGeom prst="rect">
            <a:avLst/>
          </a:prstGeom>
        </p:spPr>
        <p:txBody>
          <a:bodyPr lIns="0" tIns="0" rIns="0" bIns="0" rtlCol="0" anchor="t">
            <a:spAutoFit/>
          </a:bodyPr>
          <a:lstStyle/>
          <a:p>
            <a:pPr algn="l">
              <a:lnSpc>
                <a:spcPts val="7351"/>
              </a:lnSpc>
            </a:pPr>
            <a:r>
              <a:rPr lang="en-US" sz="5876" b="1" spc="-17" dirty="0">
                <a:solidFill>
                  <a:srgbClr val="D7E5D8"/>
                </a:solidFill>
                <a:latin typeface="IBM Plex Sans Bold"/>
                <a:ea typeface="IBM Plex Sans Bold"/>
                <a:cs typeface="IBM Plex Sans Bold"/>
                <a:sym typeface="IBM Plex Sans Bold"/>
              </a:rPr>
              <a:t>DISCUSSION</a:t>
            </a:r>
          </a:p>
        </p:txBody>
      </p:sp>
      <p:sp>
        <p:nvSpPr>
          <p:cNvPr id="8" name="TextBox 8"/>
          <p:cNvSpPr txBox="1"/>
          <p:nvPr/>
        </p:nvSpPr>
        <p:spPr>
          <a:xfrm>
            <a:off x="9950462" y="2846672"/>
            <a:ext cx="7075545" cy="2077492"/>
          </a:xfrm>
          <a:prstGeom prst="rect">
            <a:avLst/>
          </a:prstGeom>
        </p:spPr>
        <p:txBody>
          <a:bodyPr wrap="square" lIns="0" tIns="0" rIns="0" bIns="0" rtlCol="0" anchor="t">
            <a:spAutoFit/>
          </a:bodyPr>
          <a:lstStyle/>
          <a:p>
            <a:pPr>
              <a:lnSpc>
                <a:spcPts val="2699"/>
              </a:lnSpc>
            </a:pPr>
            <a:endParaRPr lang="en-US" sz="2400" b="1" dirty="0">
              <a:solidFill>
                <a:schemeClr val="bg2"/>
              </a:solidFill>
            </a:endParaRPr>
          </a:p>
          <a:p>
            <a:pPr marL="342900" indent="-342900">
              <a:lnSpc>
                <a:spcPts val="2699"/>
              </a:lnSpc>
              <a:buFont typeface="Arial" panose="020B0604020202020204" pitchFamily="34" charset="0"/>
              <a:buChar char="•"/>
            </a:pPr>
            <a:r>
              <a:rPr lang="en-US" sz="2400" dirty="0">
                <a:solidFill>
                  <a:schemeClr val="bg2"/>
                </a:solidFill>
              </a:rPr>
              <a:t>Strongest on locally recurrent signals</a:t>
            </a:r>
          </a:p>
          <a:p>
            <a:pPr marL="342900" indent="-342900">
              <a:lnSpc>
                <a:spcPts val="2699"/>
              </a:lnSpc>
              <a:buFont typeface="Arial" panose="020B0604020202020204" pitchFamily="34" charset="0"/>
              <a:buChar char="•"/>
            </a:pPr>
            <a:r>
              <a:rPr lang="en-US" sz="2400" dirty="0">
                <a:solidFill>
                  <a:schemeClr val="bg2"/>
                </a:solidFill>
              </a:rPr>
              <a:t>Robust biological forecasting</a:t>
            </a:r>
          </a:p>
          <a:p>
            <a:pPr marL="342900" indent="-342900">
              <a:lnSpc>
                <a:spcPts val="2699"/>
              </a:lnSpc>
              <a:buFont typeface="Arial" panose="020B0604020202020204" pitchFamily="34" charset="0"/>
              <a:buChar char="•"/>
            </a:pPr>
            <a:r>
              <a:rPr lang="en-US" sz="2400" dirty="0">
                <a:solidFill>
                  <a:schemeClr val="bg2"/>
                </a:solidFill>
              </a:rPr>
              <a:t>Advantage under changing dynamics</a:t>
            </a:r>
          </a:p>
          <a:p>
            <a:pPr marL="342900" indent="-342900">
              <a:lnSpc>
                <a:spcPts val="2699"/>
              </a:lnSpc>
              <a:buFont typeface="Arial" panose="020B0604020202020204" pitchFamily="34" charset="0"/>
              <a:buChar char="•"/>
            </a:pPr>
            <a:r>
              <a:rPr lang="en-US" sz="2400" dirty="0">
                <a:solidFill>
                  <a:schemeClr val="bg2"/>
                </a:solidFill>
              </a:rPr>
              <a:t>Not universally dominant</a:t>
            </a:r>
          </a:p>
          <a:p>
            <a:pPr marL="342900" indent="-342900">
              <a:lnSpc>
                <a:spcPts val="2699"/>
              </a:lnSpc>
              <a:buFont typeface="Arial" panose="020B0604020202020204" pitchFamily="34" charset="0"/>
              <a:buChar char="•"/>
            </a:pPr>
            <a:r>
              <a:rPr lang="en-US" sz="2400" dirty="0">
                <a:solidFill>
                  <a:schemeClr val="bg2"/>
                </a:solidFill>
              </a:rPr>
              <a:t>Consistent deep-learning advantage</a:t>
            </a:r>
          </a:p>
        </p:txBody>
      </p:sp>
      <p:grpSp>
        <p:nvGrpSpPr>
          <p:cNvPr id="21" name="Group 21"/>
          <p:cNvGrpSpPr/>
          <p:nvPr/>
        </p:nvGrpSpPr>
        <p:grpSpPr>
          <a:xfrm>
            <a:off x="0" y="8244826"/>
            <a:ext cx="2737757" cy="2737757"/>
            <a:chOff x="0" y="0"/>
            <a:chExt cx="3650343" cy="3650343"/>
          </a:xfrm>
        </p:grpSpPr>
        <p:sp>
          <p:nvSpPr>
            <p:cNvPr id="22" name="Freeform 22"/>
            <p:cNvSpPr/>
            <p:nvPr/>
          </p:nvSpPr>
          <p:spPr>
            <a:xfrm>
              <a:off x="0" y="0"/>
              <a:ext cx="3650343" cy="3650343"/>
            </a:xfrm>
            <a:custGeom>
              <a:avLst/>
              <a:gdLst/>
              <a:ahLst/>
              <a:cxnLst/>
              <a:rect l="l" t="t" r="r" b="b"/>
              <a:pathLst>
                <a:path w="3650343" h="3650343">
                  <a:moveTo>
                    <a:pt x="0" y="0"/>
                  </a:moveTo>
                  <a:lnTo>
                    <a:pt x="3650343" y="0"/>
                  </a:lnTo>
                  <a:lnTo>
                    <a:pt x="3650343" y="3650343"/>
                  </a:lnTo>
                  <a:lnTo>
                    <a:pt x="0" y="3650343"/>
                  </a:lnTo>
                  <a:lnTo>
                    <a:pt x="0" y="0"/>
                  </a:lnTo>
                  <a:close/>
                </a:path>
              </a:pathLst>
            </a:custGeom>
            <a:blipFill>
              <a:blip>
                <a:alphaModFix amt="4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3" name="Freeform 23"/>
            <p:cNvSpPr/>
            <p:nvPr/>
          </p:nvSpPr>
          <p:spPr>
            <a:xfrm>
              <a:off x="257215" y="827328"/>
              <a:ext cx="2779958" cy="1629020"/>
            </a:xfrm>
            <a:custGeom>
              <a:avLst/>
              <a:gdLst/>
              <a:ahLst/>
              <a:cxnLst/>
              <a:rect l="l" t="t" r="r" b="b"/>
              <a:pathLst>
                <a:path w="2779958" h="1629020">
                  <a:moveTo>
                    <a:pt x="0" y="0"/>
                  </a:moveTo>
                  <a:lnTo>
                    <a:pt x="2779958" y="0"/>
                  </a:lnTo>
                  <a:lnTo>
                    <a:pt x="2779958" y="1629020"/>
                  </a:lnTo>
                  <a:lnTo>
                    <a:pt x="0" y="1629020"/>
                  </a:lnTo>
                  <a:lnTo>
                    <a:pt x="0" y="0"/>
                  </a:lnTo>
                  <a:close/>
                </a:path>
              </a:pathLst>
            </a:custGeom>
            <a:blipFill>
              <a:blip r:embed="rId4"/>
              <a:stretch>
                <a:fillRect/>
              </a:stretch>
            </a:blipFill>
          </p:spPr>
          <p:txBody>
            <a:bodyPr/>
            <a:lstStyle/>
            <a:p>
              <a:endParaRPr lang="en-US"/>
            </a:p>
          </p:txBody>
        </p:sp>
      </p:grpSp>
      <p:sp>
        <p:nvSpPr>
          <p:cNvPr id="26" name="TextBox 15">
            <a:extLst>
              <a:ext uri="{FF2B5EF4-FFF2-40B4-BE49-F238E27FC236}">
                <a16:creationId xmlns:a16="http://schemas.microsoft.com/office/drawing/2014/main" id="{5D67C654-A0D2-272E-95E4-B00B968C8C88}"/>
              </a:ext>
            </a:extLst>
          </p:cNvPr>
          <p:cNvSpPr txBox="1"/>
          <p:nvPr/>
        </p:nvSpPr>
        <p:spPr>
          <a:xfrm>
            <a:off x="9950462" y="2545797"/>
            <a:ext cx="6512628" cy="417553"/>
          </a:xfrm>
          <a:prstGeom prst="rect">
            <a:avLst/>
          </a:prstGeom>
        </p:spPr>
        <p:txBody>
          <a:bodyPr lIns="0" tIns="0" rIns="0" bIns="0" rtlCol="0" anchor="t">
            <a:spAutoFit/>
          </a:bodyPr>
          <a:lstStyle/>
          <a:p>
            <a:pPr algn="l">
              <a:lnSpc>
                <a:spcPts val="3435"/>
              </a:lnSpc>
            </a:pPr>
            <a:r>
              <a:rPr lang="en-US" sz="2664" b="1" spc="26" dirty="0">
                <a:solidFill>
                  <a:srgbClr val="B7EE4A"/>
                </a:solidFill>
                <a:latin typeface="IBM Plex Sans Bold"/>
                <a:ea typeface="IBM Plex Sans Bold"/>
                <a:cs typeface="IBM Plex Sans Bold"/>
                <a:sym typeface="IBM Plex Sans Bold"/>
              </a:rPr>
              <a:t>Real World Results: Interpretation</a:t>
            </a:r>
          </a:p>
        </p:txBody>
      </p:sp>
      <p:sp>
        <p:nvSpPr>
          <p:cNvPr id="28" name="TextBox 8">
            <a:extLst>
              <a:ext uri="{FF2B5EF4-FFF2-40B4-BE49-F238E27FC236}">
                <a16:creationId xmlns:a16="http://schemas.microsoft.com/office/drawing/2014/main" id="{B4A28782-120D-B412-81C3-1102898FBB4A}"/>
              </a:ext>
            </a:extLst>
          </p:cNvPr>
          <p:cNvSpPr txBox="1"/>
          <p:nvPr/>
        </p:nvSpPr>
        <p:spPr>
          <a:xfrm>
            <a:off x="1028700" y="3041503"/>
            <a:ext cx="7734300" cy="1846659"/>
          </a:xfrm>
          <a:prstGeom prst="rect">
            <a:avLst/>
          </a:prstGeom>
        </p:spPr>
        <p:txBody>
          <a:bodyPr wrap="square" lIns="0" tIns="0" rIns="0" bIns="0" rtlCol="0" anchor="t">
            <a:spAutoFit/>
          </a:bodyPr>
          <a:lstStyle/>
          <a:p>
            <a:pPr marL="342900" indent="-342900">
              <a:buFont typeface="Arial" panose="020B0604020202020204" pitchFamily="34" charset="0"/>
              <a:buChar char="•"/>
            </a:pPr>
            <a:r>
              <a:rPr lang="en-US" sz="2400" dirty="0">
                <a:solidFill>
                  <a:schemeClr val="bg2"/>
                </a:solidFill>
              </a:rPr>
              <a:t>Period drift favors structural tracking</a:t>
            </a:r>
          </a:p>
          <a:p>
            <a:pPr marL="342900" indent="-342900">
              <a:buFont typeface="Arial" panose="020B0604020202020204" pitchFamily="34" charset="0"/>
              <a:buChar char="•"/>
            </a:pPr>
            <a:r>
              <a:rPr lang="en-US" sz="2400" dirty="0">
                <a:solidFill>
                  <a:schemeClr val="bg2"/>
                </a:solidFill>
              </a:rPr>
              <a:t>Shape drift requires new pathways</a:t>
            </a:r>
          </a:p>
          <a:p>
            <a:pPr marL="342900" indent="-342900">
              <a:buFont typeface="Arial" panose="020B0604020202020204" pitchFamily="34" charset="0"/>
              <a:buChar char="•"/>
            </a:pPr>
            <a:r>
              <a:rPr lang="en-US" sz="2400" dirty="0">
                <a:solidFill>
                  <a:schemeClr val="bg2"/>
                </a:solidFill>
              </a:rPr>
              <a:t>Noise reveals the role of geometry</a:t>
            </a:r>
          </a:p>
          <a:p>
            <a:pPr marL="342900" indent="-342900">
              <a:buFont typeface="Arial" panose="020B0604020202020204" pitchFamily="34" charset="0"/>
              <a:buChar char="•"/>
            </a:pPr>
            <a:r>
              <a:rPr lang="en-US" sz="2400" dirty="0">
                <a:solidFill>
                  <a:schemeClr val="bg2"/>
                </a:solidFill>
              </a:rPr>
              <a:t>Deep models learn averaged mappings</a:t>
            </a:r>
          </a:p>
          <a:p>
            <a:pPr marL="342900" indent="-342900">
              <a:buFont typeface="Arial" panose="020B0604020202020204" pitchFamily="34" charset="0"/>
              <a:buChar char="•"/>
            </a:pPr>
            <a:r>
              <a:rPr lang="en-US" sz="2400" dirty="0">
                <a:solidFill>
                  <a:schemeClr val="bg2"/>
                </a:solidFill>
              </a:rPr>
              <a:t>Fixed parameters blur incompatible regimes</a:t>
            </a:r>
          </a:p>
        </p:txBody>
      </p:sp>
      <p:sp>
        <p:nvSpPr>
          <p:cNvPr id="30" name="TextBox 15">
            <a:extLst>
              <a:ext uri="{FF2B5EF4-FFF2-40B4-BE49-F238E27FC236}">
                <a16:creationId xmlns:a16="http://schemas.microsoft.com/office/drawing/2014/main" id="{737E8F0D-82EF-53FC-856F-EBC2BF6C1ECE}"/>
              </a:ext>
            </a:extLst>
          </p:cNvPr>
          <p:cNvSpPr txBox="1"/>
          <p:nvPr/>
        </p:nvSpPr>
        <p:spPr>
          <a:xfrm>
            <a:off x="1028700" y="2499026"/>
            <a:ext cx="6667500" cy="413703"/>
          </a:xfrm>
          <a:prstGeom prst="rect">
            <a:avLst/>
          </a:prstGeom>
        </p:spPr>
        <p:txBody>
          <a:bodyPr wrap="square" lIns="0" tIns="0" rIns="0" bIns="0" rtlCol="0" anchor="t">
            <a:spAutoFit/>
          </a:bodyPr>
          <a:lstStyle/>
          <a:p>
            <a:pPr algn="l">
              <a:lnSpc>
                <a:spcPts val="3435"/>
              </a:lnSpc>
            </a:pPr>
            <a:r>
              <a:rPr lang="en-US" sz="2664" b="1" spc="26" dirty="0">
                <a:solidFill>
                  <a:srgbClr val="B7EE4A"/>
                </a:solidFill>
                <a:latin typeface="IBM Plex Sans Bold"/>
                <a:ea typeface="IBM Plex Sans Bold"/>
                <a:cs typeface="IBM Plex Sans Bold"/>
                <a:sym typeface="IBM Plex Sans Bold"/>
              </a:rPr>
              <a:t>Synthetic Panel Results: Interpretation</a:t>
            </a:r>
          </a:p>
        </p:txBody>
      </p:sp>
      <p:sp>
        <p:nvSpPr>
          <p:cNvPr id="32" name="TextBox 8">
            <a:extLst>
              <a:ext uri="{FF2B5EF4-FFF2-40B4-BE49-F238E27FC236}">
                <a16:creationId xmlns:a16="http://schemas.microsoft.com/office/drawing/2014/main" id="{DFEF1CCD-7DA6-D8AF-77F5-D2B1536A3892}"/>
              </a:ext>
            </a:extLst>
          </p:cNvPr>
          <p:cNvSpPr txBox="1"/>
          <p:nvPr/>
        </p:nvSpPr>
        <p:spPr>
          <a:xfrm>
            <a:off x="1063336" y="5894125"/>
            <a:ext cx="7734300" cy="1846659"/>
          </a:xfrm>
          <a:prstGeom prst="rect">
            <a:avLst/>
          </a:prstGeom>
        </p:spPr>
        <p:txBody>
          <a:bodyPr wrap="square" lIns="0" tIns="0" rIns="0" bIns="0" rtlCol="0" anchor="t">
            <a:spAutoFit/>
          </a:bodyPr>
          <a:lstStyle/>
          <a:p>
            <a:pPr marL="342900" indent="-342900">
              <a:buFont typeface="Arial" panose="020B0604020202020204" pitchFamily="34" charset="0"/>
              <a:buChar char="•"/>
            </a:pPr>
            <a:r>
              <a:rPr lang="en-US" sz="2400" dirty="0">
                <a:solidFill>
                  <a:schemeClr val="bg2"/>
                </a:solidFill>
              </a:rPr>
              <a:t>Topology grows selectively</a:t>
            </a:r>
          </a:p>
          <a:p>
            <a:pPr marL="342900" indent="-342900">
              <a:buFont typeface="Arial" panose="020B0604020202020204" pitchFamily="34" charset="0"/>
              <a:buChar char="•"/>
            </a:pPr>
            <a:r>
              <a:rPr lang="en-US" sz="2400" dirty="0">
                <a:solidFill>
                  <a:schemeClr val="bg2"/>
                </a:solidFill>
              </a:rPr>
              <a:t>Consolidation limits expansion</a:t>
            </a:r>
          </a:p>
          <a:p>
            <a:pPr marL="342900" indent="-342900">
              <a:buFont typeface="Arial" panose="020B0604020202020204" pitchFamily="34" charset="0"/>
              <a:buChar char="•"/>
            </a:pPr>
            <a:r>
              <a:rPr lang="en-US" sz="2400" dirty="0">
                <a:solidFill>
                  <a:schemeClr val="bg2"/>
                </a:solidFill>
              </a:rPr>
              <a:t>Conductivity records use</a:t>
            </a:r>
          </a:p>
          <a:p>
            <a:pPr marL="342900" indent="-342900">
              <a:buFont typeface="Arial" panose="020B0604020202020204" pitchFamily="34" charset="0"/>
              <a:buChar char="•"/>
            </a:pPr>
            <a:r>
              <a:rPr lang="en-US" sz="2400" dirty="0">
                <a:solidFill>
                  <a:schemeClr val="bg2"/>
                </a:solidFill>
              </a:rPr>
              <a:t>Memory remains reusable</a:t>
            </a:r>
          </a:p>
          <a:p>
            <a:pPr marL="342900" indent="-342900">
              <a:buFont typeface="Arial" panose="020B0604020202020204" pitchFamily="34" charset="0"/>
              <a:buChar char="•"/>
            </a:pPr>
            <a:r>
              <a:rPr lang="en-US" sz="2400" dirty="0">
                <a:solidFill>
                  <a:schemeClr val="bg2"/>
                </a:solidFill>
              </a:rPr>
              <a:t>Structure reflects regime complexity</a:t>
            </a:r>
          </a:p>
        </p:txBody>
      </p:sp>
      <p:sp>
        <p:nvSpPr>
          <p:cNvPr id="34" name="TextBox 15">
            <a:extLst>
              <a:ext uri="{FF2B5EF4-FFF2-40B4-BE49-F238E27FC236}">
                <a16:creationId xmlns:a16="http://schemas.microsoft.com/office/drawing/2014/main" id="{E9F60C30-41F8-8530-6920-96B13B15CDE9}"/>
              </a:ext>
            </a:extLst>
          </p:cNvPr>
          <p:cNvSpPr txBox="1"/>
          <p:nvPr/>
        </p:nvSpPr>
        <p:spPr>
          <a:xfrm>
            <a:off x="1063336" y="5351648"/>
            <a:ext cx="6667500" cy="413703"/>
          </a:xfrm>
          <a:prstGeom prst="rect">
            <a:avLst/>
          </a:prstGeom>
        </p:spPr>
        <p:txBody>
          <a:bodyPr wrap="square" lIns="0" tIns="0" rIns="0" bIns="0" rtlCol="0" anchor="t">
            <a:spAutoFit/>
          </a:bodyPr>
          <a:lstStyle/>
          <a:p>
            <a:pPr algn="l">
              <a:lnSpc>
                <a:spcPts val="3435"/>
              </a:lnSpc>
            </a:pPr>
            <a:r>
              <a:rPr lang="en-US" sz="2664" b="1" spc="26" dirty="0">
                <a:solidFill>
                  <a:srgbClr val="B7EE4A"/>
                </a:solidFill>
                <a:latin typeface="IBM Plex Sans Bold"/>
                <a:ea typeface="IBM Plex Sans Bold"/>
                <a:cs typeface="IBM Plex Sans Bold"/>
                <a:sym typeface="IBM Plex Sans Bold"/>
              </a:rPr>
              <a:t>Structural Analysis: Interpretation</a:t>
            </a:r>
          </a:p>
        </p:txBody>
      </p:sp>
      <p:sp>
        <p:nvSpPr>
          <p:cNvPr id="36" name="TextBox 8">
            <a:extLst>
              <a:ext uri="{FF2B5EF4-FFF2-40B4-BE49-F238E27FC236}">
                <a16:creationId xmlns:a16="http://schemas.microsoft.com/office/drawing/2014/main" id="{FB695933-B0E1-BECA-7165-1CF2B86FF809}"/>
              </a:ext>
            </a:extLst>
          </p:cNvPr>
          <p:cNvSpPr txBox="1"/>
          <p:nvPr/>
        </p:nvSpPr>
        <p:spPr>
          <a:xfrm>
            <a:off x="9943535" y="5905314"/>
            <a:ext cx="7734300" cy="1477328"/>
          </a:xfrm>
          <a:prstGeom prst="rect">
            <a:avLst/>
          </a:prstGeom>
        </p:spPr>
        <p:txBody>
          <a:bodyPr wrap="square" lIns="0" tIns="0" rIns="0" bIns="0" rtlCol="0" anchor="t">
            <a:spAutoFit/>
          </a:bodyPr>
          <a:lstStyle/>
          <a:p>
            <a:pPr marL="342900" indent="-342900">
              <a:buFont typeface="Arial" panose="020B0604020202020204" pitchFamily="34" charset="0"/>
              <a:buChar char="•"/>
            </a:pPr>
            <a:r>
              <a:rPr lang="en-US" sz="2400" dirty="0">
                <a:solidFill>
                  <a:schemeClr val="bg2"/>
                </a:solidFill>
              </a:rPr>
              <a:t>Front end alone improves the Kalman baseline, </a:t>
            </a:r>
          </a:p>
          <a:p>
            <a:pPr marL="342900" indent="-342900">
              <a:buFont typeface="Arial" panose="020B0604020202020204" pitchFamily="34" charset="0"/>
              <a:buChar char="•"/>
            </a:pPr>
            <a:r>
              <a:rPr lang="en-US" sz="2400" dirty="0">
                <a:solidFill>
                  <a:schemeClr val="bg2"/>
                </a:solidFill>
              </a:rPr>
              <a:t>Meta graph drives smooth trend adaptation</a:t>
            </a:r>
          </a:p>
          <a:p>
            <a:pPr marL="342900" indent="-342900">
              <a:buFont typeface="Arial" panose="020B0604020202020204" pitchFamily="34" charset="0"/>
              <a:buChar char="•"/>
            </a:pPr>
            <a:r>
              <a:rPr lang="en-US" sz="2400" dirty="0">
                <a:solidFill>
                  <a:schemeClr val="bg2"/>
                </a:solidFill>
              </a:rPr>
              <a:t>Base graph supports irregular recurrence</a:t>
            </a:r>
          </a:p>
          <a:p>
            <a:pPr marL="342900" indent="-342900">
              <a:buFont typeface="Arial" panose="020B0604020202020204" pitchFamily="34" charset="0"/>
              <a:buChar char="•"/>
            </a:pPr>
            <a:r>
              <a:rPr lang="en-US" sz="2400" dirty="0">
                <a:solidFill>
                  <a:schemeClr val="bg2"/>
                </a:solidFill>
              </a:rPr>
              <a:t>Blending improves robustness</a:t>
            </a:r>
          </a:p>
        </p:txBody>
      </p:sp>
      <p:sp>
        <p:nvSpPr>
          <p:cNvPr id="38" name="TextBox 15">
            <a:extLst>
              <a:ext uri="{FF2B5EF4-FFF2-40B4-BE49-F238E27FC236}">
                <a16:creationId xmlns:a16="http://schemas.microsoft.com/office/drawing/2014/main" id="{CB890DDD-D92B-7E76-2F98-2E0FD67A0F77}"/>
              </a:ext>
            </a:extLst>
          </p:cNvPr>
          <p:cNvSpPr txBox="1"/>
          <p:nvPr/>
        </p:nvSpPr>
        <p:spPr>
          <a:xfrm>
            <a:off x="9943535" y="5362837"/>
            <a:ext cx="6667500" cy="413703"/>
          </a:xfrm>
          <a:prstGeom prst="rect">
            <a:avLst/>
          </a:prstGeom>
        </p:spPr>
        <p:txBody>
          <a:bodyPr wrap="square" lIns="0" tIns="0" rIns="0" bIns="0" rtlCol="0" anchor="t">
            <a:spAutoFit/>
          </a:bodyPr>
          <a:lstStyle/>
          <a:p>
            <a:pPr algn="l">
              <a:lnSpc>
                <a:spcPts val="3435"/>
              </a:lnSpc>
            </a:pPr>
            <a:r>
              <a:rPr lang="en-US" sz="2664" b="1" spc="26" dirty="0">
                <a:solidFill>
                  <a:srgbClr val="B7EE4A"/>
                </a:solidFill>
                <a:latin typeface="IBM Plex Sans Bold"/>
                <a:ea typeface="IBM Plex Sans Bold"/>
                <a:cs typeface="IBM Plex Sans Bold"/>
                <a:sym typeface="IBM Plex Sans Bold"/>
              </a:rPr>
              <a:t>Ablation Testing: Interpretation</a:t>
            </a:r>
          </a:p>
        </p:txBody>
      </p:sp>
      <p:sp>
        <p:nvSpPr>
          <p:cNvPr id="39" name="Slide Number Placeholder 38">
            <a:extLst>
              <a:ext uri="{FF2B5EF4-FFF2-40B4-BE49-F238E27FC236}">
                <a16:creationId xmlns:a16="http://schemas.microsoft.com/office/drawing/2014/main" id="{6348A95D-9B36-9CDC-2F34-43E8F72B3D20}"/>
              </a:ext>
            </a:extLst>
          </p:cNvPr>
          <p:cNvSpPr>
            <a:spLocks noGrp="1"/>
          </p:cNvSpPr>
          <p:nvPr>
            <p:ph type="sldNum" sz="quarter" idx="12"/>
          </p:nvPr>
        </p:nvSpPr>
        <p:spPr>
          <a:xfrm>
            <a:off x="15925800" y="9715500"/>
            <a:ext cx="2133600" cy="365125"/>
          </a:xfrm>
        </p:spPr>
        <p:txBody>
          <a:bodyPr/>
          <a:lstStyle/>
          <a:p>
            <a:fld id="{B6F15528-21DE-4FAA-801E-634DDDAF4B2B}" type="slidenum">
              <a:rPr lang="en-US" smtClean="0"/>
              <a:pPr/>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lin ang="5400000"/>
        </a:gradFill>
        <a:effectLst/>
      </p:bgPr>
    </p:bg>
    <p:spTree>
      <p:nvGrpSpPr>
        <p:cNvPr id="1" name="">
          <a:extLst>
            <a:ext uri="{FF2B5EF4-FFF2-40B4-BE49-F238E27FC236}">
              <a16:creationId xmlns:a16="http://schemas.microsoft.com/office/drawing/2014/main" id="{0DDFA583-D031-C22F-6AC5-772E6C5AED11}"/>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1E2A2371-1138-191A-D6A6-02D32940BCA9}"/>
              </a:ext>
            </a:extLst>
          </p:cNvPr>
          <p:cNvSpPr/>
          <p:nvPr/>
        </p:nvSpPr>
        <p:spPr>
          <a:xfrm>
            <a:off x="394593" y="3007366"/>
            <a:ext cx="634107" cy="634107"/>
          </a:xfrm>
          <a:custGeom>
            <a:avLst/>
            <a:gdLst/>
            <a:ahLst/>
            <a:cxnLst/>
            <a:rect l="l" t="t" r="r" b="b"/>
            <a:pathLst>
              <a:path w="634107" h="634107">
                <a:moveTo>
                  <a:pt x="0" y="0"/>
                </a:moveTo>
                <a:lnTo>
                  <a:pt x="634107" y="0"/>
                </a:lnTo>
                <a:lnTo>
                  <a:pt x="634107" y="634107"/>
                </a:lnTo>
                <a:lnTo>
                  <a:pt x="0" y="634107"/>
                </a:lnTo>
                <a:lnTo>
                  <a:pt x="0" y="0"/>
                </a:lnTo>
                <a:close/>
              </a:path>
            </a:pathLst>
          </a:custGeom>
          <a:blipFill>
            <a:blip>
              <a:alphaModFix amt="43000"/>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86B7C05D-9EF4-C0B4-F131-C17AE6CC2D34}"/>
              </a:ext>
            </a:extLst>
          </p:cNvPr>
          <p:cNvSpPr/>
          <p:nvPr/>
        </p:nvSpPr>
        <p:spPr>
          <a:xfrm rot="328611">
            <a:off x="15579220" y="637161"/>
            <a:ext cx="1407070" cy="1407070"/>
          </a:xfrm>
          <a:custGeom>
            <a:avLst/>
            <a:gdLst/>
            <a:ahLst/>
            <a:cxnLst/>
            <a:rect l="l" t="t" r="r" b="b"/>
            <a:pathLst>
              <a:path w="1407070" h="1407070">
                <a:moveTo>
                  <a:pt x="0" y="0"/>
                </a:moveTo>
                <a:lnTo>
                  <a:pt x="1407070" y="0"/>
                </a:lnTo>
                <a:lnTo>
                  <a:pt x="1407070" y="1407070"/>
                </a:lnTo>
                <a:lnTo>
                  <a:pt x="0" y="1407070"/>
                </a:lnTo>
                <a:lnTo>
                  <a:pt x="0" y="0"/>
                </a:lnTo>
                <a:close/>
              </a:path>
            </a:pathLst>
          </a:custGeom>
          <a:blipFill>
            <a:blip>
              <a:alphaModFix amt="43000"/>
              <a:extLst>
                <a:ext uri="{96DAC541-7B7A-43D3-8B79-37D633B846F1}">
                  <asvg:svgBlip xmlns:asvg="http://schemas.microsoft.com/office/drawing/2016/SVG/main" r:embed="rId2"/>
                </a:ext>
              </a:extLst>
            </a:blip>
            <a:stretch>
              <a:fillRect/>
            </a:stretch>
          </a:blipFill>
        </p:spPr>
        <p:txBody>
          <a:bodyPr/>
          <a:lstStyle/>
          <a:p>
            <a:endParaRPr lang="en-US"/>
          </a:p>
        </p:txBody>
      </p:sp>
      <p:sp>
        <p:nvSpPr>
          <p:cNvPr id="5" name="AutoShape 5">
            <a:extLst>
              <a:ext uri="{FF2B5EF4-FFF2-40B4-BE49-F238E27FC236}">
                <a16:creationId xmlns:a16="http://schemas.microsoft.com/office/drawing/2014/main" id="{5BB7FD40-5FCF-8803-520F-9674B70F05AB}"/>
              </a:ext>
            </a:extLst>
          </p:cNvPr>
          <p:cNvSpPr/>
          <p:nvPr/>
        </p:nvSpPr>
        <p:spPr>
          <a:xfrm flipH="1">
            <a:off x="0" y="9676538"/>
            <a:ext cx="16463090" cy="0"/>
          </a:xfrm>
          <a:prstGeom prst="line">
            <a:avLst/>
          </a:prstGeom>
          <a:ln w="19050" cap="flat">
            <a:solidFill>
              <a:srgbClr val="FFFFFF"/>
            </a:solidFill>
            <a:prstDash val="solid"/>
            <a:headEnd type="none" w="sm" len="sm"/>
            <a:tailEnd type="none" w="sm" len="sm"/>
          </a:ln>
        </p:spPr>
        <p:txBody>
          <a:bodyPr/>
          <a:lstStyle/>
          <a:p>
            <a:endParaRPr lang="en-US"/>
          </a:p>
        </p:txBody>
      </p:sp>
      <p:sp>
        <p:nvSpPr>
          <p:cNvPr id="6" name="AutoShape 6">
            <a:extLst>
              <a:ext uri="{FF2B5EF4-FFF2-40B4-BE49-F238E27FC236}">
                <a16:creationId xmlns:a16="http://schemas.microsoft.com/office/drawing/2014/main" id="{CF9317D9-9742-0D78-CF64-AFAA642A2EE3}"/>
              </a:ext>
            </a:extLst>
          </p:cNvPr>
          <p:cNvSpPr/>
          <p:nvPr/>
        </p:nvSpPr>
        <p:spPr>
          <a:xfrm flipH="1">
            <a:off x="17050227" y="9667013"/>
            <a:ext cx="960120" cy="0"/>
          </a:xfrm>
          <a:prstGeom prst="line">
            <a:avLst/>
          </a:prstGeom>
          <a:ln w="19050" cap="flat">
            <a:solidFill>
              <a:srgbClr val="FFFFFF"/>
            </a:solidFill>
            <a:prstDash val="solid"/>
            <a:headEnd type="none" w="sm" len="sm"/>
            <a:tailEnd type="none" w="sm" len="sm"/>
          </a:ln>
        </p:spPr>
        <p:txBody>
          <a:bodyPr/>
          <a:lstStyle/>
          <a:p>
            <a:endParaRPr lang="en-US"/>
          </a:p>
        </p:txBody>
      </p:sp>
      <p:sp>
        <p:nvSpPr>
          <p:cNvPr id="7" name="TextBox 7">
            <a:extLst>
              <a:ext uri="{FF2B5EF4-FFF2-40B4-BE49-F238E27FC236}">
                <a16:creationId xmlns:a16="http://schemas.microsoft.com/office/drawing/2014/main" id="{2F32B32C-3FF1-B2B7-DB34-F937555EDC68}"/>
              </a:ext>
            </a:extLst>
          </p:cNvPr>
          <p:cNvSpPr txBox="1"/>
          <p:nvPr/>
        </p:nvSpPr>
        <p:spPr>
          <a:xfrm>
            <a:off x="1028700" y="1321646"/>
            <a:ext cx="12532040" cy="1851982"/>
          </a:xfrm>
          <a:prstGeom prst="rect">
            <a:avLst/>
          </a:prstGeom>
        </p:spPr>
        <p:txBody>
          <a:bodyPr lIns="0" tIns="0" rIns="0" bIns="0" rtlCol="0" anchor="t">
            <a:spAutoFit/>
          </a:bodyPr>
          <a:lstStyle/>
          <a:p>
            <a:pPr>
              <a:lnSpc>
                <a:spcPts val="7351"/>
              </a:lnSpc>
            </a:pPr>
            <a:r>
              <a:rPr lang="en-US" sz="5876" b="1" spc="-17" dirty="0">
                <a:solidFill>
                  <a:srgbClr val="D7E5D8"/>
                </a:solidFill>
                <a:latin typeface="IBM Plex Sans Bold"/>
                <a:ea typeface="IBM Plex Sans Bold"/>
                <a:cs typeface="IBM Plex Sans Bold"/>
                <a:sym typeface="IBM Plex Sans Bold"/>
              </a:rPr>
              <a:t>LIMITATIONS, APPLICATIONS, FUTURE WORK</a:t>
            </a:r>
          </a:p>
        </p:txBody>
      </p:sp>
      <p:sp>
        <p:nvSpPr>
          <p:cNvPr id="8" name="TextBox 8">
            <a:extLst>
              <a:ext uri="{FF2B5EF4-FFF2-40B4-BE49-F238E27FC236}">
                <a16:creationId xmlns:a16="http://schemas.microsoft.com/office/drawing/2014/main" id="{861D6D9F-3AC5-5ADB-514C-88874E544C82}"/>
              </a:ext>
            </a:extLst>
          </p:cNvPr>
          <p:cNvSpPr txBox="1"/>
          <p:nvPr/>
        </p:nvSpPr>
        <p:spPr>
          <a:xfrm>
            <a:off x="11938509" y="5149940"/>
            <a:ext cx="7075545" cy="2077492"/>
          </a:xfrm>
          <a:prstGeom prst="rect">
            <a:avLst/>
          </a:prstGeom>
        </p:spPr>
        <p:txBody>
          <a:bodyPr wrap="square" lIns="0" tIns="0" rIns="0" bIns="0" rtlCol="0" anchor="t">
            <a:spAutoFit/>
          </a:bodyPr>
          <a:lstStyle/>
          <a:p>
            <a:pPr marL="342900" indent="-342900">
              <a:lnSpc>
                <a:spcPts val="2699"/>
              </a:lnSpc>
              <a:buFont typeface="Arial" panose="020B0604020202020204" pitchFamily="34" charset="0"/>
              <a:buChar char="•"/>
            </a:pPr>
            <a:r>
              <a:rPr lang="en-US" sz="2400" dirty="0">
                <a:solidFill>
                  <a:schemeClr val="bg2"/>
                </a:solidFill>
              </a:rPr>
              <a:t>Return-to-regime studies</a:t>
            </a:r>
          </a:p>
          <a:p>
            <a:pPr marL="342900" indent="-342900">
              <a:lnSpc>
                <a:spcPts val="2699"/>
              </a:lnSpc>
              <a:buFont typeface="Arial" panose="020B0604020202020204" pitchFamily="34" charset="0"/>
              <a:buChar char="•"/>
            </a:pPr>
            <a:r>
              <a:rPr lang="en-US" sz="2400" dirty="0">
                <a:solidFill>
                  <a:schemeClr val="bg2"/>
                </a:solidFill>
              </a:rPr>
              <a:t>Broader continual-learning comparisons</a:t>
            </a:r>
          </a:p>
          <a:p>
            <a:pPr marL="342900" indent="-342900">
              <a:lnSpc>
                <a:spcPts val="2699"/>
              </a:lnSpc>
              <a:buFont typeface="Arial" panose="020B0604020202020204" pitchFamily="34" charset="0"/>
              <a:buChar char="•"/>
            </a:pPr>
            <a:r>
              <a:rPr lang="en-US" sz="2400" dirty="0">
                <a:solidFill>
                  <a:schemeClr val="bg2"/>
                </a:solidFill>
              </a:rPr>
              <a:t>Architectural extensions</a:t>
            </a:r>
          </a:p>
          <a:p>
            <a:pPr marL="342900" indent="-342900">
              <a:lnSpc>
                <a:spcPts val="2699"/>
              </a:lnSpc>
              <a:buFont typeface="Arial" panose="020B0604020202020204" pitchFamily="34" charset="0"/>
              <a:buChar char="•"/>
            </a:pPr>
            <a:r>
              <a:rPr lang="en-US" sz="2400" dirty="0">
                <a:solidFill>
                  <a:schemeClr val="bg2"/>
                </a:solidFill>
              </a:rPr>
              <a:t>Bounded memory</a:t>
            </a:r>
          </a:p>
          <a:p>
            <a:pPr marL="342900" indent="-342900">
              <a:lnSpc>
                <a:spcPts val="2699"/>
              </a:lnSpc>
              <a:buFont typeface="Arial" panose="020B0604020202020204" pitchFamily="34" charset="0"/>
              <a:buChar char="•"/>
            </a:pPr>
            <a:r>
              <a:rPr lang="en-US" sz="2400" dirty="0">
                <a:solidFill>
                  <a:schemeClr val="bg2"/>
                </a:solidFill>
              </a:rPr>
              <a:t>Hybrid forecasting</a:t>
            </a:r>
          </a:p>
          <a:p>
            <a:pPr marL="342900" indent="-342900">
              <a:lnSpc>
                <a:spcPts val="2699"/>
              </a:lnSpc>
              <a:buFont typeface="Arial" panose="020B0604020202020204" pitchFamily="34" charset="0"/>
              <a:buChar char="•"/>
            </a:pPr>
            <a:r>
              <a:rPr lang="en-US" sz="2400" dirty="0">
                <a:solidFill>
                  <a:schemeClr val="bg2"/>
                </a:solidFill>
              </a:rPr>
              <a:t>Embedded deployment</a:t>
            </a:r>
          </a:p>
        </p:txBody>
      </p:sp>
      <p:grpSp>
        <p:nvGrpSpPr>
          <p:cNvPr id="21" name="Group 21">
            <a:extLst>
              <a:ext uri="{FF2B5EF4-FFF2-40B4-BE49-F238E27FC236}">
                <a16:creationId xmlns:a16="http://schemas.microsoft.com/office/drawing/2014/main" id="{2DAFCC5F-D803-5B21-5B08-572091B75244}"/>
              </a:ext>
            </a:extLst>
          </p:cNvPr>
          <p:cNvGrpSpPr/>
          <p:nvPr/>
        </p:nvGrpSpPr>
        <p:grpSpPr>
          <a:xfrm>
            <a:off x="0" y="8244826"/>
            <a:ext cx="2737757" cy="2737757"/>
            <a:chOff x="0" y="0"/>
            <a:chExt cx="3650343" cy="3650343"/>
          </a:xfrm>
        </p:grpSpPr>
        <p:sp>
          <p:nvSpPr>
            <p:cNvPr id="22" name="Freeform 22">
              <a:extLst>
                <a:ext uri="{FF2B5EF4-FFF2-40B4-BE49-F238E27FC236}">
                  <a16:creationId xmlns:a16="http://schemas.microsoft.com/office/drawing/2014/main" id="{DCA16908-16A8-25ED-040E-862DD5E76E3E}"/>
                </a:ext>
              </a:extLst>
            </p:cNvPr>
            <p:cNvSpPr/>
            <p:nvPr/>
          </p:nvSpPr>
          <p:spPr>
            <a:xfrm>
              <a:off x="0" y="0"/>
              <a:ext cx="3650343" cy="3650343"/>
            </a:xfrm>
            <a:custGeom>
              <a:avLst/>
              <a:gdLst/>
              <a:ahLst/>
              <a:cxnLst/>
              <a:rect l="l" t="t" r="r" b="b"/>
              <a:pathLst>
                <a:path w="3650343" h="3650343">
                  <a:moveTo>
                    <a:pt x="0" y="0"/>
                  </a:moveTo>
                  <a:lnTo>
                    <a:pt x="3650343" y="0"/>
                  </a:lnTo>
                  <a:lnTo>
                    <a:pt x="3650343" y="3650343"/>
                  </a:lnTo>
                  <a:lnTo>
                    <a:pt x="0" y="3650343"/>
                  </a:lnTo>
                  <a:lnTo>
                    <a:pt x="0" y="0"/>
                  </a:lnTo>
                  <a:close/>
                </a:path>
              </a:pathLst>
            </a:custGeom>
            <a:blipFill>
              <a:blip>
                <a:alphaModFix amt="41000"/>
                <a:extLst>
                  <a:ext uri="{96DAC541-7B7A-43D3-8B79-37D633B846F1}">
                    <asvg:svgBlip xmlns:asvg="http://schemas.microsoft.com/office/drawing/2016/SVG/main" r:embed="rId2"/>
                  </a:ext>
                </a:extLst>
              </a:blip>
              <a:stretch>
                <a:fillRect/>
              </a:stretch>
            </a:blipFill>
          </p:spPr>
          <p:txBody>
            <a:bodyPr/>
            <a:lstStyle/>
            <a:p>
              <a:endParaRPr lang="en-US"/>
            </a:p>
          </p:txBody>
        </p:sp>
        <p:sp>
          <p:nvSpPr>
            <p:cNvPr id="23" name="Freeform 23">
              <a:extLst>
                <a:ext uri="{FF2B5EF4-FFF2-40B4-BE49-F238E27FC236}">
                  <a16:creationId xmlns:a16="http://schemas.microsoft.com/office/drawing/2014/main" id="{0E935A40-DD9F-7C4E-588E-B4B9A8229505}"/>
                </a:ext>
              </a:extLst>
            </p:cNvPr>
            <p:cNvSpPr/>
            <p:nvPr/>
          </p:nvSpPr>
          <p:spPr>
            <a:xfrm>
              <a:off x="257215" y="827328"/>
              <a:ext cx="2779958" cy="1629020"/>
            </a:xfrm>
            <a:custGeom>
              <a:avLst/>
              <a:gdLst/>
              <a:ahLst/>
              <a:cxnLst/>
              <a:rect l="l" t="t" r="r" b="b"/>
              <a:pathLst>
                <a:path w="2779958" h="1629020">
                  <a:moveTo>
                    <a:pt x="0" y="0"/>
                  </a:moveTo>
                  <a:lnTo>
                    <a:pt x="2779958" y="0"/>
                  </a:lnTo>
                  <a:lnTo>
                    <a:pt x="2779958" y="1629020"/>
                  </a:lnTo>
                  <a:lnTo>
                    <a:pt x="0" y="1629020"/>
                  </a:lnTo>
                  <a:lnTo>
                    <a:pt x="0" y="0"/>
                  </a:lnTo>
                  <a:close/>
                </a:path>
              </a:pathLst>
            </a:custGeom>
            <a:blipFill>
              <a:blip r:embed="rId3"/>
              <a:stretch>
                <a:fillRect/>
              </a:stretch>
            </a:blipFill>
          </p:spPr>
          <p:txBody>
            <a:bodyPr/>
            <a:lstStyle/>
            <a:p>
              <a:endParaRPr lang="en-US"/>
            </a:p>
          </p:txBody>
        </p:sp>
      </p:grpSp>
      <p:sp>
        <p:nvSpPr>
          <p:cNvPr id="26" name="TextBox 15">
            <a:extLst>
              <a:ext uri="{FF2B5EF4-FFF2-40B4-BE49-F238E27FC236}">
                <a16:creationId xmlns:a16="http://schemas.microsoft.com/office/drawing/2014/main" id="{64289DF0-9894-47DD-7473-72E00029CFAB}"/>
              </a:ext>
            </a:extLst>
          </p:cNvPr>
          <p:cNvSpPr txBox="1"/>
          <p:nvPr/>
        </p:nvSpPr>
        <p:spPr>
          <a:xfrm>
            <a:off x="11938509" y="4603999"/>
            <a:ext cx="6512628" cy="417553"/>
          </a:xfrm>
          <a:prstGeom prst="rect">
            <a:avLst/>
          </a:prstGeom>
        </p:spPr>
        <p:txBody>
          <a:bodyPr lIns="0" tIns="0" rIns="0" bIns="0" rtlCol="0" anchor="t">
            <a:spAutoFit/>
          </a:bodyPr>
          <a:lstStyle/>
          <a:p>
            <a:pPr algn="l">
              <a:lnSpc>
                <a:spcPts val="3435"/>
              </a:lnSpc>
            </a:pPr>
            <a:r>
              <a:rPr lang="en-US" sz="2664" b="1" spc="26" dirty="0">
                <a:solidFill>
                  <a:srgbClr val="B7EE4A"/>
                </a:solidFill>
                <a:latin typeface="IBM Plex Sans Bold"/>
                <a:ea typeface="IBM Plex Sans Bold"/>
                <a:cs typeface="IBM Plex Sans Bold"/>
                <a:sym typeface="IBM Plex Sans Bold"/>
              </a:rPr>
              <a:t>Future Work</a:t>
            </a:r>
          </a:p>
        </p:txBody>
      </p:sp>
      <p:sp>
        <p:nvSpPr>
          <p:cNvPr id="28" name="TextBox 8">
            <a:extLst>
              <a:ext uri="{FF2B5EF4-FFF2-40B4-BE49-F238E27FC236}">
                <a16:creationId xmlns:a16="http://schemas.microsoft.com/office/drawing/2014/main" id="{96C13865-F71B-23A2-FF71-36F6E6AADB89}"/>
              </a:ext>
            </a:extLst>
          </p:cNvPr>
          <p:cNvSpPr txBox="1"/>
          <p:nvPr/>
        </p:nvSpPr>
        <p:spPr>
          <a:xfrm>
            <a:off x="1274854" y="4950508"/>
            <a:ext cx="7734300" cy="2215991"/>
          </a:xfrm>
          <a:prstGeom prst="rect">
            <a:avLst/>
          </a:prstGeom>
        </p:spPr>
        <p:txBody>
          <a:bodyPr wrap="square" lIns="0" tIns="0" rIns="0" bIns="0" rtlCol="0" anchor="t">
            <a:spAutoFit/>
          </a:bodyPr>
          <a:lstStyle/>
          <a:p>
            <a:pPr marL="342900" indent="-342900">
              <a:buFont typeface="Arial" panose="020B0604020202020204" pitchFamily="34" charset="0"/>
              <a:buChar char="•"/>
            </a:pPr>
            <a:r>
              <a:rPr lang="en-US" sz="2400" dirty="0">
                <a:solidFill>
                  <a:schemeClr val="bg2"/>
                </a:solidFill>
              </a:rPr>
              <a:t>Evaluation scope</a:t>
            </a:r>
          </a:p>
          <a:p>
            <a:pPr marL="342900" indent="-342900">
              <a:buFont typeface="Arial" panose="020B0604020202020204" pitchFamily="34" charset="0"/>
              <a:buChar char="•"/>
            </a:pPr>
            <a:r>
              <a:rPr lang="en-US" sz="2400" dirty="0">
                <a:solidFill>
                  <a:schemeClr val="bg2"/>
                </a:solidFill>
              </a:rPr>
              <a:t>Forecasting scope</a:t>
            </a:r>
          </a:p>
          <a:p>
            <a:pPr marL="342900" indent="-342900">
              <a:buFont typeface="Arial" panose="020B0604020202020204" pitchFamily="34" charset="0"/>
              <a:buChar char="•"/>
            </a:pPr>
            <a:r>
              <a:rPr lang="en-US" sz="2400" dirty="0">
                <a:solidFill>
                  <a:schemeClr val="bg2"/>
                </a:solidFill>
              </a:rPr>
              <a:t>Untested conditions</a:t>
            </a:r>
          </a:p>
          <a:p>
            <a:pPr marL="342900" indent="-342900">
              <a:buFont typeface="Arial" panose="020B0604020202020204" pitchFamily="34" charset="0"/>
              <a:buChar char="•"/>
            </a:pPr>
            <a:r>
              <a:rPr lang="en-US" sz="2400" dirty="0">
                <a:solidFill>
                  <a:schemeClr val="bg2"/>
                </a:solidFill>
              </a:rPr>
              <a:t>Calibration dependence</a:t>
            </a:r>
          </a:p>
          <a:p>
            <a:pPr marL="342900" indent="-342900">
              <a:buFont typeface="Arial" panose="020B0604020202020204" pitchFamily="34" charset="0"/>
              <a:buChar char="•"/>
            </a:pPr>
            <a:r>
              <a:rPr lang="en-US" sz="2400" dirty="0">
                <a:solidFill>
                  <a:schemeClr val="bg2"/>
                </a:solidFill>
              </a:rPr>
              <a:t>Deployment gap</a:t>
            </a:r>
          </a:p>
          <a:p>
            <a:pPr marL="342900" indent="-342900">
              <a:buFont typeface="Arial" panose="020B0604020202020204" pitchFamily="34" charset="0"/>
              <a:buChar char="•"/>
            </a:pPr>
            <a:r>
              <a:rPr lang="en-US" sz="2400" dirty="0">
                <a:solidFill>
                  <a:schemeClr val="bg2"/>
                </a:solidFill>
              </a:rPr>
              <a:t>Biological abstraction</a:t>
            </a:r>
          </a:p>
        </p:txBody>
      </p:sp>
      <p:sp>
        <p:nvSpPr>
          <p:cNvPr id="30" name="TextBox 15">
            <a:extLst>
              <a:ext uri="{FF2B5EF4-FFF2-40B4-BE49-F238E27FC236}">
                <a16:creationId xmlns:a16="http://schemas.microsoft.com/office/drawing/2014/main" id="{0579CC39-B9E5-6EA3-F66F-900F13B9C3AB}"/>
              </a:ext>
            </a:extLst>
          </p:cNvPr>
          <p:cNvSpPr txBox="1"/>
          <p:nvPr/>
        </p:nvSpPr>
        <p:spPr>
          <a:xfrm>
            <a:off x="1274854" y="4408031"/>
            <a:ext cx="6667500" cy="413703"/>
          </a:xfrm>
          <a:prstGeom prst="rect">
            <a:avLst/>
          </a:prstGeom>
        </p:spPr>
        <p:txBody>
          <a:bodyPr wrap="square" lIns="0" tIns="0" rIns="0" bIns="0" rtlCol="0" anchor="t">
            <a:spAutoFit/>
          </a:bodyPr>
          <a:lstStyle/>
          <a:p>
            <a:pPr algn="l">
              <a:lnSpc>
                <a:spcPts val="3435"/>
              </a:lnSpc>
            </a:pPr>
            <a:r>
              <a:rPr lang="en-US" sz="2664" b="1" spc="26" dirty="0">
                <a:solidFill>
                  <a:srgbClr val="B7EE4A"/>
                </a:solidFill>
                <a:latin typeface="IBM Plex Sans Bold"/>
                <a:ea typeface="IBM Plex Sans Bold"/>
                <a:cs typeface="IBM Plex Sans Bold"/>
                <a:sym typeface="IBM Plex Sans Bold"/>
              </a:rPr>
              <a:t>Limitations</a:t>
            </a:r>
          </a:p>
        </p:txBody>
      </p:sp>
      <p:sp>
        <p:nvSpPr>
          <p:cNvPr id="32" name="TextBox 8">
            <a:extLst>
              <a:ext uri="{FF2B5EF4-FFF2-40B4-BE49-F238E27FC236}">
                <a16:creationId xmlns:a16="http://schemas.microsoft.com/office/drawing/2014/main" id="{F605AE37-A6C6-CEBD-2410-A51680239412}"/>
              </a:ext>
            </a:extLst>
          </p:cNvPr>
          <p:cNvSpPr txBox="1"/>
          <p:nvPr/>
        </p:nvSpPr>
        <p:spPr>
          <a:xfrm>
            <a:off x="6163543" y="4161977"/>
            <a:ext cx="7734300" cy="1846659"/>
          </a:xfrm>
          <a:prstGeom prst="rect">
            <a:avLst/>
          </a:prstGeom>
        </p:spPr>
        <p:txBody>
          <a:bodyPr wrap="square" lIns="0" tIns="0" rIns="0" bIns="0" rtlCol="0" anchor="t">
            <a:spAutoFit/>
          </a:bodyPr>
          <a:lstStyle/>
          <a:p>
            <a:pPr marL="342900" indent="-342900">
              <a:buFont typeface="Arial" panose="020B0604020202020204" pitchFamily="34" charset="0"/>
              <a:buChar char="•"/>
            </a:pPr>
            <a:r>
              <a:rPr lang="en-US" sz="2400" dirty="0">
                <a:solidFill>
                  <a:schemeClr val="bg2"/>
                </a:solidFill>
              </a:rPr>
              <a:t>Robotics</a:t>
            </a:r>
          </a:p>
          <a:p>
            <a:pPr marL="342900" indent="-342900">
              <a:buFont typeface="Arial" panose="020B0604020202020204" pitchFamily="34" charset="0"/>
              <a:buChar char="•"/>
            </a:pPr>
            <a:r>
              <a:rPr lang="en-US" sz="2400" dirty="0">
                <a:solidFill>
                  <a:schemeClr val="bg2"/>
                </a:solidFill>
              </a:rPr>
              <a:t>Condition monitoring</a:t>
            </a:r>
          </a:p>
          <a:p>
            <a:pPr marL="342900" indent="-342900">
              <a:buFont typeface="Arial" panose="020B0604020202020204" pitchFamily="34" charset="0"/>
              <a:buChar char="•"/>
            </a:pPr>
            <a:r>
              <a:rPr lang="en-US" sz="2400" dirty="0">
                <a:solidFill>
                  <a:schemeClr val="bg2"/>
                </a:solidFill>
              </a:rPr>
              <a:t>Edge sensing</a:t>
            </a:r>
          </a:p>
          <a:p>
            <a:pPr marL="342900" indent="-342900">
              <a:buFont typeface="Arial" panose="020B0604020202020204" pitchFamily="34" charset="0"/>
              <a:buChar char="•"/>
            </a:pPr>
            <a:r>
              <a:rPr lang="en-US" sz="2400" dirty="0">
                <a:solidFill>
                  <a:schemeClr val="bg2"/>
                </a:solidFill>
              </a:rPr>
              <a:t>Physiological monitoring</a:t>
            </a:r>
          </a:p>
          <a:p>
            <a:pPr marL="342900" indent="-342900">
              <a:buFont typeface="Arial" panose="020B0604020202020204" pitchFamily="34" charset="0"/>
              <a:buChar char="•"/>
            </a:pPr>
            <a:r>
              <a:rPr lang="en-US" sz="2400" dirty="0">
                <a:solidFill>
                  <a:schemeClr val="bg2"/>
                </a:solidFill>
              </a:rPr>
              <a:t>Infrastructure sensing</a:t>
            </a:r>
          </a:p>
        </p:txBody>
      </p:sp>
      <p:sp>
        <p:nvSpPr>
          <p:cNvPr id="34" name="TextBox 15">
            <a:extLst>
              <a:ext uri="{FF2B5EF4-FFF2-40B4-BE49-F238E27FC236}">
                <a16:creationId xmlns:a16="http://schemas.microsoft.com/office/drawing/2014/main" id="{CBE237B2-1414-5008-506A-816031975F72}"/>
              </a:ext>
            </a:extLst>
          </p:cNvPr>
          <p:cNvSpPr txBox="1"/>
          <p:nvPr/>
        </p:nvSpPr>
        <p:spPr>
          <a:xfrm>
            <a:off x="6163543" y="3619500"/>
            <a:ext cx="6667500" cy="413703"/>
          </a:xfrm>
          <a:prstGeom prst="rect">
            <a:avLst/>
          </a:prstGeom>
        </p:spPr>
        <p:txBody>
          <a:bodyPr wrap="square" lIns="0" tIns="0" rIns="0" bIns="0" rtlCol="0" anchor="t">
            <a:spAutoFit/>
          </a:bodyPr>
          <a:lstStyle/>
          <a:p>
            <a:pPr algn="l">
              <a:lnSpc>
                <a:spcPts val="3435"/>
              </a:lnSpc>
            </a:pPr>
            <a:r>
              <a:rPr lang="en-US" sz="2664" b="1" spc="26" dirty="0">
                <a:solidFill>
                  <a:srgbClr val="B7EE4A"/>
                </a:solidFill>
                <a:latin typeface="IBM Plex Sans Bold"/>
                <a:ea typeface="IBM Plex Sans Bold"/>
                <a:cs typeface="IBM Plex Sans Bold"/>
                <a:sym typeface="IBM Plex Sans Bold"/>
              </a:rPr>
              <a:t>Potential Applications</a:t>
            </a:r>
          </a:p>
        </p:txBody>
      </p:sp>
      <p:sp>
        <p:nvSpPr>
          <p:cNvPr id="9" name="Freeform 2">
            <a:extLst>
              <a:ext uri="{FF2B5EF4-FFF2-40B4-BE49-F238E27FC236}">
                <a16:creationId xmlns:a16="http://schemas.microsoft.com/office/drawing/2014/main" id="{E1C207DB-EEA4-CB58-7A79-459B2D4EC527}"/>
              </a:ext>
            </a:extLst>
          </p:cNvPr>
          <p:cNvSpPr/>
          <p:nvPr/>
        </p:nvSpPr>
        <p:spPr>
          <a:xfrm>
            <a:off x="5599659" y="7269458"/>
            <a:ext cx="1326504" cy="1212308"/>
          </a:xfrm>
          <a:custGeom>
            <a:avLst/>
            <a:gdLst/>
            <a:ahLst/>
            <a:cxnLst/>
            <a:rect l="l" t="t" r="r" b="b"/>
            <a:pathLst>
              <a:path w="1942291" h="1772782">
                <a:moveTo>
                  <a:pt x="0" y="0"/>
                </a:moveTo>
                <a:lnTo>
                  <a:pt x="1942290" y="0"/>
                </a:lnTo>
                <a:lnTo>
                  <a:pt x="1942290" y="1772781"/>
                </a:lnTo>
                <a:lnTo>
                  <a:pt x="0" y="177278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Freeform 3">
            <a:extLst>
              <a:ext uri="{FF2B5EF4-FFF2-40B4-BE49-F238E27FC236}">
                <a16:creationId xmlns:a16="http://schemas.microsoft.com/office/drawing/2014/main" id="{4263A82B-DB38-3280-C2CB-BBCAC961761B}"/>
              </a:ext>
            </a:extLst>
          </p:cNvPr>
          <p:cNvSpPr/>
          <p:nvPr/>
        </p:nvSpPr>
        <p:spPr>
          <a:xfrm>
            <a:off x="7339906" y="6894020"/>
            <a:ext cx="1326504" cy="1212308"/>
          </a:xfrm>
          <a:custGeom>
            <a:avLst/>
            <a:gdLst/>
            <a:ahLst/>
            <a:cxnLst/>
            <a:rect l="l" t="t" r="r" b="b"/>
            <a:pathLst>
              <a:path w="1941996" h="1709277">
                <a:moveTo>
                  <a:pt x="0" y="0"/>
                </a:moveTo>
                <a:lnTo>
                  <a:pt x="1941996" y="0"/>
                </a:lnTo>
                <a:lnTo>
                  <a:pt x="1941996" y="1709277"/>
                </a:lnTo>
                <a:lnTo>
                  <a:pt x="0" y="170927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1" name="Freeform 4">
            <a:extLst>
              <a:ext uri="{FF2B5EF4-FFF2-40B4-BE49-F238E27FC236}">
                <a16:creationId xmlns:a16="http://schemas.microsoft.com/office/drawing/2014/main" id="{3BFE4C6B-C8B8-6B3A-E173-4C2F3F460EF5}"/>
              </a:ext>
            </a:extLst>
          </p:cNvPr>
          <p:cNvSpPr/>
          <p:nvPr/>
        </p:nvSpPr>
        <p:spPr>
          <a:xfrm>
            <a:off x="9238461" y="7144603"/>
            <a:ext cx="1326505" cy="1395967"/>
          </a:xfrm>
          <a:custGeom>
            <a:avLst/>
            <a:gdLst/>
            <a:ahLst/>
            <a:cxnLst/>
            <a:rect l="l" t="t" r="r" b="b"/>
            <a:pathLst>
              <a:path w="1626173" h="1758025">
                <a:moveTo>
                  <a:pt x="0" y="0"/>
                </a:moveTo>
                <a:lnTo>
                  <a:pt x="1626173" y="0"/>
                </a:lnTo>
                <a:lnTo>
                  <a:pt x="1626173" y="1758025"/>
                </a:lnTo>
                <a:lnTo>
                  <a:pt x="0" y="175802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2" name="Slide Number Placeholder 11">
            <a:extLst>
              <a:ext uri="{FF2B5EF4-FFF2-40B4-BE49-F238E27FC236}">
                <a16:creationId xmlns:a16="http://schemas.microsoft.com/office/drawing/2014/main" id="{3C8202C3-5750-CC46-9CE0-1A7A29BCC932}"/>
              </a:ext>
            </a:extLst>
          </p:cNvPr>
          <p:cNvSpPr>
            <a:spLocks noGrp="1"/>
          </p:cNvSpPr>
          <p:nvPr>
            <p:ph type="sldNum" sz="quarter" idx="12"/>
          </p:nvPr>
        </p:nvSpPr>
        <p:spPr>
          <a:xfrm>
            <a:off x="15925800" y="9715500"/>
            <a:ext cx="2133600" cy="365125"/>
          </a:xfrm>
        </p:spPr>
        <p:txBody>
          <a:bodyPr/>
          <a:lstStyle/>
          <a:p>
            <a:fld id="{B6F15528-21DE-4FAA-801E-634DDDAF4B2B}" type="slidenum">
              <a:rPr lang="en-US" smtClean="0"/>
              <a:pPr/>
              <a:t>34</a:t>
            </a:fld>
            <a:endParaRPr lang="en-US"/>
          </a:p>
        </p:txBody>
      </p:sp>
    </p:spTree>
    <p:extLst>
      <p:ext uri="{BB962C8B-B14F-4D97-AF65-F5344CB8AC3E}">
        <p14:creationId xmlns:p14="http://schemas.microsoft.com/office/powerpoint/2010/main" val="25012790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lin ang="5400000"/>
        </a:gradFill>
        <a:effectLst/>
      </p:bgPr>
    </p:bg>
    <p:spTree>
      <p:nvGrpSpPr>
        <p:cNvPr id="1" name=""/>
        <p:cNvGrpSpPr/>
        <p:nvPr/>
      </p:nvGrpSpPr>
      <p:grpSpPr>
        <a:xfrm>
          <a:off x="0" y="0"/>
          <a:ext cx="0" cy="0"/>
          <a:chOff x="0" y="0"/>
          <a:chExt cx="0" cy="0"/>
        </a:xfrm>
      </p:grpSpPr>
      <p:sp>
        <p:nvSpPr>
          <p:cNvPr id="5" name="Freeform 5"/>
          <p:cNvSpPr/>
          <p:nvPr/>
        </p:nvSpPr>
        <p:spPr>
          <a:xfrm>
            <a:off x="11474472" y="6690360"/>
            <a:ext cx="7315200" cy="3596640"/>
          </a:xfrm>
          <a:custGeom>
            <a:avLst/>
            <a:gdLst/>
            <a:ahLst/>
            <a:cxnLst/>
            <a:rect l="l" t="t" r="r" b="b"/>
            <a:pathLst>
              <a:path w="7315200" h="3596640">
                <a:moveTo>
                  <a:pt x="0" y="0"/>
                </a:moveTo>
                <a:lnTo>
                  <a:pt x="7315200" y="0"/>
                </a:lnTo>
                <a:lnTo>
                  <a:pt x="7315200" y="3596640"/>
                </a:lnTo>
                <a:lnTo>
                  <a:pt x="0" y="3596640"/>
                </a:lnTo>
                <a:lnTo>
                  <a:pt x="0" y="0"/>
                </a:lnTo>
                <a:close/>
              </a:path>
            </a:pathLst>
          </a:custGeom>
          <a:blipFill>
            <a:blip>
              <a:alphaModFix amt="44999"/>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AutoShape 8"/>
          <p:cNvSpPr/>
          <p:nvPr/>
        </p:nvSpPr>
        <p:spPr>
          <a:xfrm flipH="1">
            <a:off x="0" y="9676538"/>
            <a:ext cx="16463090" cy="0"/>
          </a:xfrm>
          <a:prstGeom prst="line">
            <a:avLst/>
          </a:prstGeom>
          <a:ln w="19050" cap="flat">
            <a:solidFill>
              <a:srgbClr val="FFFFFF"/>
            </a:solidFill>
            <a:prstDash val="solid"/>
            <a:headEnd type="none" w="sm" len="sm"/>
            <a:tailEnd type="none" w="sm" len="sm"/>
          </a:ln>
        </p:spPr>
        <p:txBody>
          <a:bodyPr/>
          <a:lstStyle/>
          <a:p>
            <a:endParaRPr lang="en-US"/>
          </a:p>
        </p:txBody>
      </p:sp>
      <p:sp>
        <p:nvSpPr>
          <p:cNvPr id="10" name="TextBox 10"/>
          <p:cNvSpPr txBox="1"/>
          <p:nvPr/>
        </p:nvSpPr>
        <p:spPr>
          <a:xfrm>
            <a:off x="1028700" y="923925"/>
            <a:ext cx="12001964" cy="903004"/>
          </a:xfrm>
          <a:prstGeom prst="rect">
            <a:avLst/>
          </a:prstGeom>
        </p:spPr>
        <p:txBody>
          <a:bodyPr lIns="0" tIns="0" rIns="0" bIns="0" rtlCol="0" anchor="t">
            <a:spAutoFit/>
          </a:bodyPr>
          <a:lstStyle/>
          <a:p>
            <a:pPr algn="l">
              <a:lnSpc>
                <a:spcPts val="7351"/>
              </a:lnSpc>
            </a:pPr>
            <a:r>
              <a:rPr lang="en-US" sz="5876" b="1" spc="-17" dirty="0">
                <a:solidFill>
                  <a:srgbClr val="D7E5D8"/>
                </a:solidFill>
                <a:latin typeface="IBM Plex Sans Bold"/>
                <a:ea typeface="IBM Plex Sans Bold"/>
                <a:cs typeface="IBM Plex Sans Bold"/>
                <a:sym typeface="IBM Plex Sans Bold"/>
              </a:rPr>
              <a:t>CONCLUSION</a:t>
            </a:r>
          </a:p>
        </p:txBody>
      </p:sp>
      <p:sp>
        <p:nvSpPr>
          <p:cNvPr id="12" name="TextBox 12"/>
          <p:cNvSpPr txBox="1"/>
          <p:nvPr/>
        </p:nvSpPr>
        <p:spPr>
          <a:xfrm>
            <a:off x="1388486" y="2811650"/>
            <a:ext cx="12483633" cy="1477328"/>
          </a:xfrm>
          <a:prstGeom prst="rect">
            <a:avLst/>
          </a:prstGeom>
        </p:spPr>
        <p:txBody>
          <a:bodyPr wrap="square" lIns="0" tIns="0" rIns="0" bIns="0" rtlCol="0" anchor="t">
            <a:spAutoFit/>
          </a:bodyPr>
          <a:lstStyle/>
          <a:p>
            <a:pPr>
              <a:lnSpc>
                <a:spcPct val="200000"/>
              </a:lnSpc>
            </a:pPr>
            <a:r>
              <a:rPr lang="en-US" sz="2800" b="1" spc="26" dirty="0">
                <a:solidFill>
                  <a:srgbClr val="B7EE4A"/>
                </a:solidFill>
                <a:latin typeface="IBM Plex Sans Bold"/>
                <a:ea typeface="IBM Plex Sans Bold"/>
                <a:cs typeface="IBM Plex Sans Bold"/>
                <a:sym typeface="IBM Plex Sans Bold"/>
              </a:rPr>
              <a:t>01</a:t>
            </a:r>
            <a:r>
              <a:rPr lang="en-US" sz="2400" b="1" spc="26" dirty="0">
                <a:solidFill>
                  <a:srgbClr val="B7EE4A"/>
                </a:solidFill>
                <a:latin typeface="IBM Plex Sans Bold"/>
                <a:ea typeface="IBM Plex Sans Bold"/>
                <a:cs typeface="IBM Plex Sans Bold"/>
                <a:sym typeface="IBM Plex Sans Bold"/>
              </a:rPr>
              <a:t> 	</a:t>
            </a:r>
            <a:r>
              <a:rPr lang="en-US" sz="2400" b="1" spc="21" dirty="0">
                <a:solidFill>
                  <a:srgbClr val="D7E5D8"/>
                </a:solidFill>
                <a:latin typeface="Amicale Light"/>
                <a:ea typeface="Amicale Light"/>
                <a:cs typeface="Amicale Light"/>
                <a:sym typeface="Amicale Light"/>
              </a:rPr>
              <a:t>Novel Architecture for Continuous Streaming Forecasting</a:t>
            </a:r>
          </a:p>
          <a:p>
            <a:pPr marL="1257300" lvl="2" indent="-342900">
              <a:lnSpc>
                <a:spcPts val="2428"/>
              </a:lnSpc>
              <a:buFont typeface="Arial" panose="020B0604020202020204" pitchFamily="34" charset="0"/>
              <a:buChar char="•"/>
            </a:pPr>
            <a:r>
              <a:rPr lang="en-US" sz="2000" dirty="0" err="1">
                <a:solidFill>
                  <a:schemeClr val="bg2"/>
                </a:solidFill>
              </a:rPr>
              <a:t>Matérn</a:t>
            </a:r>
            <a:r>
              <a:rPr lang="en-US" sz="2000" dirty="0">
                <a:solidFill>
                  <a:schemeClr val="bg2"/>
                </a:solidFill>
              </a:rPr>
              <a:t> state-space model  </a:t>
            </a:r>
            <a:r>
              <a:rPr lang="en-US" sz="2000" dirty="0">
                <a:solidFill>
                  <a:schemeClr val="bg2"/>
                </a:solidFill>
                <a:sym typeface="Wingdings" panose="05000000000000000000" pitchFamily="2" charset="2"/>
              </a:rPr>
              <a:t></a:t>
            </a:r>
            <a:r>
              <a:rPr lang="en-US" sz="2000" dirty="0">
                <a:solidFill>
                  <a:schemeClr val="bg2"/>
                </a:solidFill>
              </a:rPr>
              <a:t> Kalman filter </a:t>
            </a:r>
            <a:r>
              <a:rPr lang="en-US" sz="2000" dirty="0">
                <a:solidFill>
                  <a:schemeClr val="bg2"/>
                </a:solidFill>
                <a:sym typeface="Wingdings" panose="05000000000000000000" pitchFamily="2" charset="2"/>
              </a:rPr>
              <a:t></a:t>
            </a:r>
            <a:r>
              <a:rPr lang="en-US" sz="2000" dirty="0">
                <a:solidFill>
                  <a:schemeClr val="bg2"/>
                </a:solidFill>
              </a:rPr>
              <a:t> RTS smoother </a:t>
            </a:r>
            <a:r>
              <a:rPr lang="en-US" sz="2000" dirty="0">
                <a:solidFill>
                  <a:schemeClr val="bg2"/>
                </a:solidFill>
                <a:sym typeface="Wingdings" panose="05000000000000000000" pitchFamily="2" charset="2"/>
              </a:rPr>
              <a:t> </a:t>
            </a:r>
            <a:r>
              <a:rPr lang="en-US" sz="2000" dirty="0" err="1">
                <a:solidFill>
                  <a:schemeClr val="bg2"/>
                </a:solidFill>
                <a:sym typeface="Wingdings" panose="05000000000000000000" pitchFamily="2" charset="2"/>
              </a:rPr>
              <a:t>Takens</a:t>
            </a:r>
            <a:r>
              <a:rPr lang="en-US" sz="2000" dirty="0">
                <a:solidFill>
                  <a:schemeClr val="bg2"/>
                </a:solidFill>
                <a:sym typeface="Wingdings" panose="05000000000000000000" pitchFamily="2" charset="2"/>
              </a:rPr>
              <a:t> first-derivative delay embedding</a:t>
            </a:r>
            <a:endParaRPr lang="en-US" sz="2000" spc="21" dirty="0">
              <a:solidFill>
                <a:schemeClr val="bg2"/>
              </a:solidFill>
              <a:sym typeface="Amicale Light"/>
            </a:endParaRPr>
          </a:p>
          <a:p>
            <a:pPr marL="1257300" lvl="2" indent="-342900">
              <a:lnSpc>
                <a:spcPts val="2428"/>
              </a:lnSpc>
              <a:buFont typeface="Arial" panose="020B0604020202020204" pitchFamily="34" charset="0"/>
              <a:buChar char="•"/>
            </a:pPr>
            <a:r>
              <a:rPr lang="en-US" sz="2000" spc="21" dirty="0">
                <a:solidFill>
                  <a:schemeClr val="bg2"/>
                </a:solidFill>
                <a:sym typeface="Amicale Light"/>
              </a:rPr>
              <a:t>Two-layer temporal graph architecture with hybrid prediction</a:t>
            </a:r>
          </a:p>
        </p:txBody>
      </p:sp>
      <p:sp>
        <p:nvSpPr>
          <p:cNvPr id="16" name="TextBox 16"/>
          <p:cNvSpPr txBox="1"/>
          <p:nvPr/>
        </p:nvSpPr>
        <p:spPr>
          <a:xfrm>
            <a:off x="1028700" y="2342693"/>
            <a:ext cx="6512628" cy="417553"/>
          </a:xfrm>
          <a:prstGeom prst="rect">
            <a:avLst/>
          </a:prstGeom>
        </p:spPr>
        <p:txBody>
          <a:bodyPr lIns="0" tIns="0" rIns="0" bIns="0" rtlCol="0" anchor="t">
            <a:spAutoFit/>
          </a:bodyPr>
          <a:lstStyle/>
          <a:p>
            <a:pPr algn="l">
              <a:lnSpc>
                <a:spcPts val="3435"/>
              </a:lnSpc>
            </a:pPr>
            <a:r>
              <a:rPr lang="en-US" sz="2664" b="1" spc="26" dirty="0">
                <a:solidFill>
                  <a:srgbClr val="B7EE4A"/>
                </a:solidFill>
                <a:latin typeface="IBM Plex Sans Bold"/>
                <a:ea typeface="IBM Plex Sans Bold"/>
                <a:cs typeface="IBM Plex Sans Bold"/>
                <a:sym typeface="IBM Plex Sans Bold"/>
              </a:rPr>
              <a:t>Core contributions of this thesis</a:t>
            </a:r>
          </a:p>
        </p:txBody>
      </p:sp>
      <p:grpSp>
        <p:nvGrpSpPr>
          <p:cNvPr id="18" name="Group 18"/>
          <p:cNvGrpSpPr/>
          <p:nvPr/>
        </p:nvGrpSpPr>
        <p:grpSpPr>
          <a:xfrm>
            <a:off x="0" y="8244826"/>
            <a:ext cx="2737757" cy="2737757"/>
            <a:chOff x="0" y="0"/>
            <a:chExt cx="3650343" cy="3650343"/>
          </a:xfrm>
        </p:grpSpPr>
        <p:sp>
          <p:nvSpPr>
            <p:cNvPr id="19" name="Freeform 19"/>
            <p:cNvSpPr/>
            <p:nvPr/>
          </p:nvSpPr>
          <p:spPr>
            <a:xfrm>
              <a:off x="0" y="0"/>
              <a:ext cx="3650343" cy="3650343"/>
            </a:xfrm>
            <a:custGeom>
              <a:avLst/>
              <a:gdLst/>
              <a:ahLst/>
              <a:cxnLst/>
              <a:rect l="l" t="t" r="r" b="b"/>
              <a:pathLst>
                <a:path w="3650343" h="3650343">
                  <a:moveTo>
                    <a:pt x="0" y="0"/>
                  </a:moveTo>
                  <a:lnTo>
                    <a:pt x="3650343" y="0"/>
                  </a:lnTo>
                  <a:lnTo>
                    <a:pt x="3650343" y="3650343"/>
                  </a:lnTo>
                  <a:lnTo>
                    <a:pt x="0" y="3650343"/>
                  </a:lnTo>
                  <a:lnTo>
                    <a:pt x="0" y="0"/>
                  </a:lnTo>
                  <a:close/>
                </a:path>
              </a:pathLst>
            </a:custGeom>
            <a:blipFill>
              <a:blip>
                <a:alphaModFix amt="41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0" name="Freeform 20"/>
            <p:cNvSpPr/>
            <p:nvPr/>
          </p:nvSpPr>
          <p:spPr>
            <a:xfrm>
              <a:off x="257215" y="827328"/>
              <a:ext cx="2779958" cy="1629020"/>
            </a:xfrm>
            <a:custGeom>
              <a:avLst/>
              <a:gdLst/>
              <a:ahLst/>
              <a:cxnLst/>
              <a:rect l="l" t="t" r="r" b="b"/>
              <a:pathLst>
                <a:path w="2779958" h="1629020">
                  <a:moveTo>
                    <a:pt x="0" y="0"/>
                  </a:moveTo>
                  <a:lnTo>
                    <a:pt x="2779958" y="0"/>
                  </a:lnTo>
                  <a:lnTo>
                    <a:pt x="2779958" y="1629020"/>
                  </a:lnTo>
                  <a:lnTo>
                    <a:pt x="0" y="1629020"/>
                  </a:lnTo>
                  <a:lnTo>
                    <a:pt x="0" y="0"/>
                  </a:lnTo>
                  <a:close/>
                </a:path>
              </a:pathLst>
            </a:custGeom>
            <a:blipFill>
              <a:blip r:embed="rId5"/>
              <a:stretch>
                <a:fillRect/>
              </a:stretch>
            </a:blipFill>
          </p:spPr>
          <p:txBody>
            <a:bodyPr/>
            <a:lstStyle/>
            <a:p>
              <a:endParaRPr lang="en-US"/>
            </a:p>
          </p:txBody>
        </p:sp>
      </p:grpSp>
      <p:sp>
        <p:nvSpPr>
          <p:cNvPr id="21" name="TextBox 21"/>
          <p:cNvSpPr txBox="1"/>
          <p:nvPr/>
        </p:nvSpPr>
        <p:spPr>
          <a:xfrm>
            <a:off x="17335467" y="9210675"/>
            <a:ext cx="65" cy="335541"/>
          </a:xfrm>
          <a:prstGeom prst="rect">
            <a:avLst/>
          </a:prstGeom>
        </p:spPr>
        <p:txBody>
          <a:bodyPr wrap="none" lIns="0" tIns="0" rIns="0" bIns="0" rtlCol="0" anchor="t">
            <a:spAutoFit/>
          </a:bodyPr>
          <a:lstStyle/>
          <a:p>
            <a:pPr algn="ctr">
              <a:lnSpc>
                <a:spcPts val="2800"/>
              </a:lnSpc>
              <a:spcBef>
                <a:spcPct val="0"/>
              </a:spcBef>
            </a:pPr>
            <a:endParaRPr lang="en-US" sz="2000" dirty="0">
              <a:solidFill>
                <a:srgbClr val="000000"/>
              </a:solidFill>
              <a:latin typeface="Canva Sans"/>
              <a:ea typeface="Canva Sans"/>
              <a:cs typeface="Canva Sans"/>
              <a:sym typeface="Canva Sans"/>
            </a:endParaRPr>
          </a:p>
        </p:txBody>
      </p:sp>
      <p:sp>
        <p:nvSpPr>
          <p:cNvPr id="25" name="TextBox 12">
            <a:extLst>
              <a:ext uri="{FF2B5EF4-FFF2-40B4-BE49-F238E27FC236}">
                <a16:creationId xmlns:a16="http://schemas.microsoft.com/office/drawing/2014/main" id="{9072009C-1D60-9620-4CEC-1271237BC828}"/>
              </a:ext>
            </a:extLst>
          </p:cNvPr>
          <p:cNvSpPr txBox="1"/>
          <p:nvPr/>
        </p:nvSpPr>
        <p:spPr>
          <a:xfrm>
            <a:off x="1388486" y="4297214"/>
            <a:ext cx="12483633" cy="1477328"/>
          </a:xfrm>
          <a:prstGeom prst="rect">
            <a:avLst/>
          </a:prstGeom>
        </p:spPr>
        <p:txBody>
          <a:bodyPr wrap="square" lIns="0" tIns="0" rIns="0" bIns="0" rtlCol="0" anchor="t">
            <a:spAutoFit/>
          </a:bodyPr>
          <a:lstStyle/>
          <a:p>
            <a:pPr>
              <a:lnSpc>
                <a:spcPct val="200000"/>
              </a:lnSpc>
            </a:pPr>
            <a:r>
              <a:rPr lang="en-US" sz="2800" b="1" spc="26" dirty="0">
                <a:solidFill>
                  <a:srgbClr val="B7EE4A"/>
                </a:solidFill>
                <a:latin typeface="IBM Plex Sans Bold"/>
                <a:ea typeface="IBM Plex Sans Bold"/>
                <a:cs typeface="IBM Plex Sans Bold"/>
                <a:sym typeface="IBM Plex Sans Bold"/>
              </a:rPr>
              <a:t>02</a:t>
            </a:r>
            <a:r>
              <a:rPr lang="en-US" sz="2400" b="1" spc="26" dirty="0">
                <a:solidFill>
                  <a:srgbClr val="B7EE4A"/>
                </a:solidFill>
                <a:latin typeface="IBM Plex Sans Bold"/>
                <a:ea typeface="IBM Plex Sans Bold"/>
                <a:cs typeface="IBM Plex Sans Bold"/>
                <a:sym typeface="IBM Plex Sans Bold"/>
              </a:rPr>
              <a:t> 	</a:t>
            </a:r>
            <a:r>
              <a:rPr lang="en-US" sz="2400" b="1" spc="21" dirty="0">
                <a:solidFill>
                  <a:srgbClr val="D7E5D8"/>
                </a:solidFill>
                <a:latin typeface="Amicale Light"/>
                <a:ea typeface="Amicale Light"/>
                <a:cs typeface="Amicale Light"/>
                <a:sym typeface="Amicale Light"/>
              </a:rPr>
              <a:t>Unique Implementation of Biological Network Properties</a:t>
            </a:r>
          </a:p>
          <a:p>
            <a:pPr marL="1257300" lvl="2" indent="-342900">
              <a:lnSpc>
                <a:spcPts val="2428"/>
              </a:lnSpc>
              <a:buFont typeface="Arial" panose="020B0604020202020204" pitchFamily="34" charset="0"/>
              <a:buChar char="•"/>
            </a:pPr>
            <a:r>
              <a:rPr lang="en-US" sz="2000" spc="21" dirty="0">
                <a:solidFill>
                  <a:schemeClr val="bg2"/>
                </a:solidFill>
                <a:sym typeface="Amicale Light"/>
              </a:rPr>
              <a:t>Direct reinterpretation of </a:t>
            </a:r>
            <a:r>
              <a:rPr lang="en-US" sz="2000" i="1" spc="21" dirty="0" err="1">
                <a:solidFill>
                  <a:schemeClr val="bg2"/>
                </a:solidFill>
                <a:sym typeface="Amicale Light"/>
              </a:rPr>
              <a:t>Physarum</a:t>
            </a:r>
            <a:r>
              <a:rPr lang="en-US" sz="2000" spc="21" dirty="0">
                <a:solidFill>
                  <a:schemeClr val="bg2"/>
                </a:solidFill>
                <a:sym typeface="Amicale Light"/>
              </a:rPr>
              <a:t> equation for temporal alignment</a:t>
            </a:r>
            <a:endParaRPr lang="en-US" sz="2000" dirty="0">
              <a:solidFill>
                <a:schemeClr val="bg2"/>
              </a:solidFill>
              <a:sym typeface="Wingdings" panose="05000000000000000000" pitchFamily="2" charset="2"/>
            </a:endParaRPr>
          </a:p>
          <a:p>
            <a:pPr marL="1257300" lvl="2" indent="-342900">
              <a:lnSpc>
                <a:spcPts val="2428"/>
              </a:lnSpc>
              <a:buFont typeface="Arial" panose="020B0604020202020204" pitchFamily="34" charset="0"/>
              <a:buChar char="•"/>
            </a:pPr>
            <a:r>
              <a:rPr lang="en-US" sz="2000" spc="21" dirty="0">
                <a:solidFill>
                  <a:schemeClr val="bg2"/>
                </a:solidFill>
                <a:sym typeface="Amicale Light"/>
              </a:rPr>
              <a:t>Conceptual principles of reinforcement, decay, consolidation, and reactivation</a:t>
            </a:r>
          </a:p>
        </p:txBody>
      </p:sp>
      <p:sp>
        <p:nvSpPr>
          <p:cNvPr id="27" name="TextBox 12">
            <a:extLst>
              <a:ext uri="{FF2B5EF4-FFF2-40B4-BE49-F238E27FC236}">
                <a16:creationId xmlns:a16="http://schemas.microsoft.com/office/drawing/2014/main" id="{02D81A80-9E83-6052-9242-5E9B747C3893}"/>
              </a:ext>
            </a:extLst>
          </p:cNvPr>
          <p:cNvSpPr txBox="1"/>
          <p:nvPr/>
        </p:nvSpPr>
        <p:spPr>
          <a:xfrm>
            <a:off x="1396587" y="5829300"/>
            <a:ext cx="12483633" cy="1785104"/>
          </a:xfrm>
          <a:prstGeom prst="rect">
            <a:avLst/>
          </a:prstGeom>
        </p:spPr>
        <p:txBody>
          <a:bodyPr wrap="square" lIns="0" tIns="0" rIns="0" bIns="0" rtlCol="0" anchor="t">
            <a:spAutoFit/>
          </a:bodyPr>
          <a:lstStyle/>
          <a:p>
            <a:pPr>
              <a:lnSpc>
                <a:spcPct val="200000"/>
              </a:lnSpc>
            </a:pPr>
            <a:r>
              <a:rPr lang="en-US" sz="2800" b="1" spc="26" dirty="0">
                <a:solidFill>
                  <a:srgbClr val="B7EE4A"/>
                </a:solidFill>
                <a:latin typeface="IBM Plex Sans Bold"/>
                <a:ea typeface="IBM Plex Sans Bold"/>
                <a:cs typeface="IBM Plex Sans Bold"/>
                <a:sym typeface="IBM Plex Sans Bold"/>
              </a:rPr>
              <a:t>03</a:t>
            </a:r>
            <a:r>
              <a:rPr lang="en-US" sz="2400" b="1" spc="26" dirty="0">
                <a:solidFill>
                  <a:srgbClr val="B7EE4A"/>
                </a:solidFill>
                <a:latin typeface="IBM Plex Sans Bold"/>
                <a:ea typeface="IBM Plex Sans Bold"/>
                <a:cs typeface="IBM Plex Sans Bold"/>
                <a:sym typeface="IBM Plex Sans Bold"/>
              </a:rPr>
              <a:t> 	</a:t>
            </a:r>
            <a:r>
              <a:rPr lang="en-US" sz="2400" b="1" spc="21" dirty="0">
                <a:solidFill>
                  <a:srgbClr val="D7E5D8"/>
                </a:solidFill>
                <a:latin typeface="Amicale Light"/>
                <a:ea typeface="IBM Plex Sans Bold"/>
                <a:cs typeface="IBM Plex Sans Bold"/>
                <a:sym typeface="Amicale Light"/>
              </a:rPr>
              <a:t>Holistic Evaluation and Structural Diagnostics </a:t>
            </a:r>
            <a:endParaRPr lang="en-US" sz="2400" b="1" spc="21" dirty="0">
              <a:solidFill>
                <a:srgbClr val="D7E5D8"/>
              </a:solidFill>
              <a:latin typeface="Amicale Light"/>
              <a:ea typeface="Amicale Light"/>
              <a:cs typeface="Amicale Light"/>
              <a:sym typeface="Amicale Light"/>
            </a:endParaRPr>
          </a:p>
          <a:p>
            <a:pPr marL="1257300" lvl="2" indent="-342900">
              <a:lnSpc>
                <a:spcPts val="2428"/>
              </a:lnSpc>
              <a:buFont typeface="Arial" panose="020B0604020202020204" pitchFamily="34" charset="0"/>
              <a:buChar char="•"/>
            </a:pPr>
            <a:r>
              <a:rPr lang="en-US" sz="2000" spc="21" dirty="0">
                <a:solidFill>
                  <a:schemeClr val="bg2"/>
                </a:solidFill>
                <a:sym typeface="Amicale Light"/>
              </a:rPr>
              <a:t>10 synthetic signals, 15 real world datasets</a:t>
            </a:r>
            <a:endParaRPr lang="en-US" sz="2000" dirty="0">
              <a:solidFill>
                <a:schemeClr val="bg2"/>
              </a:solidFill>
              <a:sym typeface="Wingdings" panose="05000000000000000000" pitchFamily="2" charset="2"/>
            </a:endParaRPr>
          </a:p>
          <a:p>
            <a:pPr marL="1257300" lvl="2" indent="-342900">
              <a:lnSpc>
                <a:spcPts val="2428"/>
              </a:lnSpc>
              <a:buFont typeface="Arial" panose="020B0604020202020204" pitchFamily="34" charset="0"/>
              <a:buChar char="•"/>
            </a:pPr>
            <a:r>
              <a:rPr lang="en-US" sz="2000" spc="21" dirty="0">
                <a:solidFill>
                  <a:schemeClr val="bg2"/>
                </a:solidFill>
                <a:sym typeface="Amicale Light"/>
              </a:rPr>
              <a:t>Network analysis and ablation testing of individual mechanisms</a:t>
            </a:r>
          </a:p>
          <a:p>
            <a:pPr marL="1257300" lvl="2" indent="-342900">
              <a:lnSpc>
                <a:spcPts val="2428"/>
              </a:lnSpc>
              <a:buFont typeface="Arial" panose="020B0604020202020204" pitchFamily="34" charset="0"/>
              <a:buChar char="•"/>
            </a:pPr>
            <a:r>
              <a:rPr lang="en-US" sz="2000" spc="21" dirty="0">
                <a:solidFill>
                  <a:schemeClr val="bg2"/>
                </a:solidFill>
                <a:sym typeface="Amicale Light"/>
              </a:rPr>
              <a:t>Direct correspondence with mechanical and robotic use cases</a:t>
            </a:r>
          </a:p>
        </p:txBody>
      </p:sp>
      <p:sp>
        <p:nvSpPr>
          <p:cNvPr id="29" name="TextBox 12">
            <a:extLst>
              <a:ext uri="{FF2B5EF4-FFF2-40B4-BE49-F238E27FC236}">
                <a16:creationId xmlns:a16="http://schemas.microsoft.com/office/drawing/2014/main" id="{F5FCA6BE-DA45-8D89-8ACF-5C0C85456253}"/>
              </a:ext>
            </a:extLst>
          </p:cNvPr>
          <p:cNvSpPr txBox="1"/>
          <p:nvPr/>
        </p:nvSpPr>
        <p:spPr>
          <a:xfrm>
            <a:off x="1432775" y="7528444"/>
            <a:ext cx="13653018" cy="1477328"/>
          </a:xfrm>
          <a:prstGeom prst="rect">
            <a:avLst/>
          </a:prstGeom>
        </p:spPr>
        <p:txBody>
          <a:bodyPr wrap="square" lIns="0" tIns="0" rIns="0" bIns="0" rtlCol="0" anchor="t">
            <a:spAutoFit/>
          </a:bodyPr>
          <a:lstStyle/>
          <a:p>
            <a:pPr>
              <a:lnSpc>
                <a:spcPct val="200000"/>
              </a:lnSpc>
            </a:pPr>
            <a:r>
              <a:rPr lang="en-US" sz="2800" b="1" spc="26" dirty="0">
                <a:solidFill>
                  <a:srgbClr val="B7EE4A"/>
                </a:solidFill>
                <a:latin typeface="IBM Plex Sans Bold"/>
                <a:ea typeface="IBM Plex Sans Bold"/>
                <a:cs typeface="IBM Plex Sans Bold"/>
                <a:sym typeface="IBM Plex Sans Bold"/>
              </a:rPr>
              <a:t>04</a:t>
            </a:r>
            <a:r>
              <a:rPr lang="en-US" sz="2400" b="1" spc="26" dirty="0">
                <a:solidFill>
                  <a:srgbClr val="B7EE4A"/>
                </a:solidFill>
                <a:latin typeface="IBM Plex Sans Bold"/>
                <a:ea typeface="IBM Plex Sans Bold"/>
                <a:cs typeface="IBM Plex Sans Bold"/>
                <a:sym typeface="IBM Plex Sans Bold"/>
              </a:rPr>
              <a:t> 	</a:t>
            </a:r>
            <a:r>
              <a:rPr lang="en-US" sz="2400" b="1" spc="21" dirty="0">
                <a:solidFill>
                  <a:srgbClr val="D7E5D8"/>
                </a:solidFill>
                <a:latin typeface="Amicale Light"/>
                <a:ea typeface="IBM Plex Sans Bold"/>
                <a:cs typeface="IBM Plex Sans Bold"/>
                <a:sym typeface="Amicale Light"/>
              </a:rPr>
              <a:t>Broader Implications of Adaptive Network Design</a:t>
            </a:r>
            <a:endParaRPr lang="en-US" sz="2400" b="1" spc="21" dirty="0">
              <a:solidFill>
                <a:srgbClr val="D7E5D8"/>
              </a:solidFill>
              <a:latin typeface="Amicale Light"/>
              <a:ea typeface="Amicale Light"/>
              <a:cs typeface="Amicale Light"/>
              <a:sym typeface="Amicale Light"/>
            </a:endParaRPr>
          </a:p>
          <a:p>
            <a:pPr marL="1257300" lvl="2" indent="-342900">
              <a:lnSpc>
                <a:spcPts val="2428"/>
              </a:lnSpc>
              <a:buFont typeface="Arial" panose="020B0604020202020204" pitchFamily="34" charset="0"/>
              <a:buChar char="•"/>
            </a:pPr>
            <a:r>
              <a:rPr lang="en-US" sz="2000" spc="21" dirty="0">
                <a:solidFill>
                  <a:schemeClr val="bg2"/>
                </a:solidFill>
              </a:rPr>
              <a:t>Initial evidence of the advantages and limitations of evolving structure and local pathway dynamics</a:t>
            </a:r>
          </a:p>
          <a:p>
            <a:pPr marL="1257300" lvl="2" indent="-342900">
              <a:lnSpc>
                <a:spcPts val="2428"/>
              </a:lnSpc>
              <a:buFont typeface="Arial" panose="020B0604020202020204" pitchFamily="34" charset="0"/>
              <a:buChar char="•"/>
            </a:pPr>
            <a:r>
              <a:rPr lang="en-US" sz="2000" spc="21" dirty="0">
                <a:solidFill>
                  <a:schemeClr val="bg2"/>
                </a:solidFill>
                <a:sym typeface="Amicale Light"/>
              </a:rPr>
              <a:t>Bridge to unconventional computing </a:t>
            </a:r>
          </a:p>
        </p:txBody>
      </p:sp>
      <p:sp>
        <p:nvSpPr>
          <p:cNvPr id="30" name="Slide Number Placeholder 29">
            <a:extLst>
              <a:ext uri="{FF2B5EF4-FFF2-40B4-BE49-F238E27FC236}">
                <a16:creationId xmlns:a16="http://schemas.microsoft.com/office/drawing/2014/main" id="{DCAFFC46-D6A9-1823-5969-91CDBC9C4009}"/>
              </a:ext>
            </a:extLst>
          </p:cNvPr>
          <p:cNvSpPr>
            <a:spLocks noGrp="1"/>
          </p:cNvSpPr>
          <p:nvPr>
            <p:ph type="sldNum" sz="quarter" idx="12"/>
          </p:nvPr>
        </p:nvSpPr>
        <p:spPr>
          <a:xfrm>
            <a:off x="15925800" y="9715500"/>
            <a:ext cx="2133600" cy="365125"/>
          </a:xfrm>
        </p:spPr>
        <p:txBody>
          <a:bodyPr/>
          <a:lstStyle/>
          <a:p>
            <a:fld id="{B6F15528-21DE-4FAA-801E-634DDDAF4B2B}" type="slidenum">
              <a:rPr lang="en-US" smtClean="0"/>
              <a:pPr/>
              <a:t>35</a:t>
            </a:fld>
            <a:endParaRPr lang="en-US"/>
          </a:p>
        </p:txBody>
      </p:sp>
      <p:sp>
        <p:nvSpPr>
          <p:cNvPr id="32" name="AutoShape 6">
            <a:extLst>
              <a:ext uri="{FF2B5EF4-FFF2-40B4-BE49-F238E27FC236}">
                <a16:creationId xmlns:a16="http://schemas.microsoft.com/office/drawing/2014/main" id="{A48B4C42-241C-8222-5ED4-7D534CD1A425}"/>
              </a:ext>
            </a:extLst>
          </p:cNvPr>
          <p:cNvSpPr/>
          <p:nvPr/>
        </p:nvSpPr>
        <p:spPr>
          <a:xfrm flipH="1">
            <a:off x="17050227" y="9667013"/>
            <a:ext cx="960120" cy="0"/>
          </a:xfrm>
          <a:prstGeom prst="line">
            <a:avLst/>
          </a:prstGeom>
          <a:ln w="19050" cap="flat">
            <a:solidFill>
              <a:srgbClr val="FFFFFF"/>
            </a:solidFill>
            <a:prstDash val="solid"/>
            <a:headEnd type="none" w="sm" len="sm"/>
            <a:tailEnd type="none" w="sm" len="sm"/>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2074</TotalTime>
  <Words>3812</Words>
  <Application>Microsoft Office PowerPoint</Application>
  <PresentationFormat>Custom</PresentationFormat>
  <Paragraphs>727</Paragraphs>
  <Slides>35</Slides>
  <Notes>28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35</vt:i4>
      </vt:variant>
    </vt:vector>
  </HeadingPairs>
  <TitlesOfParts>
    <vt:vector size="47" baseType="lpstr">
      <vt:lpstr>Canva Sans</vt:lpstr>
      <vt:lpstr>Montserrat Ultra-Bold</vt:lpstr>
      <vt:lpstr>Aptos</vt:lpstr>
      <vt:lpstr>IBM Plex Sans Bold</vt:lpstr>
      <vt:lpstr>IBM Plex Sans</vt:lpstr>
      <vt:lpstr>Amicale Light</vt:lpstr>
      <vt:lpstr>Calibri</vt:lpstr>
      <vt:lpstr>Wingdings</vt:lpstr>
      <vt:lpstr>Times New Roman</vt:lpstr>
      <vt:lpstr>Arial</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Defense</dc:title>
  <cp:lastModifiedBy>Hollis Cutler</cp:lastModifiedBy>
  <cp:revision>5</cp:revision>
  <dcterms:created xsi:type="dcterms:W3CDTF">2006-08-16T00:00:00Z</dcterms:created>
  <dcterms:modified xsi:type="dcterms:W3CDTF">2026-10-22T21:20:36Z</dcterms:modified>
  <dc:identifier>DAHPvWf6G6M</dc:identifier>
</cp:coreProperties>
</file>